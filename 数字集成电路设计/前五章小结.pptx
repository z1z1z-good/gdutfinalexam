
<file path=[Content_Types].xml><?xml version="1.0" encoding="utf-8"?>
<Types xmlns="http://schemas.openxmlformats.org/package/2006/content-types">
  <Default Extension="bin" ContentType="application/vnd.openxmlformats-officedocument.oleObject"/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7" r:id="rId2"/>
    <p:sldId id="365" r:id="rId3"/>
    <p:sldId id="399" r:id="rId4"/>
    <p:sldId id="400" r:id="rId5"/>
    <p:sldId id="401" r:id="rId6"/>
    <p:sldId id="367" r:id="rId7"/>
    <p:sldId id="369" r:id="rId8"/>
    <p:sldId id="393" r:id="rId9"/>
    <p:sldId id="371" r:id="rId10"/>
    <p:sldId id="372" r:id="rId11"/>
    <p:sldId id="373" r:id="rId12"/>
    <p:sldId id="395" r:id="rId13"/>
    <p:sldId id="374" r:id="rId14"/>
    <p:sldId id="375" r:id="rId15"/>
    <p:sldId id="376" r:id="rId16"/>
    <p:sldId id="378" r:id="rId17"/>
    <p:sldId id="396" r:id="rId18"/>
    <p:sldId id="380" r:id="rId19"/>
    <p:sldId id="397" r:id="rId20"/>
    <p:sldId id="381" r:id="rId21"/>
    <p:sldId id="385" r:id="rId22"/>
    <p:sldId id="398" r:id="rId23"/>
    <p:sldId id="402" r:id="rId24"/>
    <p:sldId id="386" r:id="rId25"/>
    <p:sldId id="387" r:id="rId26"/>
    <p:sldId id="388" r:id="rId27"/>
    <p:sldId id="390" r:id="rId28"/>
    <p:sldId id="391" r:id="rId29"/>
    <p:sldId id="40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D23"/>
    <a:srgbClr val="293048"/>
    <a:srgbClr val="FE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0" autoAdjust="0"/>
    <p:restoredTop sz="94671"/>
  </p:normalViewPr>
  <p:slideViewPr>
    <p:cSldViewPr snapToGrid="0" snapToObjects="1">
      <p:cViewPr varScale="1">
        <p:scale>
          <a:sx n="95" d="100"/>
          <a:sy n="95" d="100"/>
        </p:scale>
        <p:origin x="3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C7605-98FC-E342-8000-8191FF3AE85A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B68C4-259F-174F-9EC6-1A41D60C55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B68C4-259F-174F-9EC6-1A41D60C556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单击此处编辑母版文本样式
二级
三级
四级
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1452A-293A-8049-A863-ACF6CD6DADDB}" type="datetimeFigureOut">
              <a:rPr kumimoji="1" lang="zh-CN" altLang="en-US" smtClean="0"/>
              <a:t>2025-12-14</a:t>
            </a:fld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563BE-09C0-5D41-904B-FBBE953FEE2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48975" y="136525"/>
            <a:ext cx="1009650" cy="7341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mp"/><Relationship Id="rId7" Type="http://schemas.openxmlformats.org/officeDocument/2006/relationships/image" Target="../media/image8.wmf"/><Relationship Id="rId2" Type="http://schemas.openxmlformats.org/officeDocument/2006/relationships/image" Target="../media/image4.bmp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bmp"/><Relationship Id="rId4" Type="http://schemas.openxmlformats.org/officeDocument/2006/relationships/image" Target="../media/image6.b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6" Type="http://schemas.openxmlformats.org/officeDocument/2006/relationships/image" Target="../media/image16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9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8.wmf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9" Type="http://schemas.openxmlformats.org/officeDocument/2006/relationships/tags" Target="../tags/tag61.xml"/><Relationship Id="rId21" Type="http://schemas.openxmlformats.org/officeDocument/2006/relationships/tags" Target="../tags/tag43.xml"/><Relationship Id="rId34" Type="http://schemas.openxmlformats.org/officeDocument/2006/relationships/tags" Target="../tags/tag56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41" Type="http://schemas.openxmlformats.org/officeDocument/2006/relationships/tags" Target="../tags/tag63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tags" Target="../tags/tag54.xml"/><Relationship Id="rId37" Type="http://schemas.openxmlformats.org/officeDocument/2006/relationships/tags" Target="../tags/tag59.xml"/><Relationship Id="rId40" Type="http://schemas.openxmlformats.org/officeDocument/2006/relationships/tags" Target="../tags/tag62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36" Type="http://schemas.openxmlformats.org/officeDocument/2006/relationships/tags" Target="../tags/tag58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4" Type="http://schemas.openxmlformats.org/officeDocument/2006/relationships/image" Target="../media/image22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35" Type="http://schemas.openxmlformats.org/officeDocument/2006/relationships/tags" Target="../tags/tag57.xml"/><Relationship Id="rId43" Type="http://schemas.openxmlformats.org/officeDocument/2006/relationships/image" Target="../media/image21.png"/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tags" Target="../tags/tag55.xml"/><Relationship Id="rId38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77.xml"/><Relationship Id="rId18" Type="http://schemas.openxmlformats.org/officeDocument/2006/relationships/tags" Target="../tags/tag82.xml"/><Relationship Id="rId26" Type="http://schemas.openxmlformats.org/officeDocument/2006/relationships/tags" Target="../tags/tag90.xml"/><Relationship Id="rId39" Type="http://schemas.openxmlformats.org/officeDocument/2006/relationships/tags" Target="../tags/tag103.xml"/><Relationship Id="rId21" Type="http://schemas.openxmlformats.org/officeDocument/2006/relationships/tags" Target="../tags/tag85.xml"/><Relationship Id="rId34" Type="http://schemas.openxmlformats.org/officeDocument/2006/relationships/tags" Target="../tags/tag98.xml"/><Relationship Id="rId42" Type="http://schemas.openxmlformats.org/officeDocument/2006/relationships/tags" Target="../tags/tag106.xml"/><Relationship Id="rId47" Type="http://schemas.openxmlformats.org/officeDocument/2006/relationships/tags" Target="../tags/tag111.xml"/><Relationship Id="rId50" Type="http://schemas.openxmlformats.org/officeDocument/2006/relationships/tags" Target="../tags/tag114.xml"/><Relationship Id="rId55" Type="http://schemas.openxmlformats.org/officeDocument/2006/relationships/tags" Target="../tags/tag119.xml"/><Relationship Id="rId7" Type="http://schemas.openxmlformats.org/officeDocument/2006/relationships/tags" Target="../tags/tag7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29" Type="http://schemas.openxmlformats.org/officeDocument/2006/relationships/tags" Target="../tags/tag93.xml"/><Relationship Id="rId11" Type="http://schemas.openxmlformats.org/officeDocument/2006/relationships/tags" Target="../tags/tag75.xml"/><Relationship Id="rId24" Type="http://schemas.openxmlformats.org/officeDocument/2006/relationships/tags" Target="../tags/tag88.xml"/><Relationship Id="rId32" Type="http://schemas.openxmlformats.org/officeDocument/2006/relationships/tags" Target="../tags/tag96.xml"/><Relationship Id="rId37" Type="http://schemas.openxmlformats.org/officeDocument/2006/relationships/tags" Target="../tags/tag101.xml"/><Relationship Id="rId40" Type="http://schemas.openxmlformats.org/officeDocument/2006/relationships/tags" Target="../tags/tag104.xml"/><Relationship Id="rId45" Type="http://schemas.openxmlformats.org/officeDocument/2006/relationships/tags" Target="../tags/tag109.xml"/><Relationship Id="rId53" Type="http://schemas.openxmlformats.org/officeDocument/2006/relationships/tags" Target="../tags/tag117.xml"/><Relationship Id="rId5" Type="http://schemas.openxmlformats.org/officeDocument/2006/relationships/tags" Target="../tags/tag69.xml"/><Relationship Id="rId19" Type="http://schemas.openxmlformats.org/officeDocument/2006/relationships/tags" Target="../tags/tag83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Relationship Id="rId22" Type="http://schemas.openxmlformats.org/officeDocument/2006/relationships/tags" Target="../tags/tag86.xml"/><Relationship Id="rId27" Type="http://schemas.openxmlformats.org/officeDocument/2006/relationships/tags" Target="../tags/tag91.xml"/><Relationship Id="rId30" Type="http://schemas.openxmlformats.org/officeDocument/2006/relationships/tags" Target="../tags/tag94.xml"/><Relationship Id="rId35" Type="http://schemas.openxmlformats.org/officeDocument/2006/relationships/tags" Target="../tags/tag99.xml"/><Relationship Id="rId43" Type="http://schemas.openxmlformats.org/officeDocument/2006/relationships/tags" Target="../tags/tag107.xml"/><Relationship Id="rId48" Type="http://schemas.openxmlformats.org/officeDocument/2006/relationships/tags" Target="../tags/tag112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72.xml"/><Relationship Id="rId51" Type="http://schemas.openxmlformats.org/officeDocument/2006/relationships/tags" Target="../tags/tag115.xml"/><Relationship Id="rId3" Type="http://schemas.openxmlformats.org/officeDocument/2006/relationships/tags" Target="../tags/tag67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5" Type="http://schemas.openxmlformats.org/officeDocument/2006/relationships/tags" Target="../tags/tag89.xml"/><Relationship Id="rId33" Type="http://schemas.openxmlformats.org/officeDocument/2006/relationships/tags" Target="../tags/tag97.xml"/><Relationship Id="rId38" Type="http://schemas.openxmlformats.org/officeDocument/2006/relationships/tags" Target="../tags/tag102.xml"/><Relationship Id="rId46" Type="http://schemas.openxmlformats.org/officeDocument/2006/relationships/tags" Target="../tags/tag110.xml"/><Relationship Id="rId20" Type="http://schemas.openxmlformats.org/officeDocument/2006/relationships/tags" Target="../tags/tag84.xml"/><Relationship Id="rId41" Type="http://schemas.openxmlformats.org/officeDocument/2006/relationships/tags" Target="../tags/tag105.xml"/><Relationship Id="rId54" Type="http://schemas.openxmlformats.org/officeDocument/2006/relationships/tags" Target="../tags/tag118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5" Type="http://schemas.openxmlformats.org/officeDocument/2006/relationships/tags" Target="../tags/tag79.xml"/><Relationship Id="rId23" Type="http://schemas.openxmlformats.org/officeDocument/2006/relationships/tags" Target="../tags/tag87.xml"/><Relationship Id="rId28" Type="http://schemas.openxmlformats.org/officeDocument/2006/relationships/tags" Target="../tags/tag92.xml"/><Relationship Id="rId36" Type="http://schemas.openxmlformats.org/officeDocument/2006/relationships/tags" Target="../tags/tag100.xml"/><Relationship Id="rId49" Type="http://schemas.openxmlformats.org/officeDocument/2006/relationships/tags" Target="../tags/tag113.xml"/><Relationship Id="rId57" Type="http://schemas.openxmlformats.org/officeDocument/2006/relationships/image" Target="../media/image25.png"/><Relationship Id="rId10" Type="http://schemas.openxmlformats.org/officeDocument/2006/relationships/tags" Target="../tags/tag74.xml"/><Relationship Id="rId31" Type="http://schemas.openxmlformats.org/officeDocument/2006/relationships/tags" Target="../tags/tag95.xml"/><Relationship Id="rId44" Type="http://schemas.openxmlformats.org/officeDocument/2006/relationships/tags" Target="../tags/tag108.xml"/><Relationship Id="rId52" Type="http://schemas.openxmlformats.org/officeDocument/2006/relationships/tags" Target="../tags/tag1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m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6.b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tags" Target="../tags/tag12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7" Type="http://schemas.openxmlformats.org/officeDocument/2006/relationships/image" Target="../media/image35.pn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2559"/>
                    </a14:imgEffect>
                    <a14:imgEffect>
                      <a14:saturation sat="18000"/>
                    </a14:imgEffect>
                  </a14:imgLayer>
                </a14:imgProps>
              </a:ext>
            </a:extLst>
          </a:blip>
          <a:srcRect l="48638" t="15738" r="-1" b="2451"/>
          <a:stretch>
            <a:fillRect/>
          </a:stretch>
        </p:blipFill>
        <p:spPr>
          <a:xfrm>
            <a:off x="0" y="0"/>
            <a:ext cx="6456426" cy="6858000"/>
          </a:xfrm>
          <a:prstGeom prst="rect">
            <a:avLst/>
          </a:prstGeom>
        </p:spPr>
      </p:pic>
      <p:sp>
        <p:nvSpPr>
          <p:cNvPr id="4" name="直角三角形 3"/>
          <p:cNvSpPr/>
          <p:nvPr/>
        </p:nvSpPr>
        <p:spPr>
          <a:xfrm>
            <a:off x="0" y="4028303"/>
            <a:ext cx="5362832" cy="2829697"/>
          </a:xfrm>
          <a:prstGeom prst="rtTriangle">
            <a:avLst/>
          </a:prstGeom>
          <a:solidFill>
            <a:srgbClr val="2930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10D23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/>
          <a:srcRect t="18037" r="26380" b="15947"/>
          <a:stretch>
            <a:fillRect/>
          </a:stretch>
        </p:blipFill>
        <p:spPr>
          <a:xfrm>
            <a:off x="3320415" y="1"/>
            <a:ext cx="887158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36385" y="2990215"/>
            <a:ext cx="4904105" cy="70675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r>
              <a:rPr kumimoji="1" lang="zh-CN" altLang="en-US" sz="4000">
                <a:solidFill>
                  <a:srgbClr val="2930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数字集成电路复习</a:t>
            </a:r>
          </a:p>
        </p:txBody>
      </p:sp>
      <p:sp>
        <p:nvSpPr>
          <p:cNvPr id="11" name="矩形 10"/>
          <p:cNvSpPr/>
          <p:nvPr/>
        </p:nvSpPr>
        <p:spPr>
          <a:xfrm>
            <a:off x="6530735" y="4028439"/>
            <a:ext cx="4304270" cy="36933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10D2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Guangdong University Of Technology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142" y="1773736"/>
            <a:ext cx="1334210" cy="970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第一章小结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2565"/>
            <a:ext cx="10515600" cy="4351338"/>
          </a:xfrm>
        </p:spPr>
        <p:txBody>
          <a:bodyPr/>
          <a:lstStyle/>
          <a:p>
            <a:r>
              <a:rPr lang="zh-CN" altLang="en-US" dirty="0"/>
              <a:t>摩尔定律：</a:t>
            </a:r>
            <a:r>
              <a:rPr lang="zh-CN" altLang="en-US" sz="2000" dirty="0"/>
              <a:t>当价格不变时，半导体芯片上集成的晶体管和电阻数量每</a:t>
            </a:r>
            <a:r>
              <a:rPr lang="en-US" altLang="zh-CN" sz="2000" dirty="0"/>
              <a:t>1</a:t>
            </a:r>
            <a:r>
              <a:rPr lang="zh-CN" altLang="en-US" sz="2000" dirty="0"/>
              <a:t>到</a:t>
            </a:r>
            <a:r>
              <a:rPr lang="en-US" altLang="zh-CN" sz="2000" dirty="0"/>
              <a:t>2</a:t>
            </a:r>
            <a:r>
              <a:rPr lang="zh-CN" altLang="en-US" sz="2000" dirty="0"/>
              <a:t>年增加一倍</a:t>
            </a:r>
          </a:p>
          <a:p>
            <a:r>
              <a:rPr lang="zh-CN" altLang="en-US" dirty="0">
                <a:sym typeface="+mn-ea"/>
              </a:rPr>
              <a:t>数字设计的质量评价：</a:t>
            </a:r>
            <a:r>
              <a:rPr lang="zh-CN" altLang="en-US" sz="2000" dirty="0">
                <a:sym typeface="+mn-ea"/>
              </a:rPr>
              <a:t>成本，完整性和稳定性</a:t>
            </a:r>
            <a:r>
              <a:rPr lang="en-US" altLang="zh-CN" sz="2000" dirty="0">
                <a:sym typeface="+mn-ea"/>
              </a:rPr>
              <a:t> (</a:t>
            </a:r>
            <a:r>
              <a:rPr lang="zh-CN" altLang="en-US" sz="2000" dirty="0">
                <a:sym typeface="+mn-ea"/>
              </a:rPr>
              <a:t>静态</a:t>
            </a:r>
            <a:r>
              <a:rPr lang="en-US" altLang="zh-CN" sz="2000" dirty="0">
                <a:sym typeface="+mn-ea"/>
              </a:rPr>
              <a:t>)</a:t>
            </a:r>
            <a:r>
              <a:rPr lang="zh-CN" altLang="en-US" sz="2000" dirty="0">
                <a:sym typeface="+mn-ea"/>
              </a:rPr>
              <a:t>，性能</a:t>
            </a:r>
            <a:r>
              <a:rPr lang="en-US" altLang="zh-CN" sz="2000" dirty="0">
                <a:sym typeface="+mn-ea"/>
              </a:rPr>
              <a:t> (</a:t>
            </a:r>
            <a:r>
              <a:rPr lang="zh-CN" altLang="en-US" sz="2000" dirty="0">
                <a:sym typeface="+mn-ea"/>
              </a:rPr>
              <a:t>动态</a:t>
            </a:r>
            <a:r>
              <a:rPr lang="en-US" altLang="zh-CN" sz="2000" dirty="0">
                <a:sym typeface="+mn-ea"/>
              </a:rPr>
              <a:t>)</a:t>
            </a:r>
            <a:r>
              <a:rPr lang="zh-CN" altLang="en-US" sz="2000" dirty="0">
                <a:sym typeface="+mn-ea"/>
              </a:rPr>
              <a:t>，功耗和能耗</a:t>
            </a:r>
            <a:endParaRPr lang="zh-CN" altLang="en-US" sz="2000" dirty="0"/>
          </a:p>
          <a:p>
            <a:r>
              <a:rPr lang="zh-CN" altLang="en-US" dirty="0"/>
              <a:t>集成电路设计制造成本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16" name="组合 15"/>
          <p:cNvGrpSpPr/>
          <p:nvPr/>
        </p:nvGrpSpPr>
        <p:grpSpPr>
          <a:xfrm>
            <a:off x="2068195" y="3131820"/>
            <a:ext cx="8853170" cy="3469287"/>
            <a:chOff x="302" y="1786"/>
            <a:chExt cx="14020" cy="6352"/>
          </a:xfrm>
        </p:grpSpPr>
        <p:sp>
          <p:nvSpPr>
            <p:cNvPr id="11" name="文本框 10"/>
            <p:cNvSpPr txBox="1"/>
            <p:nvPr/>
          </p:nvSpPr>
          <p:spPr>
            <a:xfrm>
              <a:off x="6832" y="3649"/>
              <a:ext cx="7490" cy="1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间接成本（研发费用，生产设备，</a:t>
              </a:r>
            </a:p>
            <a:p>
              <a:pPr algn="l"/>
              <a:r>
                <a:rPr 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营销费用，基础设施等）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47" y="3351"/>
              <a:ext cx="48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02" y="4430"/>
              <a:ext cx="1728" cy="2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</a:t>
              </a:r>
            </a:p>
          </p:txBody>
        </p:sp>
        <p:sp>
          <p:nvSpPr>
            <p:cNvPr id="19" name="左大括号 18"/>
            <p:cNvSpPr/>
            <p:nvPr/>
          </p:nvSpPr>
          <p:spPr>
            <a:xfrm>
              <a:off x="2127" y="3054"/>
              <a:ext cx="726" cy="3768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853" y="2554"/>
              <a:ext cx="3175" cy="1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固定成本（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NRE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  <a:p>
              <a:pPr algn="ctr"/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与产品售出数量无关</a:t>
              </a:r>
            </a:p>
          </p:txBody>
        </p:sp>
        <p:sp>
          <p:nvSpPr>
            <p:cNvPr id="21" name="左大括号 20"/>
            <p:cNvSpPr/>
            <p:nvPr/>
          </p:nvSpPr>
          <p:spPr>
            <a:xfrm>
              <a:off x="6067" y="2111"/>
              <a:ext cx="858" cy="187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832" y="1786"/>
              <a:ext cx="3980" cy="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设计时间、人力消耗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53" y="6351"/>
              <a:ext cx="2025" cy="1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可变成本</a:t>
              </a:r>
            </a:p>
            <a:p>
              <a:pPr algn="ctr"/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与产量成正比</a:t>
              </a:r>
            </a:p>
          </p:txBody>
        </p:sp>
        <p:sp>
          <p:nvSpPr>
            <p:cNvPr id="24" name="左大括号 23"/>
            <p:cNvSpPr/>
            <p:nvPr/>
          </p:nvSpPr>
          <p:spPr>
            <a:xfrm>
              <a:off x="4789" y="5896"/>
              <a:ext cx="858" cy="187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647" y="5571"/>
              <a:ext cx="3980" cy="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制造，封装，测试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767" y="7408"/>
              <a:ext cx="4730" cy="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与芯片体积或片面积相关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第一章小结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2565"/>
            <a:ext cx="10515600" cy="4351338"/>
          </a:xfrm>
        </p:spPr>
        <p:txBody>
          <a:bodyPr/>
          <a:lstStyle/>
          <a:p>
            <a:r>
              <a:rPr lang="zh-CN" altLang="en-US" dirty="0"/>
              <a:t>如何分析逻辑门的稳定性：电压传输特性</a:t>
            </a:r>
            <a:r>
              <a:rPr lang="en-US" altLang="zh-CN" dirty="0"/>
              <a:t>VTC</a:t>
            </a:r>
          </a:p>
          <a:p>
            <a:r>
              <a:rPr lang="en-US" altLang="zh-CN" dirty="0">
                <a:sym typeface="+mn-ea"/>
              </a:rPr>
              <a:t>VTC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/>
              <a:t>输出电压随输入电压的变化。属于静态特性分析</a:t>
            </a:r>
          </a:p>
          <a:p>
            <a:r>
              <a:rPr lang="zh-CN" altLang="en-US" dirty="0"/>
              <a:t>关注</a:t>
            </a:r>
            <a:r>
              <a:rPr lang="en-US" altLang="zh-CN" dirty="0"/>
              <a:t>5</a:t>
            </a:r>
            <a:r>
              <a:rPr lang="zh-CN" altLang="en-US" dirty="0"/>
              <a:t>个点：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tx1"/>
                </a:solidFill>
              </a:rPr>
              <a:t>V</a:t>
            </a:r>
            <a:r>
              <a:rPr lang="en-US" altLang="zh-CN" sz="2800" baseline="-25000" dirty="0">
                <a:solidFill>
                  <a:schemeClr val="tx1"/>
                </a:solidFill>
              </a:rPr>
              <a:t>OH</a:t>
            </a:r>
            <a:r>
              <a:rPr lang="zh-CN" altLang="en-US" sz="2800" dirty="0"/>
              <a:t>：额定高电平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OL</a:t>
            </a:r>
            <a:r>
              <a:rPr lang="zh-CN" altLang="en-US" sz="2800" dirty="0"/>
              <a:t>：额定低电平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M</a:t>
            </a:r>
            <a:r>
              <a:rPr lang="zh-CN" altLang="en-US" sz="2800" dirty="0">
                <a:highlight>
                  <a:srgbClr val="FFFF00"/>
                </a:highlight>
              </a:rPr>
              <a:t>：开关阈值，</a:t>
            </a:r>
            <a:r>
              <a:rPr lang="en-US" altLang="zh-CN" sz="2800" dirty="0">
                <a:highlight>
                  <a:srgbClr val="FFFF00"/>
                </a:highlight>
              </a:rPr>
              <a:t>V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in</a:t>
            </a:r>
            <a:r>
              <a:rPr lang="en-US" altLang="zh-CN" sz="2800" dirty="0">
                <a:highlight>
                  <a:srgbClr val="FFFF00"/>
                </a:highlight>
              </a:rPr>
              <a:t>=</a:t>
            </a:r>
            <a:r>
              <a:rPr lang="en-US" altLang="zh-CN" sz="2800" dirty="0" err="1">
                <a:highlight>
                  <a:srgbClr val="FFFF00"/>
                </a:highlight>
              </a:rPr>
              <a:t>V</a:t>
            </a:r>
            <a:r>
              <a:rPr lang="en-US" altLang="zh-CN" sz="2800" baseline="-25000" dirty="0" err="1">
                <a:highlight>
                  <a:srgbClr val="FFFF00"/>
                </a:highlight>
              </a:rPr>
              <a:t>out</a:t>
            </a:r>
            <a:r>
              <a:rPr lang="en-US" altLang="zh-CN" sz="2800" dirty="0">
                <a:highlight>
                  <a:srgbClr val="FFFF00"/>
                </a:highlight>
              </a:rPr>
              <a:t>=V</a:t>
            </a:r>
            <a:r>
              <a:rPr lang="en-US" altLang="zh-CN" sz="2800" baseline="-25000" dirty="0">
                <a:highlight>
                  <a:srgbClr val="FFFF00"/>
                </a:highlight>
              </a:rPr>
              <a:t>M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IH</a:t>
            </a:r>
            <a:r>
              <a:rPr lang="zh-CN" altLang="en-US" sz="2800" dirty="0"/>
              <a:t>：输入电压为高的最小电压值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IL</a:t>
            </a:r>
            <a:r>
              <a:rPr lang="zh-CN" altLang="en-US" sz="2800" dirty="0"/>
              <a:t>：输入电压为低的最大电压值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 dirty="0"/>
              <a:t>V</a:t>
            </a:r>
            <a:r>
              <a:rPr lang="en-US" altLang="zh-CN" sz="2800" baseline="-25000" dirty="0"/>
              <a:t>IH</a:t>
            </a:r>
            <a:r>
              <a:rPr lang="en-US" altLang="zh-CN" sz="2800" dirty="0"/>
              <a:t> </a:t>
            </a:r>
            <a:r>
              <a:rPr lang="zh-CN" altLang="en-US" sz="2800" dirty="0"/>
              <a:t>与</a:t>
            </a:r>
            <a:r>
              <a:rPr lang="en-US" altLang="zh-CN" sz="2800" dirty="0"/>
              <a:t> V</a:t>
            </a:r>
            <a:r>
              <a:rPr lang="en-US" altLang="zh-CN" sz="2800" baseline="-25000" dirty="0"/>
              <a:t>IL </a:t>
            </a:r>
            <a:r>
              <a:rPr lang="zh-CN" altLang="en-US" sz="2800" dirty="0"/>
              <a:t>取点：</a:t>
            </a:r>
            <a:r>
              <a:rPr lang="en-US" altLang="zh-CN" sz="2800" dirty="0"/>
              <a:t> 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800" baseline="-250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en-US" altLang="zh-CN" sz="2800" baseline="-25000" dirty="0"/>
          </a:p>
          <a:p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39955" name="组合 270414"/>
          <p:cNvGrpSpPr/>
          <p:nvPr/>
        </p:nvGrpSpPr>
        <p:grpSpPr>
          <a:xfrm>
            <a:off x="7047230" y="2649220"/>
            <a:ext cx="4618355" cy="3829848"/>
            <a:chOff x="1135" y="1118"/>
            <a:chExt cx="3299" cy="2807"/>
          </a:xfrm>
        </p:grpSpPr>
        <p:sp>
          <p:nvSpPr>
            <p:cNvPr id="39956" name="矩形 270346"/>
            <p:cNvSpPr/>
            <p:nvPr/>
          </p:nvSpPr>
          <p:spPr>
            <a:xfrm>
              <a:off x="1839" y="1645"/>
              <a:ext cx="8" cy="1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57" name="任意多边形 270352"/>
            <p:cNvSpPr/>
            <p:nvPr/>
          </p:nvSpPr>
          <p:spPr>
            <a:xfrm>
              <a:off x="1536" y="3190"/>
              <a:ext cx="7" cy="7"/>
            </a:xfrm>
            <a:custGeom>
              <a:avLst/>
              <a:gdLst/>
              <a:ahLst/>
              <a:cxnLst/>
              <a:rect l="0" t="0" r="0" b="0"/>
              <a:pathLst>
                <a:path w="7" h="7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58" name="任意多边形 270353"/>
            <p:cNvSpPr/>
            <p:nvPr/>
          </p:nvSpPr>
          <p:spPr>
            <a:xfrm>
              <a:off x="3358" y="1645"/>
              <a:ext cx="7" cy="7"/>
            </a:xfrm>
            <a:custGeom>
              <a:avLst/>
              <a:gdLst/>
              <a:ahLst/>
              <a:cxnLst/>
              <a:rect l="0" t="0" r="0" b="0"/>
              <a:pathLst>
                <a:path w="7" h="7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59" name="任意多边形 270354"/>
            <p:cNvSpPr/>
            <p:nvPr/>
          </p:nvSpPr>
          <p:spPr>
            <a:xfrm>
              <a:off x="1536" y="1645"/>
              <a:ext cx="1829" cy="1552"/>
            </a:xfrm>
            <a:custGeom>
              <a:avLst/>
              <a:gdLst/>
              <a:ahLst/>
              <a:cxnLst/>
              <a:rect l="0" t="0" r="0" b="0"/>
              <a:pathLst>
                <a:path w="1829" h="1552">
                  <a:moveTo>
                    <a:pt x="0" y="1545"/>
                  </a:moveTo>
                  <a:lnTo>
                    <a:pt x="7" y="1552"/>
                  </a:lnTo>
                  <a:lnTo>
                    <a:pt x="1829" y="7"/>
                  </a:lnTo>
                  <a:lnTo>
                    <a:pt x="1822" y="0"/>
                  </a:lnTo>
                  <a:lnTo>
                    <a:pt x="0" y="1545"/>
                  </a:lnTo>
                  <a:close/>
                </a:path>
              </a:pathLst>
            </a:custGeom>
            <a:noFill/>
            <a:ln w="12700" cap="flat" cmpd="sng">
              <a:solidFill>
                <a:srgbClr val="315263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0" name="矩形 270356"/>
            <p:cNvSpPr/>
            <p:nvPr/>
          </p:nvSpPr>
          <p:spPr>
            <a:xfrm>
              <a:off x="1536" y="2930"/>
              <a:ext cx="1822" cy="7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61" name="任意多边形 270357"/>
            <p:cNvSpPr/>
            <p:nvPr/>
          </p:nvSpPr>
          <p:spPr>
            <a:xfrm>
              <a:off x="1521" y="1126"/>
              <a:ext cx="51" cy="43"/>
            </a:xfrm>
            <a:custGeom>
              <a:avLst/>
              <a:gdLst/>
              <a:ahLst/>
              <a:cxnLst/>
              <a:rect l="0" t="0" r="0" b="0"/>
              <a:pathLst>
                <a:path w="51" h="43">
                  <a:moveTo>
                    <a:pt x="15" y="43"/>
                  </a:moveTo>
                  <a:lnTo>
                    <a:pt x="0" y="43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15" y="7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44" y="36"/>
                  </a:lnTo>
                  <a:lnTo>
                    <a:pt x="51" y="43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15" y="7"/>
                  </a:lnTo>
                  <a:lnTo>
                    <a:pt x="22" y="0"/>
                  </a:lnTo>
                  <a:lnTo>
                    <a:pt x="22" y="7"/>
                  </a:lnTo>
                  <a:lnTo>
                    <a:pt x="8" y="43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15" y="36"/>
                  </a:lnTo>
                  <a:lnTo>
                    <a:pt x="15" y="43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2" name="任意多边形 270358"/>
            <p:cNvSpPr/>
            <p:nvPr/>
          </p:nvSpPr>
          <p:spPr>
            <a:xfrm>
              <a:off x="1536" y="1162"/>
              <a:ext cx="21" cy="7"/>
            </a:xfrm>
            <a:custGeom>
              <a:avLst/>
              <a:gdLst/>
              <a:ahLst/>
              <a:cxnLst/>
              <a:rect l="0" t="0" r="0" b="0"/>
              <a:pathLst>
                <a:path w="21" h="7">
                  <a:moveTo>
                    <a:pt x="21" y="7"/>
                  </a:move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7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3" name="任意多边形 270359"/>
            <p:cNvSpPr/>
            <p:nvPr/>
          </p:nvSpPr>
          <p:spPr>
            <a:xfrm>
              <a:off x="1521" y="1133"/>
              <a:ext cx="36" cy="36"/>
            </a:xfrm>
            <a:custGeom>
              <a:avLst/>
              <a:gdLst/>
              <a:ahLst/>
              <a:cxnLst/>
              <a:rect l="0" t="0" r="0" b="0"/>
              <a:pathLst>
                <a:path w="36" h="36">
                  <a:moveTo>
                    <a:pt x="15" y="36"/>
                  </a:moveTo>
                  <a:lnTo>
                    <a:pt x="0" y="36"/>
                  </a:lnTo>
                  <a:lnTo>
                    <a:pt x="15" y="0"/>
                  </a:lnTo>
                  <a:lnTo>
                    <a:pt x="36" y="36"/>
                  </a:lnTo>
                  <a:lnTo>
                    <a:pt x="15" y="36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4" name="矩形 270360"/>
            <p:cNvSpPr/>
            <p:nvPr/>
          </p:nvSpPr>
          <p:spPr>
            <a:xfrm>
              <a:off x="1536" y="1169"/>
              <a:ext cx="7" cy="2021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65" name="任意多边形 270361"/>
            <p:cNvSpPr/>
            <p:nvPr/>
          </p:nvSpPr>
          <p:spPr>
            <a:xfrm>
              <a:off x="3914" y="3175"/>
              <a:ext cx="44" cy="51"/>
            </a:xfrm>
            <a:custGeom>
              <a:avLst/>
              <a:gdLst/>
              <a:ahLst/>
              <a:cxnLst/>
              <a:rect l="0" t="0" r="0" b="0"/>
              <a:pathLst>
                <a:path w="44" h="51">
                  <a:moveTo>
                    <a:pt x="0" y="15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37" y="15"/>
                  </a:lnTo>
                  <a:lnTo>
                    <a:pt x="44" y="22"/>
                  </a:lnTo>
                  <a:lnTo>
                    <a:pt x="44" y="22"/>
                  </a:lnTo>
                  <a:lnTo>
                    <a:pt x="8" y="44"/>
                  </a:lnTo>
                  <a:lnTo>
                    <a:pt x="0" y="51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37" y="15"/>
                  </a:lnTo>
                  <a:lnTo>
                    <a:pt x="44" y="22"/>
                  </a:lnTo>
                  <a:lnTo>
                    <a:pt x="37" y="22"/>
                  </a:lnTo>
                  <a:lnTo>
                    <a:pt x="0" y="7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5"/>
                  </a:lnTo>
                  <a:lnTo>
                    <a:pt x="0" y="15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6" name="任意多边形 270362"/>
            <p:cNvSpPr/>
            <p:nvPr/>
          </p:nvSpPr>
          <p:spPr>
            <a:xfrm>
              <a:off x="3914" y="3190"/>
              <a:ext cx="8" cy="21"/>
            </a:xfrm>
            <a:custGeom>
              <a:avLst/>
              <a:gdLst/>
              <a:ahLst/>
              <a:cxnLst/>
              <a:rect l="0" t="0" r="0" b="0"/>
              <a:pathLst>
                <a:path w="8" h="21">
                  <a:moveTo>
                    <a:pt x="0" y="2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21"/>
                  </a:lnTo>
                  <a:lnTo>
                    <a:pt x="0" y="21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7" name="任意多边形 270363"/>
            <p:cNvSpPr/>
            <p:nvPr/>
          </p:nvSpPr>
          <p:spPr>
            <a:xfrm>
              <a:off x="3914" y="3175"/>
              <a:ext cx="37" cy="36"/>
            </a:xfrm>
            <a:custGeom>
              <a:avLst/>
              <a:gdLst/>
              <a:ahLst/>
              <a:cxnLst/>
              <a:rect l="0" t="0" r="0" b="0"/>
              <a:pathLst>
                <a:path w="37" h="36">
                  <a:moveTo>
                    <a:pt x="0" y="15"/>
                  </a:moveTo>
                  <a:lnTo>
                    <a:pt x="0" y="0"/>
                  </a:lnTo>
                  <a:lnTo>
                    <a:pt x="37" y="15"/>
                  </a:lnTo>
                  <a:lnTo>
                    <a:pt x="0" y="36"/>
                  </a:lnTo>
                  <a:lnTo>
                    <a:pt x="0" y="15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68" name="矩形 270365"/>
            <p:cNvSpPr/>
            <p:nvPr/>
          </p:nvSpPr>
          <p:spPr>
            <a:xfrm>
              <a:off x="1536" y="3190"/>
              <a:ext cx="2378" cy="7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69" name="矩形 270366"/>
            <p:cNvSpPr/>
            <p:nvPr/>
          </p:nvSpPr>
          <p:spPr>
            <a:xfrm>
              <a:off x="1529" y="1638"/>
              <a:ext cx="7" cy="14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70" name="矩形 270367"/>
            <p:cNvSpPr/>
            <p:nvPr/>
          </p:nvSpPr>
          <p:spPr>
            <a:xfrm>
              <a:off x="2143" y="1638"/>
              <a:ext cx="7" cy="14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71" name="矩形 270368"/>
            <p:cNvSpPr/>
            <p:nvPr/>
          </p:nvSpPr>
          <p:spPr>
            <a:xfrm>
              <a:off x="1536" y="1638"/>
              <a:ext cx="607" cy="14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72" name="矩形 270369"/>
            <p:cNvSpPr/>
            <p:nvPr/>
          </p:nvSpPr>
          <p:spPr>
            <a:xfrm>
              <a:off x="2758" y="2930"/>
              <a:ext cx="7" cy="14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73" name="矩形 270370"/>
            <p:cNvSpPr/>
            <p:nvPr/>
          </p:nvSpPr>
          <p:spPr>
            <a:xfrm>
              <a:off x="3741" y="2923"/>
              <a:ext cx="7" cy="14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74" name="任意多边形 270371"/>
            <p:cNvSpPr/>
            <p:nvPr/>
          </p:nvSpPr>
          <p:spPr>
            <a:xfrm>
              <a:off x="2765" y="2923"/>
              <a:ext cx="976" cy="21"/>
            </a:xfrm>
            <a:custGeom>
              <a:avLst/>
              <a:gdLst/>
              <a:ahLst/>
              <a:cxnLst/>
              <a:rect l="0" t="0" r="0" b="0"/>
              <a:pathLst>
                <a:path w="976" h="21">
                  <a:moveTo>
                    <a:pt x="0" y="7"/>
                  </a:moveTo>
                  <a:lnTo>
                    <a:pt x="0" y="21"/>
                  </a:lnTo>
                  <a:lnTo>
                    <a:pt x="976" y="14"/>
                  </a:lnTo>
                  <a:lnTo>
                    <a:pt x="976" y="0"/>
                  </a:lnTo>
                  <a:lnTo>
                    <a:pt x="0" y="7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75" name="任意多边形 270372"/>
            <p:cNvSpPr/>
            <p:nvPr/>
          </p:nvSpPr>
          <p:spPr>
            <a:xfrm>
              <a:off x="2136" y="1638"/>
              <a:ext cx="14" cy="14"/>
            </a:xfrm>
            <a:custGeom>
              <a:avLst/>
              <a:gdLst/>
              <a:ahLst/>
              <a:cxnLst/>
              <a:rect l="0" t="0" r="0" b="0"/>
              <a:pathLst>
                <a:path w="14" h="14">
                  <a:moveTo>
                    <a:pt x="14" y="0"/>
                  </a:moveTo>
                  <a:lnTo>
                    <a:pt x="7" y="0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14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76" name="任意多边形 270373"/>
            <p:cNvSpPr/>
            <p:nvPr/>
          </p:nvSpPr>
          <p:spPr>
            <a:xfrm>
              <a:off x="2143" y="1638"/>
              <a:ext cx="456" cy="1205"/>
            </a:xfrm>
            <a:custGeom>
              <a:avLst/>
              <a:gdLst/>
              <a:ahLst/>
              <a:cxnLst/>
              <a:rect l="0" t="0" r="0" b="0"/>
              <a:pathLst>
                <a:path w="456" h="1205">
                  <a:moveTo>
                    <a:pt x="7" y="0"/>
                  </a:moveTo>
                  <a:lnTo>
                    <a:pt x="101" y="36"/>
                  </a:lnTo>
                  <a:lnTo>
                    <a:pt x="101" y="36"/>
                  </a:lnTo>
                  <a:lnTo>
                    <a:pt x="101" y="36"/>
                  </a:lnTo>
                  <a:lnTo>
                    <a:pt x="174" y="87"/>
                  </a:lnTo>
                  <a:lnTo>
                    <a:pt x="174" y="94"/>
                  </a:lnTo>
                  <a:lnTo>
                    <a:pt x="174" y="94"/>
                  </a:lnTo>
                  <a:lnTo>
                    <a:pt x="224" y="159"/>
                  </a:lnTo>
                  <a:lnTo>
                    <a:pt x="224" y="159"/>
                  </a:lnTo>
                  <a:lnTo>
                    <a:pt x="224" y="159"/>
                  </a:lnTo>
                  <a:lnTo>
                    <a:pt x="260" y="238"/>
                  </a:lnTo>
                  <a:lnTo>
                    <a:pt x="260" y="238"/>
                  </a:lnTo>
                  <a:lnTo>
                    <a:pt x="260" y="238"/>
                  </a:lnTo>
                  <a:lnTo>
                    <a:pt x="297" y="426"/>
                  </a:lnTo>
                  <a:lnTo>
                    <a:pt x="297" y="426"/>
                  </a:lnTo>
                  <a:lnTo>
                    <a:pt x="297" y="426"/>
                  </a:lnTo>
                  <a:lnTo>
                    <a:pt x="304" y="635"/>
                  </a:lnTo>
                  <a:lnTo>
                    <a:pt x="304" y="635"/>
                  </a:lnTo>
                  <a:lnTo>
                    <a:pt x="304" y="635"/>
                  </a:lnTo>
                  <a:lnTo>
                    <a:pt x="318" y="852"/>
                  </a:lnTo>
                  <a:lnTo>
                    <a:pt x="318" y="852"/>
                  </a:lnTo>
                  <a:lnTo>
                    <a:pt x="318" y="852"/>
                  </a:lnTo>
                  <a:lnTo>
                    <a:pt x="354" y="1039"/>
                  </a:lnTo>
                  <a:lnTo>
                    <a:pt x="354" y="1039"/>
                  </a:lnTo>
                  <a:lnTo>
                    <a:pt x="354" y="1039"/>
                  </a:lnTo>
                  <a:lnTo>
                    <a:pt x="398" y="1126"/>
                  </a:lnTo>
                  <a:lnTo>
                    <a:pt x="398" y="1126"/>
                  </a:lnTo>
                  <a:lnTo>
                    <a:pt x="398" y="1126"/>
                  </a:lnTo>
                  <a:lnTo>
                    <a:pt x="456" y="1198"/>
                  </a:lnTo>
                  <a:lnTo>
                    <a:pt x="456" y="1191"/>
                  </a:lnTo>
                  <a:lnTo>
                    <a:pt x="448" y="1205"/>
                  </a:lnTo>
                  <a:lnTo>
                    <a:pt x="441" y="1205"/>
                  </a:lnTo>
                  <a:lnTo>
                    <a:pt x="383" y="1133"/>
                  </a:lnTo>
                  <a:lnTo>
                    <a:pt x="383" y="1133"/>
                  </a:lnTo>
                  <a:lnTo>
                    <a:pt x="383" y="1133"/>
                  </a:lnTo>
                  <a:lnTo>
                    <a:pt x="340" y="1046"/>
                  </a:lnTo>
                  <a:lnTo>
                    <a:pt x="340" y="1046"/>
                  </a:lnTo>
                  <a:lnTo>
                    <a:pt x="340" y="1039"/>
                  </a:lnTo>
                  <a:lnTo>
                    <a:pt x="304" y="852"/>
                  </a:lnTo>
                  <a:lnTo>
                    <a:pt x="304" y="852"/>
                  </a:lnTo>
                  <a:lnTo>
                    <a:pt x="304" y="852"/>
                  </a:lnTo>
                  <a:lnTo>
                    <a:pt x="289" y="635"/>
                  </a:lnTo>
                  <a:lnTo>
                    <a:pt x="289" y="635"/>
                  </a:lnTo>
                  <a:lnTo>
                    <a:pt x="289" y="635"/>
                  </a:lnTo>
                  <a:lnTo>
                    <a:pt x="282" y="426"/>
                  </a:lnTo>
                  <a:lnTo>
                    <a:pt x="282" y="426"/>
                  </a:lnTo>
                  <a:lnTo>
                    <a:pt x="282" y="426"/>
                  </a:lnTo>
                  <a:lnTo>
                    <a:pt x="246" y="238"/>
                  </a:lnTo>
                  <a:lnTo>
                    <a:pt x="246" y="238"/>
                  </a:lnTo>
                  <a:lnTo>
                    <a:pt x="246" y="245"/>
                  </a:lnTo>
                  <a:lnTo>
                    <a:pt x="210" y="166"/>
                  </a:lnTo>
                  <a:lnTo>
                    <a:pt x="210" y="166"/>
                  </a:lnTo>
                  <a:lnTo>
                    <a:pt x="210" y="166"/>
                  </a:lnTo>
                  <a:lnTo>
                    <a:pt x="159" y="101"/>
                  </a:lnTo>
                  <a:lnTo>
                    <a:pt x="159" y="101"/>
                  </a:lnTo>
                  <a:lnTo>
                    <a:pt x="166" y="101"/>
                  </a:lnTo>
                  <a:lnTo>
                    <a:pt x="94" y="51"/>
                  </a:lnTo>
                  <a:lnTo>
                    <a:pt x="94" y="51"/>
                  </a:lnTo>
                  <a:lnTo>
                    <a:pt x="94" y="51"/>
                  </a:lnTo>
                  <a:lnTo>
                    <a:pt x="0" y="14"/>
                  </a:lnTo>
                  <a:lnTo>
                    <a:pt x="7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77" name="任意多边形 270374"/>
            <p:cNvSpPr/>
            <p:nvPr/>
          </p:nvSpPr>
          <p:spPr>
            <a:xfrm>
              <a:off x="2591" y="2829"/>
              <a:ext cx="87" cy="72"/>
            </a:xfrm>
            <a:custGeom>
              <a:avLst/>
              <a:gdLst/>
              <a:ahLst/>
              <a:cxnLst/>
              <a:rect l="0" t="0" r="0" b="0"/>
              <a:pathLst>
                <a:path w="87" h="72">
                  <a:moveTo>
                    <a:pt x="8" y="0"/>
                  </a:moveTo>
                  <a:lnTo>
                    <a:pt x="87" y="58"/>
                  </a:lnTo>
                  <a:lnTo>
                    <a:pt x="87" y="58"/>
                  </a:lnTo>
                  <a:lnTo>
                    <a:pt x="80" y="72"/>
                  </a:lnTo>
                  <a:lnTo>
                    <a:pt x="80" y="72"/>
                  </a:lnTo>
                  <a:lnTo>
                    <a:pt x="0" y="14"/>
                  </a:lnTo>
                  <a:lnTo>
                    <a:pt x="8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78" name="任意多边形 270375"/>
            <p:cNvSpPr/>
            <p:nvPr/>
          </p:nvSpPr>
          <p:spPr>
            <a:xfrm>
              <a:off x="2779" y="2930"/>
              <a:ext cx="15" cy="14"/>
            </a:xfrm>
            <a:custGeom>
              <a:avLst/>
              <a:gdLst/>
              <a:ahLst/>
              <a:cxnLst/>
              <a:rect l="0" t="0" r="0" b="0"/>
              <a:pathLst>
                <a:path w="15" h="14">
                  <a:moveTo>
                    <a:pt x="8" y="0"/>
                  </a:moveTo>
                  <a:lnTo>
                    <a:pt x="15" y="0"/>
                  </a:lnTo>
                  <a:lnTo>
                    <a:pt x="8" y="14"/>
                  </a:lnTo>
                  <a:lnTo>
                    <a:pt x="0" y="14"/>
                  </a:lnTo>
                  <a:lnTo>
                    <a:pt x="8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79" name="任意多边形 270376"/>
            <p:cNvSpPr/>
            <p:nvPr/>
          </p:nvSpPr>
          <p:spPr>
            <a:xfrm>
              <a:off x="2671" y="2887"/>
              <a:ext cx="116" cy="57"/>
            </a:xfrm>
            <a:custGeom>
              <a:avLst/>
              <a:gdLst/>
              <a:ahLst/>
              <a:cxnLst/>
              <a:rect l="0" t="0" r="0" b="0"/>
              <a:pathLst>
                <a:path w="116" h="57">
                  <a:moveTo>
                    <a:pt x="7" y="0"/>
                  </a:moveTo>
                  <a:lnTo>
                    <a:pt x="0" y="14"/>
                  </a:lnTo>
                  <a:lnTo>
                    <a:pt x="108" y="57"/>
                  </a:lnTo>
                  <a:lnTo>
                    <a:pt x="116" y="43"/>
                  </a:lnTo>
                  <a:lnTo>
                    <a:pt x="7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80" name="矩形 270377"/>
            <p:cNvSpPr/>
            <p:nvPr/>
          </p:nvSpPr>
          <p:spPr>
            <a:xfrm>
              <a:off x="3358" y="2937"/>
              <a:ext cx="7" cy="253"/>
            </a:xfrm>
            <a:prstGeom prst="rect">
              <a:avLst/>
            </a:prstGeom>
            <a:blipFill rotWithShape="0">
              <a:blip r:embed="rId5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81" name="矩形 270378"/>
            <p:cNvSpPr/>
            <p:nvPr/>
          </p:nvSpPr>
          <p:spPr>
            <a:xfrm>
              <a:off x="1839" y="1645"/>
              <a:ext cx="8" cy="1545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 sz="1500">
                <a:latin typeface="Arial" panose="020B0604020202020204" pitchFamily="34" charset="0"/>
              </a:endParaRPr>
            </a:p>
          </p:txBody>
        </p:sp>
        <p:sp>
          <p:nvSpPr>
            <p:cNvPr id="39982" name="矩形 270379"/>
            <p:cNvSpPr/>
            <p:nvPr/>
          </p:nvSpPr>
          <p:spPr>
            <a:xfrm>
              <a:off x="3830" y="3248"/>
              <a:ext cx="23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i="0">
                  <a:solidFill>
                    <a:srgbClr val="000000"/>
                  </a:solidFill>
                  <a:latin typeface="Arial" panose="020B0604020202020204" pitchFamily="34" charset="0"/>
                </a:rPr>
                <a:t>V(x)</a:t>
              </a:r>
              <a:endParaRPr lang="en-US" altLang="zh-CN" sz="3665" i="0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3" name="矩形 270380"/>
            <p:cNvSpPr/>
            <p:nvPr/>
          </p:nvSpPr>
          <p:spPr>
            <a:xfrm>
              <a:off x="1184" y="1118"/>
              <a:ext cx="23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i="0">
                  <a:solidFill>
                    <a:srgbClr val="000000"/>
                  </a:solidFill>
                  <a:latin typeface="Arial" panose="020B0604020202020204" pitchFamily="34" charset="0"/>
                </a:rPr>
                <a:t>V(y)</a:t>
              </a:r>
              <a:endParaRPr lang="en-US" altLang="zh-CN" sz="3665" i="0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4" name="矩形 270381"/>
            <p:cNvSpPr/>
            <p:nvPr/>
          </p:nvSpPr>
          <p:spPr>
            <a:xfrm>
              <a:off x="1164" y="1595"/>
              <a:ext cx="8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V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5" name="矩形 270382"/>
            <p:cNvSpPr/>
            <p:nvPr/>
          </p:nvSpPr>
          <p:spPr>
            <a:xfrm>
              <a:off x="1258" y="1667"/>
              <a:ext cx="193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OH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6" name="矩形 270383"/>
            <p:cNvSpPr/>
            <p:nvPr/>
          </p:nvSpPr>
          <p:spPr>
            <a:xfrm>
              <a:off x="1135" y="2822"/>
              <a:ext cx="8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V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7" name="矩形 270384"/>
            <p:cNvSpPr/>
            <p:nvPr/>
          </p:nvSpPr>
          <p:spPr>
            <a:xfrm>
              <a:off x="1229" y="2879"/>
              <a:ext cx="179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OL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88" name="任意多边形 270385"/>
            <p:cNvSpPr/>
            <p:nvPr/>
          </p:nvSpPr>
          <p:spPr>
            <a:xfrm>
              <a:off x="3293" y="2887"/>
              <a:ext cx="115" cy="101"/>
            </a:xfrm>
            <a:custGeom>
              <a:avLst/>
              <a:gdLst/>
              <a:ahLst/>
              <a:cxnLst/>
              <a:rect l="0" t="0" r="0" b="0"/>
              <a:pathLst>
                <a:path w="115" h="101">
                  <a:moveTo>
                    <a:pt x="115" y="50"/>
                  </a:moveTo>
                  <a:lnTo>
                    <a:pt x="94" y="14"/>
                  </a:lnTo>
                  <a:lnTo>
                    <a:pt x="57" y="0"/>
                  </a:lnTo>
                  <a:lnTo>
                    <a:pt x="14" y="14"/>
                  </a:lnTo>
                  <a:lnTo>
                    <a:pt x="0" y="50"/>
                  </a:lnTo>
                  <a:lnTo>
                    <a:pt x="14" y="86"/>
                  </a:lnTo>
                  <a:lnTo>
                    <a:pt x="57" y="101"/>
                  </a:lnTo>
                  <a:lnTo>
                    <a:pt x="94" y="86"/>
                  </a:lnTo>
                  <a:lnTo>
                    <a:pt x="115" y="5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89" name="任意多边形 270386"/>
            <p:cNvSpPr/>
            <p:nvPr/>
          </p:nvSpPr>
          <p:spPr>
            <a:xfrm>
              <a:off x="3293" y="2887"/>
              <a:ext cx="123" cy="108"/>
            </a:xfrm>
            <a:custGeom>
              <a:avLst/>
              <a:gdLst/>
              <a:ahLst/>
              <a:cxnLst/>
              <a:rect l="0" t="0" r="0" b="0"/>
              <a:pathLst>
                <a:path w="123" h="108">
                  <a:moveTo>
                    <a:pt x="115" y="57"/>
                  </a:moveTo>
                  <a:lnTo>
                    <a:pt x="94" y="21"/>
                  </a:lnTo>
                  <a:lnTo>
                    <a:pt x="94" y="21"/>
                  </a:lnTo>
                  <a:lnTo>
                    <a:pt x="94" y="21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14" y="21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7" y="50"/>
                  </a:lnTo>
                  <a:lnTo>
                    <a:pt x="21" y="86"/>
                  </a:lnTo>
                  <a:lnTo>
                    <a:pt x="14" y="86"/>
                  </a:lnTo>
                  <a:lnTo>
                    <a:pt x="14" y="86"/>
                  </a:lnTo>
                  <a:lnTo>
                    <a:pt x="57" y="101"/>
                  </a:lnTo>
                  <a:lnTo>
                    <a:pt x="57" y="101"/>
                  </a:lnTo>
                  <a:lnTo>
                    <a:pt x="57" y="101"/>
                  </a:lnTo>
                  <a:lnTo>
                    <a:pt x="94" y="86"/>
                  </a:lnTo>
                  <a:lnTo>
                    <a:pt x="94" y="86"/>
                  </a:lnTo>
                  <a:lnTo>
                    <a:pt x="94" y="86"/>
                  </a:lnTo>
                  <a:lnTo>
                    <a:pt x="115" y="50"/>
                  </a:lnTo>
                  <a:lnTo>
                    <a:pt x="115" y="50"/>
                  </a:lnTo>
                  <a:lnTo>
                    <a:pt x="123" y="57"/>
                  </a:lnTo>
                  <a:lnTo>
                    <a:pt x="123" y="57"/>
                  </a:lnTo>
                  <a:lnTo>
                    <a:pt x="101" y="93"/>
                  </a:lnTo>
                  <a:lnTo>
                    <a:pt x="101" y="93"/>
                  </a:lnTo>
                  <a:lnTo>
                    <a:pt x="94" y="93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57" y="108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4" y="86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94" y="14"/>
                  </a:lnTo>
                  <a:lnTo>
                    <a:pt x="94" y="14"/>
                  </a:lnTo>
                  <a:lnTo>
                    <a:pt x="101" y="14"/>
                  </a:lnTo>
                  <a:lnTo>
                    <a:pt x="123" y="50"/>
                  </a:lnTo>
                  <a:lnTo>
                    <a:pt x="115" y="57"/>
                  </a:lnTo>
                  <a:close/>
                </a:path>
              </a:pathLst>
            </a:custGeom>
            <a:blipFill rotWithShape="0">
              <a:blip r:embed="rId5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0" name="任意多边形 270387"/>
            <p:cNvSpPr/>
            <p:nvPr/>
          </p:nvSpPr>
          <p:spPr>
            <a:xfrm>
              <a:off x="3408" y="2937"/>
              <a:ext cx="8" cy="7"/>
            </a:xfrm>
            <a:custGeom>
              <a:avLst/>
              <a:gdLst/>
              <a:ahLst/>
              <a:cxnLst/>
              <a:rect l="0" t="0" r="0" b="0"/>
              <a:pathLst>
                <a:path w="8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8" y="0"/>
                  </a:lnTo>
                  <a:lnTo>
                    <a:pt x="8" y="7"/>
                  </a:lnTo>
                  <a:lnTo>
                    <a:pt x="8" y="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1" name="任意多边形 270388"/>
            <p:cNvSpPr/>
            <p:nvPr/>
          </p:nvSpPr>
          <p:spPr>
            <a:xfrm>
              <a:off x="1782" y="1595"/>
              <a:ext cx="115" cy="94"/>
            </a:xfrm>
            <a:custGeom>
              <a:avLst/>
              <a:gdLst/>
              <a:ahLst/>
              <a:cxnLst/>
              <a:rect l="0" t="0" r="0" b="0"/>
              <a:pathLst>
                <a:path w="115" h="94">
                  <a:moveTo>
                    <a:pt x="115" y="43"/>
                  </a:moveTo>
                  <a:lnTo>
                    <a:pt x="101" y="14"/>
                  </a:lnTo>
                  <a:lnTo>
                    <a:pt x="57" y="0"/>
                  </a:lnTo>
                  <a:lnTo>
                    <a:pt x="21" y="14"/>
                  </a:lnTo>
                  <a:lnTo>
                    <a:pt x="0" y="43"/>
                  </a:lnTo>
                  <a:lnTo>
                    <a:pt x="21" y="79"/>
                  </a:lnTo>
                  <a:lnTo>
                    <a:pt x="57" y="94"/>
                  </a:lnTo>
                  <a:lnTo>
                    <a:pt x="101" y="79"/>
                  </a:lnTo>
                  <a:lnTo>
                    <a:pt x="115" y="43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2" name="任意多边形 270389"/>
            <p:cNvSpPr/>
            <p:nvPr/>
          </p:nvSpPr>
          <p:spPr>
            <a:xfrm>
              <a:off x="1782" y="1595"/>
              <a:ext cx="123" cy="101"/>
            </a:xfrm>
            <a:custGeom>
              <a:avLst/>
              <a:gdLst/>
              <a:ahLst/>
              <a:cxnLst/>
              <a:rect l="0" t="0" r="0" b="0"/>
              <a:pathLst>
                <a:path w="123" h="101">
                  <a:moveTo>
                    <a:pt x="115" y="43"/>
                  </a:moveTo>
                  <a:lnTo>
                    <a:pt x="101" y="14"/>
                  </a:lnTo>
                  <a:lnTo>
                    <a:pt x="101" y="21"/>
                  </a:lnTo>
                  <a:lnTo>
                    <a:pt x="101" y="21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57" y="7"/>
                  </a:lnTo>
                  <a:lnTo>
                    <a:pt x="21" y="21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7" y="50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29" y="79"/>
                  </a:lnTo>
                  <a:lnTo>
                    <a:pt x="21" y="79"/>
                  </a:lnTo>
                  <a:lnTo>
                    <a:pt x="21" y="79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57" y="94"/>
                  </a:lnTo>
                  <a:lnTo>
                    <a:pt x="101" y="79"/>
                  </a:lnTo>
                  <a:lnTo>
                    <a:pt x="101" y="79"/>
                  </a:lnTo>
                  <a:lnTo>
                    <a:pt x="101" y="79"/>
                  </a:lnTo>
                  <a:lnTo>
                    <a:pt x="115" y="43"/>
                  </a:lnTo>
                  <a:lnTo>
                    <a:pt x="115" y="43"/>
                  </a:lnTo>
                  <a:lnTo>
                    <a:pt x="123" y="43"/>
                  </a:lnTo>
                  <a:lnTo>
                    <a:pt x="123" y="43"/>
                  </a:lnTo>
                  <a:lnTo>
                    <a:pt x="108" y="79"/>
                  </a:lnTo>
                  <a:lnTo>
                    <a:pt x="108" y="79"/>
                  </a:lnTo>
                  <a:lnTo>
                    <a:pt x="101" y="86"/>
                  </a:lnTo>
                  <a:lnTo>
                    <a:pt x="57" y="101"/>
                  </a:lnTo>
                  <a:lnTo>
                    <a:pt x="57" y="101"/>
                  </a:lnTo>
                  <a:lnTo>
                    <a:pt x="57" y="101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3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101" y="14"/>
                  </a:lnTo>
                  <a:lnTo>
                    <a:pt x="101" y="14"/>
                  </a:lnTo>
                  <a:lnTo>
                    <a:pt x="108" y="14"/>
                  </a:lnTo>
                  <a:lnTo>
                    <a:pt x="123" y="43"/>
                  </a:lnTo>
                  <a:lnTo>
                    <a:pt x="115" y="43"/>
                  </a:lnTo>
                  <a:close/>
                </a:path>
              </a:pathLst>
            </a:custGeom>
            <a:blipFill rotWithShape="0">
              <a:blip r:embed="rId5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3" name="任意多边形 270391"/>
            <p:cNvSpPr/>
            <p:nvPr/>
          </p:nvSpPr>
          <p:spPr>
            <a:xfrm>
              <a:off x="2389" y="2374"/>
              <a:ext cx="116" cy="101"/>
            </a:xfrm>
            <a:custGeom>
              <a:avLst/>
              <a:gdLst/>
              <a:ahLst/>
              <a:cxnLst/>
              <a:rect l="0" t="0" r="0" b="0"/>
              <a:pathLst>
                <a:path w="116" h="101">
                  <a:moveTo>
                    <a:pt x="116" y="51"/>
                  </a:moveTo>
                  <a:lnTo>
                    <a:pt x="101" y="15"/>
                  </a:lnTo>
                  <a:lnTo>
                    <a:pt x="58" y="0"/>
                  </a:lnTo>
                  <a:lnTo>
                    <a:pt x="14" y="15"/>
                  </a:lnTo>
                  <a:lnTo>
                    <a:pt x="0" y="51"/>
                  </a:lnTo>
                  <a:lnTo>
                    <a:pt x="14" y="87"/>
                  </a:lnTo>
                  <a:lnTo>
                    <a:pt x="58" y="101"/>
                  </a:lnTo>
                  <a:lnTo>
                    <a:pt x="101" y="87"/>
                  </a:lnTo>
                  <a:lnTo>
                    <a:pt x="116" y="51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4" name="任意多边形 270392"/>
            <p:cNvSpPr/>
            <p:nvPr/>
          </p:nvSpPr>
          <p:spPr>
            <a:xfrm>
              <a:off x="2389" y="2374"/>
              <a:ext cx="123" cy="108"/>
            </a:xfrm>
            <a:custGeom>
              <a:avLst/>
              <a:gdLst/>
              <a:ahLst/>
              <a:cxnLst/>
              <a:rect l="0" t="0" r="0" b="0"/>
              <a:pathLst>
                <a:path w="123" h="108">
                  <a:moveTo>
                    <a:pt x="116" y="51"/>
                  </a:moveTo>
                  <a:lnTo>
                    <a:pt x="101" y="15"/>
                  </a:lnTo>
                  <a:lnTo>
                    <a:pt x="101" y="22"/>
                  </a:lnTo>
                  <a:lnTo>
                    <a:pt x="101" y="22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14" y="22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7" y="51"/>
                  </a:lnTo>
                  <a:lnTo>
                    <a:pt x="22" y="87"/>
                  </a:lnTo>
                  <a:lnTo>
                    <a:pt x="14" y="87"/>
                  </a:lnTo>
                  <a:lnTo>
                    <a:pt x="14" y="87"/>
                  </a:lnTo>
                  <a:lnTo>
                    <a:pt x="58" y="101"/>
                  </a:lnTo>
                  <a:lnTo>
                    <a:pt x="58" y="101"/>
                  </a:lnTo>
                  <a:lnTo>
                    <a:pt x="58" y="101"/>
                  </a:lnTo>
                  <a:lnTo>
                    <a:pt x="101" y="87"/>
                  </a:lnTo>
                  <a:lnTo>
                    <a:pt x="101" y="87"/>
                  </a:lnTo>
                  <a:lnTo>
                    <a:pt x="101" y="87"/>
                  </a:lnTo>
                  <a:lnTo>
                    <a:pt x="116" y="51"/>
                  </a:lnTo>
                  <a:lnTo>
                    <a:pt x="116" y="51"/>
                  </a:lnTo>
                  <a:lnTo>
                    <a:pt x="123" y="51"/>
                  </a:lnTo>
                  <a:lnTo>
                    <a:pt x="123" y="51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1" y="94"/>
                  </a:lnTo>
                  <a:lnTo>
                    <a:pt x="58" y="108"/>
                  </a:lnTo>
                  <a:lnTo>
                    <a:pt x="58" y="108"/>
                  </a:lnTo>
                  <a:lnTo>
                    <a:pt x="58" y="108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4" y="8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4" y="15"/>
                  </a:lnTo>
                  <a:lnTo>
                    <a:pt x="14" y="15"/>
                  </a:lnTo>
                  <a:lnTo>
                    <a:pt x="14" y="15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101" y="15"/>
                  </a:lnTo>
                  <a:lnTo>
                    <a:pt x="101" y="15"/>
                  </a:lnTo>
                  <a:lnTo>
                    <a:pt x="108" y="15"/>
                  </a:lnTo>
                  <a:lnTo>
                    <a:pt x="123" y="51"/>
                  </a:lnTo>
                  <a:lnTo>
                    <a:pt x="116" y="51"/>
                  </a:lnTo>
                  <a:close/>
                </a:path>
              </a:pathLst>
            </a:custGeom>
            <a:blipFill rotWithShape="0">
              <a:blip r:embed="rId5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9995" name="矩形 270394"/>
            <p:cNvSpPr/>
            <p:nvPr/>
          </p:nvSpPr>
          <p:spPr>
            <a:xfrm>
              <a:off x="2620" y="2403"/>
              <a:ext cx="8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D01608"/>
                  </a:solidFill>
                  <a:latin typeface="Arial" panose="020B0604020202020204" pitchFamily="34" charset="0"/>
                </a:rPr>
                <a:t>V</a:t>
              </a:r>
              <a:endParaRPr lang="en-US" altLang="zh-CN" sz="3665" b="1" i="0">
                <a:solidFill>
                  <a:srgbClr val="D016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6" name="矩形 270395"/>
            <p:cNvSpPr/>
            <p:nvPr/>
          </p:nvSpPr>
          <p:spPr>
            <a:xfrm>
              <a:off x="2688" y="2467"/>
              <a:ext cx="87" cy="1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085" b="1" i="0">
                  <a:solidFill>
                    <a:srgbClr val="D01608"/>
                  </a:solidFill>
                  <a:latin typeface="Arial" panose="020B0604020202020204" pitchFamily="34" charset="0"/>
                </a:rPr>
                <a:t>M</a:t>
              </a:r>
              <a:endParaRPr lang="en-US" altLang="zh-CN" sz="3665" b="1" i="0">
                <a:solidFill>
                  <a:srgbClr val="D016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7" name="矩形 270396"/>
            <p:cNvSpPr/>
            <p:nvPr/>
          </p:nvSpPr>
          <p:spPr>
            <a:xfrm>
              <a:off x="2808" y="2461"/>
              <a:ext cx="3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i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US" altLang="zh-CN" sz="3665" i="0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8" name="矩形 270397"/>
            <p:cNvSpPr/>
            <p:nvPr/>
          </p:nvSpPr>
          <p:spPr>
            <a:xfrm>
              <a:off x="3184" y="3261"/>
              <a:ext cx="8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V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99" name="矩形 270398"/>
            <p:cNvSpPr/>
            <p:nvPr/>
          </p:nvSpPr>
          <p:spPr>
            <a:xfrm>
              <a:off x="3278" y="3333"/>
              <a:ext cx="193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OH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0" name="矩形 270399"/>
            <p:cNvSpPr/>
            <p:nvPr/>
          </p:nvSpPr>
          <p:spPr>
            <a:xfrm>
              <a:off x="1738" y="3260"/>
              <a:ext cx="8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V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1" name="矩形 270400"/>
            <p:cNvSpPr/>
            <p:nvPr/>
          </p:nvSpPr>
          <p:spPr>
            <a:xfrm>
              <a:off x="1832" y="3317"/>
              <a:ext cx="179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 i="0">
                  <a:solidFill>
                    <a:srgbClr val="CC0000"/>
                  </a:solidFill>
                  <a:latin typeface="Arial" panose="020B0604020202020204" pitchFamily="34" charset="0"/>
                </a:rPr>
                <a:t>OL</a:t>
              </a:r>
              <a:endParaRPr lang="en-US" altLang="zh-CN" sz="3665" b="1" i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2" name="矩形 270401"/>
            <p:cNvSpPr/>
            <p:nvPr/>
          </p:nvSpPr>
          <p:spPr>
            <a:xfrm>
              <a:off x="2389" y="1609"/>
              <a:ext cx="36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endParaRPr lang="en-US" altLang="zh-CN" sz="3665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3" name="矩形 270402"/>
            <p:cNvSpPr/>
            <p:nvPr/>
          </p:nvSpPr>
          <p:spPr>
            <a:xfrm>
              <a:off x="3242" y="1775"/>
              <a:ext cx="547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i="0">
                  <a:solidFill>
                    <a:srgbClr val="000000"/>
                  </a:solidFill>
                  <a:latin typeface="Arial" panose="020B0604020202020204" pitchFamily="34" charset="0"/>
                </a:rPr>
                <a:t>V(y)=V(x)</a:t>
              </a:r>
              <a:endParaRPr lang="en-US" altLang="zh-CN" sz="3665" i="0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4" name="矩形 270403"/>
            <p:cNvSpPr/>
            <p:nvPr/>
          </p:nvSpPr>
          <p:spPr>
            <a:xfrm>
              <a:off x="2832" y="2353"/>
              <a:ext cx="1265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 b="1">
                  <a:solidFill>
                    <a:srgbClr val="D01608"/>
                  </a:solidFill>
                  <a:latin typeface="Arial" panose="020B0604020202020204" pitchFamily="34" charset="0"/>
                </a:rPr>
                <a:t>Switching Threshold</a:t>
              </a:r>
              <a:endParaRPr lang="en-US" altLang="zh-CN" sz="3665" b="1" i="0">
                <a:solidFill>
                  <a:srgbClr val="D01608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5" name="矩形 270404"/>
            <p:cNvSpPr/>
            <p:nvPr/>
          </p:nvSpPr>
          <p:spPr>
            <a:xfrm>
              <a:off x="3090" y="3774"/>
              <a:ext cx="1344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35">
                  <a:solidFill>
                    <a:srgbClr val="000000"/>
                  </a:solidFill>
                  <a:latin typeface="Arial" panose="020B0604020202020204" pitchFamily="34" charset="0"/>
                </a:rPr>
                <a:t>Nominal Voltage Levels</a:t>
              </a:r>
              <a:endParaRPr lang="en-US" altLang="zh-CN" sz="3665" i="0">
                <a:solidFill>
                  <a:srgbClr val="0000B6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06" name="任意多边形 270405"/>
            <p:cNvSpPr/>
            <p:nvPr/>
          </p:nvSpPr>
          <p:spPr>
            <a:xfrm>
              <a:off x="3285" y="3522"/>
              <a:ext cx="73" cy="108"/>
            </a:xfrm>
            <a:custGeom>
              <a:avLst/>
              <a:gdLst/>
              <a:ahLst/>
              <a:cxnLst/>
              <a:rect l="0" t="0" r="0" b="0"/>
              <a:pathLst>
                <a:path w="73" h="108">
                  <a:moveTo>
                    <a:pt x="37" y="101"/>
                  </a:moveTo>
                  <a:lnTo>
                    <a:pt x="15" y="108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8" y="21"/>
                  </a:lnTo>
                  <a:lnTo>
                    <a:pt x="0" y="0"/>
                  </a:lnTo>
                  <a:lnTo>
                    <a:pt x="15" y="21"/>
                  </a:lnTo>
                  <a:lnTo>
                    <a:pt x="73" y="86"/>
                  </a:lnTo>
                  <a:lnTo>
                    <a:pt x="73" y="86"/>
                  </a:lnTo>
                  <a:lnTo>
                    <a:pt x="65" y="86"/>
                  </a:lnTo>
                  <a:lnTo>
                    <a:pt x="65" y="86"/>
                  </a:lnTo>
                  <a:lnTo>
                    <a:pt x="8" y="21"/>
                  </a:lnTo>
                  <a:lnTo>
                    <a:pt x="15" y="21"/>
                  </a:lnTo>
                  <a:lnTo>
                    <a:pt x="15" y="21"/>
                  </a:lnTo>
                  <a:lnTo>
                    <a:pt x="22" y="108"/>
                  </a:lnTo>
                  <a:lnTo>
                    <a:pt x="15" y="108"/>
                  </a:lnTo>
                  <a:lnTo>
                    <a:pt x="15" y="101"/>
                  </a:lnTo>
                  <a:lnTo>
                    <a:pt x="37" y="93"/>
                  </a:lnTo>
                  <a:lnTo>
                    <a:pt x="37" y="101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07" name="任意多边形 270406"/>
            <p:cNvSpPr/>
            <p:nvPr/>
          </p:nvSpPr>
          <p:spPr>
            <a:xfrm>
              <a:off x="3322" y="3601"/>
              <a:ext cx="28" cy="22"/>
            </a:xfrm>
            <a:custGeom>
              <a:avLst/>
              <a:gdLst/>
              <a:ahLst/>
              <a:cxnLst/>
              <a:rect l="0" t="0" r="0" b="0"/>
              <a:pathLst>
                <a:path w="28" h="22">
                  <a:moveTo>
                    <a:pt x="28" y="7"/>
                  </a:move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28" y="0"/>
                  </a:lnTo>
                  <a:lnTo>
                    <a:pt x="28" y="7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08" name="任意多边形 270407"/>
            <p:cNvSpPr/>
            <p:nvPr/>
          </p:nvSpPr>
          <p:spPr>
            <a:xfrm>
              <a:off x="3293" y="3543"/>
              <a:ext cx="57" cy="87"/>
            </a:xfrm>
            <a:custGeom>
              <a:avLst/>
              <a:gdLst/>
              <a:ahLst/>
              <a:cxnLst/>
              <a:rect l="0" t="0" r="0" b="0"/>
              <a:pathLst>
                <a:path w="57" h="87">
                  <a:moveTo>
                    <a:pt x="29" y="80"/>
                  </a:moveTo>
                  <a:lnTo>
                    <a:pt x="7" y="87"/>
                  </a:lnTo>
                  <a:lnTo>
                    <a:pt x="0" y="0"/>
                  </a:lnTo>
                  <a:lnTo>
                    <a:pt x="57" y="65"/>
                  </a:lnTo>
                  <a:lnTo>
                    <a:pt x="29" y="8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09" name="任意多边形 270408"/>
            <p:cNvSpPr/>
            <p:nvPr/>
          </p:nvSpPr>
          <p:spPr>
            <a:xfrm>
              <a:off x="3329" y="3623"/>
              <a:ext cx="65" cy="137"/>
            </a:xfrm>
            <a:custGeom>
              <a:avLst/>
              <a:gdLst/>
              <a:ahLst/>
              <a:cxnLst/>
              <a:rect l="0" t="0" r="0" b="0"/>
              <a:pathLst>
                <a:path w="65" h="137">
                  <a:moveTo>
                    <a:pt x="58" y="137"/>
                  </a:moveTo>
                  <a:lnTo>
                    <a:pt x="65" y="137"/>
                  </a:lnTo>
                  <a:lnTo>
                    <a:pt x="7" y="0"/>
                  </a:lnTo>
                  <a:lnTo>
                    <a:pt x="0" y="0"/>
                  </a:lnTo>
                  <a:lnTo>
                    <a:pt x="58" y="137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10" name="任意多边形 270409"/>
            <p:cNvSpPr/>
            <p:nvPr/>
          </p:nvSpPr>
          <p:spPr>
            <a:xfrm>
              <a:off x="2071" y="3486"/>
              <a:ext cx="115" cy="57"/>
            </a:xfrm>
            <a:custGeom>
              <a:avLst/>
              <a:gdLst/>
              <a:ahLst/>
              <a:cxnLst/>
              <a:rect l="0" t="0" r="0" b="0"/>
              <a:pathLst>
                <a:path w="115" h="57">
                  <a:moveTo>
                    <a:pt x="108" y="36"/>
                  </a:moveTo>
                  <a:lnTo>
                    <a:pt x="101" y="57"/>
                  </a:lnTo>
                  <a:lnTo>
                    <a:pt x="101" y="57"/>
                  </a:lnTo>
                  <a:lnTo>
                    <a:pt x="101" y="57"/>
                  </a:lnTo>
                  <a:lnTo>
                    <a:pt x="21" y="14"/>
                  </a:lnTo>
                  <a:lnTo>
                    <a:pt x="0" y="7"/>
                  </a:lnTo>
                  <a:lnTo>
                    <a:pt x="21" y="7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15" y="7"/>
                  </a:lnTo>
                  <a:lnTo>
                    <a:pt x="115" y="7"/>
                  </a:lnTo>
                  <a:lnTo>
                    <a:pt x="21" y="14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101" y="50"/>
                  </a:lnTo>
                  <a:lnTo>
                    <a:pt x="101" y="57"/>
                  </a:lnTo>
                  <a:lnTo>
                    <a:pt x="94" y="57"/>
                  </a:lnTo>
                  <a:lnTo>
                    <a:pt x="101" y="36"/>
                  </a:lnTo>
                  <a:lnTo>
                    <a:pt x="108" y="36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11" name="任意多边形 270410"/>
            <p:cNvSpPr/>
            <p:nvPr/>
          </p:nvSpPr>
          <p:spPr>
            <a:xfrm>
              <a:off x="2172" y="3493"/>
              <a:ext cx="14" cy="29"/>
            </a:xfrm>
            <a:custGeom>
              <a:avLst/>
              <a:gdLst/>
              <a:ahLst/>
              <a:cxnLst/>
              <a:rect l="0" t="0" r="0" b="0"/>
              <a:pathLst>
                <a:path w="14" h="29">
                  <a:moveTo>
                    <a:pt x="14" y="0"/>
                  </a:moveTo>
                  <a:lnTo>
                    <a:pt x="7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29"/>
                  </a:lnTo>
                  <a:lnTo>
                    <a:pt x="7" y="0"/>
                  </a:lnTo>
                  <a:lnTo>
                    <a:pt x="14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12" name="任意多边形 270411"/>
            <p:cNvSpPr/>
            <p:nvPr/>
          </p:nvSpPr>
          <p:spPr>
            <a:xfrm>
              <a:off x="2092" y="3493"/>
              <a:ext cx="94" cy="50"/>
            </a:xfrm>
            <a:custGeom>
              <a:avLst/>
              <a:gdLst/>
              <a:ahLst/>
              <a:cxnLst/>
              <a:rect l="0" t="0" r="0" b="0"/>
              <a:pathLst>
                <a:path w="94" h="50">
                  <a:moveTo>
                    <a:pt x="87" y="29"/>
                  </a:moveTo>
                  <a:lnTo>
                    <a:pt x="80" y="50"/>
                  </a:lnTo>
                  <a:lnTo>
                    <a:pt x="0" y="7"/>
                  </a:lnTo>
                  <a:lnTo>
                    <a:pt x="94" y="0"/>
                  </a:lnTo>
                  <a:lnTo>
                    <a:pt x="87" y="29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40013" name="任意多边形 270412"/>
            <p:cNvSpPr/>
            <p:nvPr/>
          </p:nvSpPr>
          <p:spPr>
            <a:xfrm>
              <a:off x="2186" y="3522"/>
              <a:ext cx="1201" cy="274"/>
            </a:xfrm>
            <a:custGeom>
              <a:avLst/>
              <a:gdLst/>
              <a:ahLst/>
              <a:cxnLst/>
              <a:rect l="0" t="0" r="0" b="0"/>
              <a:pathLst>
                <a:path w="1201" h="274">
                  <a:moveTo>
                    <a:pt x="1201" y="274"/>
                  </a:moveTo>
                  <a:lnTo>
                    <a:pt x="1201" y="267"/>
                  </a:lnTo>
                  <a:lnTo>
                    <a:pt x="0" y="0"/>
                  </a:lnTo>
                  <a:lnTo>
                    <a:pt x="0" y="7"/>
                  </a:lnTo>
                  <a:lnTo>
                    <a:pt x="1201" y="274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</p:grpSp>
      <p:graphicFrame>
        <p:nvGraphicFramePr>
          <p:cNvPr id="35849" name="对象 245768"/>
          <p:cNvGraphicFramePr/>
          <p:nvPr/>
        </p:nvGraphicFramePr>
        <p:xfrm>
          <a:off x="4178935" y="5281295"/>
          <a:ext cx="209486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431800" progId="Equation.3">
                  <p:embed/>
                </p:oleObj>
              </mc:Choice>
              <mc:Fallback>
                <p:oleObj r:id="rId6" imgW="6858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8935" y="5281295"/>
                        <a:ext cx="209486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第一章小结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2565"/>
            <a:ext cx="10515600" cy="4351338"/>
          </a:xfrm>
        </p:spPr>
        <p:txBody>
          <a:bodyPr/>
          <a:lstStyle/>
          <a:p>
            <a:r>
              <a:rPr lang="zh-CN" altLang="en-US" dirty="0"/>
              <a:t>信号摆幅：</a:t>
            </a:r>
            <a:r>
              <a:rPr lang="en-US" altLang="zh-CN" dirty="0"/>
              <a:t>V</a:t>
            </a:r>
            <a:r>
              <a:rPr lang="en-US" altLang="zh-CN" baseline="-25000" dirty="0"/>
              <a:t>OH</a:t>
            </a:r>
            <a:r>
              <a:rPr lang="en-US" altLang="zh-CN" dirty="0"/>
              <a:t>-V</a:t>
            </a:r>
            <a:r>
              <a:rPr lang="en-US" altLang="zh-CN" baseline="-25000" dirty="0"/>
              <a:t>OL</a:t>
            </a:r>
          </a:p>
          <a:p>
            <a:r>
              <a:rPr lang="en-US" altLang="zh-CN" dirty="0"/>
              <a:t>V</a:t>
            </a:r>
            <a:r>
              <a:rPr lang="en-US" altLang="zh-CN" baseline="-25000" dirty="0"/>
              <a:t>IH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 V</a:t>
            </a:r>
            <a:r>
              <a:rPr lang="en-US" altLang="zh-CN" baseline="-25000" dirty="0"/>
              <a:t>IL</a:t>
            </a:r>
            <a:r>
              <a:rPr lang="zh-CN" altLang="en-US" dirty="0"/>
              <a:t>间的区域为过渡区，电路正常工作时应避开该区域</a:t>
            </a:r>
          </a:p>
          <a:p>
            <a:r>
              <a:rPr lang="zh-CN" altLang="en-US" dirty="0">
                <a:highlight>
                  <a:srgbClr val="FFFF00"/>
                </a:highlight>
                <a:ea typeface="+mn-lt"/>
                <a:cs typeface="+mn-lt"/>
                <a:sym typeface="+mn-ea"/>
              </a:rPr>
              <a:t>噪声容限：</a:t>
            </a:r>
          </a:p>
          <a:p>
            <a:endParaRPr lang="zh-CN" altLang="en-US" dirty="0">
              <a:highlight>
                <a:srgbClr val="FFFF00"/>
              </a:highlight>
              <a:ea typeface="+mn-lt"/>
              <a:cs typeface="+mn-lt"/>
            </a:endParaRPr>
          </a:p>
          <a:p>
            <a:endParaRPr lang="zh-CN" altLang="en-US" dirty="0">
              <a:ea typeface="+mn-lt"/>
              <a:cs typeface="+mn-lt"/>
            </a:endParaRPr>
          </a:p>
          <a:p>
            <a:r>
              <a:rPr lang="en-US" altLang="zh-CN" dirty="0">
                <a:ea typeface="+mn-lt"/>
                <a:cs typeface="+mn-lt"/>
                <a:sym typeface="+mn-ea"/>
              </a:rPr>
              <a:t> </a:t>
            </a:r>
            <a:r>
              <a:rPr lang="zh-CN" altLang="en-US" dirty="0">
                <a:ea typeface="+mn-lt"/>
                <a:cs typeface="+mn-lt"/>
                <a:sym typeface="+mn-ea"/>
              </a:rPr>
              <a:t>噪声波动范围在噪声容限内，</a:t>
            </a:r>
          </a:p>
          <a:p>
            <a:pPr marL="0" indent="0">
              <a:buNone/>
            </a:pPr>
            <a:r>
              <a:rPr lang="en-US" altLang="zh-CN" dirty="0">
                <a:ea typeface="+mn-lt"/>
                <a:cs typeface="+mn-lt"/>
                <a:sym typeface="+mn-ea"/>
              </a:rPr>
              <a:t>   </a:t>
            </a:r>
            <a:r>
              <a:rPr lang="zh-CN" altLang="en-US" dirty="0">
                <a:ea typeface="+mn-lt"/>
                <a:cs typeface="+mn-lt"/>
                <a:sym typeface="+mn-ea"/>
              </a:rPr>
              <a:t>则认为电路工作稳定。</a:t>
            </a:r>
          </a:p>
          <a:p>
            <a:pPr marL="285750" indent="-285750" algn="l" fontAlgn="auto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ea typeface="+mn-lt"/>
                <a:cs typeface="+mn-lt"/>
                <a:sym typeface="+mn-ea"/>
              </a:rPr>
              <a:t>噪声容限越大，电路越稳定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50" y="2728595"/>
            <a:ext cx="5757545" cy="34251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253" y="2936875"/>
            <a:ext cx="4754245" cy="15741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NM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=V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OH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-V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IH</a:t>
            </a:r>
            <a:endParaRPr lang="zh-CN" altLang="en-US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NM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=V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IL</a:t>
            </a:r>
            <a:r>
              <a:rPr lang="en-US" altLang="zh-CN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-V</a:t>
            </a:r>
            <a:r>
              <a:rPr lang="en-US" altLang="zh-CN" sz="24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OL</a:t>
            </a:r>
            <a:endParaRPr lang="zh-CN" altLang="en-US" sz="2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第一章小结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7256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传播延时（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p</a:t>
            </a:r>
            <a:r>
              <a:rPr lang="zh-CN" altLang="en-US" dirty="0"/>
              <a:t>）：信号通过一个电路单元所经过的延时</a:t>
            </a:r>
          </a:p>
          <a:p>
            <a:r>
              <a:rPr lang="en-US" altLang="zh-CN" dirty="0" err="1">
                <a:highlight>
                  <a:srgbClr val="FFFF00"/>
                </a:highlight>
              </a:rPr>
              <a:t>t</a:t>
            </a:r>
            <a:r>
              <a:rPr lang="en-US" altLang="zh-CN" baseline="-25000" dirty="0" err="1">
                <a:highlight>
                  <a:srgbClr val="FFFF00"/>
                </a:highlight>
              </a:rPr>
              <a:t>pHL</a:t>
            </a:r>
            <a:r>
              <a:rPr lang="en-US" altLang="zh-CN" dirty="0"/>
              <a:t>: </a:t>
            </a:r>
            <a:r>
              <a:rPr lang="zh-CN" altLang="en-US" dirty="0"/>
              <a:t>输入电压上升</a:t>
            </a:r>
            <a:r>
              <a:rPr lang="en-US" altLang="zh-CN" dirty="0"/>
              <a:t>50%</a:t>
            </a:r>
            <a:r>
              <a:rPr lang="zh-CN" altLang="en-US" dirty="0"/>
              <a:t>到输出电压下降</a:t>
            </a:r>
            <a:r>
              <a:rPr lang="en-US" altLang="zh-CN" dirty="0"/>
              <a:t>50%</a:t>
            </a:r>
            <a:r>
              <a:rPr lang="zh-CN" altLang="en-US" dirty="0"/>
              <a:t>所经历的时间延迟</a:t>
            </a:r>
          </a:p>
          <a:p>
            <a:endParaRPr lang="en-US" altLang="zh-CN" dirty="0"/>
          </a:p>
          <a:p>
            <a:r>
              <a:rPr lang="en-US" altLang="zh-CN" dirty="0" err="1">
                <a:highlight>
                  <a:srgbClr val="FFFF00"/>
                </a:highlight>
              </a:rPr>
              <a:t>t</a:t>
            </a:r>
            <a:r>
              <a:rPr lang="en-US" altLang="zh-CN" baseline="-25000" dirty="0" err="1">
                <a:highlight>
                  <a:srgbClr val="FFFF00"/>
                </a:highlight>
              </a:rPr>
              <a:t>pLH</a:t>
            </a:r>
            <a:r>
              <a:rPr lang="en-US" altLang="zh-CN" dirty="0"/>
              <a:t>: </a:t>
            </a:r>
            <a:r>
              <a:rPr lang="zh-CN" altLang="en-US" dirty="0"/>
              <a:t>输入电压下降</a:t>
            </a:r>
            <a:r>
              <a:rPr lang="en-US" altLang="zh-CN" dirty="0"/>
              <a:t>50%</a:t>
            </a:r>
            <a:r>
              <a:rPr lang="zh-CN" altLang="en-US" dirty="0"/>
              <a:t>到输出电压上升</a:t>
            </a:r>
            <a:r>
              <a:rPr lang="en-US" altLang="zh-CN" dirty="0"/>
              <a:t>50%</a:t>
            </a:r>
            <a:r>
              <a:rPr lang="zh-CN" altLang="en-US" dirty="0"/>
              <a:t>所经历的时间延迟。</a:t>
            </a:r>
          </a:p>
          <a:p>
            <a:endParaRPr lang="en-US" altLang="zh-CN" dirty="0"/>
          </a:p>
          <a:p>
            <a:r>
              <a:rPr lang="en-US" altLang="zh-CN" dirty="0" err="1">
                <a:highlight>
                  <a:srgbClr val="FFFF00"/>
                </a:highlight>
              </a:rPr>
              <a:t>t</a:t>
            </a:r>
            <a:r>
              <a:rPr lang="en-US" altLang="zh-CN" baseline="-25000" dirty="0" err="1">
                <a:highlight>
                  <a:srgbClr val="FFFF00"/>
                </a:highlight>
              </a:rPr>
              <a:t>p</a:t>
            </a:r>
            <a:r>
              <a:rPr lang="en-US" altLang="zh-CN" dirty="0">
                <a:highlight>
                  <a:srgbClr val="FFFF00"/>
                </a:highlight>
              </a:rPr>
              <a:t>: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 err="1">
                <a:sym typeface="+mn-ea"/>
              </a:rPr>
              <a:t>t</a:t>
            </a:r>
            <a:r>
              <a:rPr lang="en-US" altLang="zh-CN" baseline="-25000" dirty="0" err="1">
                <a:sym typeface="+mn-ea"/>
              </a:rPr>
              <a:t>p</a:t>
            </a:r>
            <a:r>
              <a:rPr lang="zh-CN" altLang="en-US" dirty="0">
                <a:sym typeface="+mn-ea"/>
              </a:rPr>
              <a:t>的一阶</a:t>
            </a:r>
            <a:r>
              <a:rPr lang="en-US" altLang="zh-CN" dirty="0">
                <a:sym typeface="+mn-ea"/>
              </a:rPr>
              <a:t>RC </a:t>
            </a:r>
            <a:r>
              <a:rPr lang="zh-CN" altLang="en-US" dirty="0">
                <a:sym typeface="+mn-ea"/>
              </a:rPr>
              <a:t>网络等效计算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矩形 35"/>
          <p:cNvSpPr/>
          <p:nvPr/>
        </p:nvSpPr>
        <p:spPr>
          <a:xfrm>
            <a:off x="1612900" y="3428683"/>
            <a:ext cx="277971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32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3200" baseline="-250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=(t</a:t>
            </a:r>
            <a:r>
              <a:rPr lang="en-US" altLang="zh-CN" sz="3200" baseline="-250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pLH</a:t>
            </a:r>
            <a:r>
              <a:rPr lang="en-US" altLang="zh-CN" sz="32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+t</a:t>
            </a:r>
            <a:r>
              <a:rPr lang="en-US" altLang="zh-CN" sz="3200" baseline="-250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pHL</a:t>
            </a:r>
            <a:r>
              <a:rPr lang="en-US" altLang="zh-CN" sz="32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)/2</a:t>
            </a:r>
            <a:endParaRPr lang="en-US" altLang="zh-CN" sz="3200" baseline="-25000" dirty="0">
              <a:highlight>
                <a:srgbClr val="FFFF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908" name="Text Box 76"/>
          <p:cNvSpPr txBox="1"/>
          <p:nvPr/>
        </p:nvSpPr>
        <p:spPr>
          <a:xfrm>
            <a:off x="1226820" y="5013960"/>
            <a:ext cx="48691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en-US" altLang="zh-CN" sz="3200" i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3200" i="0" baseline="-25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</a:t>
            </a:r>
            <a:r>
              <a:rPr lang="en-US" altLang="zh-CN" sz="3200" i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ln (2) </a:t>
            </a:r>
            <a:r>
              <a:rPr lang="en-US" altLang="zh-CN" sz="3200" i="0" dirty="0">
                <a:solidFill>
                  <a:schemeClr val="tx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t</a:t>
            </a:r>
            <a:r>
              <a:rPr lang="en-US" altLang="zh-CN" sz="3200" i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= 0.69 RC    </a:t>
            </a:r>
            <a:r>
              <a:rPr lang="en-US" altLang="zh-CN" sz="3200" i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第三章小结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PN</a:t>
            </a:r>
            <a:r>
              <a:rPr lang="zh-CN" altLang="en-US" dirty="0"/>
              <a:t>结原理，正偏导通，反偏截止</a:t>
            </a:r>
          </a:p>
          <a:p>
            <a:r>
              <a:rPr lang="zh-CN" altLang="en-US" dirty="0"/>
              <a:t>多数载流子的扩散以及内建电场导致少数载流子的漂移</a:t>
            </a:r>
          </a:p>
          <a:p>
            <a:r>
              <a:rPr lang="en-US" altLang="zh-CN" dirty="0"/>
              <a:t>PN</a:t>
            </a:r>
            <a:r>
              <a:rPr lang="zh-CN" altLang="en-US" dirty="0"/>
              <a:t>结耗尽区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99490" y="3344545"/>
            <a:ext cx="9843770" cy="2832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76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 dirty="0">
                <a:sym typeface="+mn-ea"/>
              </a:rPr>
              <a:t>MOS</a:t>
            </a:r>
            <a:r>
              <a:rPr lang="zh-CN" altLang="en-US" sz="3200" dirty="0">
                <a:sym typeface="+mn-ea"/>
              </a:rPr>
              <a:t>管工作区</a:t>
            </a:r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截止区</a:t>
            </a:r>
            <a:r>
              <a:rPr lang="zh-CN" altLang="en-US" b="1" dirty="0">
                <a:solidFill>
                  <a:srgbClr val="FF3300"/>
                </a:solidFill>
                <a:sym typeface="+mn-ea"/>
              </a:rPr>
              <a:t>：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GS</a:t>
            </a:r>
            <a:r>
              <a:rPr lang="en-US" altLang="zh-CN" i="1" dirty="0">
                <a:sym typeface="+mn-ea"/>
              </a:rPr>
              <a:t>&lt;V</a:t>
            </a:r>
            <a:r>
              <a:rPr lang="en-US" altLang="zh-CN" i="1" baseline="-25000" dirty="0">
                <a:sym typeface="+mn-ea"/>
              </a:rPr>
              <a:t>T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i="1" dirty="0">
                <a:sym typeface="+mn-ea"/>
              </a:rPr>
              <a:t>I</a:t>
            </a:r>
            <a:r>
              <a:rPr lang="en-US" altLang="zh-CN" i="1" baseline="-25000" dirty="0">
                <a:sym typeface="+mn-ea"/>
              </a:rPr>
              <a:t>D</a:t>
            </a:r>
            <a:r>
              <a:rPr lang="zh-CN" altLang="en-US" i="1" dirty="0">
                <a:sym typeface="+mn-ea"/>
              </a:rPr>
              <a:t>＝</a:t>
            </a:r>
            <a:r>
              <a:rPr lang="en-US" altLang="zh-CN" i="1" dirty="0">
                <a:sym typeface="+mn-ea"/>
              </a:rPr>
              <a:t>0</a:t>
            </a:r>
            <a:r>
              <a:rPr lang="zh-CN" altLang="en-US" dirty="0">
                <a:sym typeface="+mn-ea"/>
              </a:rPr>
              <a:t>； </a:t>
            </a:r>
            <a:endParaRPr lang="zh-CN" altLang="en-US" dirty="0"/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线性区</a:t>
            </a:r>
            <a:r>
              <a:rPr lang="zh-CN" altLang="en-US" b="1" dirty="0">
                <a:solidFill>
                  <a:srgbClr val="FF3300"/>
                </a:solidFill>
                <a:sym typeface="+mn-ea"/>
              </a:rPr>
              <a:t>：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DS </a:t>
            </a:r>
            <a:r>
              <a:rPr lang="en-US" altLang="zh-CN" i="1" dirty="0">
                <a:sym typeface="+mn-ea"/>
              </a:rPr>
              <a:t>≤ V</a:t>
            </a:r>
            <a:r>
              <a:rPr lang="en-US" altLang="zh-CN" i="1" baseline="-25000" dirty="0">
                <a:sym typeface="+mn-ea"/>
              </a:rPr>
              <a:t>GS</a:t>
            </a:r>
            <a:r>
              <a:rPr lang="zh-CN" altLang="en-US" i="1" dirty="0">
                <a:sym typeface="+mn-ea"/>
              </a:rPr>
              <a:t>－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T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GD</a:t>
            </a:r>
            <a:r>
              <a:rPr lang="en-US" altLang="zh-CN" i="1" dirty="0">
                <a:sym typeface="+mn-ea"/>
              </a:rPr>
              <a:t>≥V</a:t>
            </a:r>
            <a:r>
              <a:rPr lang="en-US" altLang="zh-CN" i="1" baseline="-25000" dirty="0">
                <a:sym typeface="+mn-ea"/>
              </a:rPr>
              <a:t>T</a:t>
            </a:r>
            <a:r>
              <a:rPr lang="zh-CN" altLang="en-US" dirty="0">
                <a:sym typeface="+mn-ea"/>
              </a:rPr>
              <a:t>）</a:t>
            </a:r>
            <a:r>
              <a:rPr lang="zh-CN" altLang="en-US" i="1" dirty="0">
                <a:sym typeface="+mn-ea"/>
              </a:rPr>
              <a:t>，</a:t>
            </a:r>
            <a:r>
              <a:rPr lang="zh-CN" altLang="en-US" dirty="0">
                <a:sym typeface="+mn-ea"/>
              </a:rPr>
              <a:t>漏极电流为</a:t>
            </a:r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endParaRPr lang="zh-CN" altLang="en-US" dirty="0">
              <a:sym typeface="+mn-ea"/>
            </a:endParaRPr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endParaRPr lang="zh-CN" altLang="en-US" dirty="0">
              <a:sym typeface="+mn-ea"/>
            </a:endParaRPr>
          </a:p>
          <a:p>
            <a:pPr marL="457200" indent="-457200" eaLnBrk="1" hangingPunct="1">
              <a:lnSpc>
                <a:spcPct val="125000"/>
              </a:lnSpc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饱和区：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DS </a:t>
            </a:r>
            <a:r>
              <a:rPr lang="en-US" altLang="zh-CN" i="1" dirty="0">
                <a:sym typeface="+mn-ea"/>
              </a:rPr>
              <a:t>&gt; V</a:t>
            </a:r>
            <a:r>
              <a:rPr lang="en-US" altLang="zh-CN" i="1" baseline="-25000" dirty="0">
                <a:sym typeface="+mn-ea"/>
              </a:rPr>
              <a:t>GS</a:t>
            </a:r>
            <a:r>
              <a:rPr lang="zh-CN" altLang="en-US" i="1" dirty="0">
                <a:sym typeface="+mn-ea"/>
              </a:rPr>
              <a:t>－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T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i="1" dirty="0">
                <a:sym typeface="+mn-ea"/>
              </a:rPr>
              <a:t>V</a:t>
            </a:r>
            <a:r>
              <a:rPr lang="en-US" altLang="zh-CN" i="1" baseline="-25000" dirty="0">
                <a:sym typeface="+mn-ea"/>
              </a:rPr>
              <a:t>GD</a:t>
            </a:r>
            <a:r>
              <a:rPr lang="en-US" altLang="zh-CN" i="1" dirty="0">
                <a:sym typeface="+mn-ea"/>
              </a:rPr>
              <a:t>&lt;V</a:t>
            </a:r>
            <a:r>
              <a:rPr lang="en-US" altLang="zh-CN" i="1" baseline="-25000" dirty="0">
                <a:sym typeface="+mn-ea"/>
              </a:rPr>
              <a:t>T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  <a:p>
            <a:pPr eaLnBrk="1" hangingPunct="1">
              <a:lnSpc>
                <a:spcPct val="125000"/>
              </a:lnSpc>
              <a:buNone/>
            </a:pPr>
            <a:r>
              <a:rPr lang="zh-CN" altLang="en-US" dirty="0">
                <a:sym typeface="+mn-ea"/>
              </a:rPr>
              <a:t>沟道发生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夹断</a:t>
            </a:r>
            <a:r>
              <a:rPr lang="zh-CN" altLang="en-US" dirty="0">
                <a:sym typeface="+mn-ea"/>
              </a:rPr>
              <a:t>现象，</a:t>
            </a:r>
            <a:r>
              <a:rPr lang="en-US" altLang="zh-CN" dirty="0">
                <a:sym typeface="+mn-ea"/>
              </a:rPr>
              <a:t>MOS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管进入饱和区，产生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沟道长度调制效应</a:t>
            </a:r>
            <a:endParaRPr lang="zh-CN" altLang="en-US" dirty="0">
              <a:sym typeface="+mn-ea"/>
            </a:endParaRPr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pic>
        <p:nvPicPr>
          <p:cNvPr id="45062" name="Objec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376" y="3158331"/>
            <a:ext cx="4387215" cy="7518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10" name="Objec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5" y="5377815"/>
            <a:ext cx="3483610" cy="12426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76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>
                <a:sym typeface="+mn-ea"/>
              </a:rPr>
              <a:t>MOS</a:t>
            </a:r>
            <a:r>
              <a:rPr lang="zh-CN" altLang="en-US" sz="3200">
                <a:sym typeface="+mn-ea"/>
              </a:rPr>
              <a:t>管工作区</a:t>
            </a:r>
            <a:endParaRPr lang="zh-CN" altLang="en-US">
              <a:sym typeface="+mn-ea"/>
            </a:endParaRPr>
          </a:p>
          <a:p>
            <a:pPr marL="457200" indent="-45720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速度饱和区</a:t>
            </a:r>
            <a:r>
              <a:rPr lang="zh-CN" altLang="en-US" b="1" dirty="0">
                <a:solidFill>
                  <a:srgbClr val="FF3300"/>
                </a:solidFill>
                <a:sym typeface="+mn-ea"/>
              </a:rPr>
              <a:t>：</a:t>
            </a:r>
            <a:r>
              <a:rPr lang="zh-CN" altLang="en-US" dirty="0">
                <a:sym typeface="+mn-ea"/>
              </a:rPr>
              <a:t>速度饱和时</a:t>
            </a:r>
            <a:r>
              <a:rPr lang="en-US" altLang="zh-CN" dirty="0">
                <a:sym typeface="+mn-ea"/>
              </a:rPr>
              <a:t>(V</a:t>
            </a:r>
            <a:r>
              <a:rPr lang="en-US" altLang="zh-CN" baseline="-25000" dirty="0">
                <a:sym typeface="+mn-ea"/>
              </a:rPr>
              <a:t>DSAT</a:t>
            </a:r>
            <a:r>
              <a:rPr lang="en-US" altLang="zh-CN" dirty="0">
                <a:sym typeface="+mn-ea"/>
              </a:rPr>
              <a:t> &lt; V</a:t>
            </a:r>
            <a:r>
              <a:rPr lang="en-US" altLang="zh-CN" baseline="-25000" dirty="0">
                <a:sym typeface="+mn-ea"/>
              </a:rPr>
              <a:t>GS</a:t>
            </a:r>
            <a:r>
              <a:rPr lang="zh-CN" altLang="en-US" dirty="0">
                <a:sym typeface="+mn-ea"/>
              </a:rPr>
              <a:t>－</a:t>
            </a:r>
            <a:r>
              <a:rPr lang="en-US" altLang="zh-CN" dirty="0">
                <a:sym typeface="+mn-ea"/>
              </a:rPr>
              <a:t>V</a:t>
            </a:r>
            <a:r>
              <a:rPr lang="en-US" altLang="zh-CN" baseline="-25000" dirty="0">
                <a:sym typeface="+mn-ea"/>
              </a:rPr>
              <a:t>T</a:t>
            </a:r>
            <a:r>
              <a:rPr lang="en-US" altLang="zh-CN" dirty="0">
                <a:sym typeface="+mn-ea"/>
              </a:rPr>
              <a:t>)</a:t>
            </a:r>
            <a:r>
              <a:rPr lang="zh-CN" altLang="en-US" dirty="0">
                <a:sym typeface="+mn-ea"/>
              </a:rPr>
              <a:t>，漏极电流</a:t>
            </a:r>
            <a:r>
              <a:rPr lang="en-US" altLang="zh-CN" dirty="0">
                <a:sym typeface="+mn-ea"/>
              </a:rPr>
              <a:t>I</a:t>
            </a:r>
            <a:r>
              <a:rPr lang="en-US" altLang="zh-CN" baseline="-25000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为 </a:t>
            </a:r>
            <a:endParaRPr lang="zh-CN" altLang="en-US" dirty="0"/>
          </a:p>
          <a:p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976120" y="2681605"/>
                <a:ext cx="6515100" cy="63119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𝜇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𝐶𝑜𝑥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[(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𝑉𝑔𝑠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𝑉𝑡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h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𝑉𝐷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𝑆𝐴𝑇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𝐷𝑆𝐴𝑇</m:t>
                      </m:r>
                      <m:r>
                        <a:rPr lang="en-US" altLang="zh-CN" sz="2800" i="1" baseline="30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120" y="2681605"/>
                <a:ext cx="6515100" cy="631190"/>
              </a:xfrm>
              <a:prstGeom prst="rect">
                <a:avLst/>
              </a:prstGeom>
              <a:blipFill rotWithShape="1">
                <a:blip r:embed="rId2"/>
                <a:stretch>
                  <a:fillRect t="-6841" r="-1248" b="-29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558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管体效应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衬偏效应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：衬底偏置电压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SB</a:t>
            </a:r>
            <a:r>
              <a:rPr lang="zh-CN" altLang="en-US">
                <a:sym typeface="+mn-ea"/>
              </a:rPr>
              <a:t>影响阈值电压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sym typeface="+mn-ea"/>
              </a:rPr>
              <a:t>T</a:t>
            </a:r>
          </a:p>
          <a:p>
            <a:endParaRPr lang="en-US" altLang="zh-CN" baseline="-25000">
              <a:solidFill>
                <a:schemeClr val="tx1"/>
              </a:solidFill>
              <a:uFillTx/>
              <a:sym typeface="+mn-ea"/>
            </a:endParaRPr>
          </a:p>
          <a:p>
            <a:endParaRPr lang="en-US" altLang="zh-CN" baseline="-25000">
              <a:solidFill>
                <a:schemeClr val="tx1"/>
              </a:solidFill>
              <a:uFillTx/>
              <a:sym typeface="+mn-ea"/>
            </a:endParaRPr>
          </a:p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管沟道长度调制效应：饱和状态下，</a:t>
            </a:r>
            <a:r>
              <a:rPr lang="zh-CN" altLang="en-US">
                <a:uFillTx/>
                <a:sym typeface="+mn-ea"/>
              </a:rPr>
              <a:t>沟道有效长度随</a:t>
            </a:r>
            <a:r>
              <a:rPr lang="en-US" altLang="zh-CN">
                <a:uFillTx/>
                <a:sym typeface="+mn-ea"/>
              </a:rPr>
              <a:t>V</a:t>
            </a:r>
            <a:r>
              <a:rPr lang="en-US" altLang="zh-CN" baseline="-25000">
                <a:uFillTx/>
                <a:sym typeface="+mn-ea"/>
              </a:rPr>
              <a:t>DS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的增大而</a:t>
            </a:r>
            <a:r>
              <a:rPr lang="zh-CN" altLang="en-US">
                <a:uFillTx/>
                <a:sym typeface="+mn-ea"/>
              </a:rPr>
              <a:t>逐渐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缩短</a:t>
            </a:r>
          </a:p>
          <a:p>
            <a:endParaRPr lang="zh-CN" altLang="en-US">
              <a:solidFill>
                <a:schemeClr val="tx1"/>
              </a:solidFill>
              <a:uFillTx/>
              <a:sym typeface="+mn-ea"/>
            </a:endParaRPr>
          </a:p>
          <a:p>
            <a:endParaRPr lang="zh-CN" altLang="en-US">
              <a:solidFill>
                <a:schemeClr val="tx1"/>
              </a:solidFill>
              <a:uFillTx/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sym typeface="+mn-ea"/>
              </a:rPr>
              <a:t>MOS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管速度饱和效应：短沟道</a:t>
            </a:r>
            <a:r>
              <a:rPr lang="en-US" altLang="zh-CN">
                <a:solidFill>
                  <a:schemeClr val="tx1"/>
                </a:solidFill>
                <a:uFillTx/>
                <a:sym typeface="+mn-ea"/>
              </a:rPr>
              <a:t>MOS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管在高电场影响下，其</a:t>
            </a:r>
            <a:r>
              <a:rPr lang="zh-CN" altLang="en-US">
                <a:uFillTx/>
                <a:sym typeface="+mn-ea"/>
              </a:rPr>
              <a:t>载流子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速度由于散射效应而趋于饱和，导致</a:t>
            </a:r>
            <a:r>
              <a:rPr lang="en-US" altLang="zh-CN">
                <a:solidFill>
                  <a:schemeClr val="tx1"/>
                </a:solidFill>
                <a:uFillTx/>
                <a:sym typeface="+mn-ea"/>
              </a:rPr>
              <a:t>I</a:t>
            </a:r>
            <a:r>
              <a:rPr lang="en-US" altLang="zh-CN" baseline="-25000">
                <a:solidFill>
                  <a:schemeClr val="tx1"/>
                </a:solidFill>
                <a:uFillTx/>
                <a:sym typeface="+mn-ea"/>
              </a:rPr>
              <a:t>D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不再随着</a:t>
            </a:r>
            <a:r>
              <a:rPr lang="en-US" altLang="zh-CN">
                <a:solidFill>
                  <a:schemeClr val="tx1"/>
                </a:solidFill>
                <a:uFillTx/>
                <a:sym typeface="+mn-ea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uFillTx/>
                <a:sym typeface="+mn-ea"/>
              </a:rPr>
              <a:t>DS</a:t>
            </a:r>
            <a:r>
              <a:rPr lang="zh-CN" altLang="en-US">
                <a:solidFill>
                  <a:schemeClr val="tx1"/>
                </a:solidFill>
                <a:uFillTx/>
                <a:sym typeface="+mn-ea"/>
              </a:rPr>
              <a:t>进一步增大，而是逐渐趋于常数。</a:t>
            </a:r>
          </a:p>
        </p:txBody>
      </p:sp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60240" y="3469640"/>
            <a:ext cx="3968750" cy="7708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540" y="1931035"/>
            <a:ext cx="4894580" cy="5187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47110" y="5579110"/>
                <a:ext cx="6515100" cy="63119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𝐼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微软雅黑" panose="020B0503020204020204" pitchFamily="34" charset="-122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𝜇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𝐶𝑜𝑥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[(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𝑉𝑔𝑠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𝑉𝑡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h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𝑉𝐷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𝑆𝐴𝑇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𝑉</m:t>
                      </m:r>
                      <m:r>
                        <a:rPr lang="en-US" altLang="zh-CN" sz="2800" i="1" baseline="-25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𝐷𝑆𝐴𝑇</m:t>
                      </m:r>
                      <m:r>
                        <a:rPr lang="en-US" altLang="zh-CN" sz="2800" i="1" baseline="30000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2800" i="1" dirty="0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]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110" y="5579110"/>
                <a:ext cx="6515100" cy="631190"/>
              </a:xfrm>
              <a:prstGeom prst="rect">
                <a:avLst/>
              </a:prstGeom>
              <a:blipFill rotWithShape="1">
                <a:blip r:embed="rId5"/>
                <a:stretch>
                  <a:fillRect t="-6841" r="-1248" b="-29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>
                <a:sym typeface="+mn-ea"/>
              </a:rPr>
              <a:t>MOS</a:t>
            </a:r>
            <a:r>
              <a:rPr lang="zh-CN" altLang="en-US" sz="3200">
                <a:sym typeface="+mn-ea"/>
              </a:rPr>
              <a:t>管手工分析模型</a:t>
            </a:r>
          </a:p>
        </p:txBody>
      </p:sp>
      <p:pic>
        <p:nvPicPr>
          <p:cNvPr id="325655" name="图片 32565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rcRect l="4427" t="32031" r="4506" b="12500"/>
          <a:stretch>
            <a:fillRect/>
          </a:stretch>
        </p:blipFill>
        <p:spPr>
          <a:xfrm>
            <a:off x="4838065" y="2397760"/>
            <a:ext cx="6096000" cy="3005138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20" name="组合 19"/>
          <p:cNvGrpSpPr/>
          <p:nvPr/>
        </p:nvGrpSpPr>
        <p:grpSpPr>
          <a:xfrm>
            <a:off x="1530985" y="2757805"/>
            <a:ext cx="2438400" cy="2286000"/>
            <a:chOff x="240" y="4200"/>
            <a:chExt cx="3840" cy="3600"/>
          </a:xfrm>
        </p:grpSpPr>
        <p:sp>
          <p:nvSpPr>
            <p:cNvPr id="5" name="矩形 4"/>
            <p:cNvSpPr/>
            <p:nvPr>
              <p:custDataLst>
                <p:tags r:id="rId2"/>
              </p:custDataLst>
            </p:nvPr>
          </p:nvSpPr>
          <p:spPr>
            <a:xfrm>
              <a:off x="240" y="4200"/>
              <a:ext cx="3840" cy="3600"/>
            </a:xfrm>
            <a:prstGeom prst="rect">
              <a:avLst/>
            </a:prstGeom>
            <a:solidFill>
              <a:srgbClr val="C3C5C5"/>
            </a:solidFill>
            <a:ln w="12700">
              <a:noFill/>
            </a:ln>
            <a:effectLst>
              <a:outerShdw dist="107763" dir="2699999" algn="ctr" rotWithShape="0">
                <a:schemeClr val="tx1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80" y="4200"/>
              <a:ext cx="3593" cy="3458"/>
              <a:chOff x="134" y="1872"/>
              <a:chExt cx="1437" cy="1383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432" y="2400"/>
                <a:ext cx="768" cy="288"/>
                <a:chOff x="432" y="2352"/>
                <a:chExt cx="768" cy="288"/>
              </a:xfrm>
            </p:grpSpPr>
            <p:sp>
              <p:nvSpPr>
                <p:cNvPr id="8" name="椭圆 7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72" y="2352"/>
                  <a:ext cx="288" cy="288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8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直接连接符 8"/>
                <p:cNvSpPr/>
                <p:nvPr>
                  <p:custDataLst>
                    <p:tags r:id="rId12"/>
                  </p:custDataLst>
                </p:nvPr>
              </p:nvSpPr>
              <p:spPr>
                <a:xfrm flipH="1">
                  <a:off x="720" y="2496"/>
                  <a:ext cx="192" cy="0"/>
                </a:xfrm>
                <a:prstGeom prst="line">
                  <a:avLst/>
                </a:prstGeom>
                <a:ln w="12700" cap="flat" cmpd="sng">
                  <a:solidFill>
                    <a:srgbClr val="000082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直接连接符 9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960" y="2496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rgbClr val="00008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" name="直接连接符 1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32" y="2496"/>
                  <a:ext cx="240" cy="0"/>
                </a:xfrm>
                <a:prstGeom prst="line">
                  <a:avLst/>
                </a:prstGeom>
                <a:ln w="19050" cap="flat" cmpd="sng">
                  <a:solidFill>
                    <a:srgbClr val="000082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椭圆 11"/>
              <p:cNvSpPr/>
              <p:nvPr>
                <p:custDataLst>
                  <p:tags r:id="rId3"/>
                </p:custDataLst>
              </p:nvPr>
            </p:nvSpPr>
            <p:spPr>
              <a:xfrm>
                <a:off x="1200" y="2514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椭圆 12"/>
              <p:cNvSpPr/>
              <p:nvPr>
                <p:custDataLst>
                  <p:tags r:id="rId4"/>
                </p:custDataLst>
              </p:nvPr>
            </p:nvSpPr>
            <p:spPr>
              <a:xfrm>
                <a:off x="390" y="2520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椭圆 13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816" y="2112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椭圆 14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816" y="2928"/>
                <a:ext cx="48" cy="48"/>
              </a:xfrm>
              <a:prstGeom prst="ellipse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34" y="2430"/>
                <a:ext cx="192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800" i="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S</a:t>
                </a: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44" y="2448"/>
                <a:ext cx="227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800" i="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D</a:t>
                </a: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20" y="1872"/>
                <a:ext cx="22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800" i="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G</a:t>
                </a: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68" y="3024"/>
                <a:ext cx="204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r>
                  <a:rPr lang="en-US" altLang="zh-CN" sz="1800" i="0">
                    <a:solidFill>
                      <a:schemeClr val="tx2"/>
                    </a:solidFill>
                    <a:latin typeface="Book Antiqua" panose="02040602050305030304" pitchFamily="18" charset="0"/>
                  </a:rPr>
                  <a:t>B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8320" y="1485900"/>
            <a:ext cx="11134725" cy="4691380"/>
          </a:xfrm>
        </p:spPr>
        <p:txBody>
          <a:bodyPr/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管等效电阻为过渡区两个端点处电阻值的平均值</a:t>
            </a:r>
            <a:r>
              <a:rPr lang="en-US" altLang="zh-CN">
                <a:sym typeface="+mn-ea"/>
              </a:rPr>
              <a:t> (R</a:t>
            </a:r>
            <a:r>
              <a:rPr lang="en-US" altLang="zh-CN" baseline="-25000">
                <a:sym typeface="+mn-ea"/>
              </a:rPr>
              <a:t>eq</a:t>
            </a:r>
            <a:r>
              <a:rPr lang="en-US" altLang="zh-CN">
                <a:sym typeface="+mn-ea"/>
              </a:rPr>
              <a:t>=(R</a:t>
            </a:r>
            <a:r>
              <a:rPr lang="en-US" altLang="zh-CN" baseline="-25000">
                <a:sym typeface="+mn-ea"/>
              </a:rPr>
              <a:t>1</a:t>
            </a:r>
            <a:r>
              <a:rPr lang="en-US" altLang="zh-CN">
                <a:sym typeface="+mn-ea"/>
              </a:rPr>
              <a:t>+R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)/2)</a:t>
            </a:r>
          </a:p>
        </p:txBody>
      </p:sp>
      <p:pic>
        <p:nvPicPr>
          <p:cNvPr id="329734" name="图片 32973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l="22134" t="40706" r="19604" b="50700"/>
          <a:stretch>
            <a:fillRect/>
          </a:stretch>
        </p:blipFill>
        <p:spPr>
          <a:xfrm>
            <a:off x="1067435" y="2112645"/>
            <a:ext cx="9899650" cy="1183640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29733" name="图片 3297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44640" y="3624580"/>
            <a:ext cx="4865688" cy="28956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38200" y="3717925"/>
            <a:ext cx="5591175" cy="902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管本征电容：</a:t>
            </a:r>
            <a:endParaRPr lang="zh-CN" altLang="en-US" sz="280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sz="2800">
                <a:sym typeface="+mn-ea"/>
              </a:rPr>
              <a:t>覆盖</a:t>
            </a:r>
            <a:r>
              <a:rPr lang="zh-CN" altLang="en-US" sz="2800">
                <a:sym typeface="+mn-ea"/>
              </a:rPr>
              <a:t>电容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沟道电容</a:t>
            </a:r>
            <a:r>
              <a:rPr lang="en-US" altLang="zh-CN" sz="2800">
                <a:sym typeface="+mn-ea"/>
              </a:rPr>
              <a:t>(</a:t>
            </a:r>
            <a:r>
              <a:rPr lang="zh-CN" altLang="en-US" sz="2800">
                <a:sym typeface="+mn-ea"/>
              </a:rPr>
              <a:t>栅至沟道的电容</a:t>
            </a:r>
            <a:r>
              <a:rPr lang="en-US" altLang="zh-CN" sz="2800">
                <a:sym typeface="+mn-ea"/>
              </a:rPr>
              <a:t>)</a:t>
            </a:r>
            <a:endParaRPr lang="zh-CN" altLang="en-US" sz="2800">
              <a:sym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zh-CN" sz="2800">
                <a:sym typeface="+mn-ea"/>
              </a:rPr>
              <a:t>PN</a:t>
            </a:r>
            <a:r>
              <a:rPr lang="zh-CN" altLang="en-US" sz="2800">
                <a:sym typeface="+mn-ea"/>
              </a:rPr>
              <a:t>结电容</a:t>
            </a:r>
            <a:endParaRPr lang="zh-CN" altLang="en-US" sz="2800">
              <a:solidFill>
                <a:schemeClr val="tx1"/>
              </a:solidFill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43028" name="图片 35739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78525" y="1249045"/>
            <a:ext cx="5643563" cy="403542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</a:t>
            </a:r>
            <a:r>
              <a:rPr lang="zh-CN">
                <a:sym typeface="+mn-ea"/>
              </a:rPr>
              <a:t>覆盖</a:t>
            </a:r>
            <a:r>
              <a:rPr lang="zh-CN" altLang="en-US">
                <a:sym typeface="+mn-ea"/>
              </a:rPr>
              <a:t>电容</a:t>
            </a:r>
            <a:r>
              <a:rPr lang="en-US" altLang="zh-CN">
                <a:sym typeface="+mn-ea"/>
              </a:rPr>
              <a:t>(MOS</a:t>
            </a:r>
            <a:r>
              <a:rPr lang="zh-CN" altLang="en-US">
                <a:sym typeface="+mn-ea"/>
              </a:rPr>
              <a:t>结构电容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：</a:t>
            </a:r>
            <a:endParaRPr lang="zh-CN" altLang="en-US" sz="2800"/>
          </a:p>
          <a:p>
            <a:endParaRPr lang="zh-CN" altLang="en-US">
              <a:sym typeface="+mn-ea"/>
            </a:endParaRPr>
          </a:p>
        </p:txBody>
      </p:sp>
      <p:grpSp>
        <p:nvGrpSpPr>
          <p:cNvPr id="44060" name="组合 358428"/>
          <p:cNvGrpSpPr/>
          <p:nvPr/>
        </p:nvGrpSpPr>
        <p:grpSpPr>
          <a:xfrm>
            <a:off x="6108065" y="1636395"/>
            <a:ext cx="5010785" cy="3351916"/>
            <a:chOff x="1462" y="1104"/>
            <a:chExt cx="2591" cy="2001"/>
          </a:xfrm>
        </p:grpSpPr>
        <p:sp>
          <p:nvSpPr>
            <p:cNvPr id="44061" name="任意多边形 358429"/>
            <p:cNvSpPr/>
            <p:nvPr>
              <p:custDataLst>
                <p:tags r:id="rId3"/>
              </p:custDataLst>
            </p:nvPr>
          </p:nvSpPr>
          <p:spPr>
            <a:xfrm>
              <a:off x="2273" y="1399"/>
              <a:ext cx="974" cy="1463"/>
            </a:xfrm>
            <a:custGeom>
              <a:avLst/>
              <a:gdLst/>
              <a:ahLst/>
              <a:cxnLst/>
              <a:rect l="0" t="0" r="0" b="0"/>
              <a:pathLst>
                <a:path w="974" h="1463">
                  <a:moveTo>
                    <a:pt x="974" y="0"/>
                  </a:moveTo>
                  <a:lnTo>
                    <a:pt x="974" y="1463"/>
                  </a:lnTo>
                  <a:lnTo>
                    <a:pt x="0" y="1463"/>
                  </a:lnTo>
                  <a:lnTo>
                    <a:pt x="0" y="0"/>
                  </a:lnTo>
                  <a:lnTo>
                    <a:pt x="273" y="185"/>
                  </a:lnTo>
                  <a:lnTo>
                    <a:pt x="379" y="22"/>
                  </a:lnTo>
                  <a:lnTo>
                    <a:pt x="687" y="172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accent1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2" name="矩形 358430"/>
            <p:cNvSpPr/>
            <p:nvPr>
              <p:custDataLst>
                <p:tags r:id="rId4"/>
              </p:custDataLst>
            </p:nvPr>
          </p:nvSpPr>
          <p:spPr>
            <a:xfrm>
              <a:off x="2273" y="1734"/>
              <a:ext cx="189" cy="820"/>
            </a:xfrm>
            <a:prstGeom prst="rect">
              <a:avLst/>
            </a:prstGeom>
            <a:solidFill>
              <a:srgbClr val="1FFF1F">
                <a:alpha val="37000"/>
              </a:srgbClr>
            </a:solidFill>
            <a:ln w="14288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44063" name="矩形 358431"/>
            <p:cNvSpPr/>
            <p:nvPr>
              <p:custDataLst>
                <p:tags r:id="rId5"/>
              </p:custDataLst>
            </p:nvPr>
          </p:nvSpPr>
          <p:spPr>
            <a:xfrm>
              <a:off x="3053" y="1734"/>
              <a:ext cx="194" cy="820"/>
            </a:xfrm>
            <a:prstGeom prst="rect">
              <a:avLst/>
            </a:prstGeom>
            <a:solidFill>
              <a:srgbClr val="1FFF1F">
                <a:alpha val="36000"/>
              </a:srgbClr>
            </a:solidFill>
            <a:ln w="14288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44064" name="直接连接符 358432"/>
            <p:cNvSpPr/>
            <p:nvPr>
              <p:custDataLst>
                <p:tags r:id="rId6"/>
              </p:custDataLst>
            </p:nvPr>
          </p:nvSpPr>
          <p:spPr>
            <a:xfrm>
              <a:off x="2335" y="2651"/>
              <a:ext cx="846" cy="1"/>
            </a:xfrm>
            <a:prstGeom prst="line">
              <a:avLst/>
            </a:prstGeom>
            <a:ln w="14288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任意多边形 358433"/>
            <p:cNvSpPr/>
            <p:nvPr>
              <p:custDataLst>
                <p:tags r:id="rId7"/>
              </p:custDataLst>
            </p:nvPr>
          </p:nvSpPr>
          <p:spPr>
            <a:xfrm>
              <a:off x="3159" y="2624"/>
              <a:ext cx="88" cy="53"/>
            </a:xfrm>
            <a:custGeom>
              <a:avLst/>
              <a:gdLst/>
              <a:ahLst/>
              <a:cxnLst/>
              <a:rect l="0" t="0" r="0" b="0"/>
              <a:pathLst>
                <a:path w="20" h="12">
                  <a:moveTo>
                    <a:pt x="4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3" y="5"/>
                    <a:pt x="16" y="5"/>
                    <a:pt x="20" y="6"/>
                  </a:cubicBezTo>
                  <a:cubicBezTo>
                    <a:pt x="16" y="7"/>
                    <a:pt x="13" y="8"/>
                    <a:pt x="10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任意多边形 358434"/>
            <p:cNvSpPr/>
            <p:nvPr>
              <p:custDataLst>
                <p:tags r:id="rId8"/>
              </p:custDataLst>
            </p:nvPr>
          </p:nvSpPr>
          <p:spPr>
            <a:xfrm>
              <a:off x="2273" y="2624"/>
              <a:ext cx="84" cy="53"/>
            </a:xfrm>
            <a:custGeom>
              <a:avLst/>
              <a:gdLst/>
              <a:ahLst/>
              <a:cxnLst/>
              <a:rect l="0" t="0" r="0" b="0"/>
              <a:pathLst>
                <a:path w="19" h="12">
                  <a:moveTo>
                    <a:pt x="16" y="6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6" y="8"/>
                    <a:pt x="3" y="7"/>
                    <a:pt x="0" y="6"/>
                  </a:cubicBezTo>
                  <a:cubicBezTo>
                    <a:pt x="3" y="5"/>
                    <a:pt x="6" y="5"/>
                    <a:pt x="1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6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直接连接符 358435"/>
            <p:cNvSpPr/>
            <p:nvPr>
              <p:custDataLst>
                <p:tags r:id="rId9"/>
              </p:custDataLst>
            </p:nvPr>
          </p:nvSpPr>
          <p:spPr>
            <a:xfrm>
              <a:off x="2335" y="2175"/>
              <a:ext cx="66" cy="1"/>
            </a:xfrm>
            <a:prstGeom prst="line">
              <a:avLst/>
            </a:prstGeom>
            <a:ln w="14288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任意多边形 358436"/>
            <p:cNvSpPr/>
            <p:nvPr>
              <p:custDataLst>
                <p:tags r:id="rId10"/>
              </p:custDataLst>
            </p:nvPr>
          </p:nvSpPr>
          <p:spPr>
            <a:xfrm>
              <a:off x="2379" y="2148"/>
              <a:ext cx="83" cy="53"/>
            </a:xfrm>
            <a:custGeom>
              <a:avLst/>
              <a:gdLst/>
              <a:ahLst/>
              <a:cxnLst/>
              <a:rect l="0" t="0" r="0" b="0"/>
              <a:pathLst>
                <a:path w="19" h="12">
                  <a:moveTo>
                    <a:pt x="3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3" y="5"/>
                    <a:pt x="16" y="5"/>
                    <a:pt x="19" y="6"/>
                  </a:cubicBezTo>
                  <a:cubicBezTo>
                    <a:pt x="16" y="7"/>
                    <a:pt x="13" y="8"/>
                    <a:pt x="9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任意多边形 358437"/>
            <p:cNvSpPr/>
            <p:nvPr>
              <p:custDataLst>
                <p:tags r:id="rId11"/>
              </p:custDataLst>
            </p:nvPr>
          </p:nvSpPr>
          <p:spPr>
            <a:xfrm>
              <a:off x="2273" y="2148"/>
              <a:ext cx="84" cy="53"/>
            </a:xfrm>
            <a:custGeom>
              <a:avLst/>
              <a:gdLst/>
              <a:ahLst/>
              <a:cxnLst/>
              <a:rect l="0" t="0" r="0" b="0"/>
              <a:pathLst>
                <a:path w="19" h="12">
                  <a:moveTo>
                    <a:pt x="16" y="6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6" y="8"/>
                    <a:pt x="3" y="7"/>
                    <a:pt x="0" y="6"/>
                  </a:cubicBezTo>
                  <a:cubicBezTo>
                    <a:pt x="3" y="5"/>
                    <a:pt x="6" y="5"/>
                    <a:pt x="1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6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直接连接符 358438"/>
            <p:cNvSpPr/>
            <p:nvPr>
              <p:custDataLst>
                <p:tags r:id="rId12"/>
              </p:custDataLst>
            </p:nvPr>
          </p:nvSpPr>
          <p:spPr>
            <a:xfrm flipH="1" flipV="1">
              <a:off x="2401" y="1289"/>
              <a:ext cx="299" cy="238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1" name="任意多边形 358439"/>
            <p:cNvSpPr/>
            <p:nvPr>
              <p:custDataLst>
                <p:tags r:id="rId13"/>
              </p:custDataLst>
            </p:nvPr>
          </p:nvSpPr>
          <p:spPr>
            <a:xfrm>
              <a:off x="2670" y="1492"/>
              <a:ext cx="83" cy="75"/>
            </a:xfrm>
            <a:custGeom>
              <a:avLst/>
              <a:gdLst/>
              <a:ahLst/>
              <a:cxnLst/>
              <a:rect l="0" t="0" r="0" b="0"/>
              <a:pathLst>
                <a:path w="19" h="17">
                  <a:moveTo>
                    <a:pt x="6" y="7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4" y="12"/>
                    <a:pt x="16" y="14"/>
                    <a:pt x="19" y="17"/>
                  </a:cubicBezTo>
                  <a:cubicBezTo>
                    <a:pt x="16" y="15"/>
                    <a:pt x="13" y="14"/>
                    <a:pt x="10" y="1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2" name="直接连接符 358440"/>
            <p:cNvSpPr/>
            <p:nvPr>
              <p:custDataLst>
                <p:tags r:id="rId14"/>
              </p:custDataLst>
            </p:nvPr>
          </p:nvSpPr>
          <p:spPr>
            <a:xfrm flipV="1">
              <a:off x="3366" y="2620"/>
              <a:ext cx="1" cy="17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任意多边形 358441"/>
            <p:cNvSpPr/>
            <p:nvPr>
              <p:custDataLst>
                <p:tags r:id="rId15"/>
              </p:custDataLst>
            </p:nvPr>
          </p:nvSpPr>
          <p:spPr>
            <a:xfrm>
              <a:off x="3339" y="2554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12" h="20">
                  <a:moveTo>
                    <a:pt x="6" y="16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7"/>
                    <a:pt x="6" y="4"/>
                    <a:pt x="6" y="0"/>
                  </a:cubicBezTo>
                  <a:cubicBezTo>
                    <a:pt x="7" y="4"/>
                    <a:pt x="8" y="7"/>
                    <a:pt x="8" y="1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lnTo>
                    <a:pt x="6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4" name="任意多边形 358442"/>
            <p:cNvSpPr/>
            <p:nvPr>
              <p:custDataLst>
                <p:tags r:id="rId16"/>
              </p:custDataLst>
            </p:nvPr>
          </p:nvSpPr>
          <p:spPr>
            <a:xfrm>
              <a:off x="3339" y="2774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12" h="20">
                  <a:moveTo>
                    <a:pt x="6" y="4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3"/>
                    <a:pt x="7" y="16"/>
                    <a:pt x="6" y="20"/>
                  </a:cubicBezTo>
                  <a:cubicBezTo>
                    <a:pt x="6" y="16"/>
                    <a:pt x="5" y="13"/>
                    <a:pt x="4" y="1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6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5" name="矩形 358443"/>
            <p:cNvSpPr/>
            <p:nvPr>
              <p:custDataLst>
                <p:tags r:id="rId17"/>
              </p:custDataLst>
            </p:nvPr>
          </p:nvSpPr>
          <p:spPr>
            <a:xfrm>
              <a:off x="2303" y="2189"/>
              <a:ext cx="72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x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6" name="矩形 358444"/>
            <p:cNvSpPr/>
            <p:nvPr>
              <p:custDataLst>
                <p:tags r:id="rId18"/>
              </p:custDataLst>
            </p:nvPr>
          </p:nvSpPr>
          <p:spPr>
            <a:xfrm>
              <a:off x="2373" y="2259"/>
              <a:ext cx="58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00">
                  <a:solidFill>
                    <a:srgbClr val="FFFFFF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7" name="直接连接符 358445"/>
            <p:cNvSpPr/>
            <p:nvPr>
              <p:custDataLst>
                <p:tags r:id="rId19"/>
              </p:custDataLst>
            </p:nvPr>
          </p:nvSpPr>
          <p:spPr>
            <a:xfrm>
              <a:off x="3115" y="2175"/>
              <a:ext cx="66" cy="1"/>
            </a:xfrm>
            <a:prstGeom prst="line">
              <a:avLst/>
            </a:prstGeom>
            <a:ln w="14288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8" name="任意多边形 358446"/>
            <p:cNvSpPr/>
            <p:nvPr>
              <p:custDataLst>
                <p:tags r:id="rId20"/>
              </p:custDataLst>
            </p:nvPr>
          </p:nvSpPr>
          <p:spPr>
            <a:xfrm>
              <a:off x="3159" y="2148"/>
              <a:ext cx="88" cy="53"/>
            </a:xfrm>
            <a:custGeom>
              <a:avLst/>
              <a:gdLst/>
              <a:ahLst/>
              <a:cxnLst/>
              <a:rect l="0" t="0" r="0" b="0"/>
              <a:pathLst>
                <a:path w="20" h="12">
                  <a:moveTo>
                    <a:pt x="4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3" y="5"/>
                    <a:pt x="16" y="5"/>
                    <a:pt x="20" y="6"/>
                  </a:cubicBezTo>
                  <a:cubicBezTo>
                    <a:pt x="16" y="7"/>
                    <a:pt x="13" y="8"/>
                    <a:pt x="10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4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任意多边形 358447"/>
            <p:cNvSpPr/>
            <p:nvPr>
              <p:custDataLst>
                <p:tags r:id="rId21"/>
              </p:custDataLst>
            </p:nvPr>
          </p:nvSpPr>
          <p:spPr>
            <a:xfrm>
              <a:off x="3053" y="2148"/>
              <a:ext cx="84" cy="53"/>
            </a:xfrm>
            <a:custGeom>
              <a:avLst/>
              <a:gdLst/>
              <a:ahLst/>
              <a:cxnLst/>
              <a:rect l="0" t="0" r="0" b="0"/>
              <a:pathLst>
                <a:path w="19" h="12">
                  <a:moveTo>
                    <a:pt x="16" y="6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8"/>
                    <a:pt x="3" y="7"/>
                    <a:pt x="0" y="6"/>
                  </a:cubicBezTo>
                  <a:cubicBezTo>
                    <a:pt x="3" y="5"/>
                    <a:pt x="7" y="5"/>
                    <a:pt x="10" y="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6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矩形 358448"/>
            <p:cNvSpPr/>
            <p:nvPr>
              <p:custDataLst>
                <p:tags r:id="rId22"/>
              </p:custDataLst>
            </p:nvPr>
          </p:nvSpPr>
          <p:spPr>
            <a:xfrm>
              <a:off x="3084" y="2189"/>
              <a:ext cx="72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x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1" name="矩形 358449"/>
            <p:cNvSpPr/>
            <p:nvPr>
              <p:custDataLst>
                <p:tags r:id="rId23"/>
              </p:custDataLst>
            </p:nvPr>
          </p:nvSpPr>
          <p:spPr>
            <a:xfrm>
              <a:off x="3155" y="2259"/>
              <a:ext cx="58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00">
                  <a:solidFill>
                    <a:srgbClr val="FFFFFF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2" name="矩形 358450"/>
            <p:cNvSpPr/>
            <p:nvPr>
              <p:custDataLst>
                <p:tags r:id="rId24"/>
              </p:custDataLst>
            </p:nvPr>
          </p:nvSpPr>
          <p:spPr>
            <a:xfrm>
              <a:off x="2678" y="2653"/>
              <a:ext cx="80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FFFFFF"/>
                  </a:solidFill>
                  <a:latin typeface="Arial" panose="020B0604020202020204" pitchFamily="34" charset="0"/>
                </a:rPr>
                <a:t>L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3" name="矩形 358451"/>
            <p:cNvSpPr/>
            <p:nvPr>
              <p:custDataLst>
                <p:tags r:id="rId25"/>
              </p:custDataLst>
            </p:nvPr>
          </p:nvSpPr>
          <p:spPr>
            <a:xfrm>
              <a:off x="2780" y="2723"/>
              <a:ext cx="58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00">
                  <a:solidFill>
                    <a:srgbClr val="FFFFFF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4" name="矩形 358452"/>
            <p:cNvSpPr/>
            <p:nvPr>
              <p:custDataLst>
                <p:tags r:id="rId26"/>
              </p:custDataLst>
            </p:nvPr>
          </p:nvSpPr>
          <p:spPr>
            <a:xfrm>
              <a:off x="1923" y="1104"/>
              <a:ext cx="1000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i="0" err="1">
                  <a:latin typeface="Arial" panose="020B0604020202020204" pitchFamily="34" charset="0"/>
                </a:rPr>
                <a:t>Polysilicon</a:t>
              </a:r>
              <a:r>
                <a:rPr lang="en-US" altLang="zh-CN" sz="1800" i="0">
                  <a:solidFill>
                    <a:srgbClr val="000082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800" i="0">
                  <a:latin typeface="Arial" panose="020B0604020202020204" pitchFamily="34" charset="0"/>
                </a:rPr>
                <a:t>gate</a:t>
              </a:r>
            </a:p>
          </p:txBody>
        </p:sp>
        <p:sp>
          <p:nvSpPr>
            <p:cNvPr id="44085" name="矩形 358453"/>
            <p:cNvSpPr/>
            <p:nvPr>
              <p:custDataLst>
                <p:tags r:id="rId27"/>
              </p:custDataLst>
            </p:nvPr>
          </p:nvSpPr>
          <p:spPr>
            <a:xfrm>
              <a:off x="2377" y="2940"/>
              <a:ext cx="616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b="1" i="0">
                  <a:solidFill>
                    <a:srgbClr val="000082"/>
                  </a:solidFill>
                  <a:latin typeface="Arial" panose="020B0604020202020204" pitchFamily="34" charset="0"/>
                </a:rPr>
                <a:t>Top view</a:t>
              </a:r>
            </a:p>
          </p:txBody>
        </p:sp>
        <p:sp>
          <p:nvSpPr>
            <p:cNvPr id="44086" name="矩形 358454"/>
            <p:cNvSpPr/>
            <p:nvPr>
              <p:custDataLst>
                <p:tags r:id="rId28"/>
              </p:custDataLst>
            </p:nvPr>
          </p:nvSpPr>
          <p:spPr>
            <a:xfrm>
              <a:off x="3417" y="2571"/>
              <a:ext cx="62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i="0">
                  <a:solidFill>
                    <a:srgbClr val="000000"/>
                  </a:solidFill>
                  <a:latin typeface="Arial" panose="020B0604020202020204" pitchFamily="34" charset="0"/>
                </a:rPr>
                <a:t>Gate-bulk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7" name="矩形 358455"/>
            <p:cNvSpPr/>
            <p:nvPr>
              <p:custDataLst>
                <p:tags r:id="rId29"/>
              </p:custDataLst>
            </p:nvPr>
          </p:nvSpPr>
          <p:spPr>
            <a:xfrm>
              <a:off x="3499" y="2730"/>
              <a:ext cx="472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i="0">
                  <a:solidFill>
                    <a:srgbClr val="000000"/>
                  </a:solidFill>
                  <a:latin typeface="Arial" panose="020B0604020202020204" pitchFamily="34" charset="0"/>
                </a:rPr>
                <a:t>overlap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8" name="矩形 358456"/>
            <p:cNvSpPr/>
            <p:nvPr>
              <p:custDataLst>
                <p:tags r:id="rId30"/>
              </p:custDataLst>
            </p:nvPr>
          </p:nvSpPr>
          <p:spPr>
            <a:xfrm>
              <a:off x="1462" y="1734"/>
              <a:ext cx="811" cy="820"/>
            </a:xfrm>
            <a:prstGeom prst="rect">
              <a:avLst/>
            </a:prstGeom>
            <a:solidFill>
              <a:schemeClr val="hlink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44089" name="矩形 358457"/>
            <p:cNvSpPr/>
            <p:nvPr>
              <p:custDataLst>
                <p:tags r:id="rId31"/>
              </p:custDataLst>
            </p:nvPr>
          </p:nvSpPr>
          <p:spPr>
            <a:xfrm>
              <a:off x="3247" y="1734"/>
              <a:ext cx="806" cy="820"/>
            </a:xfrm>
            <a:prstGeom prst="rect">
              <a:avLst/>
            </a:prstGeom>
            <a:solidFill>
              <a:schemeClr val="hlink"/>
            </a:solidFill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44090" name="直接连接符 358458"/>
            <p:cNvSpPr/>
            <p:nvPr>
              <p:custDataLst>
                <p:tags r:id="rId32"/>
              </p:custDataLst>
            </p:nvPr>
          </p:nvSpPr>
          <p:spPr>
            <a:xfrm flipV="1">
              <a:off x="3366" y="1796"/>
              <a:ext cx="1" cy="696"/>
            </a:xfrm>
            <a:prstGeom prst="line">
              <a:avLst/>
            </a:prstGeom>
            <a:ln w="14288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1" name="任意多边形 358459"/>
            <p:cNvSpPr/>
            <p:nvPr>
              <p:custDataLst>
                <p:tags r:id="rId33"/>
              </p:custDataLst>
            </p:nvPr>
          </p:nvSpPr>
          <p:spPr>
            <a:xfrm>
              <a:off x="3339" y="1734"/>
              <a:ext cx="53" cy="84"/>
            </a:xfrm>
            <a:custGeom>
              <a:avLst/>
              <a:gdLst/>
              <a:ahLst/>
              <a:cxnLst/>
              <a:rect l="0" t="0" r="0" b="0"/>
              <a:pathLst>
                <a:path w="12" h="19">
                  <a:moveTo>
                    <a:pt x="6" y="16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7"/>
                    <a:pt x="6" y="3"/>
                    <a:pt x="6" y="0"/>
                  </a:cubicBezTo>
                  <a:cubicBezTo>
                    <a:pt x="7" y="3"/>
                    <a:pt x="8" y="7"/>
                    <a:pt x="8" y="10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lnTo>
                    <a:pt x="6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2" name="任意多边形 358460"/>
            <p:cNvSpPr/>
            <p:nvPr>
              <p:custDataLst>
                <p:tags r:id="rId34"/>
              </p:custDataLst>
            </p:nvPr>
          </p:nvSpPr>
          <p:spPr>
            <a:xfrm>
              <a:off x="3339" y="2470"/>
              <a:ext cx="53" cy="84"/>
            </a:xfrm>
            <a:custGeom>
              <a:avLst/>
              <a:gdLst/>
              <a:ahLst/>
              <a:cxnLst/>
              <a:rect l="0" t="0" r="0" b="0"/>
              <a:pathLst>
                <a:path w="12" h="19">
                  <a:moveTo>
                    <a:pt x="6" y="3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13"/>
                    <a:pt x="7" y="16"/>
                    <a:pt x="6" y="19"/>
                  </a:cubicBezTo>
                  <a:cubicBezTo>
                    <a:pt x="6" y="16"/>
                    <a:pt x="5" y="13"/>
                    <a:pt x="4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3" name="矩形 358461"/>
            <p:cNvSpPr/>
            <p:nvPr>
              <p:custDataLst>
                <p:tags r:id="rId35"/>
              </p:custDataLst>
            </p:nvPr>
          </p:nvSpPr>
          <p:spPr>
            <a:xfrm>
              <a:off x="1523" y="1916"/>
              <a:ext cx="456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i="0">
                  <a:solidFill>
                    <a:srgbClr val="000000"/>
                  </a:solidFill>
                  <a:latin typeface="Arial" panose="020B0604020202020204" pitchFamily="34" charset="0"/>
                </a:rPr>
                <a:t>Source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4" name="矩形 358462"/>
            <p:cNvSpPr/>
            <p:nvPr>
              <p:custDataLst>
                <p:tags r:id="rId36"/>
              </p:custDataLst>
            </p:nvPr>
          </p:nvSpPr>
          <p:spPr>
            <a:xfrm>
              <a:off x="1652" y="2232"/>
              <a:ext cx="80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5" name="矩形 358463"/>
            <p:cNvSpPr/>
            <p:nvPr>
              <p:custDataLst>
                <p:tags r:id="rId37"/>
              </p:custDataLst>
            </p:nvPr>
          </p:nvSpPr>
          <p:spPr>
            <a:xfrm>
              <a:off x="1730" y="2230"/>
              <a:ext cx="61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00" i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6" name="矩形 358464"/>
            <p:cNvSpPr/>
            <p:nvPr>
              <p:custDataLst>
                <p:tags r:id="rId38"/>
              </p:custDataLst>
            </p:nvPr>
          </p:nvSpPr>
          <p:spPr>
            <a:xfrm>
              <a:off x="3622" y="1916"/>
              <a:ext cx="344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 i="0">
                  <a:solidFill>
                    <a:srgbClr val="000000"/>
                  </a:solidFill>
                  <a:latin typeface="Arial" panose="020B0604020202020204" pitchFamily="34" charset="0"/>
                </a:rPr>
                <a:t>Drain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7" name="矩形 358465"/>
            <p:cNvSpPr/>
            <p:nvPr>
              <p:custDataLst>
                <p:tags r:id="rId39"/>
              </p:custDataLst>
            </p:nvPr>
          </p:nvSpPr>
          <p:spPr>
            <a:xfrm>
              <a:off x="3718" y="2232"/>
              <a:ext cx="80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8" name="矩形 358466"/>
            <p:cNvSpPr/>
            <p:nvPr>
              <p:custDataLst>
                <p:tags r:id="rId40"/>
              </p:custDataLst>
            </p:nvPr>
          </p:nvSpPr>
          <p:spPr>
            <a:xfrm>
              <a:off x="3797" y="2230"/>
              <a:ext cx="61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300" i="0">
                  <a:solidFill>
                    <a:srgbClr val="000000"/>
                  </a:solidFill>
                  <a:latin typeface="Arial" panose="020B0604020202020204" pitchFamily="34" charset="0"/>
                </a:rPr>
                <a:t>+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99" name="矩形 358467"/>
            <p:cNvSpPr/>
            <p:nvPr>
              <p:custDataLst>
                <p:tags r:id="rId41"/>
              </p:custDataLst>
            </p:nvPr>
          </p:nvSpPr>
          <p:spPr>
            <a:xfrm>
              <a:off x="3420" y="2061"/>
              <a:ext cx="136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</a:rPr>
                <a:t>W</a:t>
              </a:r>
              <a:endParaRPr lang="en-US" altLang="zh-CN" sz="1800" i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5624830" y="5190490"/>
            <a:ext cx="5335270" cy="5924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2850515" y="5284470"/>
            <a:ext cx="2100580" cy="498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管沟道电容</a:t>
            </a:r>
            <a:r>
              <a:rPr lang="en-US" altLang="zh-CN">
                <a:sym typeface="+mn-ea"/>
              </a:rPr>
              <a:t>C</a:t>
            </a:r>
            <a:r>
              <a:rPr lang="en-US" altLang="zh-CN" baseline="-25000">
                <a:uFillTx/>
                <a:sym typeface="+mn-ea"/>
              </a:rPr>
              <a:t>GC</a:t>
            </a:r>
            <a:endParaRPr lang="zh-CN" altLang="en-US"/>
          </a:p>
        </p:txBody>
      </p:sp>
      <p:pic>
        <p:nvPicPr>
          <p:cNvPr id="45058" name="图片 35942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85570" y="2322830"/>
            <a:ext cx="9420860" cy="171513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630" y="4219575"/>
            <a:ext cx="9730105" cy="1711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39485" cy="4351655"/>
          </a:xfrm>
        </p:spPr>
        <p:txBody>
          <a:bodyPr/>
          <a:lstStyle/>
          <a:p>
            <a:r>
              <a:rPr lang="en-US" altLang="zh-CN">
                <a:sym typeface="+mn-ea"/>
              </a:rPr>
              <a:t>MOS</a:t>
            </a:r>
            <a:r>
              <a:rPr lang="zh-CN" altLang="en-US">
                <a:sym typeface="+mn-ea"/>
              </a:rPr>
              <a:t>结电容</a:t>
            </a:r>
            <a:r>
              <a:rPr lang="en-US" altLang="zh-CN">
                <a:sym typeface="+mn-ea"/>
              </a:rPr>
              <a:t>:</a:t>
            </a:r>
          </a:p>
          <a:p>
            <a:r>
              <a:rPr lang="zh-CN" altLang="en-US">
                <a:sym typeface="+mn-ea"/>
              </a:rPr>
              <a:t>底板</a:t>
            </a:r>
            <a:r>
              <a:rPr lang="en-US" altLang="zh-CN">
                <a:sym typeface="+mn-ea"/>
              </a:rPr>
              <a:t>PN</a:t>
            </a:r>
            <a:r>
              <a:rPr lang="zh-CN" altLang="en-US">
                <a:sym typeface="+mn-ea"/>
              </a:rPr>
              <a:t>结：源区和衬底。底板结一般是突变结，缓变系数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接近</a:t>
            </a:r>
            <a:r>
              <a:rPr lang="en-US" altLang="zh-CN">
                <a:sym typeface="+mn-ea"/>
              </a:rPr>
              <a:t>0.5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侧壁</a:t>
            </a:r>
            <a:r>
              <a:rPr lang="en-US" altLang="zh-CN">
                <a:sym typeface="+mn-ea"/>
              </a:rPr>
              <a:t>PN</a:t>
            </a:r>
            <a:r>
              <a:rPr lang="zh-CN" altLang="en-US">
                <a:sym typeface="+mn-ea"/>
              </a:rPr>
              <a:t>结：源区和</a:t>
            </a:r>
            <a:r>
              <a:rPr lang="en-US" altLang="zh-CN">
                <a:sym typeface="+mn-ea"/>
              </a:rPr>
              <a:t>p+</a:t>
            </a:r>
            <a:r>
              <a:rPr lang="zh-CN" altLang="en-US">
                <a:sym typeface="+mn-ea"/>
              </a:rPr>
              <a:t>沟道阻挡层。侧壁结一般是缓变结</a:t>
            </a:r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1502410" y="5146040"/>
            <a:ext cx="8201660" cy="103124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5998845" y="1595755"/>
            <a:ext cx="5396865" cy="3499485"/>
            <a:chOff x="2633" y="2293"/>
            <a:chExt cx="8499" cy="5511"/>
          </a:xfrm>
        </p:grpSpPr>
        <p:sp>
          <p:nvSpPr>
            <p:cNvPr id="48130" name="直接连接符 362498"/>
            <p:cNvSpPr/>
            <p:nvPr>
              <p:custDataLst>
                <p:tags r:id="rId2"/>
              </p:custDataLst>
            </p:nvPr>
          </p:nvSpPr>
          <p:spPr>
            <a:xfrm flipV="1">
              <a:off x="6955" y="6580"/>
              <a:ext cx="2603" cy="88"/>
            </a:xfrm>
            <a:prstGeom prst="line">
              <a:avLst/>
            </a:prstGeom>
            <a:ln w="12700" cap="flat" cmpd="sng">
              <a:solidFill>
                <a:srgbClr val="99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1" name="任意多边形 362499"/>
            <p:cNvSpPr/>
            <p:nvPr>
              <p:custDataLst>
                <p:tags r:id="rId3"/>
              </p:custDataLst>
            </p:nvPr>
          </p:nvSpPr>
          <p:spPr>
            <a:xfrm>
              <a:off x="4183" y="4073"/>
              <a:ext cx="3792" cy="2340"/>
            </a:xfrm>
            <a:custGeom>
              <a:avLst/>
              <a:gdLst/>
              <a:ahLst/>
              <a:cxnLst/>
              <a:rect l="0" t="0" r="0" b="0"/>
              <a:pathLst>
                <a:path w="386" h="238">
                  <a:moveTo>
                    <a:pt x="0" y="238"/>
                  </a:moveTo>
                  <a:cubicBezTo>
                    <a:pt x="192" y="0"/>
                    <a:pt x="192" y="0"/>
                    <a:pt x="192" y="0"/>
                  </a:cubicBezTo>
                  <a:cubicBezTo>
                    <a:pt x="193" y="0"/>
                    <a:pt x="194" y="1"/>
                    <a:pt x="196" y="1"/>
                  </a:cubicBezTo>
                  <a:cubicBezTo>
                    <a:pt x="196" y="1"/>
                    <a:pt x="235" y="8"/>
                    <a:pt x="252" y="8"/>
                  </a:cubicBezTo>
                  <a:cubicBezTo>
                    <a:pt x="386" y="8"/>
                    <a:pt x="386" y="8"/>
                    <a:pt x="386" y="8"/>
                  </a:cubicBezTo>
                  <a:cubicBezTo>
                    <a:pt x="244" y="205"/>
                    <a:pt x="244" y="205"/>
                    <a:pt x="244" y="205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0" y="238"/>
                    <a:pt x="0" y="238"/>
                    <a:pt x="0" y="238"/>
                  </a:cubicBezTo>
                  <a:close/>
                </a:path>
              </a:pathLst>
            </a:custGeom>
            <a:solidFill>
              <a:srgbClr val="E5E5E5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2" name="任意多边形 362500"/>
            <p:cNvSpPr/>
            <p:nvPr>
              <p:custDataLst>
                <p:tags r:id="rId4"/>
              </p:custDataLst>
            </p:nvPr>
          </p:nvSpPr>
          <p:spPr>
            <a:xfrm>
              <a:off x="6935" y="6413"/>
              <a:ext cx="225" cy="305"/>
            </a:xfrm>
            <a:custGeom>
              <a:avLst/>
              <a:gdLst/>
              <a:ahLst/>
              <a:cxnLst/>
              <a:rect l="0" t="0" r="0" b="0"/>
              <a:pathLst>
                <a:path w="23" h="31">
                  <a:moveTo>
                    <a:pt x="0" y="31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3"/>
                    <a:pt x="3" y="25"/>
                    <a:pt x="1" y="30"/>
                  </a:cubicBezTo>
                  <a:cubicBezTo>
                    <a:pt x="1" y="30"/>
                    <a:pt x="1" y="30"/>
                    <a:pt x="0" y="31"/>
                  </a:cubicBezTo>
                  <a:close/>
                </a:path>
              </a:pathLst>
            </a:custGeom>
            <a:solidFill>
              <a:srgbClr val="999999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3" name="直接连接符 362501"/>
            <p:cNvSpPr/>
            <p:nvPr>
              <p:custDataLst>
                <p:tags r:id="rId5"/>
              </p:custDataLst>
            </p:nvPr>
          </p:nvSpPr>
          <p:spPr>
            <a:xfrm flipV="1">
              <a:off x="11130" y="3553"/>
              <a:ext cx="3" cy="24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4" name="任意多边形 362502"/>
            <p:cNvSpPr/>
            <p:nvPr>
              <p:custDataLst>
                <p:tags r:id="rId6"/>
              </p:custDataLst>
            </p:nvPr>
          </p:nvSpPr>
          <p:spPr>
            <a:xfrm>
              <a:off x="6580" y="3298"/>
              <a:ext cx="4550" cy="3115"/>
            </a:xfrm>
            <a:custGeom>
              <a:avLst/>
              <a:gdLst/>
              <a:ahLst/>
              <a:cxnLst/>
              <a:rect l="0" t="0" r="0" b="0"/>
              <a:pathLst>
                <a:path w="1820" h="1246">
                  <a:moveTo>
                    <a:pt x="1820" y="102"/>
                  </a:moveTo>
                  <a:lnTo>
                    <a:pt x="1671" y="0"/>
                  </a:lnTo>
                  <a:lnTo>
                    <a:pt x="806" y="0"/>
                  </a:lnTo>
                  <a:lnTo>
                    <a:pt x="0" y="1116"/>
                  </a:lnTo>
                  <a:lnTo>
                    <a:pt x="0" y="1246"/>
                  </a:lnTo>
                  <a:lnTo>
                    <a:pt x="1368" y="1246"/>
                  </a:lnTo>
                  <a:lnTo>
                    <a:pt x="1820" y="200"/>
                  </a:lnTo>
                  <a:lnTo>
                    <a:pt x="1820" y="102"/>
                  </a:lnTo>
                  <a:close/>
                </a:path>
              </a:pathLst>
            </a:custGeom>
            <a:solidFill>
              <a:srgbClr val="666666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5" name="直接连接符 362503"/>
            <p:cNvSpPr/>
            <p:nvPr>
              <p:custDataLst>
                <p:tags r:id="rId7"/>
              </p:custDataLst>
            </p:nvPr>
          </p:nvSpPr>
          <p:spPr>
            <a:xfrm>
              <a:off x="6905" y="5635"/>
              <a:ext cx="2733" cy="3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直接连接符 362504"/>
            <p:cNvSpPr/>
            <p:nvPr>
              <p:custDataLst>
                <p:tags r:id="rId8"/>
              </p:custDataLst>
            </p:nvPr>
          </p:nvSpPr>
          <p:spPr>
            <a:xfrm flipH="1" flipV="1">
              <a:off x="9638" y="5635"/>
              <a:ext cx="322" cy="453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直接连接符 362505"/>
            <p:cNvSpPr/>
            <p:nvPr>
              <p:custDataLst>
                <p:tags r:id="rId9"/>
              </p:custDataLst>
            </p:nvPr>
          </p:nvSpPr>
          <p:spPr>
            <a:xfrm>
              <a:off x="6580" y="6088"/>
              <a:ext cx="3380" cy="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8" name="直接连接符 362506"/>
            <p:cNvSpPr/>
            <p:nvPr>
              <p:custDataLst>
                <p:tags r:id="rId10"/>
              </p:custDataLst>
            </p:nvPr>
          </p:nvSpPr>
          <p:spPr>
            <a:xfrm>
              <a:off x="3673" y="6443"/>
              <a:ext cx="2" cy="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9" name="任意多边形 362507"/>
            <p:cNvSpPr/>
            <p:nvPr>
              <p:custDataLst>
                <p:tags r:id="rId11"/>
              </p:custDataLst>
            </p:nvPr>
          </p:nvSpPr>
          <p:spPr>
            <a:xfrm>
              <a:off x="3425" y="3475"/>
              <a:ext cx="5043" cy="3360"/>
            </a:xfrm>
            <a:custGeom>
              <a:avLst/>
              <a:gdLst/>
              <a:ahLst/>
              <a:cxnLst/>
              <a:rect l="0" t="0" r="0" b="0"/>
              <a:pathLst>
                <a:path w="513" h="342">
                  <a:moveTo>
                    <a:pt x="513" y="0"/>
                  </a:moveTo>
                  <a:cubicBezTo>
                    <a:pt x="251" y="0"/>
                    <a:pt x="251" y="0"/>
                    <a:pt x="251" y="0"/>
                  </a:cubicBezTo>
                  <a:cubicBezTo>
                    <a:pt x="1" y="297"/>
                    <a:pt x="1" y="297"/>
                    <a:pt x="1" y="297"/>
                  </a:cubicBezTo>
                  <a:cubicBezTo>
                    <a:pt x="1" y="302"/>
                    <a:pt x="1" y="302"/>
                    <a:pt x="1" y="302"/>
                  </a:cubicBezTo>
                  <a:cubicBezTo>
                    <a:pt x="1" y="302"/>
                    <a:pt x="0" y="318"/>
                    <a:pt x="14" y="332"/>
                  </a:cubicBezTo>
                  <a:cubicBezTo>
                    <a:pt x="14" y="332"/>
                    <a:pt x="23" y="342"/>
                    <a:pt x="43" y="342"/>
                  </a:cubicBezTo>
                  <a:cubicBezTo>
                    <a:pt x="32" y="337"/>
                    <a:pt x="28" y="329"/>
                    <a:pt x="28" y="329"/>
                  </a:cubicBezTo>
                  <a:cubicBezTo>
                    <a:pt x="26" y="324"/>
                    <a:pt x="25" y="304"/>
                    <a:pt x="25" y="302"/>
                  </a:cubicBezTo>
                  <a:cubicBezTo>
                    <a:pt x="255" y="20"/>
                    <a:pt x="255" y="20"/>
                    <a:pt x="255" y="20"/>
                  </a:cubicBezTo>
                  <a:cubicBezTo>
                    <a:pt x="498" y="20"/>
                    <a:pt x="498" y="20"/>
                    <a:pt x="498" y="20"/>
                  </a:cubicBezTo>
                  <a:lnTo>
                    <a:pt x="513" y="0"/>
                  </a:lnTo>
                  <a:close/>
                </a:path>
              </a:pathLst>
            </a:custGeom>
            <a:solidFill>
              <a:srgbClr val="666666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0" name="任意多边形 362508"/>
            <p:cNvSpPr/>
            <p:nvPr>
              <p:custDataLst>
                <p:tags r:id="rId12"/>
              </p:custDataLst>
            </p:nvPr>
          </p:nvSpPr>
          <p:spPr>
            <a:xfrm>
              <a:off x="5933" y="3670"/>
              <a:ext cx="2387" cy="483"/>
            </a:xfrm>
            <a:custGeom>
              <a:avLst/>
              <a:gdLst/>
              <a:ahLst/>
              <a:cxnLst/>
              <a:rect l="0" t="0" r="0" b="0"/>
              <a:pathLst>
                <a:path w="243" h="49">
                  <a:moveTo>
                    <a:pt x="208" y="49"/>
                  </a:moveTo>
                  <a:cubicBezTo>
                    <a:pt x="74" y="49"/>
                    <a:pt x="74" y="49"/>
                    <a:pt x="74" y="49"/>
                  </a:cubicBezTo>
                  <a:cubicBezTo>
                    <a:pt x="57" y="49"/>
                    <a:pt x="18" y="42"/>
                    <a:pt x="18" y="42"/>
                  </a:cubicBezTo>
                  <a:cubicBezTo>
                    <a:pt x="7" y="38"/>
                    <a:pt x="3" y="30"/>
                    <a:pt x="3" y="30"/>
                  </a:cubicBezTo>
                  <a:cubicBezTo>
                    <a:pt x="1" y="25"/>
                    <a:pt x="0" y="2"/>
                    <a:pt x="0" y="0"/>
                  </a:cubicBezTo>
                  <a:cubicBezTo>
                    <a:pt x="243" y="0"/>
                    <a:pt x="243" y="0"/>
                    <a:pt x="243" y="0"/>
                  </a:cubicBezTo>
                  <a:lnTo>
                    <a:pt x="208" y="49"/>
                  </a:lnTo>
                  <a:close/>
                </a:path>
              </a:pathLst>
            </a:custGeom>
            <a:solidFill>
              <a:srgbClr val="BFBFB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1" name="任意多边形 362509"/>
            <p:cNvSpPr/>
            <p:nvPr>
              <p:custDataLst>
                <p:tags r:id="rId13"/>
              </p:custDataLst>
            </p:nvPr>
          </p:nvSpPr>
          <p:spPr>
            <a:xfrm>
              <a:off x="3690" y="3670"/>
              <a:ext cx="2380" cy="2743"/>
            </a:xfrm>
            <a:custGeom>
              <a:avLst/>
              <a:gdLst/>
              <a:ahLst/>
              <a:cxnLst/>
              <a:rect l="0" t="0" r="0" b="0"/>
              <a:pathLst>
                <a:path w="242" h="279">
                  <a:moveTo>
                    <a:pt x="0" y="279"/>
                  </a:moveTo>
                  <a:cubicBezTo>
                    <a:pt x="228" y="0"/>
                    <a:pt x="228" y="0"/>
                    <a:pt x="228" y="0"/>
                  </a:cubicBezTo>
                  <a:cubicBezTo>
                    <a:pt x="228" y="2"/>
                    <a:pt x="229" y="25"/>
                    <a:pt x="231" y="30"/>
                  </a:cubicBezTo>
                  <a:cubicBezTo>
                    <a:pt x="231" y="30"/>
                    <a:pt x="234" y="36"/>
                    <a:pt x="242" y="41"/>
                  </a:cubicBezTo>
                  <a:cubicBezTo>
                    <a:pt x="50" y="279"/>
                    <a:pt x="50" y="279"/>
                    <a:pt x="50" y="279"/>
                  </a:cubicBezTo>
                  <a:lnTo>
                    <a:pt x="0" y="279"/>
                  </a:lnTo>
                  <a:close/>
                </a:path>
              </a:pathLst>
            </a:custGeom>
            <a:solidFill>
              <a:srgbClr val="BFBFB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2" name="任意多边形 362510"/>
            <p:cNvSpPr/>
            <p:nvPr>
              <p:custDataLst>
                <p:tags r:id="rId14"/>
              </p:custDataLst>
            </p:nvPr>
          </p:nvSpPr>
          <p:spPr>
            <a:xfrm>
              <a:off x="3673" y="6413"/>
              <a:ext cx="3300" cy="482"/>
            </a:xfrm>
            <a:custGeom>
              <a:avLst/>
              <a:gdLst/>
              <a:ahLst/>
              <a:cxnLst/>
              <a:rect l="0" t="0" r="0" b="0"/>
              <a:pathLst>
                <a:path w="336" h="49">
                  <a:moveTo>
                    <a:pt x="336" y="0"/>
                  </a:moveTo>
                  <a:cubicBezTo>
                    <a:pt x="336" y="3"/>
                    <a:pt x="335" y="25"/>
                    <a:pt x="333" y="30"/>
                  </a:cubicBezTo>
                  <a:cubicBezTo>
                    <a:pt x="333" y="30"/>
                    <a:pt x="329" y="38"/>
                    <a:pt x="318" y="43"/>
                  </a:cubicBezTo>
                  <a:cubicBezTo>
                    <a:pt x="318" y="43"/>
                    <a:pt x="279" y="49"/>
                    <a:pt x="262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57" y="49"/>
                    <a:pt x="18" y="43"/>
                    <a:pt x="18" y="43"/>
                  </a:cubicBezTo>
                  <a:cubicBezTo>
                    <a:pt x="7" y="38"/>
                    <a:pt x="3" y="30"/>
                    <a:pt x="3" y="30"/>
                  </a:cubicBezTo>
                  <a:cubicBezTo>
                    <a:pt x="1" y="25"/>
                    <a:pt x="0" y="3"/>
                    <a:pt x="0" y="0"/>
                  </a:cubicBezTo>
                  <a:lnTo>
                    <a:pt x="336" y="0"/>
                  </a:lnTo>
                  <a:close/>
                </a:path>
              </a:pathLst>
            </a:custGeom>
            <a:solidFill>
              <a:srgbClr val="999999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3" name="任意多边形 362511"/>
            <p:cNvSpPr/>
            <p:nvPr>
              <p:custDataLst>
                <p:tags r:id="rId15"/>
              </p:custDataLst>
            </p:nvPr>
          </p:nvSpPr>
          <p:spPr>
            <a:xfrm>
              <a:off x="9538" y="6413"/>
              <a:ext cx="1277" cy="392"/>
            </a:xfrm>
            <a:custGeom>
              <a:avLst/>
              <a:gdLst/>
              <a:ahLst/>
              <a:cxnLst/>
              <a:rect l="0" t="0" r="0" b="0"/>
              <a:pathLst>
                <a:path w="130" h="40">
                  <a:moveTo>
                    <a:pt x="0" y="0"/>
                  </a:moveTo>
                  <a:cubicBezTo>
                    <a:pt x="0" y="2"/>
                    <a:pt x="0" y="18"/>
                    <a:pt x="5" y="25"/>
                  </a:cubicBezTo>
                  <a:cubicBezTo>
                    <a:pt x="5" y="25"/>
                    <a:pt x="9" y="34"/>
                    <a:pt x="27" y="36"/>
                  </a:cubicBezTo>
                  <a:cubicBezTo>
                    <a:pt x="27" y="36"/>
                    <a:pt x="104" y="38"/>
                    <a:pt x="130" y="40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4" name="矩形 362512"/>
            <p:cNvSpPr/>
            <p:nvPr>
              <p:custDataLst>
                <p:tags r:id="rId16"/>
              </p:custDataLst>
            </p:nvPr>
          </p:nvSpPr>
          <p:spPr>
            <a:xfrm>
              <a:off x="5543" y="5300"/>
              <a:ext cx="1067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Bottom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45" name="矩形 362513"/>
            <p:cNvSpPr/>
            <p:nvPr>
              <p:custDataLst>
                <p:tags r:id="rId17"/>
              </p:custDataLst>
            </p:nvPr>
          </p:nvSpPr>
          <p:spPr>
            <a:xfrm>
              <a:off x="6465" y="3690"/>
              <a:ext cx="1255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Side wall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46" name="矩形 362514"/>
            <p:cNvSpPr/>
            <p:nvPr>
              <p:custDataLst>
                <p:tags r:id="rId18"/>
              </p:custDataLst>
            </p:nvPr>
          </p:nvSpPr>
          <p:spPr>
            <a:xfrm>
              <a:off x="5135" y="6460"/>
              <a:ext cx="1255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Side wall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47" name="矩形 362515"/>
            <p:cNvSpPr/>
            <p:nvPr>
              <p:custDataLst>
                <p:tags r:id="rId19"/>
              </p:custDataLst>
            </p:nvPr>
          </p:nvSpPr>
          <p:spPr>
            <a:xfrm>
              <a:off x="8395" y="6898"/>
              <a:ext cx="1173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Channel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48" name="矩形 362516"/>
            <p:cNvSpPr/>
            <p:nvPr>
              <p:custDataLst>
                <p:tags r:id="rId20"/>
              </p:custDataLst>
            </p:nvPr>
          </p:nvSpPr>
          <p:spPr>
            <a:xfrm>
              <a:off x="6015" y="4295"/>
              <a:ext cx="96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Source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49" name="矩形 362517"/>
            <p:cNvSpPr/>
            <p:nvPr>
              <p:custDataLst>
                <p:tags r:id="rId21"/>
              </p:custDataLst>
            </p:nvPr>
          </p:nvSpPr>
          <p:spPr>
            <a:xfrm>
              <a:off x="6015" y="4645"/>
              <a:ext cx="25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N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0" name="矩形 362518"/>
            <p:cNvSpPr/>
            <p:nvPr>
              <p:custDataLst>
                <p:tags r:id="rId22"/>
              </p:custDataLst>
            </p:nvPr>
          </p:nvSpPr>
          <p:spPr>
            <a:xfrm>
              <a:off x="6260" y="4800"/>
              <a:ext cx="2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rgbClr val="000000"/>
                  </a:solidFill>
                  <a:latin typeface="Times Ten Roman" pitchFamily="18" charset="0"/>
                </a:rPr>
                <a:t>D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1" name="矩形 362519"/>
            <p:cNvSpPr/>
            <p:nvPr>
              <p:custDataLst>
                <p:tags r:id="rId23"/>
              </p:custDataLst>
            </p:nvPr>
          </p:nvSpPr>
          <p:spPr>
            <a:xfrm>
              <a:off x="5538" y="2293"/>
              <a:ext cx="3017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Channel-stop implant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2" name="矩形 362520"/>
            <p:cNvSpPr/>
            <p:nvPr>
              <p:custDataLst>
                <p:tags r:id="rId24"/>
              </p:custDataLst>
            </p:nvPr>
          </p:nvSpPr>
          <p:spPr>
            <a:xfrm>
              <a:off x="5538" y="2645"/>
              <a:ext cx="89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        N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3" name="矩形 362521"/>
            <p:cNvSpPr/>
            <p:nvPr>
              <p:custDataLst>
                <p:tags r:id="rId25"/>
              </p:custDataLst>
            </p:nvPr>
          </p:nvSpPr>
          <p:spPr>
            <a:xfrm>
              <a:off x="6413" y="2805"/>
              <a:ext cx="1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rgbClr val="000000"/>
                  </a:solidFill>
                  <a:latin typeface="Times Ten Roman" pitchFamily="18" charset="0"/>
                </a:rPr>
                <a:t>A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4" name="矩形 362522"/>
            <p:cNvSpPr/>
            <p:nvPr>
              <p:custDataLst>
                <p:tags r:id="rId26"/>
              </p:custDataLst>
            </p:nvPr>
          </p:nvSpPr>
          <p:spPr>
            <a:xfrm>
              <a:off x="6573" y="2693"/>
              <a:ext cx="267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MathematicalPi 1" pitchFamily="82" charset="0"/>
                </a:rPr>
                <a:t>1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5" name="矩形 362523"/>
            <p:cNvSpPr/>
            <p:nvPr>
              <p:custDataLst>
                <p:tags r:id="rId27"/>
              </p:custDataLst>
            </p:nvPr>
          </p:nvSpPr>
          <p:spPr>
            <a:xfrm>
              <a:off x="7145" y="7358"/>
              <a:ext cx="1318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 i="0">
                  <a:solidFill>
                    <a:srgbClr val="000000"/>
                  </a:solidFill>
                  <a:latin typeface="Times Ten Roman" pitchFamily="18" charset="0"/>
                </a:rPr>
                <a:t>Substrate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6" name="矩形 362524"/>
            <p:cNvSpPr/>
            <p:nvPr>
              <p:custDataLst>
                <p:tags r:id="rId28"/>
              </p:custDataLst>
            </p:nvPr>
          </p:nvSpPr>
          <p:spPr>
            <a:xfrm>
              <a:off x="8518" y="7358"/>
              <a:ext cx="25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N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7" name="矩形 362525"/>
            <p:cNvSpPr/>
            <p:nvPr>
              <p:custDataLst>
                <p:tags r:id="rId29"/>
              </p:custDataLst>
            </p:nvPr>
          </p:nvSpPr>
          <p:spPr>
            <a:xfrm>
              <a:off x="8763" y="7518"/>
              <a:ext cx="187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rgbClr val="000000"/>
                  </a:solidFill>
                  <a:latin typeface="Times Ten Roman" pitchFamily="18" charset="0"/>
                </a:rPr>
                <a:t>A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58" name="直接连接符 362526"/>
            <p:cNvSpPr/>
            <p:nvPr>
              <p:custDataLst>
                <p:tags r:id="rId30"/>
              </p:custDataLst>
            </p:nvPr>
          </p:nvSpPr>
          <p:spPr>
            <a:xfrm>
              <a:off x="4743" y="6628"/>
              <a:ext cx="305" cy="4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9" name="任意多边形 362527"/>
            <p:cNvSpPr/>
            <p:nvPr>
              <p:custDataLst>
                <p:tags r:id="rId31"/>
              </p:custDataLst>
            </p:nvPr>
          </p:nvSpPr>
          <p:spPr>
            <a:xfrm>
              <a:off x="4605" y="6580"/>
              <a:ext cx="198" cy="118"/>
            </a:xfrm>
            <a:custGeom>
              <a:avLst/>
              <a:gdLst/>
              <a:ahLst/>
              <a:cxnLst/>
              <a:rect l="0" t="0" r="0" b="0"/>
              <a:pathLst>
                <a:path w="20" h="12">
                  <a:moveTo>
                    <a:pt x="16" y="6"/>
                  </a:move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6" y="6"/>
                    <a:pt x="3" y="5"/>
                    <a:pt x="0" y="4"/>
                  </a:cubicBezTo>
                  <a:cubicBezTo>
                    <a:pt x="3" y="3"/>
                    <a:pt x="6" y="3"/>
                    <a:pt x="10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16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0" name="直接连接符 362528"/>
            <p:cNvSpPr/>
            <p:nvPr>
              <p:custDataLst>
                <p:tags r:id="rId32"/>
              </p:custDataLst>
            </p:nvPr>
          </p:nvSpPr>
          <p:spPr>
            <a:xfrm>
              <a:off x="4743" y="5635"/>
              <a:ext cx="335" cy="93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1" name="任意多边形 362529"/>
            <p:cNvSpPr/>
            <p:nvPr>
              <p:custDataLst>
                <p:tags r:id="rId33"/>
              </p:custDataLst>
            </p:nvPr>
          </p:nvSpPr>
          <p:spPr>
            <a:xfrm>
              <a:off x="4693" y="5498"/>
              <a:ext cx="120" cy="197"/>
            </a:xfrm>
            <a:custGeom>
              <a:avLst/>
              <a:gdLst/>
              <a:ahLst/>
              <a:cxnLst/>
              <a:rect l="0" t="0" r="0" b="0"/>
              <a:pathLst>
                <a:path w="12" h="20">
                  <a:moveTo>
                    <a:pt x="6" y="15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7"/>
                    <a:pt x="1" y="4"/>
                    <a:pt x="0" y="0"/>
                  </a:cubicBezTo>
                  <a:cubicBezTo>
                    <a:pt x="2" y="3"/>
                    <a:pt x="4" y="6"/>
                    <a:pt x="6" y="9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lnTo>
                    <a:pt x="6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2" name="直接连接符 362530"/>
            <p:cNvSpPr/>
            <p:nvPr>
              <p:custDataLst>
                <p:tags r:id="rId34"/>
              </p:custDataLst>
            </p:nvPr>
          </p:nvSpPr>
          <p:spPr>
            <a:xfrm>
              <a:off x="8388" y="6580"/>
              <a:ext cx="552" cy="26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3" name="任意多边形 362531"/>
            <p:cNvSpPr/>
            <p:nvPr>
              <p:custDataLst>
                <p:tags r:id="rId35"/>
              </p:custDataLst>
            </p:nvPr>
          </p:nvSpPr>
          <p:spPr>
            <a:xfrm>
              <a:off x="8260" y="6520"/>
              <a:ext cx="198" cy="138"/>
            </a:xfrm>
            <a:custGeom>
              <a:avLst/>
              <a:gdLst/>
              <a:ahLst/>
              <a:cxnLst/>
              <a:rect l="0" t="0" r="0" b="0"/>
              <a:pathLst>
                <a:path w="20" h="14">
                  <a:moveTo>
                    <a:pt x="14" y="7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5" y="4"/>
                    <a:pt x="2" y="2"/>
                    <a:pt x="0" y="0"/>
                  </a:cubicBezTo>
                  <a:cubicBezTo>
                    <a:pt x="3" y="1"/>
                    <a:pt x="6" y="2"/>
                    <a:pt x="9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4" name="直接连接符 362532"/>
            <p:cNvSpPr/>
            <p:nvPr>
              <p:custDataLst>
                <p:tags r:id="rId36"/>
              </p:custDataLst>
            </p:nvPr>
          </p:nvSpPr>
          <p:spPr>
            <a:xfrm flipH="1" flipV="1">
              <a:off x="6885" y="3013"/>
              <a:ext cx="413" cy="49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5" name="任意多边形 362533"/>
            <p:cNvSpPr/>
            <p:nvPr>
              <p:custDataLst>
                <p:tags r:id="rId37"/>
              </p:custDataLst>
            </p:nvPr>
          </p:nvSpPr>
          <p:spPr>
            <a:xfrm>
              <a:off x="7230" y="3425"/>
              <a:ext cx="165" cy="188"/>
            </a:xfrm>
            <a:custGeom>
              <a:avLst/>
              <a:gdLst/>
              <a:ahLst/>
              <a:cxnLst/>
              <a:rect l="0" t="0" r="0" b="0"/>
              <a:pathLst>
                <a:path w="17" h="19">
                  <a:moveTo>
                    <a:pt x="6" y="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4" y="13"/>
                    <a:pt x="15" y="16"/>
                    <a:pt x="17" y="19"/>
                  </a:cubicBezTo>
                  <a:cubicBezTo>
                    <a:pt x="14" y="17"/>
                    <a:pt x="11" y="15"/>
                    <a:pt x="9" y="1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6" name="直接连接符 362534"/>
            <p:cNvSpPr/>
            <p:nvPr>
              <p:custDataLst>
                <p:tags r:id="rId38"/>
              </p:custDataLst>
            </p:nvPr>
          </p:nvSpPr>
          <p:spPr>
            <a:xfrm>
              <a:off x="3800" y="7208"/>
              <a:ext cx="2683" cy="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7" name="任意多边形 362535"/>
            <p:cNvSpPr/>
            <p:nvPr>
              <p:custDataLst>
                <p:tags r:id="rId39"/>
              </p:custDataLst>
            </p:nvPr>
          </p:nvSpPr>
          <p:spPr>
            <a:xfrm>
              <a:off x="6433" y="7150"/>
              <a:ext cx="187" cy="118"/>
            </a:xfrm>
            <a:custGeom>
              <a:avLst/>
              <a:gdLst/>
              <a:ahLst/>
              <a:cxnLst/>
              <a:rect l="0" t="0" r="0" b="0"/>
              <a:pathLst>
                <a:path w="19" h="12">
                  <a:moveTo>
                    <a:pt x="3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3" y="5"/>
                    <a:pt x="16" y="5"/>
                    <a:pt x="19" y="6"/>
                  </a:cubicBezTo>
                  <a:cubicBezTo>
                    <a:pt x="16" y="7"/>
                    <a:pt x="13" y="8"/>
                    <a:pt x="9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3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8" name="任意多边形 362536"/>
            <p:cNvSpPr/>
            <p:nvPr>
              <p:custDataLst>
                <p:tags r:id="rId40"/>
              </p:custDataLst>
            </p:nvPr>
          </p:nvSpPr>
          <p:spPr>
            <a:xfrm>
              <a:off x="3653" y="7150"/>
              <a:ext cx="195" cy="118"/>
            </a:xfrm>
            <a:custGeom>
              <a:avLst/>
              <a:gdLst/>
              <a:ahLst/>
              <a:cxnLst/>
              <a:rect l="0" t="0" r="0" b="0"/>
              <a:pathLst>
                <a:path w="20" h="12">
                  <a:moveTo>
                    <a:pt x="16" y="6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8"/>
                    <a:pt x="4" y="7"/>
                    <a:pt x="0" y="6"/>
                  </a:cubicBezTo>
                  <a:cubicBezTo>
                    <a:pt x="4" y="5"/>
                    <a:pt x="7" y="5"/>
                    <a:pt x="10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lnTo>
                    <a:pt x="16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69" name="直接连接符 362537"/>
            <p:cNvSpPr/>
            <p:nvPr>
              <p:custDataLst>
                <p:tags r:id="rId41"/>
              </p:custDataLst>
            </p:nvPr>
          </p:nvSpPr>
          <p:spPr>
            <a:xfrm flipV="1">
              <a:off x="3033" y="6540"/>
              <a:ext cx="2" cy="218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0" name="任意多边形 362538"/>
            <p:cNvSpPr/>
            <p:nvPr>
              <p:custDataLst>
                <p:tags r:id="rId42"/>
              </p:custDataLst>
            </p:nvPr>
          </p:nvSpPr>
          <p:spPr>
            <a:xfrm>
              <a:off x="2975" y="6393"/>
              <a:ext cx="118" cy="197"/>
            </a:xfrm>
            <a:custGeom>
              <a:avLst/>
              <a:gdLst/>
              <a:ahLst/>
              <a:cxnLst/>
              <a:rect l="0" t="0" r="0" b="0"/>
              <a:pathLst>
                <a:path w="12" h="20">
                  <a:moveTo>
                    <a:pt x="6" y="16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5" y="4"/>
                    <a:pt x="6" y="0"/>
                  </a:cubicBezTo>
                  <a:cubicBezTo>
                    <a:pt x="7" y="4"/>
                    <a:pt x="7" y="7"/>
                    <a:pt x="8" y="1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lnTo>
                    <a:pt x="6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1" name="任意多边形 362539"/>
            <p:cNvSpPr/>
            <p:nvPr>
              <p:custDataLst>
                <p:tags r:id="rId43"/>
              </p:custDataLst>
            </p:nvPr>
          </p:nvSpPr>
          <p:spPr>
            <a:xfrm>
              <a:off x="2975" y="6708"/>
              <a:ext cx="118" cy="187"/>
            </a:xfrm>
            <a:custGeom>
              <a:avLst/>
              <a:gdLst/>
              <a:ahLst/>
              <a:cxnLst/>
              <a:rect l="0" t="0" r="0" b="0"/>
              <a:pathLst>
                <a:path w="12" h="19">
                  <a:moveTo>
                    <a:pt x="6" y="3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7" y="12"/>
                    <a:pt x="7" y="16"/>
                    <a:pt x="6" y="19"/>
                  </a:cubicBezTo>
                  <a:cubicBezTo>
                    <a:pt x="5" y="16"/>
                    <a:pt x="4" y="12"/>
                    <a:pt x="4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2" name="直接连接符 362540"/>
            <p:cNvSpPr/>
            <p:nvPr>
              <p:custDataLst>
                <p:tags r:id="rId44"/>
              </p:custDataLst>
            </p:nvPr>
          </p:nvSpPr>
          <p:spPr>
            <a:xfrm flipV="1">
              <a:off x="3120" y="3720"/>
              <a:ext cx="2163" cy="257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3" name="任意多边形 362541"/>
            <p:cNvSpPr/>
            <p:nvPr>
              <p:custDataLst>
                <p:tags r:id="rId45"/>
              </p:custDataLst>
            </p:nvPr>
          </p:nvSpPr>
          <p:spPr>
            <a:xfrm>
              <a:off x="5205" y="3613"/>
              <a:ext cx="168" cy="175"/>
            </a:xfrm>
            <a:custGeom>
              <a:avLst/>
              <a:gdLst/>
              <a:ahLst/>
              <a:cxnLst/>
              <a:rect l="0" t="0" r="0" b="0"/>
              <a:pathLst>
                <a:path w="17" h="18">
                  <a:moveTo>
                    <a:pt x="7" y="12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4"/>
                    <a:pt x="14" y="2"/>
                    <a:pt x="17" y="0"/>
                  </a:cubicBezTo>
                  <a:cubicBezTo>
                    <a:pt x="15" y="3"/>
                    <a:pt x="14" y="6"/>
                    <a:pt x="12" y="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lnTo>
                    <a:pt x="7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4" name="任意多边形 362542"/>
            <p:cNvSpPr/>
            <p:nvPr>
              <p:custDataLst>
                <p:tags r:id="rId46"/>
              </p:custDataLst>
            </p:nvPr>
          </p:nvSpPr>
          <p:spPr>
            <a:xfrm>
              <a:off x="3033" y="6215"/>
              <a:ext cx="167" cy="178"/>
            </a:xfrm>
            <a:custGeom>
              <a:avLst/>
              <a:gdLst/>
              <a:ahLst/>
              <a:cxnLst/>
              <a:rect l="0" t="0" r="0" b="0"/>
              <a:pathLst>
                <a:path w="17" h="18">
                  <a:moveTo>
                    <a:pt x="10" y="6"/>
                  </a:moveTo>
                  <a:cubicBezTo>
                    <a:pt x="17" y="7"/>
                    <a:pt x="17" y="7"/>
                    <a:pt x="17" y="7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5" y="14"/>
                    <a:pt x="2" y="16"/>
                    <a:pt x="0" y="18"/>
                  </a:cubicBezTo>
                  <a:cubicBezTo>
                    <a:pt x="1" y="15"/>
                    <a:pt x="3" y="13"/>
                    <a:pt x="4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10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5" name="矩形 362543"/>
            <p:cNvSpPr/>
            <p:nvPr>
              <p:custDataLst>
                <p:tags r:id="rId47"/>
              </p:custDataLst>
            </p:nvPr>
          </p:nvSpPr>
          <p:spPr>
            <a:xfrm>
              <a:off x="3985" y="4470"/>
              <a:ext cx="303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W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76" name="矩形 362544"/>
            <p:cNvSpPr/>
            <p:nvPr>
              <p:custDataLst>
                <p:tags r:id="rId48"/>
              </p:custDataLst>
            </p:nvPr>
          </p:nvSpPr>
          <p:spPr>
            <a:xfrm>
              <a:off x="2633" y="6423"/>
              <a:ext cx="16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x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77" name="矩形 362545"/>
            <p:cNvSpPr/>
            <p:nvPr>
              <p:custDataLst>
                <p:tags r:id="rId49"/>
              </p:custDataLst>
            </p:nvPr>
          </p:nvSpPr>
          <p:spPr>
            <a:xfrm>
              <a:off x="2790" y="6578"/>
              <a:ext cx="68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rgbClr val="000000"/>
                  </a:solidFill>
                  <a:latin typeface="Times Ten Roman" pitchFamily="18" charset="0"/>
                </a:rPr>
                <a:t>j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78" name="矩形 362546"/>
            <p:cNvSpPr/>
            <p:nvPr>
              <p:custDataLst>
                <p:tags r:id="rId50"/>
              </p:custDataLst>
            </p:nvPr>
          </p:nvSpPr>
          <p:spPr>
            <a:xfrm>
              <a:off x="4960" y="7218"/>
              <a:ext cx="230" cy="3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600">
                  <a:solidFill>
                    <a:srgbClr val="000000"/>
                  </a:solidFill>
                  <a:latin typeface="Times Ten Roman" pitchFamily="18" charset="0"/>
                </a:rPr>
                <a:t>L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79" name="矩形 362547"/>
            <p:cNvSpPr/>
            <p:nvPr>
              <p:custDataLst>
                <p:tags r:id="rId51"/>
              </p:custDataLst>
            </p:nvPr>
          </p:nvSpPr>
          <p:spPr>
            <a:xfrm>
              <a:off x="5188" y="7373"/>
              <a:ext cx="132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eaLnBrk="0" hangingPunct="0"/>
              <a:r>
                <a:rPr lang="en-US" altLang="zh-CN" sz="1200">
                  <a:solidFill>
                    <a:srgbClr val="000000"/>
                  </a:solidFill>
                  <a:latin typeface="Times Ten Roman" pitchFamily="18" charset="0"/>
                </a:rPr>
                <a:t>S</a:t>
              </a:r>
              <a:endParaRPr lang="en-US" altLang="zh-CN" sz="18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48180" name="直接连接符 362548"/>
            <p:cNvSpPr/>
            <p:nvPr>
              <p:custDataLst>
                <p:tags r:id="rId52"/>
              </p:custDataLst>
            </p:nvPr>
          </p:nvSpPr>
          <p:spPr>
            <a:xfrm flipH="1">
              <a:off x="3435" y="6443"/>
              <a:ext cx="238" cy="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1" name="直接连接符 362549"/>
            <p:cNvSpPr/>
            <p:nvPr>
              <p:custDataLst>
                <p:tags r:id="rId53"/>
              </p:custDataLst>
            </p:nvPr>
          </p:nvSpPr>
          <p:spPr>
            <a:xfrm flipV="1">
              <a:off x="9960" y="3553"/>
              <a:ext cx="1170" cy="253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2" name="直接连接符 362550"/>
            <p:cNvSpPr/>
            <p:nvPr>
              <p:custDataLst>
                <p:tags r:id="rId54"/>
              </p:custDataLst>
            </p:nvPr>
          </p:nvSpPr>
          <p:spPr>
            <a:xfrm flipV="1">
              <a:off x="9638" y="3298"/>
              <a:ext cx="1120" cy="2337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83" name="直接连接符 362551"/>
            <p:cNvSpPr/>
            <p:nvPr>
              <p:custDataLst>
                <p:tags r:id="rId55"/>
              </p:custDataLst>
            </p:nvPr>
          </p:nvSpPr>
          <p:spPr>
            <a:xfrm flipV="1">
              <a:off x="9960" y="6088"/>
              <a:ext cx="3" cy="32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第三章小结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3200">
                <a:sym typeface="+mn-ea"/>
              </a:rPr>
              <a:t>深亚微米</a:t>
            </a:r>
            <a:r>
              <a:rPr lang="en-US" altLang="zh-CN" sz="3200">
                <a:sym typeface="+mn-ea"/>
              </a:rPr>
              <a:t>MOS</a:t>
            </a:r>
            <a:r>
              <a:rPr lang="zh-CN" altLang="en-US" sz="3200">
                <a:sym typeface="+mn-ea"/>
              </a:rPr>
              <a:t>管的二阶效应：</a:t>
            </a:r>
            <a:endParaRPr lang="zh-CN" altLang="en-US"/>
          </a:p>
          <a:p>
            <a:r>
              <a:rPr lang="zh-CN" altLang="en-US">
                <a:sym typeface="+mn-ea"/>
              </a:rPr>
              <a:t>阈值电压变化：</a:t>
            </a:r>
            <a:r>
              <a:rPr lang="zh-CN" altLang="en-US"/>
              <a:t>短沟道效应与</a:t>
            </a:r>
            <a:r>
              <a:rPr lang="en-US" altLang="zh-CN"/>
              <a:t>DIBL</a:t>
            </a:r>
            <a:r>
              <a:rPr lang="zh-CN" altLang="en-US">
                <a:sym typeface="+mn-ea"/>
              </a:rPr>
              <a:t>效应</a:t>
            </a:r>
            <a:endParaRPr lang="en-US" altLang="zh-CN"/>
          </a:p>
          <a:p>
            <a:r>
              <a:rPr lang="zh-CN" altLang="en-US">
                <a:sym typeface="+mn-ea"/>
              </a:rPr>
              <a:t>热载流子效应：增加</a:t>
            </a:r>
            <a:r>
              <a:rPr lang="en-US" altLang="zh-CN">
                <a:sym typeface="+mn-ea"/>
              </a:rPr>
              <a:t>NMOS</a:t>
            </a:r>
            <a:r>
              <a:rPr lang="zh-CN" altLang="en-US">
                <a:sym typeface="+mn-ea"/>
              </a:rPr>
              <a:t>阈值，降低</a:t>
            </a:r>
            <a:r>
              <a:rPr lang="en-US" altLang="zh-CN">
                <a:sym typeface="+mn-ea"/>
              </a:rPr>
              <a:t>PMOS</a:t>
            </a:r>
            <a:r>
              <a:rPr lang="zh-CN" altLang="en-US">
                <a:sym typeface="+mn-ea"/>
              </a:rPr>
              <a:t>阈值</a:t>
            </a:r>
            <a:endParaRPr lang="zh-CN" altLang="en-US"/>
          </a:p>
          <a:p>
            <a:r>
              <a:rPr lang="en-US" altLang="zh-CN">
                <a:sym typeface="+mn-ea"/>
              </a:rPr>
              <a:t>CMOS</a:t>
            </a:r>
            <a:r>
              <a:rPr lang="zh-CN" altLang="en-US">
                <a:sym typeface="+mn-ea"/>
              </a:rPr>
              <a:t>闩锁效应：寄生的</a:t>
            </a:r>
            <a:r>
              <a:rPr lang="en-US" altLang="zh-CN">
                <a:sym typeface="+mn-ea"/>
              </a:rPr>
              <a:t>n-p-n-p</a:t>
            </a:r>
            <a:r>
              <a:rPr lang="zh-CN" altLang="en-US">
                <a:sym typeface="+mn-ea"/>
              </a:rPr>
              <a:t>结构一旦激发会导致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dd</a:t>
            </a:r>
            <a:r>
              <a:rPr lang="zh-CN" altLang="en-US">
                <a:sym typeface="+mn-ea"/>
              </a:rPr>
              <a:t>和</a:t>
            </a:r>
            <a:r>
              <a:rPr lang="en-US" altLang="zh-CN" baseline="-25000">
                <a:sym typeface="+mn-ea"/>
              </a:rPr>
              <a:t>Vss</a:t>
            </a:r>
            <a:r>
              <a:rPr lang="zh-CN" altLang="en-US">
                <a:sym typeface="+mn-ea"/>
              </a:rPr>
              <a:t>短路，进而破坏芯片。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第四章小结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171450" indent="-171450" algn="l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 sz="311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互联寄生效应</a:t>
            </a:r>
            <a:endParaRPr lang="zh-CN" altLang="en-US" sz="311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电路延时增加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可靠性降低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性能和功耗降低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l" defTabSz="685800">
              <a:lnSpc>
                <a:spcPct val="150000"/>
              </a:lnSpc>
              <a:spcBef>
                <a:spcPts val="750"/>
              </a:spcBef>
            </a:pP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引起寄生效应的因素：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寄生电容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 C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寄生电阻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 R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寄生电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 L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第四章小结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导线电容模型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平行板电容和边缘场电容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互连线间电容，导线宽度</a:t>
            </a:r>
            <a:r>
              <a:rPr lang="en-US" altLang="zh-CN" sz="2800">
                <a:sym typeface="+mn-ea"/>
              </a:rPr>
              <a:t>W/</a:t>
            </a:r>
            <a:r>
              <a:rPr lang="zh-CN" altLang="en-US" sz="2800">
                <a:sym typeface="+mn-ea"/>
              </a:rPr>
              <a:t>导线高度</a:t>
            </a:r>
            <a:r>
              <a:rPr lang="en-US" altLang="zh-CN" sz="2800">
                <a:sym typeface="+mn-ea"/>
              </a:rPr>
              <a:t>H</a:t>
            </a:r>
            <a:r>
              <a:rPr lang="zh-CN" altLang="en-US" sz="2800">
                <a:sym typeface="+mn-ea"/>
              </a:rPr>
              <a:t>较大，以平行板电容为主；</a:t>
            </a:r>
            <a:r>
              <a:rPr lang="en-US" altLang="zh-CN" sz="2800">
                <a:sym typeface="+mn-ea"/>
              </a:rPr>
              <a:t>W/H</a:t>
            </a:r>
            <a:r>
              <a:rPr lang="zh-CN" altLang="en-US" sz="2800">
                <a:sym typeface="+mn-ea"/>
              </a:rPr>
              <a:t>小于</a:t>
            </a:r>
            <a:r>
              <a:rPr lang="en-US" altLang="zh-CN" sz="2800">
                <a:sym typeface="+mn-ea"/>
              </a:rPr>
              <a:t>1.5</a:t>
            </a:r>
            <a:r>
              <a:rPr lang="zh-CN" altLang="en-US" sz="2800">
                <a:sym typeface="+mn-ea"/>
              </a:rPr>
              <a:t>，以边缘场电容为主。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导线电阻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薄层电阻和接触电阻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导线趋肤效应：高频电流在导体表面流动，其电流密度随进入导体的深度而呈指数下降。趋肤效应是对宽导线才有的问题。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第四章小结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5415"/>
            <a:ext cx="10515600" cy="5112385"/>
          </a:xfrm>
        </p:spPr>
        <p:txBody>
          <a:bodyPr>
            <a:normAutofit fontScale="90000" lnSpcReduction="20000"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3110"/>
              <a:t>导线电容</a:t>
            </a:r>
            <a:endParaRPr lang="zh-CN" altLang="en-US" sz="2800"/>
          </a:p>
          <a:p>
            <a:pPr marL="685800" lvl="1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平行板电容和边缘场电容</a:t>
            </a:r>
          </a:p>
          <a:p>
            <a:pPr marL="685800" lvl="1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互连线间电容，导线宽度</a:t>
            </a:r>
            <a:r>
              <a:rPr lang="en-US" altLang="zh-CN" sz="2800">
                <a:sym typeface="+mn-ea"/>
              </a:rPr>
              <a:t>W/</a:t>
            </a:r>
            <a:r>
              <a:rPr lang="zh-CN" altLang="en-US" sz="2800">
                <a:sym typeface="+mn-ea"/>
              </a:rPr>
              <a:t>导线高度</a:t>
            </a:r>
            <a:r>
              <a:rPr lang="en-US" altLang="zh-CN" sz="2800">
                <a:sym typeface="+mn-ea"/>
              </a:rPr>
              <a:t>H</a:t>
            </a:r>
            <a:r>
              <a:rPr lang="zh-CN" altLang="en-US" sz="2800">
                <a:sym typeface="+mn-ea"/>
              </a:rPr>
              <a:t>较大，以平行板电容为主；</a:t>
            </a:r>
            <a:r>
              <a:rPr lang="en-US" altLang="zh-CN" sz="2800">
                <a:sym typeface="+mn-ea"/>
              </a:rPr>
              <a:t>W/H</a:t>
            </a:r>
            <a:r>
              <a:rPr lang="zh-CN" altLang="en-US" sz="2800">
                <a:sym typeface="+mn-ea"/>
              </a:rPr>
              <a:t>小于</a:t>
            </a:r>
            <a:r>
              <a:rPr lang="en-US" altLang="zh-CN" sz="2800">
                <a:sym typeface="+mn-ea"/>
              </a:rPr>
              <a:t>1.5</a:t>
            </a:r>
            <a:r>
              <a:rPr lang="zh-CN" altLang="en-US" sz="2800">
                <a:sym typeface="+mn-ea"/>
              </a:rPr>
              <a:t>，以边缘场电容为主。</a:t>
            </a:r>
          </a:p>
          <a:p>
            <a:pPr marL="228600" lvl="0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110">
                <a:solidFill>
                  <a:schemeClr val="tx1"/>
                </a:solidFill>
              </a:rPr>
              <a:t>导线电阻</a:t>
            </a:r>
            <a:endParaRPr lang="zh-CN" altLang="en-US" sz="2800">
              <a:solidFill>
                <a:schemeClr val="tx1"/>
              </a:solidFill>
            </a:endParaRPr>
          </a:p>
          <a:p>
            <a:pPr marL="685800" lvl="1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薄层电阻和接触电阻</a:t>
            </a:r>
          </a:p>
          <a:p>
            <a:pPr marL="685800" lvl="1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导线趋肤效应：高频电流在导体表面流动，其电流密度随进入导体的深度而呈指数下降。趋肤效应是对宽导线才有的问题。</a:t>
            </a:r>
          </a:p>
          <a:p>
            <a:pPr marL="228600" lvl="0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110">
                <a:sym typeface="+mn-ea"/>
              </a:rPr>
              <a:t>导线电阻</a:t>
            </a:r>
            <a:r>
              <a:rPr lang="zh-CN" altLang="en-US" sz="3110">
                <a:solidFill>
                  <a:schemeClr val="tx1"/>
                </a:solidFill>
                <a:sym typeface="+mn-ea"/>
              </a:rPr>
              <a:t>改善措施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685800" lvl="1" indent="-228600" fontAlgn="auto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sym typeface="+mn-ea"/>
              </a:rPr>
              <a:t>先进工艺；优化互联材料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减少线长度，选择低阻材料等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；更多金属互联层。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sym typeface="+mn-ea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第四章小结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导线模型</a:t>
            </a:r>
          </a:p>
          <a:p>
            <a:pPr marL="685800" lvl="1" indent="-2286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sym typeface="+mn-ea"/>
              </a:rPr>
              <a:t>集总</a:t>
            </a:r>
            <a:r>
              <a:rPr lang="en-US" altLang="zh-CN" sz="2800">
                <a:sym typeface="+mn-ea"/>
              </a:rPr>
              <a:t>RC</a:t>
            </a:r>
            <a:r>
              <a:rPr lang="zh-CN" altLang="en-US" sz="2800">
                <a:sym typeface="+mn-ea"/>
              </a:rPr>
              <a:t>模型：当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一个寄生元件占支配地位或只考虑电路特性的一个方面时，把寄生电容或电阻集总成单个元件。</a:t>
            </a:r>
          </a:p>
          <a:p>
            <a:pPr marL="685800" lvl="1" indent="-2286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  <a:sym typeface="+mn-ea"/>
              </a:rPr>
              <a:t>使用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Elmore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延时公式计算</a:t>
            </a:r>
            <a:r>
              <a:rPr lang="zh-CN" altLang="en-US" sz="2800">
                <a:sym typeface="+mn-ea"/>
              </a:rPr>
              <a:t>集总</a:t>
            </a:r>
            <a:r>
              <a:rPr lang="en-US" altLang="zh-CN" sz="2800">
                <a:sym typeface="+mn-ea"/>
              </a:rPr>
              <a:t>RC</a:t>
            </a:r>
            <a:r>
              <a:rPr lang="zh-CN" altLang="en-US" sz="2800">
                <a:sym typeface="+mn-ea"/>
              </a:rPr>
              <a:t>模型的传输延时。</a:t>
            </a:r>
            <a:endParaRPr lang="zh-CN" altLang="en-US" sz="2800">
              <a:solidFill>
                <a:schemeClr val="tx1"/>
              </a:solidFill>
              <a:sym typeface="+mn-ea"/>
            </a:endParaRPr>
          </a:p>
          <a:p>
            <a:pPr marL="685800" lvl="1" indent="-228600" fontAlgn="auto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分布</a:t>
            </a:r>
            <a:r>
              <a:rPr lang="en-US" altLang="zh-CN" sz="2800">
                <a:sym typeface="+mn-ea"/>
              </a:rPr>
              <a:t>rc</a:t>
            </a:r>
            <a:r>
              <a:rPr lang="zh-CN" altLang="en-US" sz="2800">
                <a:sym typeface="+mn-ea"/>
              </a:rPr>
              <a:t>线模型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：对于无分支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RC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链，将其分为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段，当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值很大时，集总模型逐渐趋近于分布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rc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线模型。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ym typeface="+mn-ea"/>
              </a:rPr>
              <a:t>分布</a:t>
            </a:r>
            <a:r>
              <a:rPr lang="en-US" altLang="zh-CN" sz="2800">
                <a:sym typeface="+mn-ea"/>
              </a:rPr>
              <a:t>rc</a:t>
            </a:r>
            <a:r>
              <a:rPr lang="zh-CN" altLang="en-US" sz="2800">
                <a:sym typeface="+mn-ea"/>
              </a:rPr>
              <a:t>线模型的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两个结论：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1"/>
                </a:solidFill>
                <a:sym typeface="+mn-ea"/>
              </a:rPr>
              <a:t>1. 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导线延时为导线长度的二次方关系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分布式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rc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线延时是集总模型的一半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sym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第五章小结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3035"/>
            <a:ext cx="10515600" cy="5288280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静态</a:t>
            </a:r>
            <a:r>
              <a:rPr lang="en-US" altLang="zh-CN">
                <a:sym typeface="+mn-ea"/>
              </a:rPr>
              <a:t>CMOS</a:t>
            </a:r>
            <a:r>
              <a:rPr lang="zh-CN" altLang="en-US">
                <a:sym typeface="+mn-ea"/>
              </a:rPr>
              <a:t>反相器的特点与优势</a:t>
            </a:r>
          </a:p>
          <a:p>
            <a:pPr marL="457200" lvl="1" indent="0" fontAlgn="auto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输出电压摆幅等于电源电压：高低输出电平为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</a:t>
            </a:r>
            <a:r>
              <a:rPr lang="en-US" altLang="zh-CN" baseline="-25000">
                <a:solidFill>
                  <a:schemeClr val="tx1"/>
                </a:solidFill>
                <a:sym typeface="+mn-ea"/>
              </a:rPr>
              <a:t>dd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GND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 fontAlgn="auto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好处：噪声容限大。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无比逻辑：</a:t>
            </a:r>
            <a:r>
              <a:rPr lang="zh-CN" altLang="en-US">
                <a:sym typeface="+mn-ea"/>
              </a:rPr>
              <a:t>逻辑电平与器件相对尺寸无关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0" fontAlgn="auto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好处：晶体管可采用最小尺寸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3.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低输出阻抗：输出阻抗为器件开启时内阻</a:t>
            </a:r>
          </a:p>
          <a:p>
            <a:pPr marL="457200" lvl="1" indent="0" fontAlgn="auto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好处：驱动能力强，对噪声和干扰不敏感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4.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高输入电阻：输入阻抗为器件栅极绝缘电阻</a:t>
            </a:r>
          </a:p>
          <a:p>
            <a:pPr marL="457200" lvl="1" indent="0" fontAlgn="auto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好处：稳态输入电流几乎为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；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5.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无静态功耗：稳态工作情况下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Vdd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与地之间不存在电流通路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好处：稳态时不存在漏电，无静态功耗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第五章小结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8430"/>
            <a:ext cx="10515600" cy="517144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sz="3555">
                <a:sym typeface="+mn-ea"/>
              </a:rPr>
              <a:t>CMOS</a:t>
            </a:r>
            <a:r>
              <a:rPr lang="zh-CN" altLang="en-US" sz="3555">
                <a:sym typeface="+mn-ea"/>
              </a:rPr>
              <a:t>反相器电压传输特性</a:t>
            </a:r>
            <a:r>
              <a:rPr lang="en-US" altLang="zh-CN" sz="3555">
                <a:sym typeface="+mn-ea"/>
              </a:rPr>
              <a:t>VTC</a:t>
            </a:r>
          </a:p>
          <a:p>
            <a:r>
              <a:rPr lang="zh-CN" altLang="en-US">
                <a:sym typeface="+mn-ea"/>
              </a:rPr>
              <a:t>反相器开关阈值</a:t>
            </a:r>
            <a:r>
              <a:rPr lang="en-US" altLang="zh-CN">
                <a:sym typeface="+mn-ea"/>
              </a:rPr>
              <a:t>V</a:t>
            </a:r>
            <a:r>
              <a:rPr lang="en-US" altLang="zh-CN" baseline="-25000">
                <a:sym typeface="+mn-ea"/>
              </a:rPr>
              <a:t>M</a:t>
            </a: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endParaRPr lang="en-US" altLang="zh-CN" baseline="-25000">
              <a:sym typeface="+mn-ea"/>
            </a:endParaRPr>
          </a:p>
          <a:p>
            <a:pPr marL="0" indent="0">
              <a:buNone/>
            </a:pPr>
            <a:endParaRPr lang="zh-CN" altLang="en-US" sz="2400">
              <a:sym typeface="+mn-ea"/>
            </a:endParaRPr>
          </a:p>
          <a:p>
            <a:pPr marL="0" indent="0">
              <a:buNone/>
            </a:pPr>
            <a:r>
              <a:rPr lang="zh-CN" altLang="en-US" sz="2400">
                <a:sym typeface="+mn-ea"/>
              </a:rPr>
              <a:t>若</a:t>
            </a:r>
            <a:r>
              <a:rPr lang="en-US" altLang="zh-CN" sz="2400">
                <a:sym typeface="+mn-ea"/>
              </a:rPr>
              <a:t>V</a:t>
            </a:r>
            <a:r>
              <a:rPr lang="en-US" altLang="zh-CN" sz="2400" baseline="-25000">
                <a:sym typeface="+mn-ea"/>
              </a:rPr>
              <a:t>DD</a:t>
            </a:r>
            <a:r>
              <a:rPr lang="zh-CN" altLang="en-US" sz="2400">
                <a:sym typeface="+mn-ea"/>
              </a:rPr>
              <a:t>较大</a:t>
            </a:r>
            <a:r>
              <a:rPr lang="zh-CN" altLang="en-US" baseline="-25000">
                <a:sym typeface="+mn-ea"/>
              </a:rPr>
              <a:t>，</a:t>
            </a:r>
            <a:r>
              <a:rPr lang="en-US" altLang="zh-CN" baseline="-25000">
                <a:sym typeface="+mn-ea"/>
              </a:rPr>
              <a:t>                      , </a:t>
            </a:r>
            <a:r>
              <a:rPr lang="zh-CN" altLang="en-US" sz="2400">
                <a:sym typeface="+mn-ea"/>
              </a:rPr>
              <a:t>期望：</a:t>
            </a:r>
            <a:r>
              <a:rPr lang="en-US" altLang="zh-CN" sz="2400">
                <a:sym typeface="+mn-ea"/>
              </a:rPr>
              <a:t>r=1 </a:t>
            </a:r>
            <a:r>
              <a:rPr lang="zh-CN" altLang="en-US" sz="2400">
                <a:sym typeface="+mn-ea"/>
              </a:rPr>
              <a:t>，此时</a:t>
            </a:r>
            <a:r>
              <a:rPr lang="en-US" altLang="zh-CN" sz="2400">
                <a:sym typeface="+mn-ea"/>
              </a:rPr>
              <a:t>V</a:t>
            </a:r>
            <a:r>
              <a:rPr lang="en-US" altLang="zh-CN" sz="2400" baseline="-25000">
                <a:sym typeface="+mn-ea"/>
              </a:rPr>
              <a:t>M</a:t>
            </a:r>
            <a:r>
              <a:rPr lang="en-US" altLang="zh-CN" sz="2400">
                <a:sym typeface="+mn-ea"/>
              </a:rPr>
              <a:t>=0.5V</a:t>
            </a:r>
            <a:r>
              <a:rPr lang="en-US" altLang="zh-CN" sz="2400" baseline="-25000">
                <a:sym typeface="+mn-ea"/>
              </a:rPr>
              <a:t>DD</a:t>
            </a:r>
            <a:r>
              <a:rPr lang="en-US" altLang="zh-CN" sz="2400">
                <a:sym typeface="+mn-ea"/>
              </a:rPr>
              <a:t>,</a:t>
            </a:r>
            <a:r>
              <a:rPr lang="zh-CN" altLang="en-US" sz="2400">
                <a:sym typeface="+mn-ea"/>
              </a:rPr>
              <a:t>噪声容限最大。</a:t>
            </a:r>
          </a:p>
          <a:p>
            <a:pPr marL="0" indent="0">
              <a:buNone/>
            </a:pPr>
            <a:endParaRPr lang="zh-CN" altLang="en-US" baseline="-25000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可得</a:t>
            </a:r>
            <a:r>
              <a:rPr lang="en-US" altLang="zh-CN">
                <a:sym typeface="+mn-ea"/>
              </a:rPr>
              <a:t> PMOS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NMOS </a:t>
            </a:r>
            <a:r>
              <a:rPr lang="zh-CN" altLang="en-US">
                <a:sym typeface="+mn-ea"/>
              </a:rPr>
              <a:t>的宽度比为</a:t>
            </a:r>
            <a:r>
              <a:rPr lang="en-US" altLang="zh-CN">
                <a:sym typeface="+mn-ea"/>
              </a:rPr>
              <a:t>3.5</a:t>
            </a:r>
            <a:r>
              <a:rPr lang="zh-CN" altLang="en-US">
                <a:sym typeface="+mn-ea"/>
              </a:rPr>
              <a:t>。</a:t>
            </a:r>
          </a:p>
        </p:txBody>
      </p:sp>
      <p:pic>
        <p:nvPicPr>
          <p:cNvPr id="360551" name="图片 360550"/>
          <p:cNvPicPr>
            <a:picLocks noChangeAspect="1"/>
          </p:cNvPicPr>
          <p:nvPr/>
        </p:nvPicPr>
        <p:blipFill>
          <a:blip r:embed="rId2"/>
          <a:srcRect l="10751" t="24023" r="17628" b="51270"/>
          <a:stretch>
            <a:fillRect/>
          </a:stretch>
        </p:blipFill>
        <p:spPr>
          <a:xfrm>
            <a:off x="1797050" y="2411730"/>
            <a:ext cx="8392795" cy="2344420"/>
          </a:xfrm>
          <a:prstGeom prst="rect">
            <a:avLst/>
          </a:prstGeom>
          <a:noFill/>
          <a:ln w="12700">
            <a:noFill/>
          </a:ln>
        </p:spPr>
      </p:pic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04415" y="5011420"/>
          <a:ext cx="1264920" cy="68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900" imgH="393700" progId="Equation.KSEE3">
                  <p:embed/>
                </p:oleObj>
              </mc:Choice>
              <mc:Fallback>
                <p:oleObj r:id="rId3" imgW="723900" imgH="3937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4415" y="5011420"/>
                        <a:ext cx="1264920" cy="687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第五章小结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9220"/>
            <a:ext cx="10515600" cy="4351338"/>
          </a:xfrm>
        </p:spPr>
        <p:txBody>
          <a:bodyPr/>
          <a:lstStyle/>
          <a:p>
            <a:r>
              <a:rPr lang="zh-CN" altLang="en-US">
                <a:sym typeface="+mn-ea"/>
              </a:rPr>
              <a:t>反相器噪声容限：逐段线性近似计算</a:t>
            </a: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反相器中点增益</a:t>
            </a:r>
            <a:r>
              <a:rPr lang="en-US" altLang="zh-CN">
                <a:sym typeface="+mn-ea"/>
              </a:rPr>
              <a:t>g</a:t>
            </a:r>
            <a:r>
              <a:rPr lang="zh-CN" altLang="en-US">
                <a:sym typeface="+mn-ea"/>
              </a:rPr>
              <a:t>：</a:t>
            </a:r>
          </a:p>
          <a:p>
            <a:endParaRPr lang="zh-CN" altLang="en-US">
              <a:sym typeface="+mn-ea"/>
            </a:endParaRPr>
          </a:p>
        </p:txBody>
      </p:sp>
      <p:pic>
        <p:nvPicPr>
          <p:cNvPr id="361531" name="图片 361530"/>
          <p:cNvPicPr>
            <a:picLocks noChangeAspect="1"/>
          </p:cNvPicPr>
          <p:nvPr/>
        </p:nvPicPr>
        <p:blipFill>
          <a:blip r:embed="rId2"/>
          <a:srcRect l="26482" t="22559" r="32886" b="55859"/>
          <a:stretch>
            <a:fillRect/>
          </a:stretch>
        </p:blipFill>
        <p:spPr>
          <a:xfrm>
            <a:off x="5713730" y="2239010"/>
            <a:ext cx="4894580" cy="2105025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361489" name="组合 361488"/>
          <p:cNvGrpSpPr/>
          <p:nvPr/>
        </p:nvGrpSpPr>
        <p:grpSpPr>
          <a:xfrm>
            <a:off x="1534795" y="1802765"/>
            <a:ext cx="3943985" cy="2867839"/>
            <a:chOff x="550" y="1262"/>
            <a:chExt cx="2703" cy="2581"/>
          </a:xfrm>
        </p:grpSpPr>
        <p:sp>
          <p:nvSpPr>
            <p:cNvPr id="361490" name="矩形 361489"/>
            <p:cNvSpPr/>
            <p:nvPr/>
          </p:nvSpPr>
          <p:spPr>
            <a:xfrm>
              <a:off x="1626" y="1849"/>
              <a:ext cx="17" cy="1723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1" name="矩形 361490"/>
            <p:cNvSpPr/>
            <p:nvPr/>
          </p:nvSpPr>
          <p:spPr>
            <a:xfrm>
              <a:off x="903" y="3572"/>
              <a:ext cx="0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2" name="矩形 361491"/>
            <p:cNvSpPr/>
            <p:nvPr/>
          </p:nvSpPr>
          <p:spPr>
            <a:xfrm>
              <a:off x="903" y="3572"/>
              <a:ext cx="1939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3" name="矩形 361492"/>
            <p:cNvSpPr/>
            <p:nvPr/>
          </p:nvSpPr>
          <p:spPr>
            <a:xfrm>
              <a:off x="903" y="1673"/>
              <a:ext cx="17" cy="1899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4" name="矩形 361493"/>
            <p:cNvSpPr/>
            <p:nvPr/>
          </p:nvSpPr>
          <p:spPr>
            <a:xfrm>
              <a:off x="903" y="1849"/>
              <a:ext cx="0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5" name="矩形 361494"/>
            <p:cNvSpPr/>
            <p:nvPr/>
          </p:nvSpPr>
          <p:spPr>
            <a:xfrm>
              <a:off x="903" y="1849"/>
              <a:ext cx="723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6" name="任意多边形 361495"/>
            <p:cNvSpPr/>
            <p:nvPr/>
          </p:nvSpPr>
          <p:spPr>
            <a:xfrm>
              <a:off x="1626" y="1849"/>
              <a:ext cx="493" cy="1723"/>
            </a:xfrm>
            <a:custGeom>
              <a:avLst/>
              <a:gdLst/>
              <a:ahLst/>
              <a:cxnLst/>
              <a:rect l="0" t="0" r="0" b="0"/>
              <a:pathLst>
                <a:path w="493" h="1723">
                  <a:moveTo>
                    <a:pt x="17" y="0"/>
                  </a:moveTo>
                  <a:lnTo>
                    <a:pt x="0" y="0"/>
                  </a:lnTo>
                  <a:lnTo>
                    <a:pt x="476" y="1723"/>
                  </a:lnTo>
                  <a:lnTo>
                    <a:pt x="493" y="1723"/>
                  </a:lnTo>
                  <a:lnTo>
                    <a:pt x="17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497" name="矩形 361496"/>
            <p:cNvSpPr/>
            <p:nvPr/>
          </p:nvSpPr>
          <p:spPr>
            <a:xfrm>
              <a:off x="550" y="1732"/>
              <a:ext cx="9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15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498" name="矩形 361497"/>
            <p:cNvSpPr/>
            <p:nvPr/>
          </p:nvSpPr>
          <p:spPr>
            <a:xfrm>
              <a:off x="638" y="1791"/>
              <a:ext cx="17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250">
                  <a:solidFill>
                    <a:srgbClr val="000000"/>
                  </a:solidFill>
                  <a:latin typeface="Times New Roman" panose="02020603050405020304" pitchFamily="18" charset="0"/>
                </a:rPr>
                <a:t>OH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499" name="任意多边形 361498"/>
            <p:cNvSpPr/>
            <p:nvPr/>
          </p:nvSpPr>
          <p:spPr>
            <a:xfrm>
              <a:off x="1749" y="1849"/>
              <a:ext cx="18" cy="1"/>
            </a:xfrm>
            <a:custGeom>
              <a:avLst/>
              <a:gdLst/>
              <a:ahLst/>
              <a:cxnLst/>
              <a:rect l="0" t="0" r="0" b="0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00" name="矩形 361499"/>
            <p:cNvSpPr/>
            <p:nvPr/>
          </p:nvSpPr>
          <p:spPr>
            <a:xfrm>
              <a:off x="550" y="3513"/>
              <a:ext cx="9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15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501" name="矩形 361500"/>
            <p:cNvSpPr/>
            <p:nvPr/>
          </p:nvSpPr>
          <p:spPr>
            <a:xfrm>
              <a:off x="638" y="3572"/>
              <a:ext cx="160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250">
                  <a:solidFill>
                    <a:srgbClr val="000000"/>
                  </a:solidFill>
                  <a:latin typeface="Times New Roman" panose="02020603050405020304" pitchFamily="18" charset="0"/>
                </a:rPr>
                <a:t>OL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grpSp>
          <p:nvGrpSpPr>
            <p:cNvPr id="361502" name="组合 361501"/>
            <p:cNvGrpSpPr/>
            <p:nvPr/>
          </p:nvGrpSpPr>
          <p:grpSpPr>
            <a:xfrm>
              <a:off x="2860" y="3318"/>
              <a:ext cx="393" cy="332"/>
              <a:chOff x="2860" y="3318"/>
              <a:chExt cx="393" cy="332"/>
            </a:xfrm>
          </p:grpSpPr>
          <p:sp>
            <p:nvSpPr>
              <p:cNvPr id="361503" name="任意多边形 361502"/>
              <p:cNvSpPr/>
              <p:nvPr/>
            </p:nvSpPr>
            <p:spPr>
              <a:xfrm>
                <a:off x="2860" y="3513"/>
                <a:ext cx="211" cy="137"/>
              </a:xfrm>
              <a:custGeom>
                <a:avLst/>
                <a:gdLst/>
                <a:ahLst/>
                <a:cxnLst/>
                <a:rect l="0" t="0" r="0" b="0"/>
                <a:pathLst>
                  <a:path w="211" h="137">
                    <a:moveTo>
                      <a:pt x="0" y="59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59" y="59"/>
                    </a:lnTo>
                    <a:lnTo>
                      <a:pt x="211" y="59"/>
                    </a:lnTo>
                    <a:lnTo>
                      <a:pt x="159" y="79"/>
                    </a:lnTo>
                    <a:lnTo>
                      <a:pt x="0" y="137"/>
                    </a:lnTo>
                    <a:lnTo>
                      <a:pt x="0" y="137"/>
                    </a:lnTo>
                    <a:lnTo>
                      <a:pt x="0" y="118"/>
                    </a:lnTo>
                    <a:lnTo>
                      <a:pt x="0" y="118"/>
                    </a:lnTo>
                    <a:lnTo>
                      <a:pt x="159" y="59"/>
                    </a:lnTo>
                    <a:lnTo>
                      <a:pt x="159" y="79"/>
                    </a:lnTo>
                    <a:lnTo>
                      <a:pt x="159" y="79"/>
                    </a:lnTo>
                    <a:lnTo>
                      <a:pt x="0" y="20"/>
                    </a:lnTo>
                    <a:lnTo>
                      <a:pt x="0" y="0"/>
                    </a:lnTo>
                    <a:lnTo>
                      <a:pt x="17" y="0"/>
                    </a:lnTo>
                    <a:lnTo>
                      <a:pt x="17" y="59"/>
                    </a:lnTo>
                    <a:lnTo>
                      <a:pt x="0" y="59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04" name="任意多边形 361503"/>
              <p:cNvSpPr/>
              <p:nvPr/>
            </p:nvSpPr>
            <p:spPr>
              <a:xfrm>
                <a:off x="2860" y="3572"/>
                <a:ext cx="17" cy="59"/>
              </a:xfrm>
              <a:custGeom>
                <a:avLst/>
                <a:gdLst/>
                <a:ahLst/>
                <a:cxnLst/>
                <a:rect l="0" t="0" r="0" b="0"/>
                <a:pathLst>
                  <a:path w="17" h="59">
                    <a:moveTo>
                      <a:pt x="0" y="59"/>
                    </a:moveTo>
                    <a:lnTo>
                      <a:pt x="0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7" y="59"/>
                    </a:lnTo>
                    <a:lnTo>
                      <a:pt x="0" y="59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05" name="任意多边形 361504"/>
              <p:cNvSpPr/>
              <p:nvPr/>
            </p:nvSpPr>
            <p:spPr>
              <a:xfrm>
                <a:off x="2860" y="3513"/>
                <a:ext cx="159" cy="118"/>
              </a:xfrm>
              <a:custGeom>
                <a:avLst/>
                <a:gdLst/>
                <a:ahLst/>
                <a:cxnLst/>
                <a:rect l="0" t="0" r="0" b="0"/>
                <a:pathLst>
                  <a:path w="159" h="118">
                    <a:moveTo>
                      <a:pt x="0" y="59"/>
                    </a:moveTo>
                    <a:lnTo>
                      <a:pt x="0" y="0"/>
                    </a:lnTo>
                    <a:lnTo>
                      <a:pt x="159" y="59"/>
                    </a:lnTo>
                    <a:lnTo>
                      <a:pt x="0" y="118"/>
                    </a:lnTo>
                    <a:lnTo>
                      <a:pt x="0" y="59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06" name="矩形 361505"/>
              <p:cNvSpPr/>
              <p:nvPr/>
            </p:nvSpPr>
            <p:spPr>
              <a:xfrm>
                <a:off x="3071" y="3318"/>
                <a:ext cx="9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415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  <p:sp>
            <p:nvSpPr>
              <p:cNvPr id="361507" name="矩形 361506"/>
              <p:cNvSpPr/>
              <p:nvPr/>
            </p:nvSpPr>
            <p:spPr>
              <a:xfrm>
                <a:off x="3160" y="3376"/>
                <a:ext cx="93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25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in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</p:grpSp>
        <p:grpSp>
          <p:nvGrpSpPr>
            <p:cNvPr id="361508" name="组合 361507"/>
            <p:cNvGrpSpPr/>
            <p:nvPr/>
          </p:nvGrpSpPr>
          <p:grpSpPr>
            <a:xfrm>
              <a:off x="603" y="1262"/>
              <a:ext cx="370" cy="411"/>
              <a:chOff x="603" y="1262"/>
              <a:chExt cx="370" cy="411"/>
            </a:xfrm>
          </p:grpSpPr>
          <p:sp>
            <p:nvSpPr>
              <p:cNvPr id="361509" name="任意多边形 361508"/>
              <p:cNvSpPr/>
              <p:nvPr/>
            </p:nvSpPr>
            <p:spPr>
              <a:xfrm>
                <a:off x="867" y="1438"/>
                <a:ext cx="106" cy="235"/>
              </a:xfrm>
              <a:custGeom>
                <a:avLst/>
                <a:gdLst/>
                <a:ahLst/>
                <a:cxnLst/>
                <a:rect l="0" t="0" r="0" b="0"/>
                <a:pathLst>
                  <a:path w="106" h="235">
                    <a:moveTo>
                      <a:pt x="36" y="235"/>
                    </a:moveTo>
                    <a:lnTo>
                      <a:pt x="0" y="235"/>
                    </a:lnTo>
                    <a:lnTo>
                      <a:pt x="0" y="235"/>
                    </a:lnTo>
                    <a:lnTo>
                      <a:pt x="0" y="235"/>
                    </a:lnTo>
                    <a:lnTo>
                      <a:pt x="36" y="59"/>
                    </a:lnTo>
                    <a:lnTo>
                      <a:pt x="36" y="0"/>
                    </a:lnTo>
                    <a:lnTo>
                      <a:pt x="53" y="59"/>
                    </a:lnTo>
                    <a:lnTo>
                      <a:pt x="106" y="235"/>
                    </a:lnTo>
                    <a:lnTo>
                      <a:pt x="106" y="235"/>
                    </a:lnTo>
                    <a:lnTo>
                      <a:pt x="89" y="235"/>
                    </a:lnTo>
                    <a:lnTo>
                      <a:pt x="89" y="235"/>
                    </a:lnTo>
                    <a:lnTo>
                      <a:pt x="36" y="59"/>
                    </a:lnTo>
                    <a:lnTo>
                      <a:pt x="53" y="59"/>
                    </a:lnTo>
                    <a:lnTo>
                      <a:pt x="53" y="59"/>
                    </a:lnTo>
                    <a:lnTo>
                      <a:pt x="18" y="235"/>
                    </a:lnTo>
                    <a:lnTo>
                      <a:pt x="0" y="235"/>
                    </a:lnTo>
                    <a:lnTo>
                      <a:pt x="0" y="216"/>
                    </a:lnTo>
                    <a:lnTo>
                      <a:pt x="36" y="216"/>
                    </a:lnTo>
                    <a:lnTo>
                      <a:pt x="36" y="235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10" name="任意多边形 361509"/>
              <p:cNvSpPr/>
              <p:nvPr/>
            </p:nvSpPr>
            <p:spPr>
              <a:xfrm>
                <a:off x="903" y="1654"/>
                <a:ext cx="53" cy="19"/>
              </a:xfrm>
              <a:custGeom>
                <a:avLst/>
                <a:gdLst/>
                <a:ahLst/>
                <a:cxnLst/>
                <a:rect l="0" t="0" r="0" b="0"/>
                <a:pathLst>
                  <a:path w="53" h="19">
                    <a:moveTo>
                      <a:pt x="53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3" y="0"/>
                    </a:lnTo>
                    <a:lnTo>
                      <a:pt x="53" y="19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11" name="任意多边形 361510"/>
              <p:cNvSpPr/>
              <p:nvPr/>
            </p:nvSpPr>
            <p:spPr>
              <a:xfrm>
                <a:off x="867" y="1497"/>
                <a:ext cx="89" cy="176"/>
              </a:xfrm>
              <a:custGeom>
                <a:avLst/>
                <a:gdLst/>
                <a:ahLst/>
                <a:cxnLst/>
                <a:rect l="0" t="0" r="0" b="0"/>
                <a:pathLst>
                  <a:path w="89" h="176">
                    <a:moveTo>
                      <a:pt x="36" y="176"/>
                    </a:moveTo>
                    <a:lnTo>
                      <a:pt x="0" y="176"/>
                    </a:lnTo>
                    <a:lnTo>
                      <a:pt x="36" y="0"/>
                    </a:lnTo>
                    <a:lnTo>
                      <a:pt x="89" y="176"/>
                    </a:lnTo>
                    <a:lnTo>
                      <a:pt x="36" y="176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12" name="矩形 361511"/>
              <p:cNvSpPr/>
              <p:nvPr/>
            </p:nvSpPr>
            <p:spPr>
              <a:xfrm>
                <a:off x="603" y="1262"/>
                <a:ext cx="9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415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  <p:sp>
            <p:nvSpPr>
              <p:cNvPr id="361513" name="矩形 361512"/>
              <p:cNvSpPr/>
              <p:nvPr/>
            </p:nvSpPr>
            <p:spPr>
              <a:xfrm>
                <a:off x="673" y="1321"/>
                <a:ext cx="153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25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out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</p:grpSp>
        <p:sp>
          <p:nvSpPr>
            <p:cNvPr id="361514" name="矩形 361513"/>
            <p:cNvSpPr/>
            <p:nvPr/>
          </p:nvSpPr>
          <p:spPr>
            <a:xfrm>
              <a:off x="2102" y="3572"/>
              <a:ext cx="705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15" name="任意多边形 361514"/>
            <p:cNvSpPr/>
            <p:nvPr/>
          </p:nvSpPr>
          <p:spPr>
            <a:xfrm>
              <a:off x="1837" y="2711"/>
              <a:ext cx="53" cy="58"/>
            </a:xfrm>
            <a:custGeom>
              <a:avLst/>
              <a:gdLst/>
              <a:ahLst/>
              <a:cxnLst/>
              <a:rect l="0" t="0" r="0" b="0"/>
              <a:pathLst>
                <a:path w="53" h="58">
                  <a:moveTo>
                    <a:pt x="53" y="19"/>
                  </a:moveTo>
                  <a:lnTo>
                    <a:pt x="35" y="0"/>
                  </a:lnTo>
                  <a:lnTo>
                    <a:pt x="35" y="0"/>
                  </a:lnTo>
                  <a:lnTo>
                    <a:pt x="18" y="0"/>
                  </a:lnTo>
                  <a:lnTo>
                    <a:pt x="0" y="19"/>
                  </a:lnTo>
                  <a:lnTo>
                    <a:pt x="18" y="39"/>
                  </a:lnTo>
                  <a:lnTo>
                    <a:pt x="35" y="58"/>
                  </a:lnTo>
                  <a:lnTo>
                    <a:pt x="35" y="39"/>
                  </a:lnTo>
                  <a:lnTo>
                    <a:pt x="53" y="19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16" name="任意多边形 361515"/>
            <p:cNvSpPr/>
            <p:nvPr/>
          </p:nvSpPr>
          <p:spPr>
            <a:xfrm>
              <a:off x="1837" y="2711"/>
              <a:ext cx="71" cy="78"/>
            </a:xfrm>
            <a:custGeom>
              <a:avLst/>
              <a:gdLst/>
              <a:ahLst/>
              <a:cxnLst/>
              <a:rect l="0" t="0" r="0" b="0"/>
              <a:pathLst>
                <a:path w="71" h="78">
                  <a:moveTo>
                    <a:pt x="53" y="39"/>
                  </a:moveTo>
                  <a:lnTo>
                    <a:pt x="35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1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18" y="39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53" y="58"/>
                  </a:lnTo>
                  <a:lnTo>
                    <a:pt x="35" y="58"/>
                  </a:lnTo>
                  <a:lnTo>
                    <a:pt x="35" y="58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53" y="19"/>
                  </a:lnTo>
                  <a:lnTo>
                    <a:pt x="53" y="19"/>
                  </a:lnTo>
                  <a:lnTo>
                    <a:pt x="71" y="39"/>
                  </a:lnTo>
                  <a:lnTo>
                    <a:pt x="71" y="39"/>
                  </a:lnTo>
                  <a:lnTo>
                    <a:pt x="53" y="58"/>
                  </a:lnTo>
                  <a:lnTo>
                    <a:pt x="53" y="58"/>
                  </a:lnTo>
                  <a:lnTo>
                    <a:pt x="53" y="39"/>
                  </a:lnTo>
                  <a:lnTo>
                    <a:pt x="53" y="58"/>
                  </a:lnTo>
                  <a:lnTo>
                    <a:pt x="53" y="58"/>
                  </a:lnTo>
                  <a:lnTo>
                    <a:pt x="35" y="78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1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71" y="19"/>
                  </a:lnTo>
                  <a:lnTo>
                    <a:pt x="53" y="39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17" name="任意多边形 361516"/>
            <p:cNvSpPr/>
            <p:nvPr/>
          </p:nvSpPr>
          <p:spPr>
            <a:xfrm>
              <a:off x="1890" y="2730"/>
              <a:ext cx="18" cy="20"/>
            </a:xfrm>
            <a:custGeom>
              <a:avLst/>
              <a:gdLst/>
              <a:ahLst/>
              <a:cxnLst/>
              <a:rect l="0" t="0" r="0" b="0"/>
              <a:pathLst>
                <a:path w="18" h="20">
                  <a:moveTo>
                    <a:pt x="0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18" y="0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18" name="矩形 361517"/>
            <p:cNvSpPr/>
            <p:nvPr/>
          </p:nvSpPr>
          <p:spPr>
            <a:xfrm>
              <a:off x="1855" y="2730"/>
              <a:ext cx="17" cy="157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19" name="矩形 361518"/>
            <p:cNvSpPr/>
            <p:nvPr/>
          </p:nvSpPr>
          <p:spPr>
            <a:xfrm>
              <a:off x="1925" y="2574"/>
              <a:ext cx="9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15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520" name="矩形 361519"/>
            <p:cNvSpPr/>
            <p:nvPr/>
          </p:nvSpPr>
          <p:spPr>
            <a:xfrm>
              <a:off x="2013" y="2632"/>
              <a:ext cx="107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25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521" name="矩形 361520"/>
            <p:cNvSpPr/>
            <p:nvPr/>
          </p:nvSpPr>
          <p:spPr>
            <a:xfrm>
              <a:off x="1537" y="3611"/>
              <a:ext cx="98" cy="1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15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61522" name="矩形 361521"/>
            <p:cNvSpPr/>
            <p:nvPr/>
          </p:nvSpPr>
          <p:spPr>
            <a:xfrm>
              <a:off x="1626" y="3670"/>
              <a:ext cx="113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250">
                  <a:solidFill>
                    <a:srgbClr val="000000"/>
                  </a:solidFill>
                  <a:latin typeface="Times New Roman" panose="02020603050405020304" pitchFamily="18" charset="0"/>
                </a:rPr>
                <a:t>IL</a:t>
              </a:r>
              <a:endParaRPr lang="en-US" altLang="zh-CN" sz="1500" i="0">
                <a:solidFill>
                  <a:schemeClr val="tx2"/>
                </a:solidFill>
                <a:latin typeface="Book Antiqua" panose="02040602050305030304" pitchFamily="18" charset="0"/>
              </a:endParaRPr>
            </a:p>
          </p:txBody>
        </p:sp>
        <p:grpSp>
          <p:nvGrpSpPr>
            <p:cNvPr id="361523" name="组合 361522"/>
            <p:cNvGrpSpPr/>
            <p:nvPr/>
          </p:nvGrpSpPr>
          <p:grpSpPr>
            <a:xfrm>
              <a:off x="2171" y="3572"/>
              <a:ext cx="233" cy="271"/>
              <a:chOff x="2225" y="3572"/>
              <a:chExt cx="233" cy="271"/>
            </a:xfrm>
          </p:grpSpPr>
          <p:sp>
            <p:nvSpPr>
              <p:cNvPr id="361524" name="任意多边形 361523"/>
              <p:cNvSpPr/>
              <p:nvPr/>
            </p:nvSpPr>
            <p:spPr>
              <a:xfrm>
                <a:off x="2225" y="3572"/>
                <a:ext cx="18" cy="1"/>
              </a:xfrm>
              <a:custGeom>
                <a:avLst/>
                <a:gdLst/>
                <a:ahLst/>
                <a:cxnLst/>
                <a:rect l="0" t="0" r="0" b="0"/>
                <a:pathLst>
                  <a:path w="18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4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 sz="1500"/>
              </a:p>
            </p:txBody>
          </p:sp>
          <p:sp>
            <p:nvSpPr>
              <p:cNvPr id="361525" name="矩形 361524"/>
              <p:cNvSpPr/>
              <p:nvPr/>
            </p:nvSpPr>
            <p:spPr>
              <a:xfrm>
                <a:off x="2243" y="3611"/>
                <a:ext cx="98" cy="1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415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V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  <p:sp>
            <p:nvSpPr>
              <p:cNvPr id="361526" name="矩形 361525"/>
              <p:cNvSpPr/>
              <p:nvPr/>
            </p:nvSpPr>
            <p:spPr>
              <a:xfrm>
                <a:off x="2331" y="3670"/>
                <a:ext cx="127" cy="1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altLang="zh-CN" sz="125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IH</a:t>
                </a:r>
                <a:endParaRPr lang="en-US" altLang="zh-CN" sz="1500" i="0">
                  <a:solidFill>
                    <a:schemeClr val="tx2"/>
                  </a:solidFill>
                  <a:latin typeface="Book Antiqua" panose="02040602050305030304" pitchFamily="18" charset="0"/>
                </a:endParaRPr>
              </a:p>
            </p:txBody>
          </p:sp>
        </p:grpSp>
        <p:sp>
          <p:nvSpPr>
            <p:cNvPr id="361527" name="矩形 361526"/>
            <p:cNvSpPr/>
            <p:nvPr/>
          </p:nvSpPr>
          <p:spPr>
            <a:xfrm>
              <a:off x="1872" y="2887"/>
              <a:ext cx="36" cy="20"/>
            </a:xfrm>
            <a:prstGeom prst="rect">
              <a:avLst/>
            </a:prstGeom>
            <a:blipFill rotWithShape="0">
              <a:blip r:embed="rId4"/>
            </a:blipFill>
            <a:ln w="9525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28" name="椭圆 361527"/>
            <p:cNvSpPr/>
            <p:nvPr/>
          </p:nvSpPr>
          <p:spPr>
            <a:xfrm>
              <a:off x="1566" y="1788"/>
              <a:ext cx="132" cy="132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  <p:sp>
          <p:nvSpPr>
            <p:cNvPr id="361529" name="椭圆 361528"/>
            <p:cNvSpPr/>
            <p:nvPr/>
          </p:nvSpPr>
          <p:spPr>
            <a:xfrm>
              <a:off x="2040" y="3504"/>
              <a:ext cx="132" cy="132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500"/>
            </a:p>
          </p:txBody>
        </p:sp>
      </p:grpSp>
      <p:grpSp>
        <p:nvGrpSpPr>
          <p:cNvPr id="362500" name="组合 362499"/>
          <p:cNvGrpSpPr/>
          <p:nvPr/>
        </p:nvGrpSpPr>
        <p:grpSpPr>
          <a:xfrm>
            <a:off x="4340860" y="4699000"/>
            <a:ext cx="4899660" cy="1976120"/>
            <a:chOff x="3432" y="2071"/>
            <a:chExt cx="2172" cy="845"/>
          </a:xfrm>
        </p:grpSpPr>
        <p:pic>
          <p:nvPicPr>
            <p:cNvPr id="362501" name="图片 362500"/>
            <p:cNvPicPr>
              <a:picLocks noChangeAspect="1"/>
            </p:cNvPicPr>
            <p:nvPr/>
          </p:nvPicPr>
          <p:blipFill>
            <a:blip r:embed="rId5"/>
            <a:srcRect l="18498" t="32910" r="29091" b="41895"/>
            <a:stretch>
              <a:fillRect/>
            </a:stretch>
          </p:blipFill>
          <p:spPr>
            <a:xfrm>
              <a:off x="3432" y="2071"/>
              <a:ext cx="2172" cy="845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362502" name="矩形 362501"/>
            <p:cNvSpPr/>
            <p:nvPr/>
          </p:nvSpPr>
          <p:spPr>
            <a:xfrm>
              <a:off x="3492" y="2580"/>
              <a:ext cx="186" cy="246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/>
            <a:lstStyle/>
            <a:p>
              <a:endParaRPr lang="zh-CN" altLang="en-US" sz="15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43450" cy="43516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200">
                <a:sym typeface="+mn-ea"/>
              </a:rPr>
              <a:t>CMOS</a:t>
            </a:r>
            <a:r>
              <a:rPr lang="zh-CN" altLang="en-US" sz="3200">
                <a:sym typeface="+mn-ea"/>
              </a:rPr>
              <a:t>反相器动态特性</a:t>
            </a:r>
            <a:endParaRPr lang="zh-CN" altLang="en-US">
              <a:sym typeface="+mn-ea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栅漏电容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扩散电容（体漏电容）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连线电容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扇出的栅电容（栅漏电容和沟道电容）</a:t>
            </a:r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01310" y="2130425"/>
            <a:ext cx="6303645" cy="3958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85115"/>
            <a:ext cx="10515600" cy="1325563"/>
          </a:xfrm>
        </p:spPr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569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>
                <a:sym typeface="+mn-ea"/>
              </a:rPr>
              <a:t>传播延时一阶分析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反相器</a:t>
            </a:r>
            <a:r>
              <a:rPr lang="en-US" altLang="zh-CN" sz="2800">
                <a:solidFill>
                  <a:schemeClr val="tx1"/>
                </a:solidFill>
              </a:rPr>
              <a:t>RC</a:t>
            </a:r>
            <a:r>
              <a:rPr lang="zh-CN" altLang="en-US" sz="2800">
                <a:solidFill>
                  <a:schemeClr val="tx1"/>
                </a:solidFill>
              </a:rPr>
              <a:t>开关模型</a:t>
            </a:r>
          </a:p>
        </p:txBody>
      </p:sp>
      <p:pic>
        <p:nvPicPr>
          <p:cNvPr id="86" name="图片 8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28950" y="2603500"/>
            <a:ext cx="5143500" cy="825500"/>
          </a:xfrm>
          <a:prstGeom prst="rect">
            <a:avLst/>
          </a:prstGeom>
        </p:spPr>
      </p:pic>
      <p:pic>
        <p:nvPicPr>
          <p:cNvPr id="329734" name="图片 3297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22134" t="40706" r="19604" b="50700"/>
          <a:stretch>
            <a:fillRect/>
          </a:stretch>
        </p:blipFill>
        <p:spPr>
          <a:xfrm>
            <a:off x="1943100" y="3681095"/>
            <a:ext cx="8700135" cy="104013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0725" y="1540510"/>
            <a:ext cx="10515600" cy="4351338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减小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单个</a:t>
            </a:r>
            <a:r>
              <a:rPr lang="zh-CN" altLang="en-US" dirty="0">
                <a:sym typeface="+mn-ea"/>
              </a:rPr>
              <a:t>反相器传播延时的设计要求：减小</a:t>
            </a:r>
            <a:r>
              <a:rPr lang="en-US" altLang="zh-CN" dirty="0">
                <a:sym typeface="+mn-ea"/>
              </a:rPr>
              <a:t>C</a:t>
            </a:r>
            <a:r>
              <a:rPr lang="en-US" altLang="zh-CN" baseline="-25000" dirty="0">
                <a:sym typeface="+mn-ea"/>
              </a:rPr>
              <a:t>L</a:t>
            </a:r>
            <a:r>
              <a:rPr lang="zh-CN" altLang="en-US" dirty="0">
                <a:sym typeface="+mn-ea"/>
              </a:rPr>
              <a:t>，增加</a:t>
            </a:r>
            <a:r>
              <a:rPr lang="en-US" altLang="zh-CN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W/L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（设计反向器内</a:t>
            </a:r>
            <a:r>
              <a:rPr lang="en-US" altLang="zh-CN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PMOS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NMOS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的尺寸比例</a:t>
            </a:r>
            <a:r>
              <a:rPr lang="en-US" altLang="zh-CN" dirty="0">
                <a:solidFill>
                  <a:srgbClr val="C00000"/>
                </a:solidFill>
                <a:ea typeface="+mn-lt"/>
                <a:cs typeface="+mn-lt"/>
                <a:sym typeface="+mn-ea"/>
              </a:rPr>
              <a:t>β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  <a:sym typeface="+mn-ea"/>
              </a:rPr>
              <a:t>），</a:t>
            </a:r>
            <a:r>
              <a:rPr lang="zh-CN" altLang="en-US" dirty="0">
                <a:sym typeface="+mn-ea"/>
              </a:rPr>
              <a:t>提高电源电压</a:t>
            </a:r>
            <a:r>
              <a:rPr lang="en-US" altLang="zh-CN" dirty="0">
                <a:sym typeface="+mn-ea"/>
              </a:rPr>
              <a:t>V</a:t>
            </a:r>
            <a:r>
              <a:rPr lang="en-US" altLang="zh-CN" baseline="-25000" dirty="0">
                <a:sym typeface="+mn-ea"/>
              </a:rPr>
              <a:t>DD</a:t>
            </a:r>
            <a:r>
              <a:rPr lang="zh-CN" altLang="en-US" dirty="0">
                <a:sym typeface="+mn-ea"/>
              </a:rPr>
              <a:t>。</a:t>
            </a: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74786" name="图片 3747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868" y="2541323"/>
            <a:ext cx="5103813" cy="3828521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5591175" y="2541270"/>
            <a:ext cx="6260465" cy="1129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β</a:t>
            </a: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：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PMOS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和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NMOS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的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W/L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比例</a:t>
            </a:r>
          </a:p>
          <a:p>
            <a:pPr indent="0" fontAlgn="auto">
              <a:spcAft>
                <a:spcPts val="600"/>
              </a:spcAft>
            </a:pP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以标准设计为例，</a:t>
            </a:r>
          </a:p>
          <a:p>
            <a:pPr indent="0" fontAlgn="auto">
              <a:spcAft>
                <a:spcPts val="600"/>
              </a:spcAft>
            </a:pPr>
            <a:endParaRPr lang="zh-CN" altLang="en-US" sz="2800">
              <a:solidFill>
                <a:srgbClr val="000000"/>
              </a:solidFill>
              <a:ea typeface="+mn-lt"/>
              <a:cs typeface="+mn-lt"/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点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A</a:t>
            </a: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：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tp</a:t>
            </a: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最小，</a:t>
            </a:r>
          </a:p>
          <a:p>
            <a:pPr indent="0" fontAlgn="auto">
              <a:spcAft>
                <a:spcPts val="600"/>
              </a:spcAft>
            </a:pP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r </a:t>
            </a: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：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 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同尺寸下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PMOS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和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NMOS</a:t>
            </a:r>
            <a:r>
              <a:rPr lang="zh-CN" altLang="en-US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的电阻比</a:t>
            </a:r>
            <a:r>
              <a:rPr lang="en-US" altLang="zh-CN" sz="2800">
                <a:solidFill>
                  <a:srgbClr val="000000"/>
                </a:solidFill>
                <a:ea typeface="+mn-lt"/>
                <a:cs typeface="+mn-lt"/>
                <a:sym typeface="+mn-ea"/>
              </a:rPr>
              <a:t> </a:t>
            </a:r>
            <a:endParaRPr lang="en-US" altLang="zh-CN" sz="2800">
              <a:solidFill>
                <a:srgbClr val="C00000"/>
              </a:solidFill>
              <a:ea typeface="+mn-lt"/>
              <a:cs typeface="+mn-lt"/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 sz="2800">
              <a:solidFill>
                <a:srgbClr val="C00000"/>
              </a:solidFill>
              <a:ea typeface="+mn-lt"/>
              <a:cs typeface="+mn-lt"/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点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B</a:t>
            </a:r>
            <a:r>
              <a:rPr lang="zh-CN" altLang="en-US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：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t</a:t>
            </a:r>
            <a:r>
              <a:rPr lang="en-US" altLang="zh-CN" sz="2800" baseline="-25000">
                <a:solidFill>
                  <a:srgbClr val="C00000"/>
                </a:solidFill>
                <a:ea typeface="+mn-lt"/>
                <a:cs typeface="+mn-lt"/>
                <a:sym typeface="+mn-ea"/>
              </a:rPr>
              <a:t>pHL</a:t>
            </a: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=t</a:t>
            </a:r>
            <a:r>
              <a:rPr lang="en-US" altLang="zh-CN" sz="2800" baseline="-25000">
                <a:solidFill>
                  <a:srgbClr val="C00000"/>
                </a:solidFill>
                <a:ea typeface="+mn-lt"/>
                <a:cs typeface="+mn-lt"/>
                <a:sym typeface="+mn-ea"/>
              </a:rPr>
              <a:t>pLH</a:t>
            </a:r>
            <a:endParaRPr lang="en-US" altLang="zh-CN" sz="2800">
              <a:solidFill>
                <a:srgbClr val="C00000"/>
              </a:solidFill>
              <a:ea typeface="+mn-lt"/>
              <a:cs typeface="+mn-lt"/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 sz="2800">
                <a:solidFill>
                  <a:srgbClr val="C00000"/>
                </a:solidFill>
                <a:ea typeface="+mn-lt"/>
                <a:cs typeface="+mn-lt"/>
                <a:sym typeface="+mn-ea"/>
              </a:rPr>
              <a:t>     </a:t>
            </a:r>
            <a:r>
              <a:rPr lang="zh-CN" altLang="en-US" sz="2800">
                <a:solidFill>
                  <a:schemeClr val="tx1"/>
                </a:solidFill>
                <a:ea typeface="+mn-lt"/>
                <a:cs typeface="+mn-lt"/>
                <a:sym typeface="+mn-ea"/>
              </a:rPr>
              <a:t>则</a:t>
            </a:r>
            <a:r>
              <a:rPr lang="en-US" altLang="zh-CN" sz="2800">
                <a:solidFill>
                  <a:schemeClr val="tx1"/>
                </a:solidFill>
                <a:ea typeface="+mn-lt"/>
                <a:cs typeface="+mn-lt"/>
                <a:sym typeface="+mn-ea"/>
              </a:rPr>
              <a:t> R</a:t>
            </a:r>
            <a:r>
              <a:rPr lang="en-US" altLang="zh-CN" sz="2800" baseline="-25000">
                <a:solidFill>
                  <a:schemeClr val="tx1"/>
                </a:solidFill>
                <a:ea typeface="+mn-lt"/>
                <a:cs typeface="+mn-lt"/>
                <a:sym typeface="+mn-ea"/>
              </a:rPr>
              <a:t>eqn</a:t>
            </a:r>
            <a:r>
              <a:rPr lang="en-US" altLang="zh-CN" sz="2800">
                <a:solidFill>
                  <a:schemeClr val="tx1"/>
                </a:solidFill>
                <a:ea typeface="+mn-lt"/>
                <a:cs typeface="+mn-lt"/>
                <a:sym typeface="+mn-ea"/>
              </a:rPr>
              <a:t>=R</a:t>
            </a:r>
            <a:r>
              <a:rPr lang="en-US" altLang="zh-CN" sz="2800" baseline="-25000">
                <a:solidFill>
                  <a:schemeClr val="tx1"/>
                </a:solidFill>
                <a:ea typeface="+mn-lt"/>
                <a:cs typeface="+mn-lt"/>
                <a:sym typeface="+mn-ea"/>
              </a:rPr>
              <a:t>eqp</a:t>
            </a:r>
            <a:r>
              <a:rPr lang="en-US" altLang="zh-CN" sz="2800">
                <a:solidFill>
                  <a:schemeClr val="tx1"/>
                </a:solidFill>
                <a:ea typeface="+mn-lt"/>
                <a:cs typeface="+mn-lt"/>
                <a:sym typeface="+mn-ea"/>
              </a:rPr>
              <a:t>/β=2.4</a:t>
            </a:r>
            <a:endParaRPr lang="en-US" altLang="zh-CN" sz="2800">
              <a:solidFill>
                <a:srgbClr val="C00000"/>
              </a:solidFill>
              <a:ea typeface="+mn-lt"/>
              <a:cs typeface="+mn-lt"/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 sz="2800">
              <a:solidFill>
                <a:srgbClr val="C00000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79715" y="3999865"/>
            <a:ext cx="3419475" cy="565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β最优值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=√r = 1.9</a:t>
            </a:r>
          </a:p>
        </p:txBody>
      </p:sp>
      <p:sp>
        <p:nvSpPr>
          <p:cNvPr id="374788" name="文本框 374787"/>
          <p:cNvSpPr txBox="1"/>
          <p:nvPr>
            <p:custDataLst>
              <p:tags r:id="rId1"/>
            </p:custDataLst>
          </p:nvPr>
        </p:nvSpPr>
        <p:spPr>
          <a:xfrm>
            <a:off x="1462511" y="3153887"/>
            <a:ext cx="634365" cy="321945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500" i="0" err="1">
                <a:solidFill>
                  <a:schemeClr val="tx2"/>
                </a:solidFill>
                <a:latin typeface="Book Antiqua" panose="02040602050305030304" pitchFamily="18" charset="0"/>
              </a:rPr>
              <a:t>tpLH</a:t>
            </a:r>
            <a:endParaRPr lang="en-US" altLang="zh-CN" sz="15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374789" name="文本框 374788"/>
          <p:cNvSpPr txBox="1"/>
          <p:nvPr>
            <p:custDataLst>
              <p:tags r:id="rId2"/>
            </p:custDataLst>
          </p:nvPr>
        </p:nvSpPr>
        <p:spPr>
          <a:xfrm>
            <a:off x="3707553" y="3130074"/>
            <a:ext cx="634365" cy="3219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500" i="0" err="1">
                <a:solidFill>
                  <a:schemeClr val="tx2"/>
                </a:solidFill>
                <a:latin typeface="Book Antiqua" panose="02040602050305030304" pitchFamily="18" charset="0"/>
              </a:rPr>
              <a:t>tpHL</a:t>
            </a:r>
            <a:endParaRPr lang="en-US" altLang="zh-CN" sz="1500" i="0">
              <a:solidFill>
                <a:schemeClr val="tx2"/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1590675" y="5071745"/>
            <a:ext cx="86360" cy="75565"/>
          </a:xfrm>
          <a:prstGeom prst="ellipse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4"/>
            </p:custDataLst>
          </p:nvPr>
        </p:nvSpPr>
        <p:spPr>
          <a:xfrm>
            <a:off x="2207260" y="5033010"/>
            <a:ext cx="86360" cy="75565"/>
          </a:xfrm>
          <a:prstGeom prst="ellipse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462405" y="5194935"/>
            <a:ext cx="343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512060" y="5033010"/>
            <a:ext cx="326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4498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200">
                <a:sym typeface="+mn-ea"/>
              </a:rPr>
              <a:t>反相器链的延时计算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第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j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级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tx1"/>
              </a:solidFill>
              <a:sym typeface="+mn-ea"/>
            </a:endParaRPr>
          </a:p>
          <a:p>
            <a:pPr marL="457200" lvl="1" indent="0" fontAlgn="auto">
              <a:spcBef>
                <a:spcPts val="1100"/>
              </a:spcBef>
              <a:buFont typeface="Arial" panose="020B0604020202020204" pitchFamily="34" charset="0"/>
              <a:buNone/>
            </a:pPr>
            <a:r>
              <a:rPr lang="en-US" altLang="zh-CN" sz="2800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总延时</a:t>
            </a:r>
          </a:p>
        </p:txBody>
      </p:sp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48915" y="2433955"/>
            <a:ext cx="5984240" cy="1327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192145" y="3761740"/>
            <a:ext cx="5322570" cy="803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574415" y="4650740"/>
            <a:ext cx="4027170" cy="937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38200" y="1430655"/>
            <a:ext cx="10515600" cy="4940935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等效扇出：反相器外部负载与输入电容间的比值</a:t>
            </a:r>
            <a:r>
              <a:rPr lang="en-US" altLang="zh-CN"/>
              <a:t> f=C</a:t>
            </a:r>
            <a:r>
              <a:rPr lang="en-US" altLang="zh-CN" baseline="-25000"/>
              <a:t>ext</a:t>
            </a:r>
            <a:r>
              <a:rPr lang="en-US" altLang="zh-CN"/>
              <a:t>/C</a:t>
            </a:r>
            <a:r>
              <a:rPr lang="en-US" altLang="zh-CN" baseline="-25000"/>
              <a:t>g</a:t>
            </a:r>
            <a:endParaRPr lang="zh-CN" altLang="en-US"/>
          </a:p>
          <a:p>
            <a:r>
              <a:rPr lang="zh-CN" altLang="en-US"/>
              <a:t>每个反相器的尺寸相对之前的反相器级</a:t>
            </a:r>
            <a:r>
              <a:rPr lang="en-US" altLang="zh-CN"/>
              <a:t>均放大</a:t>
            </a:r>
            <a:r>
              <a:rPr lang="en-US" altLang="zh-CN">
                <a:solidFill>
                  <a:srgbClr val="C00000"/>
                </a:solidFill>
              </a:rPr>
              <a:t>相同的</a:t>
            </a:r>
            <a:r>
              <a:rPr lang="zh-CN" altLang="en-US"/>
              <a:t>倍数</a:t>
            </a:r>
            <a:r>
              <a:rPr lang="en-US" altLang="zh-CN">
                <a:solidFill>
                  <a:srgbClr val="C00000"/>
                </a:solidFill>
              </a:rPr>
              <a:t>f</a:t>
            </a:r>
            <a:endParaRPr lang="en-US" altLang="zh-CN"/>
          </a:p>
          <a:p>
            <a:r>
              <a:rPr lang="zh-CN" altLang="en-US"/>
              <a:t>给定</a:t>
            </a:r>
            <a:r>
              <a:rPr lang="en-US" altLang="zh-CN"/>
              <a:t>C</a:t>
            </a:r>
            <a:r>
              <a:rPr lang="en-US" altLang="zh-CN" baseline="-25000"/>
              <a:t>g1</a:t>
            </a:r>
            <a:r>
              <a:rPr lang="zh-CN" altLang="en-US"/>
              <a:t>和</a:t>
            </a:r>
            <a:r>
              <a:rPr lang="en-US" altLang="zh-CN"/>
              <a:t>C</a:t>
            </a:r>
            <a:r>
              <a:rPr lang="en-US" altLang="zh-CN" sz="1900"/>
              <a:t>L</a:t>
            </a:r>
            <a:r>
              <a:rPr lang="zh-CN" altLang="en-US"/>
              <a:t>，最优等效扇出</a:t>
            </a:r>
          </a:p>
          <a:p>
            <a:endParaRPr lang="zh-CN" altLang="en-US"/>
          </a:p>
          <a:p>
            <a:r>
              <a:rPr lang="zh-CN" altLang="en-US"/>
              <a:t>最小延时</a:t>
            </a:r>
            <a:r>
              <a:rPr lang="en-US" altLang="zh-CN"/>
              <a:t>                                 </a:t>
            </a:r>
            <a:r>
              <a:rPr lang="zh-CN" altLang="en-US"/>
              <a:t>，</a:t>
            </a:r>
            <a:r>
              <a:rPr lang="en-US" altLang="zh-CN"/>
              <a:t>F</a:t>
            </a:r>
            <a:r>
              <a:rPr lang="zh-CN" altLang="en-US"/>
              <a:t>为总等效扇出，</a:t>
            </a:r>
            <a:r>
              <a:rPr lang="en-US" altLang="zh-CN"/>
              <a:t>F=</a:t>
            </a:r>
            <a:r>
              <a:rPr lang="en-US" altLang="zh-CN">
                <a:sym typeface="+mn-ea"/>
              </a:rPr>
              <a:t>C</a:t>
            </a:r>
            <a:r>
              <a:rPr lang="en-US" altLang="zh-CN" baseline="-25000">
                <a:sym typeface="+mn-ea"/>
              </a:rPr>
              <a:t>L</a:t>
            </a:r>
            <a:r>
              <a:rPr lang="en-US" altLang="zh-CN">
                <a:sym typeface="+mn-ea"/>
              </a:rPr>
              <a:t>/C</a:t>
            </a:r>
            <a:r>
              <a:rPr lang="en-US" altLang="zh-CN" baseline="-25000">
                <a:sym typeface="+mn-ea"/>
              </a:rPr>
              <a:t>g1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>
                <a:solidFill>
                  <a:srgbClr val="C00000"/>
                </a:solidFill>
              </a:rPr>
              <a:t>如何确定级数</a:t>
            </a:r>
            <a:r>
              <a:rPr lang="en-US" altLang="zh-CN">
                <a:solidFill>
                  <a:srgbClr val="C00000"/>
                </a:solidFill>
              </a:rPr>
              <a:t>N</a:t>
            </a:r>
            <a:r>
              <a:rPr lang="zh-CN" altLang="en-US">
                <a:solidFill>
                  <a:srgbClr val="C00000"/>
                </a:solidFill>
              </a:rPr>
              <a:t>或者最优扇出系数</a:t>
            </a:r>
            <a:r>
              <a:rPr lang="en-US" altLang="zh-CN">
                <a:solidFill>
                  <a:srgbClr val="C00000"/>
                </a:solidFill>
              </a:rPr>
              <a:t>f</a:t>
            </a:r>
            <a:endParaRPr lang="zh-CN" altLang="en-US"/>
          </a:p>
          <a:p>
            <a:r>
              <a:rPr lang="zh-CN" altLang="en-US"/>
              <a:t>忽略自载</a:t>
            </a:r>
            <a:r>
              <a:rPr lang="en-US" altLang="zh-CN"/>
              <a:t>            N=ln(F)</a:t>
            </a:r>
            <a:r>
              <a:rPr lang="zh-CN" altLang="en-US"/>
              <a:t>，每一级等效删除为</a:t>
            </a:r>
            <a:r>
              <a:rPr lang="en-US" altLang="zh-CN"/>
              <a:t>f=e=2.718</a:t>
            </a:r>
            <a:endParaRPr lang="zh-CN" altLang="en-US"/>
          </a:p>
          <a:p>
            <a:r>
              <a:rPr lang="zh-CN" altLang="en-US"/>
              <a:t>包括自载，数值法求解</a:t>
            </a:r>
            <a:r>
              <a:rPr lang="en-US" altLang="zh-CN"/>
              <a:t> f=3.6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一般取</a:t>
            </a:r>
            <a:r>
              <a:rPr lang="en-US" altLang="zh-CN"/>
              <a:t>4</a:t>
            </a:r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698490" y="2291080"/>
            <a:ext cx="3669030" cy="646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31440" y="3219450"/>
            <a:ext cx="3125470" cy="521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第五章小结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38200" y="1430655"/>
            <a:ext cx="10515600" cy="4940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3200">
                <a:sym typeface="+mn-ea"/>
              </a:rPr>
              <a:t>CMOS</a:t>
            </a:r>
            <a:r>
              <a:rPr lang="zh-CN" altLang="en-US" sz="3200">
                <a:sym typeface="+mn-ea"/>
              </a:rPr>
              <a:t>反相器功耗构成：</a:t>
            </a: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动态功耗：</a:t>
            </a: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对电容充放电引起的功耗</a:t>
            </a: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状态切换过程中产生的直接通路（短路功耗）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lvl="1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</a:t>
            </a: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静态功耗：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5800" lvl="2" indent="0" algn="l" defTabSz="685800">
              <a:lnSpc>
                <a:spcPct val="150000"/>
              </a:lnSpc>
              <a:spcBef>
                <a:spcPts val="375"/>
              </a:spcBef>
              <a:buNone/>
            </a:pPr>
            <a:r>
              <a: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泄露电流导致的功耗（亚阈值导通）</a:t>
            </a:r>
            <a:endParaRPr lang="zh-CN" altLang="en-US" sz="2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conveyor dir="l"/>
      </p:transition>
    </mc:Choice>
    <mc:Fallback xmlns="">
      <p:transition spd="slow" advClick="0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gxYzJiZjAyNzBkMjIxMzM5ZjQ2OGM2Njc4NjgxY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397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2.18748031496062,&quot;left&quot;:114.6,&quot;top&quot;:245.8625196850394,&quot;width&quot;:227.28330708661414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1641</Words>
  <Application>Microsoft Office PowerPoint</Application>
  <PresentationFormat>宽屏</PresentationFormat>
  <Paragraphs>291</Paragraphs>
  <Slides>29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MathematicalPi 1</vt:lpstr>
      <vt:lpstr>Times Ten Roman</vt:lpstr>
      <vt:lpstr>等线</vt:lpstr>
      <vt:lpstr>等线 Light</vt:lpstr>
      <vt:lpstr>微软雅黑</vt:lpstr>
      <vt:lpstr>Arial</vt:lpstr>
      <vt:lpstr>Book Antiqua</vt:lpstr>
      <vt:lpstr>Calibri</vt:lpstr>
      <vt:lpstr>Cambria Math</vt:lpstr>
      <vt:lpstr>Symbol</vt:lpstr>
      <vt:lpstr>Times New Roman</vt:lpstr>
      <vt:lpstr>Wingdings</vt:lpstr>
      <vt:lpstr>Office 主题​​</vt:lpstr>
      <vt:lpstr>Microsoft 公式 3.0</vt:lpstr>
      <vt:lpstr>WPS 公式 3.0</vt:lpstr>
      <vt:lpstr>PowerPoint 演示文稿</vt:lpstr>
      <vt:lpstr>第一章小结</vt:lpstr>
      <vt:lpstr>第一章小结</vt:lpstr>
      <vt:lpstr>第一章小结</vt:lpstr>
      <vt:lpstr>第一章小结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第三章小结</vt:lpstr>
      <vt:lpstr>第四章小结</vt:lpstr>
      <vt:lpstr>第四章小结</vt:lpstr>
      <vt:lpstr>第四章小结</vt:lpstr>
      <vt:lpstr>第四章小结</vt:lpstr>
      <vt:lpstr>第五章小结</vt:lpstr>
      <vt:lpstr>第五章小结</vt:lpstr>
      <vt:lpstr>第五章小结</vt:lpstr>
      <vt:lpstr>第五章小结</vt:lpstr>
      <vt:lpstr>第五章小结</vt:lpstr>
      <vt:lpstr>第五章小结</vt:lpstr>
      <vt:lpstr>第五章小结</vt:lpstr>
      <vt:lpstr>第五章小结</vt:lpstr>
      <vt:lpstr>第五章小结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坤峰 宋</cp:lastModifiedBy>
  <cp:revision>133</cp:revision>
  <dcterms:created xsi:type="dcterms:W3CDTF">2020-02-14T07:49:00Z</dcterms:created>
  <dcterms:modified xsi:type="dcterms:W3CDTF">2025-12-14T10:42:22Z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59EA7801C58C40398C548F876D10B56F</vt:lpwstr>
  </property>
  <property fmtid="{D5CDD505-2E9C-101B-9397-08002B2CF9AE}" pid="3" name="KSOProductBuildVer">
    <vt:lpwstr>2052-12.1.0.24034</vt:lpwstr>
  </property>
</Properties>
</file>