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bmp" ContentType="image/bmp"/>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
  </p:notesMasterIdLst>
  <p:sldIdLst>
    <p:sldId id="263" r:id="rId3"/>
    <p:sldId id="1260" r:id="rId4"/>
    <p:sldId id="1473" r:id="rId6"/>
    <p:sldId id="1411" r:id="rId7"/>
    <p:sldId id="1414" r:id="rId8"/>
    <p:sldId id="1412" r:id="rId9"/>
    <p:sldId id="1413" r:id="rId10"/>
    <p:sldId id="1474" r:id="rId11"/>
    <p:sldId id="1416" r:id="rId12"/>
    <p:sldId id="1417" r:id="rId13"/>
    <p:sldId id="1418" r:id="rId14"/>
    <p:sldId id="1419" r:id="rId15"/>
    <p:sldId id="1420" r:id="rId16"/>
    <p:sldId id="1421" r:id="rId17"/>
    <p:sldId id="1422" r:id="rId18"/>
    <p:sldId id="1423" r:id="rId19"/>
    <p:sldId id="1424" r:id="rId20"/>
    <p:sldId id="1476" r:id="rId21"/>
    <p:sldId id="1427" r:id="rId22"/>
    <p:sldId id="1425" r:id="rId23"/>
    <p:sldId id="1475" r:id="rId24"/>
    <p:sldId id="1477" r:id="rId25"/>
    <p:sldId id="1478" r:id="rId26"/>
    <p:sldId id="1479" r:id="rId27"/>
    <p:sldId id="1426" r:id="rId28"/>
    <p:sldId id="1431" r:id="rId29"/>
    <p:sldId id="1428" r:id="rId30"/>
    <p:sldId id="1433" r:id="rId31"/>
    <p:sldId id="1481" r:id="rId32"/>
    <p:sldId id="1430" r:id="rId33"/>
    <p:sldId id="1441" r:id="rId34"/>
    <p:sldId id="1432" r:id="rId35"/>
    <p:sldId id="1442" r:id="rId36"/>
    <p:sldId id="1443" r:id="rId37"/>
    <p:sldId id="1444" r:id="rId38"/>
    <p:sldId id="1445" r:id="rId39"/>
    <p:sldId id="1446" r:id="rId40"/>
    <p:sldId id="1447" r:id="rId41"/>
    <p:sldId id="1448" r:id="rId42"/>
    <p:sldId id="1449" r:id="rId43"/>
    <p:sldId id="1450" r:id="rId44"/>
    <p:sldId id="1436" r:id="rId45"/>
    <p:sldId id="1437" r:id="rId46"/>
    <p:sldId id="1451" r:id="rId47"/>
    <p:sldId id="1453" r:id="rId48"/>
    <p:sldId id="1454" r:id="rId49"/>
    <p:sldId id="1455" r:id="rId50"/>
    <p:sldId id="1456" r:id="rId51"/>
    <p:sldId id="1438" r:id="rId52"/>
    <p:sldId id="1457" r:id="rId53"/>
    <p:sldId id="1459" r:id="rId54"/>
    <p:sldId id="1458" r:id="rId55"/>
    <p:sldId id="1460" r:id="rId56"/>
    <p:sldId id="1461" r:id="rId57"/>
    <p:sldId id="1462" r:id="rId58"/>
    <p:sldId id="1463" r:id="rId59"/>
    <p:sldId id="1468" r:id="rId60"/>
    <p:sldId id="308" r:id="rId61"/>
  </p:sldIdLst>
  <p:sldSz cx="9144000" cy="5715000" type="screen16x10"/>
  <p:notesSz cx="6858000" cy="9144000"/>
  <p:embeddedFontLst>
    <p:embeddedFont>
      <p:font typeface="微软雅黑" panose="020B0503020204020204" pitchFamily="34" charset="-122"/>
      <p:regular r:id="rId66"/>
    </p:embeddedFont>
    <p:embeddedFont>
      <p:font typeface="Book Antiqua" panose="02040602050305030304" pitchFamily="18" charset="0"/>
      <p:regular r:id="rId67"/>
      <p:bold r:id="rId68"/>
      <p:italic r:id="rId69"/>
      <p:boldItalic r:id="rId70"/>
    </p:embeddedFont>
    <p:embeddedFont>
      <p:font typeface="Calibri" panose="020F0502020204030204" charset="0"/>
      <p:regular r:id="rId71"/>
      <p:bold r:id="rId72"/>
      <p:italic r:id="rId73"/>
      <p:boldItalic r:id="rId74"/>
    </p:embeddedFont>
    <p:embeddedFont>
      <p:font typeface="等线 Light" panose="02010600030101010101" charset="-122"/>
      <p:regular r:id="rId75"/>
    </p:embeddedFont>
    <p:embeddedFont>
      <p:font typeface="Calibri Light" panose="020F0302020204030204" charset="0"/>
      <p:regular r:id="rId76"/>
      <p:italic r:id="rId77"/>
    </p:embeddedFont>
    <p:embeddedFont>
      <p:font typeface="等线" panose="02010600030101010101" charset="-122"/>
      <p:regular r:id="rId78"/>
    </p:embeddedFont>
    <p:embeddedFont>
      <p:font typeface="Helvetica" panose="020B0604020202020204" pitchFamily="34" charset="0"/>
      <p:regular r:id="rId79"/>
      <p:bold r:id="rId80"/>
      <p:italic r:id="rId81"/>
      <p:boldItalic r:id="rId82"/>
    </p:embeddedFont>
  </p:embeddedFontLst>
  <p:custDataLst>
    <p:tags r:id="rId8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an" initials="a"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0000CC"/>
    <a:srgbClr val="0000FF"/>
    <a:srgbClr val="1A44CC"/>
    <a:srgbClr val="122E8B"/>
    <a:srgbClr val="00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0" d="100"/>
          <a:sy n="90" d="100"/>
        </p:scale>
        <p:origin x="1188" y="84"/>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3" Type="http://schemas.openxmlformats.org/officeDocument/2006/relationships/tags" Target="tags/tag1.xml"/><Relationship Id="rId82" Type="http://schemas.openxmlformats.org/officeDocument/2006/relationships/font" Target="fonts/font17.fntdata"/><Relationship Id="rId81" Type="http://schemas.openxmlformats.org/officeDocument/2006/relationships/font" Target="fonts/font16.fntdata"/><Relationship Id="rId80" Type="http://schemas.openxmlformats.org/officeDocument/2006/relationships/font" Target="fonts/font15.fntdata"/><Relationship Id="rId8" Type="http://schemas.openxmlformats.org/officeDocument/2006/relationships/slide" Target="slides/slide5.xml"/><Relationship Id="rId79" Type="http://schemas.openxmlformats.org/officeDocument/2006/relationships/font" Target="fonts/font14.fntdata"/><Relationship Id="rId78" Type="http://schemas.openxmlformats.org/officeDocument/2006/relationships/font" Target="fonts/font13.fntdata"/><Relationship Id="rId77" Type="http://schemas.openxmlformats.org/officeDocument/2006/relationships/font" Target="fonts/font12.fntdata"/><Relationship Id="rId76" Type="http://schemas.openxmlformats.org/officeDocument/2006/relationships/font" Target="fonts/font11.fntdata"/><Relationship Id="rId75" Type="http://schemas.openxmlformats.org/officeDocument/2006/relationships/font" Target="fonts/font10.fntdata"/><Relationship Id="rId74" Type="http://schemas.openxmlformats.org/officeDocument/2006/relationships/font" Target="fonts/font9.fntdata"/><Relationship Id="rId73" Type="http://schemas.openxmlformats.org/officeDocument/2006/relationships/font" Target="fonts/font8.fntdata"/><Relationship Id="rId72" Type="http://schemas.openxmlformats.org/officeDocument/2006/relationships/font" Target="fonts/font7.fntdata"/><Relationship Id="rId71" Type="http://schemas.openxmlformats.org/officeDocument/2006/relationships/font" Target="fonts/font6.fntdata"/><Relationship Id="rId70" Type="http://schemas.openxmlformats.org/officeDocument/2006/relationships/font" Target="fonts/font5.fntdata"/><Relationship Id="rId7" Type="http://schemas.openxmlformats.org/officeDocument/2006/relationships/slide" Target="slides/slide4.xml"/><Relationship Id="rId69" Type="http://schemas.openxmlformats.org/officeDocument/2006/relationships/font" Target="fonts/font4.fntdata"/><Relationship Id="rId68" Type="http://schemas.openxmlformats.org/officeDocument/2006/relationships/font" Target="fonts/font3.fntdata"/><Relationship Id="rId67" Type="http://schemas.openxmlformats.org/officeDocument/2006/relationships/font" Target="fonts/font2.fntdata"/><Relationship Id="rId66" Type="http://schemas.openxmlformats.org/officeDocument/2006/relationships/font" Target="fonts/font1.fntdata"/><Relationship Id="rId65" Type="http://schemas.openxmlformats.org/officeDocument/2006/relationships/commentAuthors" Target="commentAuthors.xml"/><Relationship Id="rId64" Type="http://schemas.openxmlformats.org/officeDocument/2006/relationships/tableStyles" Target="tableStyles.xml"/><Relationship Id="rId63" Type="http://schemas.openxmlformats.org/officeDocument/2006/relationships/viewProps" Target="viewProps.xml"/><Relationship Id="rId62" Type="http://schemas.openxmlformats.org/officeDocument/2006/relationships/presProps" Target="presProps.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53.wmf"/><Relationship Id="rId1" Type="http://schemas.openxmlformats.org/officeDocument/2006/relationships/image" Target="../media/image5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70.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image" Target="../media/image71.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7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0C4801-0F7F-4211-862E-8D4B155842B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A6560E-9387-4E0C-A338-AE2BB01759AA}"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713105" rtl="0" eaLnBrk="1" latinLnBrk="0" hangingPunct="1">
      <a:defRPr sz="935" kern="1200">
        <a:solidFill>
          <a:schemeClr val="tx1"/>
        </a:solidFill>
        <a:latin typeface="+mn-lt"/>
        <a:ea typeface="+mn-ea"/>
        <a:cs typeface="+mn-cs"/>
      </a:defRPr>
    </a:lvl1pPr>
    <a:lvl2pPr marL="356870" algn="l" defTabSz="713105" rtl="0" eaLnBrk="1" latinLnBrk="0" hangingPunct="1">
      <a:defRPr sz="935" kern="1200">
        <a:solidFill>
          <a:schemeClr val="tx1"/>
        </a:solidFill>
        <a:latin typeface="+mn-lt"/>
        <a:ea typeface="+mn-ea"/>
        <a:cs typeface="+mn-cs"/>
      </a:defRPr>
    </a:lvl2pPr>
    <a:lvl3pPr marL="713105" algn="l" defTabSz="713105" rtl="0" eaLnBrk="1" latinLnBrk="0" hangingPunct="1">
      <a:defRPr sz="935" kern="1200">
        <a:solidFill>
          <a:schemeClr val="tx1"/>
        </a:solidFill>
        <a:latin typeface="+mn-lt"/>
        <a:ea typeface="+mn-ea"/>
        <a:cs typeface="+mn-cs"/>
      </a:defRPr>
    </a:lvl3pPr>
    <a:lvl4pPr marL="1069975" algn="l" defTabSz="713105" rtl="0" eaLnBrk="1" latinLnBrk="0" hangingPunct="1">
      <a:defRPr sz="935" kern="1200">
        <a:solidFill>
          <a:schemeClr val="tx1"/>
        </a:solidFill>
        <a:latin typeface="+mn-lt"/>
        <a:ea typeface="+mn-ea"/>
        <a:cs typeface="+mn-cs"/>
      </a:defRPr>
    </a:lvl4pPr>
    <a:lvl5pPr marL="1426210" algn="l" defTabSz="713105" rtl="0" eaLnBrk="1" latinLnBrk="0" hangingPunct="1">
      <a:defRPr sz="935" kern="1200">
        <a:solidFill>
          <a:schemeClr val="tx1"/>
        </a:solidFill>
        <a:latin typeface="+mn-lt"/>
        <a:ea typeface="+mn-ea"/>
        <a:cs typeface="+mn-cs"/>
      </a:defRPr>
    </a:lvl5pPr>
    <a:lvl6pPr marL="1783080" algn="l" defTabSz="713105" rtl="0" eaLnBrk="1" latinLnBrk="0" hangingPunct="1">
      <a:defRPr sz="935" kern="1200">
        <a:solidFill>
          <a:schemeClr val="tx1"/>
        </a:solidFill>
        <a:latin typeface="+mn-lt"/>
        <a:ea typeface="+mn-ea"/>
        <a:cs typeface="+mn-cs"/>
      </a:defRPr>
    </a:lvl6pPr>
    <a:lvl7pPr marL="2139950" algn="l" defTabSz="713105" rtl="0" eaLnBrk="1" latinLnBrk="0" hangingPunct="1">
      <a:defRPr sz="935" kern="1200">
        <a:solidFill>
          <a:schemeClr val="tx1"/>
        </a:solidFill>
        <a:latin typeface="+mn-lt"/>
        <a:ea typeface="+mn-ea"/>
        <a:cs typeface="+mn-cs"/>
      </a:defRPr>
    </a:lvl7pPr>
    <a:lvl8pPr marL="2496185" algn="l" defTabSz="713105" rtl="0" eaLnBrk="1" latinLnBrk="0" hangingPunct="1">
      <a:defRPr sz="935" kern="1200">
        <a:solidFill>
          <a:schemeClr val="tx1"/>
        </a:solidFill>
        <a:latin typeface="+mn-lt"/>
        <a:ea typeface="+mn-ea"/>
        <a:cs typeface="+mn-cs"/>
      </a:defRPr>
    </a:lvl8pPr>
    <a:lvl9pPr marL="2853055" algn="l" defTabSz="713105" rtl="0" eaLnBrk="1" latinLnBrk="0" hangingPunct="1">
      <a:defRPr sz="93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r>
              <a:rPr lang="en-US" dirty="0"/>
              <a:t>P4</a:t>
            </a:r>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幻灯片图像占位符 353281"/>
          <p:cNvSpPr>
            <a:spLocks noGrp="1" noRot="1" noChangeAspect="1" noTextEdit="1"/>
          </p:cNvSpPr>
          <p:nvPr>
            <p:ph type="sldImg"/>
          </p:nvPr>
        </p:nvSpPr>
        <p:spPr/>
      </p:sp>
      <p:sp>
        <p:nvSpPr>
          <p:cNvPr id="353283" name="文本占位符 353282"/>
          <p:cNvSpPr>
            <a:spLocks noGrp="1"/>
          </p:cNvSpPr>
          <p:nvPr>
            <p:ph type="body" idx="1"/>
          </p:nvPr>
        </p:nvSpPr>
        <p:spPr/>
        <p:txBody>
          <a:bodyPr lIns="90483" tIns="45241" rIns="90483" bIns="45241"/>
          <a:lstStyle/>
          <a:p>
            <a:pPr lvl="0"/>
            <a:endParaRPr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l="30648" t="16357" r="31111" b="16027"/>
          <a:stretch>
            <a:fillRect/>
          </a:stretch>
        </p:blipFill>
        <p:spPr>
          <a:xfrm>
            <a:off x="8309166" y="123845"/>
            <a:ext cx="560514" cy="557798"/>
          </a:xfrm>
          <a:prstGeom prst="rect">
            <a:avLst/>
          </a:prstGeom>
        </p:spPr>
      </p:pic>
      <p:cxnSp>
        <p:nvCxnSpPr>
          <p:cNvPr id="9" name="直接连接符 8"/>
          <p:cNvCxnSpPr/>
          <p:nvPr userDrawn="1"/>
        </p:nvCxnSpPr>
        <p:spPr>
          <a:xfrm>
            <a:off x="290945" y="723204"/>
            <a:ext cx="8578735" cy="0"/>
          </a:xfrm>
          <a:prstGeom prst="line">
            <a:avLst/>
          </a:prstGeom>
          <a:ln>
            <a:solidFill>
              <a:srgbClr val="122E8B"/>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290945" y="274320"/>
            <a:ext cx="560514" cy="448884"/>
          </a:xfrm>
          <a:prstGeom prst="rect">
            <a:avLst/>
          </a:prstGeom>
          <a:solidFill>
            <a:srgbClr val="122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p>
        </p:txBody>
      </p:sp>
      <p:sp>
        <p:nvSpPr>
          <p:cNvPr id="16" name="标题 15"/>
          <p:cNvSpPr>
            <a:spLocks noGrp="1"/>
          </p:cNvSpPr>
          <p:nvPr>
            <p:ph type="title"/>
          </p:nvPr>
        </p:nvSpPr>
        <p:spPr>
          <a:xfrm>
            <a:off x="851459" y="274319"/>
            <a:ext cx="7120446" cy="452564"/>
          </a:xfrm>
        </p:spPr>
        <p:txBody>
          <a:bodyPr>
            <a:normAutofit/>
          </a:bodyPr>
          <a:lstStyle>
            <a:lvl1pPr>
              <a:lnSpc>
                <a:spcPct val="100000"/>
              </a:lnSpc>
              <a:defRPr sz="2400" b="1">
                <a:solidFill>
                  <a:srgbClr val="122E8B"/>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cxnSp>
        <p:nvCxnSpPr>
          <p:cNvPr id="9" name="直接连接符 8"/>
          <p:cNvCxnSpPr/>
          <p:nvPr userDrawn="1"/>
        </p:nvCxnSpPr>
        <p:spPr>
          <a:xfrm>
            <a:off x="290945" y="723204"/>
            <a:ext cx="8578735" cy="0"/>
          </a:xfrm>
          <a:prstGeom prst="line">
            <a:avLst/>
          </a:prstGeom>
          <a:ln>
            <a:solidFill>
              <a:srgbClr val="122E8B"/>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290945" y="274320"/>
            <a:ext cx="560514" cy="448884"/>
          </a:xfrm>
          <a:prstGeom prst="rect">
            <a:avLst/>
          </a:prstGeom>
          <a:solidFill>
            <a:srgbClr val="122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p>
        </p:txBody>
      </p:sp>
      <p:sp>
        <p:nvSpPr>
          <p:cNvPr id="16" name="标题 15"/>
          <p:cNvSpPr>
            <a:spLocks noGrp="1"/>
          </p:cNvSpPr>
          <p:nvPr userDrawn="1"/>
        </p:nvSpPr>
        <p:spPr>
          <a:xfrm>
            <a:off x="851459" y="274319"/>
            <a:ext cx="7120446" cy="452564"/>
          </a:xfrm>
          <a:prstGeom prst="rect">
            <a:avLst/>
          </a:prstGeom>
        </p:spPr>
        <p:txBody>
          <a:bodyPr vert="horz" lIns="91440" tIns="45720" rIns="91440" bIns="45720" rtlCol="0" anchor="ctr">
            <a:normAutofit fontScale="97500"/>
          </a:bodyPr>
          <a:lstStyle>
            <a:lvl1pPr>
              <a:lnSpc>
                <a:spcPct val="100000"/>
              </a:lnSpc>
              <a:defRPr sz="2400" b="1">
                <a:solidFill>
                  <a:srgbClr val="122E8B"/>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424782"/>
            <a:ext cx="7886700" cy="2377281"/>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824553"/>
            <a:ext cx="7886700" cy="1250156"/>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cxnSp>
        <p:nvCxnSpPr>
          <p:cNvPr id="9" name="直接连接符 8"/>
          <p:cNvCxnSpPr/>
          <p:nvPr userDrawn="1"/>
        </p:nvCxnSpPr>
        <p:spPr>
          <a:xfrm>
            <a:off x="290945" y="723204"/>
            <a:ext cx="8578735" cy="0"/>
          </a:xfrm>
          <a:prstGeom prst="line">
            <a:avLst/>
          </a:prstGeom>
          <a:ln>
            <a:solidFill>
              <a:srgbClr val="122E8B"/>
            </a:solidFill>
          </a:ln>
        </p:spPr>
        <p:style>
          <a:lnRef idx="1">
            <a:schemeClr val="accent1"/>
          </a:lnRef>
          <a:fillRef idx="0">
            <a:schemeClr val="accent1"/>
          </a:fillRef>
          <a:effectRef idx="0">
            <a:schemeClr val="accent1"/>
          </a:effectRef>
          <a:fontRef idx="minor">
            <a:schemeClr val="tx1"/>
          </a:fontRef>
        </p:style>
      </p:cxnSp>
      <p:sp>
        <p:nvSpPr>
          <p:cNvPr id="13" name="矩形 12"/>
          <p:cNvSpPr/>
          <p:nvPr userDrawn="1"/>
        </p:nvSpPr>
        <p:spPr>
          <a:xfrm>
            <a:off x="290945" y="274320"/>
            <a:ext cx="560514" cy="448884"/>
          </a:xfrm>
          <a:prstGeom prst="rect">
            <a:avLst/>
          </a:prstGeom>
          <a:solidFill>
            <a:srgbClr val="122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p>
        </p:txBody>
      </p:sp>
      <p:sp>
        <p:nvSpPr>
          <p:cNvPr id="16" name="标题 15"/>
          <p:cNvSpPr>
            <a:spLocks noGrp="1"/>
          </p:cNvSpPr>
          <p:nvPr userDrawn="1"/>
        </p:nvSpPr>
        <p:spPr>
          <a:xfrm>
            <a:off x="851459" y="274319"/>
            <a:ext cx="7120446" cy="452564"/>
          </a:xfrm>
          <a:prstGeom prst="rect">
            <a:avLst/>
          </a:prstGeom>
        </p:spPr>
        <p:txBody>
          <a:bodyPr vert="horz" lIns="91440" tIns="45720" rIns="91440" bIns="45720" rtlCol="0" anchor="ctr">
            <a:normAutofit fontScale="97500"/>
          </a:bodyPr>
          <a:lstStyle>
            <a:lvl1pPr>
              <a:lnSpc>
                <a:spcPct val="100000"/>
              </a:lnSpc>
              <a:defRPr sz="2400" b="1">
                <a:solidFill>
                  <a:srgbClr val="122E8B"/>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521354"/>
            <a:ext cx="3886200" cy="362611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521354"/>
            <a:ext cx="3886200" cy="362611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04271"/>
            <a:ext cx="7886700" cy="1104636"/>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400969"/>
            <a:ext cx="3868340"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087563"/>
            <a:ext cx="3868340" cy="307049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400969"/>
            <a:ext cx="3887391" cy="686593"/>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087563"/>
            <a:ext cx="3887391" cy="307049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822855"/>
            <a:ext cx="4629150" cy="406135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81000"/>
            <a:ext cx="2949178" cy="133350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822855"/>
            <a:ext cx="4629150" cy="4061354"/>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714500"/>
            <a:ext cx="2949178" cy="3176323"/>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04271"/>
            <a:ext cx="1971675" cy="484319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04271"/>
            <a:ext cx="5800725" cy="484319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表格占位符 2"/>
          <p:cNvSpPr>
            <a:spLocks noGrp="1"/>
          </p:cNvSpPr>
          <p:nvPr>
            <p:ph type="tbl" idx="1"/>
          </p:nvPr>
        </p:nvSpPr>
        <p:spPr/>
        <p:txBody>
          <a:bodyPr/>
          <a:lstStyle/>
          <a:p>
            <a:endParaRPr lang="zh-CN" altLang="en-US"/>
          </a:p>
        </p:txBody>
      </p:sp>
      <p:sp>
        <p:nvSpPr>
          <p:cNvPr id="4" name="日期占位符 3"/>
          <p:cNvSpPr>
            <a:spLocks noGrp="1"/>
          </p:cNvSpPr>
          <p:nvPr>
            <p:ph type="dt" sz="half" idx="10"/>
          </p:nvPr>
        </p:nvSpPr>
        <p:spPr/>
        <p:txBody>
          <a:bodyPr/>
          <a:lstStyle/>
          <a:p>
            <a:pPr lvl="0"/>
            <a:r>
              <a:rPr lang="zh-CN" altLang="en-US" dirty="0"/>
              <a:t>2006-2-22</a:t>
            </a:r>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28650" y="1521354"/>
            <a:ext cx="3886200" cy="362611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29150" y="1521354"/>
            <a:ext cx="3886200" cy="362611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lvl="0"/>
            <a:r>
              <a:rPr lang="zh-CN" altLang="en-US" dirty="0"/>
              <a:t>2006-2-22</a:t>
            </a:r>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图表占位符 2"/>
          <p:cNvSpPr>
            <a:spLocks noGrp="1"/>
          </p:cNvSpPr>
          <p:nvPr>
            <p:ph type="chart" idx="1"/>
          </p:nvPr>
        </p:nvSpPr>
        <p:spPr/>
        <p:txBody>
          <a:bodyPr/>
          <a:lstStyle/>
          <a:p>
            <a:endParaRPr lang="zh-CN" altLang="en-US"/>
          </a:p>
        </p:txBody>
      </p:sp>
      <p:sp>
        <p:nvSpPr>
          <p:cNvPr id="6" name="灯片编号占位符 5"/>
          <p:cNvSpPr>
            <a:spLocks noGrp="1"/>
          </p:cNvSpPr>
          <p:nvPr>
            <p:ph type="sldNum" sz="quarter" idx="12"/>
          </p:nvPr>
        </p:nvSpPr>
        <p:spPr/>
        <p:txBody>
          <a:bodyPr/>
          <a:lstStyle/>
          <a:p>
            <a:pPr lvl="0"/>
            <a:fld id="{9A0DB2DC-4C9A-4742-B13C-FB6460FD3503}" type="slidenum">
              <a:rPr lang="en-US"/>
            </a:fld>
            <a:endParaRPr lang="en-US">
              <a:latin typeface="Times New Roman" panose="02020603050405020304" pitchFamily="18"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935302"/>
            <a:ext cx="6858000" cy="1989667"/>
          </a:xfrm>
        </p:spPr>
        <p:txBody>
          <a:bodyPr/>
          <a:lstStyle>
            <a:lvl1pPr algn="ctr">
              <a:defRPr sz="5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3001698"/>
            <a:ext cx="6858000" cy="1379802"/>
          </a:xfrm>
        </p:spPr>
        <p:txBody>
          <a:bodyPr/>
          <a:lstStyle>
            <a:lvl1pPr marL="0" indent="0" algn="ctr">
              <a:buNone/>
              <a:defRPr sz="2000"/>
            </a:lvl1pPr>
            <a:lvl2pPr marL="381000" indent="0" algn="ctr">
              <a:buNone/>
              <a:defRPr sz="1665"/>
            </a:lvl2pPr>
            <a:lvl3pPr marL="762000" indent="0" algn="ctr">
              <a:buNone/>
              <a:defRPr sz="1500"/>
            </a:lvl3pPr>
            <a:lvl4pPr marL="1143000" indent="0" algn="ctr">
              <a:buNone/>
              <a:defRPr sz="1335"/>
            </a:lvl4pPr>
            <a:lvl5pPr marL="1524000" indent="0" algn="ctr">
              <a:buNone/>
              <a:defRPr sz="1335"/>
            </a:lvl5pPr>
            <a:lvl6pPr marL="1905000" indent="0" algn="ctr">
              <a:buNone/>
              <a:defRPr sz="1335"/>
            </a:lvl6pPr>
            <a:lvl7pPr marL="2286000" indent="0" algn="ctr">
              <a:buNone/>
              <a:defRPr sz="1335"/>
            </a:lvl7pPr>
            <a:lvl8pPr marL="2667000" indent="0" algn="ctr">
              <a:buNone/>
              <a:defRPr sz="1335"/>
            </a:lvl8pPr>
            <a:lvl9pPr marL="3048000" indent="0" algn="ctr">
              <a:buNone/>
              <a:defRPr sz="1335"/>
            </a:lvl9pPr>
          </a:lstStyle>
          <a:p>
            <a:r>
              <a:rPr lang="zh-CN" altLang="en-US"/>
              <a:t>单击此处编辑母版副标题样式</a:t>
            </a:r>
            <a:endParaRPr lang="zh-CN" altLang="en-US"/>
          </a:p>
        </p:txBody>
      </p:sp>
      <p:sp>
        <p:nvSpPr>
          <p:cNvPr id="4" name="灯片编号占位符 3"/>
          <p:cNvSpPr>
            <a:spLocks noGrp="1"/>
          </p:cNvSpPr>
          <p:nvPr>
            <p:ph type="sldNum" sz="quarter" idx="10"/>
          </p:nvPr>
        </p:nvSpPr>
        <p:spPr/>
        <p:txBody>
          <a:bodyPr/>
          <a:lstStyle>
            <a:lvl1pPr>
              <a:defRPr/>
            </a:lvl1pPr>
          </a:lstStyle>
          <a:p>
            <a:fld id="{E558BA6C-A4BE-4A9E-8A47-37E87EAC0113}" type="slidenum">
              <a:rPr lang="en-US" altLang="zh-CN"/>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SmartArt 占位符 2"/>
          <p:cNvSpPr>
            <a:spLocks noGrp="1"/>
          </p:cNvSpPr>
          <p:nvPr>
            <p:ph type="pic" idx="1"/>
          </p:nvPr>
        </p:nvSpPr>
        <p:spPr/>
        <p:txBody>
          <a:bodyPr/>
          <a:lstStyle/>
          <a:p>
            <a:endParaRPr lang="zh-CN" altLang="en-US"/>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28650" y="1521354"/>
            <a:ext cx="7886700" cy="17488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28650" y="3397250"/>
            <a:ext cx="7886700" cy="175021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28650" y="1521354"/>
            <a:ext cx="3886200" cy="3626115"/>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29150" y="1521354"/>
            <a:ext cx="3886200" cy="17488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29150" y="3397250"/>
            <a:ext cx="3886200" cy="175021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日期占位符 5"/>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7" name="页脚占位符 6"/>
          <p:cNvSpPr>
            <a:spLocks noGrp="1"/>
          </p:cNvSpPr>
          <p:nvPr>
            <p:ph type="ftr" sz="quarter" idx="11"/>
          </p:nvPr>
        </p:nvSpPr>
        <p:spPr/>
        <p:txBody>
          <a:bodyPr/>
          <a:lstStyle/>
          <a:p>
            <a:pPr lvl="0"/>
            <a:endParaRPr lang="zh-CN" altLang="en-US" dirty="0"/>
          </a:p>
        </p:txBody>
      </p:sp>
      <p:sp>
        <p:nvSpPr>
          <p:cNvPr id="8" name="灯片编号占位符 7"/>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verTx" preserve="1">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521354"/>
            <a:ext cx="7886700" cy="1748896"/>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28650" y="3397250"/>
            <a:ext cx="7886700" cy="175021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60400" y="367771"/>
            <a:ext cx="7797800" cy="452172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灯片编号占位符 4"/>
          <p:cNvSpPr>
            <a:spLocks noGrp="1"/>
          </p:cNvSpPr>
          <p:nvPr>
            <p:ph type="sldNum" sz="quarter" idx="12"/>
          </p:nvPr>
        </p:nvSpPr>
        <p:spPr/>
        <p:txBody>
          <a:bodyPr/>
          <a:lstStyle/>
          <a:p>
            <a:pPr lvl="0"/>
            <a:fld id="{9A0DB2DC-4C9A-4742-B13C-FB6460FD3503}"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3" Type="http://schemas.openxmlformats.org/officeDocument/2006/relationships/theme" Target="../theme/theme1.xml"/><Relationship Id="rId22" Type="http://schemas.openxmlformats.org/officeDocument/2006/relationships/image" Target="../media/image3.jpeg"/><Relationship Id="rId21" Type="http://schemas.openxmlformats.org/officeDocument/2006/relationships/image" Target="../media/image2.jpeg"/><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0" y="2019993"/>
            <a:ext cx="9140506" cy="3695007"/>
          </a:xfrm>
          <a:prstGeom prst="rect">
            <a:avLst/>
          </a:prstGeom>
        </p:spPr>
      </p:pic>
      <p:pic>
        <p:nvPicPr>
          <p:cNvPr id="8" name="图片 7"/>
          <p:cNvPicPr>
            <a:picLocks noChangeAspect="1"/>
          </p:cNvPicPr>
          <p:nvPr userDrawn="1"/>
        </p:nvPicPr>
        <p:blipFill rotWithShape="1">
          <a:blip r:embed="rId21" cstate="print">
            <a:extLst>
              <a:ext uri="{28A0092B-C50C-407E-A947-70E740481C1C}">
                <a14:useLocalDpi xmlns:a14="http://schemas.microsoft.com/office/drawing/2010/main" val="0"/>
              </a:ext>
            </a:extLst>
          </a:blip>
          <a:srcRect b="94868"/>
          <a:stretch>
            <a:fillRect/>
          </a:stretch>
        </p:blipFill>
        <p:spPr>
          <a:xfrm flipV="1">
            <a:off x="3494" y="0"/>
            <a:ext cx="9140506" cy="2019992"/>
          </a:xfrm>
          <a:prstGeom prst="rect">
            <a:avLst/>
          </a:prstGeom>
        </p:spPr>
      </p:pic>
      <p:sp>
        <p:nvSpPr>
          <p:cNvPr id="9" name="矩形 8"/>
          <p:cNvSpPr/>
          <p:nvPr userDrawn="1"/>
        </p:nvSpPr>
        <p:spPr>
          <a:xfrm>
            <a:off x="0" y="0"/>
            <a:ext cx="9144000" cy="5715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矩形 10"/>
          <p:cNvSpPr/>
          <p:nvPr userDrawn="1"/>
        </p:nvSpPr>
        <p:spPr>
          <a:xfrm>
            <a:off x="7970867" y="0"/>
            <a:ext cx="1172095" cy="715792"/>
          </a:xfrm>
          <a:prstGeom prst="rect">
            <a:avLst/>
          </a:prstGeom>
          <a:blipFill dpi="0" rotWithShape="1">
            <a:blip r:embed="rId22">
              <a:alphaModFix amt="3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itle Placeholder 1"/>
          <p:cNvSpPr>
            <a:spLocks noGrp="1"/>
          </p:cNvSpPr>
          <p:nvPr>
            <p:ph type="title"/>
          </p:nvPr>
        </p:nvSpPr>
        <p:spPr>
          <a:xfrm>
            <a:off x="628650" y="304271"/>
            <a:ext cx="7886700" cy="1104636"/>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521354"/>
            <a:ext cx="7886700" cy="3626115"/>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5296959"/>
            <a:ext cx="2057400" cy="304271"/>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fld>
            <a:endParaRPr lang="zh-CN" altLang="en-US"/>
          </a:p>
        </p:txBody>
      </p:sp>
      <p:sp>
        <p:nvSpPr>
          <p:cNvPr id="5" name="Footer Placeholder 4"/>
          <p:cNvSpPr>
            <a:spLocks noGrp="1"/>
          </p:cNvSpPr>
          <p:nvPr>
            <p:ph type="ftr" sz="quarter" idx="3"/>
          </p:nvPr>
        </p:nvSpPr>
        <p:spPr>
          <a:xfrm>
            <a:off x="3028950" y="5296959"/>
            <a:ext cx="3086100" cy="304271"/>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5296959"/>
            <a:ext cx="2057400" cy="304271"/>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jpeg"/><Relationship Id="rId3" Type="http://schemas.openxmlformats.org/officeDocument/2006/relationships/image" Target="../media/image6.jpeg"/><Relationship Id="rId2" Type="http://schemas.microsoft.com/office/2007/relationships/hdphoto" Target="../media/image5.wdp"/><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1.wmf"/></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3.wmf"/><Relationship Id="rId1" Type="http://schemas.openxmlformats.org/officeDocument/2006/relationships/image" Target="../media/image12.bmp"/></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4.bmp"/><Relationship Id="rId1" Type="http://schemas.openxmlformats.org/officeDocument/2006/relationships/image" Target="../media/image12.bmp"/></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5.wmf"/></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vmlDrawing" Target="../drawings/vmlDrawing1.vml"/><Relationship Id="rId5" Type="http://schemas.openxmlformats.org/officeDocument/2006/relationships/slideLayout" Target="../slideLayouts/slideLayout1.xml"/><Relationship Id="rId4" Type="http://schemas.openxmlformats.org/officeDocument/2006/relationships/image" Target="../media/image16.wmf"/><Relationship Id="rId3" Type="http://schemas.openxmlformats.org/officeDocument/2006/relationships/oleObject" Target="../embeddings/oleObject1.bin"/><Relationship Id="rId2" Type="http://schemas.openxmlformats.org/officeDocument/2006/relationships/image" Target="../media/image13.wmf"/><Relationship Id="rId1" Type="http://schemas.openxmlformats.org/officeDocument/2006/relationships/image" Target="../media/image12.bmp"/></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vmlDrawing" Target="../drawings/vmlDrawing2.vml"/><Relationship Id="rId4" Type="http://schemas.openxmlformats.org/officeDocument/2006/relationships/slideLayout" Target="../slideLayouts/slideLayout1.xml"/><Relationship Id="rId3" Type="http://schemas.openxmlformats.org/officeDocument/2006/relationships/image" Target="../media/image18.wmf"/><Relationship Id="rId2" Type="http://schemas.openxmlformats.org/officeDocument/2006/relationships/oleObject" Target="../embeddings/oleObject2.bin"/><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xml"/><Relationship Id="rId3" Type="http://schemas.openxmlformats.org/officeDocument/2006/relationships/image" Target="../media/image21.png"/><Relationship Id="rId2" Type="http://schemas.openxmlformats.org/officeDocument/2006/relationships/image" Target="../media/image20.bmp"/><Relationship Id="rId1" Type="http://schemas.openxmlformats.org/officeDocument/2006/relationships/image" Target="../media/image12.bmp"/></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23.png"/><Relationship Id="rId2" Type="http://schemas.openxmlformats.org/officeDocument/2006/relationships/image" Target="../media/image22.wmf"/><Relationship Id="rId1" Type="http://schemas.openxmlformats.org/officeDocument/2006/relationships/image" Target="../media/image12.bmp"/></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xml"/><Relationship Id="rId2" Type="http://schemas.openxmlformats.org/officeDocument/2006/relationships/image" Target="../media/image25.wmf"/><Relationship Id="rId1" Type="http://schemas.openxmlformats.org/officeDocument/2006/relationships/image" Target="../media/image24.wmf"/></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vmlDrawing" Target="../drawings/vmlDrawing3.vml"/><Relationship Id="rId5" Type="http://schemas.openxmlformats.org/officeDocument/2006/relationships/slideLayout" Target="../slideLayouts/slideLayout1.xml"/><Relationship Id="rId4" Type="http://schemas.openxmlformats.org/officeDocument/2006/relationships/image" Target="../media/image16.wmf"/><Relationship Id="rId3" Type="http://schemas.openxmlformats.org/officeDocument/2006/relationships/oleObject" Target="../embeddings/oleObject3.bin"/><Relationship Id="rId2" Type="http://schemas.openxmlformats.org/officeDocument/2006/relationships/image" Target="../media/image13.wmf"/><Relationship Id="rId1" Type="http://schemas.openxmlformats.org/officeDocument/2006/relationships/image" Target="../media/image12.bmp"/></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2.bmp"/></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28.png"/><Relationship Id="rId2" Type="http://schemas.openxmlformats.org/officeDocument/2006/relationships/image" Target="../media/image27.wmf"/><Relationship Id="rId1" Type="http://schemas.openxmlformats.org/officeDocument/2006/relationships/image" Target="../media/image26.wmf"/></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1.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33.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35.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37.png"/><Relationship Id="rId1" Type="http://schemas.openxmlformats.org/officeDocument/2006/relationships/image" Target="../media/image36.wmf"/></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39.png"/><Relationship Id="rId1" Type="http://schemas.openxmlformats.org/officeDocument/2006/relationships/image" Target="../media/image38.w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1.wmf"/></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40.wmf"/></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vmlDrawing" Target="../drawings/vmlDrawing4.vml"/><Relationship Id="rId5" Type="http://schemas.openxmlformats.org/officeDocument/2006/relationships/slideLayout" Target="../slideLayouts/slideLayout1.xml"/><Relationship Id="rId4" Type="http://schemas.openxmlformats.org/officeDocument/2006/relationships/image" Target="../media/image42.png"/><Relationship Id="rId3" Type="http://schemas.openxmlformats.org/officeDocument/2006/relationships/image" Target="../media/image41.wmf"/><Relationship Id="rId2" Type="http://schemas.openxmlformats.org/officeDocument/2006/relationships/oleObject" Target="../embeddings/oleObject4.bin"/><Relationship Id="rId1" Type="http://schemas.openxmlformats.org/officeDocument/2006/relationships/image" Target="../media/image40.wmf"/></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xml"/><Relationship Id="rId3" Type="http://schemas.openxmlformats.org/officeDocument/2006/relationships/image" Target="../media/image44.wmf"/><Relationship Id="rId2" Type="http://schemas.openxmlformats.org/officeDocument/2006/relationships/image" Target="../media/image43.bmp"/><Relationship Id="rId1" Type="http://schemas.openxmlformats.org/officeDocument/2006/relationships/image" Target="../media/image12.bmp"/></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46.png"/><Relationship Id="rId1"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47.wmf"/></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2.xml"/><Relationship Id="rId6" Type="http://schemas.openxmlformats.org/officeDocument/2006/relationships/vmlDrawing" Target="../drawings/vmlDrawing5.vml"/><Relationship Id="rId5" Type="http://schemas.openxmlformats.org/officeDocument/2006/relationships/slideLayout" Target="../slideLayouts/slideLayout1.xml"/><Relationship Id="rId4" Type="http://schemas.openxmlformats.org/officeDocument/2006/relationships/image" Target="../media/image49.wmf"/><Relationship Id="rId3" Type="http://schemas.openxmlformats.org/officeDocument/2006/relationships/oleObject" Target="../embeddings/oleObject6.bin"/><Relationship Id="rId2" Type="http://schemas.openxmlformats.org/officeDocument/2006/relationships/image" Target="../media/image48.wmf"/><Relationship Id="rId1" Type="http://schemas.openxmlformats.org/officeDocument/2006/relationships/oleObject" Target="../embeddings/oleObject5.bin"/></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vmlDrawing" Target="../drawings/vmlDrawing6.vml"/><Relationship Id="rId6" Type="http://schemas.openxmlformats.org/officeDocument/2006/relationships/slideLayout" Target="../slideLayouts/slideLayout1.xml"/><Relationship Id="rId5" Type="http://schemas.openxmlformats.org/officeDocument/2006/relationships/image" Target="../media/image52.wmf"/><Relationship Id="rId4" Type="http://schemas.openxmlformats.org/officeDocument/2006/relationships/oleObject" Target="../embeddings/oleObject8.bin"/><Relationship Id="rId3" Type="http://schemas.openxmlformats.org/officeDocument/2006/relationships/image" Target="../media/image51.wmf"/><Relationship Id="rId2" Type="http://schemas.openxmlformats.org/officeDocument/2006/relationships/oleObject" Target="../embeddings/oleObject7.bin"/><Relationship Id="rId1" Type="http://schemas.openxmlformats.org/officeDocument/2006/relationships/image" Target="../media/image50.wmf"/></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34.xml"/><Relationship Id="rId6" Type="http://schemas.openxmlformats.org/officeDocument/2006/relationships/vmlDrawing" Target="../drawings/vmlDrawing7.vml"/><Relationship Id="rId5" Type="http://schemas.openxmlformats.org/officeDocument/2006/relationships/slideLayout" Target="../slideLayouts/slideLayout1.xml"/><Relationship Id="rId4" Type="http://schemas.openxmlformats.org/officeDocument/2006/relationships/image" Target="../media/image53.wmf"/><Relationship Id="rId3" Type="http://schemas.openxmlformats.org/officeDocument/2006/relationships/oleObject" Target="../embeddings/oleObject10.bin"/><Relationship Id="rId2" Type="http://schemas.openxmlformats.org/officeDocument/2006/relationships/image" Target="../media/image52.wmf"/><Relationship Id="rId1" Type="http://schemas.openxmlformats.org/officeDocument/2006/relationships/oleObject" Target="../embeddings/oleObject9.bin"/></Relationships>
</file>

<file path=ppt/slides/_rels/slide36.xml.rels><?xml version="1.0" encoding="UTF-8" standalone="yes"?>
<Relationships xmlns="http://schemas.openxmlformats.org/package/2006/relationships"><Relationship Id="rId9" Type="http://schemas.openxmlformats.org/officeDocument/2006/relationships/notesSlide" Target="../notesSlides/notesSlide35.xml"/><Relationship Id="rId8" Type="http://schemas.openxmlformats.org/officeDocument/2006/relationships/vmlDrawing" Target="../drawings/vmlDrawing8.vml"/><Relationship Id="rId7" Type="http://schemas.openxmlformats.org/officeDocument/2006/relationships/slideLayout" Target="../slideLayouts/slideLayout1.xml"/><Relationship Id="rId6" Type="http://schemas.openxmlformats.org/officeDocument/2006/relationships/image" Target="../media/image56.wmf"/><Relationship Id="rId5" Type="http://schemas.openxmlformats.org/officeDocument/2006/relationships/oleObject" Target="../embeddings/oleObject13.bin"/><Relationship Id="rId4" Type="http://schemas.openxmlformats.org/officeDocument/2006/relationships/image" Target="../media/image55.wmf"/><Relationship Id="rId3" Type="http://schemas.openxmlformats.org/officeDocument/2006/relationships/oleObject" Target="../embeddings/oleObject12.bin"/><Relationship Id="rId2" Type="http://schemas.openxmlformats.org/officeDocument/2006/relationships/image" Target="../media/image54.wmf"/><Relationship Id="rId1" Type="http://schemas.openxmlformats.org/officeDocument/2006/relationships/oleObject" Target="../embeddings/oleObject11.bin"/></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vmlDrawing" Target="../drawings/vmlDrawing9.vml"/><Relationship Id="rId4" Type="http://schemas.openxmlformats.org/officeDocument/2006/relationships/slideLayout" Target="../slideLayouts/slideLayout1.xml"/><Relationship Id="rId3" Type="http://schemas.openxmlformats.org/officeDocument/2006/relationships/image" Target="../media/image57.wmf"/><Relationship Id="rId2" Type="http://schemas.openxmlformats.org/officeDocument/2006/relationships/oleObject" Target="../embeddings/oleObject14.bin"/><Relationship Id="rId1" Type="http://schemas.openxmlformats.org/officeDocument/2006/relationships/image" Target="../media/image44.wmf"/></Relationships>
</file>

<file path=ppt/slides/_rels/slide3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61.wmf"/><Relationship Id="rId7" Type="http://schemas.openxmlformats.org/officeDocument/2006/relationships/oleObject" Target="../embeddings/oleObject18.bin"/><Relationship Id="rId6" Type="http://schemas.openxmlformats.org/officeDocument/2006/relationships/image" Target="../media/image60.wmf"/><Relationship Id="rId5" Type="http://schemas.openxmlformats.org/officeDocument/2006/relationships/oleObject" Target="../embeddings/oleObject17.bin"/><Relationship Id="rId4" Type="http://schemas.openxmlformats.org/officeDocument/2006/relationships/image" Target="../media/image59.wmf"/><Relationship Id="rId3" Type="http://schemas.openxmlformats.org/officeDocument/2006/relationships/oleObject" Target="../embeddings/oleObject16.bin"/><Relationship Id="rId2" Type="http://schemas.openxmlformats.org/officeDocument/2006/relationships/image" Target="../media/image58.wmf"/><Relationship Id="rId11" Type="http://schemas.openxmlformats.org/officeDocument/2006/relationships/notesSlide" Target="../notesSlides/notesSlide37.xml"/><Relationship Id="rId10" Type="http://schemas.openxmlformats.org/officeDocument/2006/relationships/vmlDrawing" Target="../drawings/vmlDrawing10.vml"/><Relationship Id="rId1" Type="http://schemas.openxmlformats.org/officeDocument/2006/relationships/oleObject" Target="../embeddings/oleObject15.bin"/></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vmlDrawing" Target="../drawings/vmlDrawing11.vml"/><Relationship Id="rId4" Type="http://schemas.openxmlformats.org/officeDocument/2006/relationships/slideLayout" Target="../slideLayouts/slideLayout1.xml"/><Relationship Id="rId3" Type="http://schemas.openxmlformats.org/officeDocument/2006/relationships/image" Target="../media/image61.wmf"/><Relationship Id="rId2" Type="http://schemas.openxmlformats.org/officeDocument/2006/relationships/oleObject" Target="../embeddings/oleObject19.bin"/><Relationship Id="rId1" Type="http://schemas.openxmlformats.org/officeDocument/2006/relationships/image" Target="../media/image62.png"/></Relationships>
</file>

<file path=ppt/slides/_rels/slide40.xml.rels><?xml version="1.0" encoding="UTF-8" standalone="yes"?>
<Relationships xmlns="http://schemas.openxmlformats.org/package/2006/relationships"><Relationship Id="rId7" Type="http://schemas.openxmlformats.org/officeDocument/2006/relationships/notesSlide" Target="../notesSlides/notesSlide39.xml"/><Relationship Id="rId6" Type="http://schemas.openxmlformats.org/officeDocument/2006/relationships/vmlDrawing" Target="../drawings/vmlDrawing12.vml"/><Relationship Id="rId5" Type="http://schemas.openxmlformats.org/officeDocument/2006/relationships/slideLayout" Target="../slideLayouts/slideLayout1.xml"/><Relationship Id="rId4" Type="http://schemas.openxmlformats.org/officeDocument/2006/relationships/image" Target="../media/image56.wmf"/><Relationship Id="rId3" Type="http://schemas.openxmlformats.org/officeDocument/2006/relationships/oleObject" Target="../embeddings/oleObject20.bin"/><Relationship Id="rId2" Type="http://schemas.openxmlformats.org/officeDocument/2006/relationships/image" Target="../media/image64.png"/><Relationship Id="rId1" Type="http://schemas.openxmlformats.org/officeDocument/2006/relationships/image" Target="../media/image63.wmf"/></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65.w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xml"/><Relationship Id="rId2" Type="http://schemas.openxmlformats.org/officeDocument/2006/relationships/image" Target="../media/image66.wmf"/><Relationship Id="rId1" Type="http://schemas.openxmlformats.org/officeDocument/2006/relationships/image" Target="../media/image12.bmp"/></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67.wmf"/></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xml"/><Relationship Id="rId1" Type="http://schemas.openxmlformats.org/officeDocument/2006/relationships/image" Target="../media/image68.wmf"/></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5.xml"/><Relationship Id="rId5" Type="http://schemas.openxmlformats.org/officeDocument/2006/relationships/vmlDrawing" Target="../drawings/vmlDrawing13.vml"/><Relationship Id="rId4" Type="http://schemas.openxmlformats.org/officeDocument/2006/relationships/slideLayout" Target="../slideLayouts/slideLayout1.xml"/><Relationship Id="rId3" Type="http://schemas.openxmlformats.org/officeDocument/2006/relationships/image" Target="../media/image70.wmf"/><Relationship Id="rId2" Type="http://schemas.openxmlformats.org/officeDocument/2006/relationships/oleObject" Target="../embeddings/oleObject21.bin"/><Relationship Id="rId1" Type="http://schemas.openxmlformats.org/officeDocument/2006/relationships/image" Target="../media/image69.wmf"/></Relationships>
</file>

<file path=ppt/slides/_rels/slide47.xml.rels><?xml version="1.0" encoding="UTF-8" standalone="yes"?>
<Relationships xmlns="http://schemas.openxmlformats.org/package/2006/relationships"><Relationship Id="rId7" Type="http://schemas.openxmlformats.org/officeDocument/2006/relationships/notesSlide" Target="../notesSlides/notesSlide46.xml"/><Relationship Id="rId6" Type="http://schemas.openxmlformats.org/officeDocument/2006/relationships/vmlDrawing" Target="../drawings/vmlDrawing14.vml"/><Relationship Id="rId5" Type="http://schemas.openxmlformats.org/officeDocument/2006/relationships/slideLayout" Target="../slideLayouts/slideLayout1.xml"/><Relationship Id="rId4" Type="http://schemas.openxmlformats.org/officeDocument/2006/relationships/image" Target="../media/image72.wmf"/><Relationship Id="rId3" Type="http://schemas.openxmlformats.org/officeDocument/2006/relationships/oleObject" Target="../embeddings/oleObject23.bin"/><Relationship Id="rId2" Type="http://schemas.openxmlformats.org/officeDocument/2006/relationships/image" Target="../media/image71.wmf"/><Relationship Id="rId1" Type="http://schemas.openxmlformats.org/officeDocument/2006/relationships/oleObject" Target="../embeddings/oleObject22.bin"/></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73.wmf"/></Relationships>
</file>

<file path=ppt/slides/_rels/slide49.xml.rels><?xml version="1.0" encoding="UTF-8" standalone="yes"?>
<Relationships xmlns="http://schemas.openxmlformats.org/package/2006/relationships"><Relationship Id="rId8" Type="http://schemas.openxmlformats.org/officeDocument/2006/relationships/notesSlide" Target="../notesSlides/notesSlide48.xml"/><Relationship Id="rId7" Type="http://schemas.openxmlformats.org/officeDocument/2006/relationships/vmlDrawing" Target="../drawings/vmlDrawing15.vml"/><Relationship Id="rId6" Type="http://schemas.openxmlformats.org/officeDocument/2006/relationships/slideLayout" Target="../slideLayouts/slideLayout1.xml"/><Relationship Id="rId5" Type="http://schemas.openxmlformats.org/officeDocument/2006/relationships/image" Target="../media/image75.wmf"/><Relationship Id="rId4" Type="http://schemas.openxmlformats.org/officeDocument/2006/relationships/oleObject" Target="../embeddings/oleObject25.bin"/><Relationship Id="rId3" Type="http://schemas.openxmlformats.org/officeDocument/2006/relationships/image" Target="../media/image74.png"/><Relationship Id="rId2" Type="http://schemas.openxmlformats.org/officeDocument/2006/relationships/oleObject" Target="../embeddings/oleObject24.bin"/><Relationship Id="rId1" Type="http://schemas.openxmlformats.org/officeDocument/2006/relationships/image" Target="../media/image11.wmf"/></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49.xml"/><Relationship Id="rId4" Type="http://schemas.openxmlformats.org/officeDocument/2006/relationships/vmlDrawing" Target="../drawings/vmlDrawing16.vml"/><Relationship Id="rId3" Type="http://schemas.openxmlformats.org/officeDocument/2006/relationships/slideLayout" Target="../slideLayouts/slideLayout1.xml"/><Relationship Id="rId2" Type="http://schemas.openxmlformats.org/officeDocument/2006/relationships/image" Target="../media/image76.png"/><Relationship Id="rId1" Type="http://schemas.openxmlformats.org/officeDocument/2006/relationships/oleObject" Target="../embeddings/oleObject26.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77.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image" Target="../media/image78.wmf"/></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79.wmf"/></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80.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image" Target="../media/image81.wmf"/></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image" Target="../media/image82.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3.png"/><Relationship Id="rId1" Type="http://schemas.openxmlformats.org/officeDocument/2006/relationships/image" Target="../media/image50.wmf"/></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88.png"/><Relationship Id="rId7" Type="http://schemas.openxmlformats.org/officeDocument/2006/relationships/image" Target="../media/image87.png"/><Relationship Id="rId6" Type="http://schemas.openxmlformats.org/officeDocument/2006/relationships/image" Target="../media/image86.png"/><Relationship Id="rId5" Type="http://schemas.openxmlformats.org/officeDocument/2006/relationships/image" Target="../media/image85.jpeg"/><Relationship Id="rId4" Type="http://schemas.openxmlformats.org/officeDocument/2006/relationships/image" Target="../media/image6.jpeg"/><Relationship Id="rId3" Type="http://schemas.openxmlformats.org/officeDocument/2006/relationships/image" Target="../media/image84.jpeg"/><Relationship Id="rId2" Type="http://schemas.microsoft.com/office/2007/relationships/hdphoto" Target="../media/image5.wdp"/><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1">
            <a:extLst>
              <a:ext uri="{BEBA8EAE-BF5A-486C-A8C5-ECC9F3942E4B}">
                <a14:imgProps xmlns:a14="http://schemas.microsoft.com/office/drawing/2010/main">
                  <a14:imgLayer r:embed="rId2">
                    <a14:imgEffect>
                      <a14:colorTemperature colorTemp="4700"/>
                    </a14:imgEffect>
                  </a14:imgLayer>
                </a14:imgProps>
              </a:ext>
              <a:ext uri="{28A0092B-C50C-407E-A947-70E740481C1C}">
                <a14:useLocalDpi xmlns:a14="http://schemas.microsoft.com/office/drawing/2010/main" val="0"/>
              </a:ext>
            </a:extLst>
          </a:blip>
          <a:srcRect b="37017"/>
          <a:stretch>
            <a:fillRect/>
          </a:stretch>
        </p:blipFill>
        <p:spPr>
          <a:xfrm>
            <a:off x="0" y="2312671"/>
            <a:ext cx="9144000" cy="3402329"/>
          </a:xfrm>
          <a:prstGeom prst="rect">
            <a:avLst/>
          </a:prstGeom>
        </p:spPr>
      </p:pic>
      <p:sp>
        <p:nvSpPr>
          <p:cNvPr id="9" name="矩形 8"/>
          <p:cNvSpPr/>
          <p:nvPr/>
        </p:nvSpPr>
        <p:spPr>
          <a:xfrm>
            <a:off x="0" y="7620"/>
            <a:ext cx="9144000" cy="57150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 name="组合 1"/>
          <p:cNvGrpSpPr/>
          <p:nvPr/>
        </p:nvGrpSpPr>
        <p:grpSpPr>
          <a:xfrm>
            <a:off x="0" y="-1"/>
            <a:ext cx="9144000" cy="3357117"/>
            <a:chOff x="0" y="0"/>
            <a:chExt cx="9144000" cy="2850221"/>
          </a:xfrm>
        </p:grpSpPr>
        <p:sp>
          <p:nvSpPr>
            <p:cNvPr id="5" name="任意多边形: 形状 4"/>
            <p:cNvSpPr/>
            <p:nvPr/>
          </p:nvSpPr>
          <p:spPr>
            <a:xfrm>
              <a:off x="0" y="0"/>
              <a:ext cx="9144000" cy="2741361"/>
            </a:xfrm>
            <a:custGeom>
              <a:avLst/>
              <a:gdLst>
                <a:gd name="connsiteX0" fmla="*/ 0 w 12192000"/>
                <a:gd name="connsiteY0" fmla="*/ 0 h 3655148"/>
                <a:gd name="connsiteX1" fmla="*/ 12192000 w 12192000"/>
                <a:gd name="connsiteY1" fmla="*/ 0 h 3655148"/>
                <a:gd name="connsiteX2" fmla="*/ 12192000 w 12192000"/>
                <a:gd name="connsiteY2" fmla="*/ 2891235 h 3655148"/>
                <a:gd name="connsiteX3" fmla="*/ 11975372 w 12192000"/>
                <a:gd name="connsiteY3" fmla="*/ 2951584 h 3655148"/>
                <a:gd name="connsiteX4" fmla="*/ 6096000 w 12192000"/>
                <a:gd name="connsiteY4" fmla="*/ 3655148 h 3655148"/>
                <a:gd name="connsiteX5" fmla="*/ 216628 w 12192000"/>
                <a:gd name="connsiteY5" fmla="*/ 2951584 h 3655148"/>
                <a:gd name="connsiteX6" fmla="*/ 0 w 12192000"/>
                <a:gd name="connsiteY6" fmla="*/ 2891235 h 365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655148">
                  <a:moveTo>
                    <a:pt x="0" y="0"/>
                  </a:moveTo>
                  <a:lnTo>
                    <a:pt x="12192000" y="0"/>
                  </a:lnTo>
                  <a:lnTo>
                    <a:pt x="12192000" y="2891235"/>
                  </a:lnTo>
                  <a:lnTo>
                    <a:pt x="11975372" y="2951584"/>
                  </a:lnTo>
                  <a:cubicBezTo>
                    <a:pt x="10297072" y="3395778"/>
                    <a:pt x="8273853" y="3655148"/>
                    <a:pt x="6096000" y="3655148"/>
                  </a:cubicBezTo>
                  <a:cubicBezTo>
                    <a:pt x="3918148" y="3655148"/>
                    <a:pt x="1894929" y="3395778"/>
                    <a:pt x="216628" y="2951584"/>
                  </a:cubicBezTo>
                  <a:lnTo>
                    <a:pt x="0" y="2891235"/>
                  </a:lnTo>
                  <a:close/>
                </a:path>
              </a:pathLst>
            </a:custGeom>
            <a:blipFill dpi="0" rotWithShape="1">
              <a:blip r:embed="rId3"/>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任意多边形: 形状 5"/>
            <p:cNvSpPr/>
            <p:nvPr/>
          </p:nvSpPr>
          <p:spPr>
            <a:xfrm>
              <a:off x="0" y="2165425"/>
              <a:ext cx="9144000" cy="684796"/>
            </a:xfrm>
            <a:custGeom>
              <a:avLst/>
              <a:gdLst>
                <a:gd name="connsiteX0" fmla="*/ 0 w 12192000"/>
                <a:gd name="connsiteY0" fmla="*/ 0 h 913061"/>
                <a:gd name="connsiteX1" fmla="*/ 374975 w 12192000"/>
                <a:gd name="connsiteY1" fmla="*/ 105454 h 913061"/>
                <a:gd name="connsiteX2" fmla="*/ 6096002 w 12192000"/>
                <a:gd name="connsiteY2" fmla="*/ 767918 h 913061"/>
                <a:gd name="connsiteX3" fmla="*/ 11817028 w 12192000"/>
                <a:gd name="connsiteY3" fmla="*/ 105454 h 913061"/>
                <a:gd name="connsiteX4" fmla="*/ 12192000 w 12192000"/>
                <a:gd name="connsiteY4" fmla="*/ 1 h 913061"/>
                <a:gd name="connsiteX5" fmla="*/ 12192000 w 12192000"/>
                <a:gd name="connsiteY5" fmla="*/ 149148 h 913061"/>
                <a:gd name="connsiteX6" fmla="*/ 11975374 w 12192000"/>
                <a:gd name="connsiteY6" fmla="*/ 209497 h 913061"/>
                <a:gd name="connsiteX7" fmla="*/ 6096002 w 12192000"/>
                <a:gd name="connsiteY7" fmla="*/ 913061 h 913061"/>
                <a:gd name="connsiteX8" fmla="*/ 216629 w 12192000"/>
                <a:gd name="connsiteY8" fmla="*/ 209497 h 913061"/>
                <a:gd name="connsiteX9" fmla="*/ 0 w 12192000"/>
                <a:gd name="connsiteY9" fmla="*/ 149147 h 91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913061">
                  <a:moveTo>
                    <a:pt x="0" y="0"/>
                  </a:moveTo>
                  <a:lnTo>
                    <a:pt x="374975" y="105454"/>
                  </a:lnTo>
                  <a:cubicBezTo>
                    <a:pt x="2021532" y="524505"/>
                    <a:pt x="3986207" y="767918"/>
                    <a:pt x="6096002" y="767918"/>
                  </a:cubicBezTo>
                  <a:cubicBezTo>
                    <a:pt x="8205796" y="767918"/>
                    <a:pt x="10170470" y="524505"/>
                    <a:pt x="11817028" y="105454"/>
                  </a:cubicBezTo>
                  <a:lnTo>
                    <a:pt x="12192000" y="1"/>
                  </a:lnTo>
                  <a:lnTo>
                    <a:pt x="12192000" y="149148"/>
                  </a:lnTo>
                  <a:lnTo>
                    <a:pt x="11975374" y="209497"/>
                  </a:lnTo>
                  <a:cubicBezTo>
                    <a:pt x="10297073" y="653691"/>
                    <a:pt x="8273854" y="913061"/>
                    <a:pt x="6096002" y="913061"/>
                  </a:cubicBezTo>
                  <a:cubicBezTo>
                    <a:pt x="3918149" y="913061"/>
                    <a:pt x="1894930" y="653691"/>
                    <a:pt x="216629" y="209497"/>
                  </a:cubicBezTo>
                  <a:lnTo>
                    <a:pt x="0" y="149147"/>
                  </a:lnTo>
                  <a:close/>
                </a:path>
              </a:pathLst>
            </a:custGeom>
            <a:solidFill>
              <a:schemeClr val="accent4">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形状 7"/>
            <p:cNvSpPr/>
            <p:nvPr/>
          </p:nvSpPr>
          <p:spPr>
            <a:xfrm>
              <a:off x="0" y="0"/>
              <a:ext cx="9144000" cy="2741361"/>
            </a:xfrm>
            <a:custGeom>
              <a:avLst/>
              <a:gdLst>
                <a:gd name="connsiteX0" fmla="*/ 0 w 12192000"/>
                <a:gd name="connsiteY0" fmla="*/ 0 h 3655148"/>
                <a:gd name="connsiteX1" fmla="*/ 12192000 w 12192000"/>
                <a:gd name="connsiteY1" fmla="*/ 0 h 3655148"/>
                <a:gd name="connsiteX2" fmla="*/ 12192000 w 12192000"/>
                <a:gd name="connsiteY2" fmla="*/ 2891235 h 3655148"/>
                <a:gd name="connsiteX3" fmla="*/ 11975372 w 12192000"/>
                <a:gd name="connsiteY3" fmla="*/ 2951584 h 3655148"/>
                <a:gd name="connsiteX4" fmla="*/ 6096000 w 12192000"/>
                <a:gd name="connsiteY4" fmla="*/ 3655148 h 3655148"/>
                <a:gd name="connsiteX5" fmla="*/ 216628 w 12192000"/>
                <a:gd name="connsiteY5" fmla="*/ 2951584 h 3655148"/>
                <a:gd name="connsiteX6" fmla="*/ 0 w 12192000"/>
                <a:gd name="connsiteY6" fmla="*/ 2891235 h 365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655148">
                  <a:moveTo>
                    <a:pt x="0" y="0"/>
                  </a:moveTo>
                  <a:lnTo>
                    <a:pt x="12192000" y="0"/>
                  </a:lnTo>
                  <a:lnTo>
                    <a:pt x="12192000" y="2891235"/>
                  </a:lnTo>
                  <a:lnTo>
                    <a:pt x="11975372" y="2951584"/>
                  </a:lnTo>
                  <a:cubicBezTo>
                    <a:pt x="10297072" y="3395778"/>
                    <a:pt x="8273853" y="3655148"/>
                    <a:pt x="6096000" y="3655148"/>
                  </a:cubicBezTo>
                  <a:cubicBezTo>
                    <a:pt x="3918148" y="3655148"/>
                    <a:pt x="1894929" y="3395778"/>
                    <a:pt x="216628" y="2951584"/>
                  </a:cubicBezTo>
                  <a:lnTo>
                    <a:pt x="0" y="2891235"/>
                  </a:lnTo>
                  <a:close/>
                </a:path>
              </a:pathLst>
            </a:custGeom>
            <a:solidFill>
              <a:srgbClr val="122E8B">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2" name="文本框 11"/>
          <p:cNvSpPr txBox="1"/>
          <p:nvPr/>
        </p:nvSpPr>
        <p:spPr>
          <a:xfrm>
            <a:off x="382905" y="3588814"/>
            <a:ext cx="8580120" cy="1260475"/>
          </a:xfrm>
          <a:prstGeom prst="rect">
            <a:avLst/>
          </a:prstGeom>
          <a:noFill/>
        </p:spPr>
        <p:txBody>
          <a:bodyPr wrap="square" rtlCol="0">
            <a:spAutoFit/>
          </a:bodyPr>
          <a:lstStyle/>
          <a:p>
            <a:pPr algn="ctr">
              <a:defRPr/>
            </a:pPr>
            <a:r>
              <a:rPr lang="zh-CN" sz="2800" b="1" spc="300" dirty="0">
                <a:solidFill>
                  <a:srgbClr val="122E8B"/>
                </a:solidFill>
                <a:latin typeface="微软雅黑" panose="020B0503020204020204" pitchFamily="34" charset="-122"/>
                <a:ea typeface="微软雅黑" panose="020B0503020204020204" pitchFamily="34" charset="-122"/>
              </a:rPr>
              <a:t>数字集成电路设计</a:t>
            </a:r>
            <a:r>
              <a:rPr lang="en-US" altLang="zh-CN" sz="2800" b="1" spc="300" dirty="0">
                <a:solidFill>
                  <a:srgbClr val="122E8B"/>
                </a:solidFill>
                <a:latin typeface="微软雅黑" panose="020B0503020204020204" pitchFamily="34" charset="-122"/>
                <a:ea typeface="微软雅黑" panose="020B0503020204020204" pitchFamily="34" charset="-122"/>
              </a:rPr>
              <a:t>--</a:t>
            </a:r>
            <a:r>
              <a:rPr lang="zh-CN" altLang="en-US" sz="2800" b="1" spc="300" dirty="0">
                <a:solidFill>
                  <a:srgbClr val="122E8B"/>
                </a:solidFill>
                <a:latin typeface="微软雅黑" panose="020B0503020204020204" pitchFamily="34" charset="-122"/>
                <a:ea typeface="微软雅黑" panose="020B0503020204020204" pitchFamily="34" charset="-122"/>
              </a:rPr>
              <a:t>第五章</a:t>
            </a:r>
            <a:endParaRPr lang="zh-CN" altLang="en-US" sz="3200" b="1" spc="300" dirty="0">
              <a:solidFill>
                <a:srgbClr val="122E8B"/>
              </a:solidFill>
              <a:latin typeface="微软雅黑" panose="020B0503020204020204" pitchFamily="34" charset="-122"/>
              <a:ea typeface="微软雅黑" panose="020B0503020204020204" pitchFamily="34" charset="-122"/>
            </a:endParaRPr>
          </a:p>
          <a:p>
            <a:pPr algn="ctr">
              <a:defRPr/>
            </a:pPr>
            <a:r>
              <a:rPr lang="en-US" altLang="zh-CN" sz="4800" b="1" spc="300" dirty="0">
                <a:solidFill>
                  <a:srgbClr val="122E8B"/>
                </a:solidFill>
                <a:latin typeface="微软雅黑" panose="020B0503020204020204" pitchFamily="34" charset="-122"/>
                <a:ea typeface="微软雅黑" panose="020B0503020204020204" pitchFamily="34" charset="-122"/>
              </a:rPr>
              <a:t>CMOS</a:t>
            </a:r>
            <a:r>
              <a:rPr lang="zh-CN" altLang="en-US" sz="4800" b="1" spc="300" dirty="0">
                <a:solidFill>
                  <a:srgbClr val="122E8B"/>
                </a:solidFill>
                <a:latin typeface="微软雅黑" panose="020B0503020204020204" pitchFamily="34" charset="-122"/>
                <a:ea typeface="微软雅黑" panose="020B0503020204020204" pitchFamily="34" charset="-122"/>
              </a:rPr>
              <a:t>反相器</a:t>
            </a:r>
            <a:endParaRPr lang="zh-CN" altLang="en-US" sz="4800" b="1" spc="300" dirty="0">
              <a:solidFill>
                <a:srgbClr val="122E8B"/>
              </a:solidFill>
              <a:latin typeface="微软雅黑" panose="020B0503020204020204" pitchFamily="34" charset="-122"/>
              <a:ea typeface="微软雅黑" panose="020B0503020204020204" pitchFamily="34" charset="-122"/>
            </a:endParaRPr>
          </a:p>
        </p:txBody>
      </p:sp>
      <p:sp>
        <p:nvSpPr>
          <p:cNvPr id="17" name="任意多边形: 形状 16"/>
          <p:cNvSpPr/>
          <p:nvPr/>
        </p:nvSpPr>
        <p:spPr>
          <a:xfrm>
            <a:off x="-5501" y="764"/>
            <a:ext cx="9144000" cy="3228897"/>
          </a:xfrm>
          <a:custGeom>
            <a:avLst/>
            <a:gdLst>
              <a:gd name="connsiteX0" fmla="*/ 0 w 12192000"/>
              <a:gd name="connsiteY0" fmla="*/ 0 h 3655148"/>
              <a:gd name="connsiteX1" fmla="*/ 12192000 w 12192000"/>
              <a:gd name="connsiteY1" fmla="*/ 0 h 3655148"/>
              <a:gd name="connsiteX2" fmla="*/ 12192000 w 12192000"/>
              <a:gd name="connsiteY2" fmla="*/ 2891235 h 3655148"/>
              <a:gd name="connsiteX3" fmla="*/ 11975372 w 12192000"/>
              <a:gd name="connsiteY3" fmla="*/ 2951584 h 3655148"/>
              <a:gd name="connsiteX4" fmla="*/ 6096000 w 12192000"/>
              <a:gd name="connsiteY4" fmla="*/ 3655148 h 3655148"/>
              <a:gd name="connsiteX5" fmla="*/ 216628 w 12192000"/>
              <a:gd name="connsiteY5" fmla="*/ 2951584 h 3655148"/>
              <a:gd name="connsiteX6" fmla="*/ 0 w 12192000"/>
              <a:gd name="connsiteY6" fmla="*/ 2891235 h 365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655148">
                <a:moveTo>
                  <a:pt x="0" y="0"/>
                </a:moveTo>
                <a:lnTo>
                  <a:pt x="12192000" y="0"/>
                </a:lnTo>
                <a:lnTo>
                  <a:pt x="12192000" y="2891235"/>
                </a:lnTo>
                <a:lnTo>
                  <a:pt x="11975372" y="2951584"/>
                </a:lnTo>
                <a:cubicBezTo>
                  <a:pt x="10297072" y="3395778"/>
                  <a:pt x="8273853" y="3655148"/>
                  <a:pt x="6096000" y="3655148"/>
                </a:cubicBezTo>
                <a:cubicBezTo>
                  <a:pt x="3918148" y="3655148"/>
                  <a:pt x="1894929" y="3395778"/>
                  <a:pt x="216628" y="2951584"/>
                </a:cubicBezTo>
                <a:lnTo>
                  <a:pt x="0" y="2891235"/>
                </a:lnTo>
                <a:close/>
              </a:path>
            </a:pathLst>
          </a:custGeom>
          <a:blipFill dpi="0" rotWithShape="1">
            <a:blip r:embed="rId4">
              <a:alphaModFix amt="10000"/>
            </a:blip>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等腰三角形 15"/>
          <p:cNvSpPr/>
          <p:nvPr/>
        </p:nvSpPr>
        <p:spPr>
          <a:xfrm flipV="1">
            <a:off x="4506650" y="2867670"/>
            <a:ext cx="130702" cy="112674"/>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18" name="图片 17" descr="PPT需要的素材-48"/>
          <p:cNvPicPr>
            <a:picLocks noChangeAspect="1"/>
          </p:cNvPicPr>
          <p:nvPr/>
        </p:nvPicPr>
        <p:blipFill rotWithShape="1">
          <a:blip r:embed="rId5"/>
          <a:srcRect l="35723" t="24071" r="35909" b="25539"/>
          <a:stretch>
            <a:fillRect/>
          </a:stretch>
        </p:blipFill>
        <p:spPr>
          <a:xfrm>
            <a:off x="3507971" y="544888"/>
            <a:ext cx="2128058" cy="21280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t>CMOS</a:t>
            </a:r>
            <a:r>
              <a:rPr lang="zh-CN" altLang="en-US"/>
              <a:t>反相器</a:t>
            </a:r>
            <a:endParaRPr lang="zh-CN" altLang="en-US"/>
          </a:p>
        </p:txBody>
      </p:sp>
      <p:pic>
        <p:nvPicPr>
          <p:cNvPr id="3" name="图片 2"/>
          <p:cNvPicPr>
            <a:picLocks noChangeAspect="1"/>
          </p:cNvPicPr>
          <p:nvPr/>
        </p:nvPicPr>
        <p:blipFill>
          <a:blip r:embed="rId1"/>
          <a:stretch>
            <a:fillRect/>
          </a:stretch>
        </p:blipFill>
        <p:spPr>
          <a:xfrm>
            <a:off x="1245235" y="1150620"/>
            <a:ext cx="3219450" cy="3999865"/>
          </a:xfrm>
          <a:prstGeom prst="rect">
            <a:avLst/>
          </a:prstGeom>
        </p:spPr>
      </p:pic>
      <p:sp>
        <p:nvSpPr>
          <p:cNvPr id="348163" name="文本占位符 348162"/>
          <p:cNvSpPr>
            <a:spLocks noGrp="1"/>
          </p:cNvSpPr>
          <p:nvPr>
            <p:ph type="body" idx="1"/>
          </p:nvPr>
        </p:nvSpPr>
        <p:spPr>
          <a:xfrm>
            <a:off x="5038725" y="1273175"/>
            <a:ext cx="3874135" cy="3941445"/>
          </a:xfrm>
        </p:spPr>
        <p:txBody>
          <a:bodyPr lIns="75406" tIns="37041" rIns="75406" bIns="37041"/>
          <a:lstStyle/>
          <a:p>
            <a:pPr>
              <a:lnSpc>
                <a:spcPct val="150000"/>
              </a:lnSpc>
            </a:pPr>
            <a:r>
              <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关注点：</a:t>
            </a:r>
            <a:endPar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成本</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（复杂度和</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面积）</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完整性与稳定性（</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静态特性）</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性能</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动态特性）</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能量效率</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（能耗和</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功耗）</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endParaRPr lang="zh-CN" altLang="en-US"/>
          </a:p>
        </p:txBody>
      </p:sp>
      <p:pic>
        <p:nvPicPr>
          <p:cNvPr id="3" name="图片 2"/>
          <p:cNvPicPr>
            <a:picLocks noChangeAspect="1"/>
          </p:cNvPicPr>
          <p:nvPr/>
        </p:nvPicPr>
        <p:blipFill>
          <a:blip r:embed="rId1"/>
          <a:stretch>
            <a:fillRect/>
          </a:stretch>
        </p:blipFill>
        <p:spPr>
          <a:xfrm>
            <a:off x="1078230" y="1260475"/>
            <a:ext cx="6962140" cy="36550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静态</a:t>
            </a:r>
            <a:endParaRPr lang="zh-CN" altLang="en-US"/>
          </a:p>
        </p:txBody>
      </p:sp>
      <p:sp>
        <p:nvSpPr>
          <p:cNvPr id="395409" name="矩形 395408"/>
          <p:cNvSpPr/>
          <p:nvPr/>
        </p:nvSpPr>
        <p:spPr>
          <a:xfrm>
            <a:off x="5845863" y="2076979"/>
            <a:ext cx="1838854" cy="1415521"/>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p>
            <a:pPr algn="ctr"/>
            <a:r>
              <a:rPr lang="en-US" altLang="zh-CN" sz="1500">
                <a:solidFill>
                  <a:schemeClr val="tx1"/>
                </a:solidFill>
                <a:latin typeface="Arial" panose="020B0604020202020204" pitchFamily="34" charset="0"/>
              </a:rPr>
              <a:t>V</a:t>
            </a:r>
            <a:r>
              <a:rPr lang="en-US" altLang="zh-CN" sz="1500" baseline="-25000">
                <a:solidFill>
                  <a:schemeClr val="tx1"/>
                </a:solidFill>
                <a:latin typeface="Arial" panose="020B0604020202020204" pitchFamily="34" charset="0"/>
              </a:rPr>
              <a:t>OL</a:t>
            </a:r>
            <a:r>
              <a:rPr lang="en-US" altLang="zh-CN" sz="1500">
                <a:solidFill>
                  <a:schemeClr val="tx1"/>
                </a:solidFill>
                <a:latin typeface="Arial" panose="020B0604020202020204" pitchFamily="34" charset="0"/>
              </a:rPr>
              <a:t> = 0</a:t>
            </a:r>
            <a:endParaRPr lang="en-US" altLang="zh-CN" sz="1500">
              <a:solidFill>
                <a:schemeClr val="tx1"/>
              </a:solidFill>
              <a:latin typeface="Arial" panose="020B0604020202020204" pitchFamily="34" charset="0"/>
            </a:endParaRPr>
          </a:p>
          <a:p>
            <a:pPr algn="ctr"/>
            <a:r>
              <a:rPr lang="en-US" altLang="zh-CN" sz="1500">
                <a:solidFill>
                  <a:schemeClr val="tx1"/>
                </a:solidFill>
                <a:latin typeface="Arial" panose="020B0604020202020204" pitchFamily="34" charset="0"/>
              </a:rPr>
              <a:t>V</a:t>
            </a:r>
            <a:r>
              <a:rPr lang="en-US" altLang="zh-CN" sz="1500" baseline="-25000">
                <a:solidFill>
                  <a:schemeClr val="tx1"/>
                </a:solidFill>
                <a:latin typeface="Arial" panose="020B0604020202020204" pitchFamily="34" charset="0"/>
              </a:rPr>
              <a:t>OH</a:t>
            </a:r>
            <a:r>
              <a:rPr lang="en-US" altLang="zh-CN" sz="1500">
                <a:solidFill>
                  <a:schemeClr val="tx1"/>
                </a:solidFill>
                <a:latin typeface="Arial" panose="020B0604020202020204" pitchFamily="34" charset="0"/>
              </a:rPr>
              <a:t> = V</a:t>
            </a:r>
            <a:r>
              <a:rPr lang="en-US" altLang="zh-CN" sz="1500" baseline="-25000">
                <a:solidFill>
                  <a:schemeClr val="tx1"/>
                </a:solidFill>
                <a:latin typeface="Arial" panose="020B0604020202020204" pitchFamily="34" charset="0"/>
              </a:rPr>
              <a:t>DD</a:t>
            </a:r>
            <a:endParaRPr lang="en-US" altLang="zh-CN" sz="1500" baseline="-25000">
              <a:solidFill>
                <a:schemeClr val="tx1"/>
              </a:solidFill>
              <a:latin typeface="Arial" panose="020B0604020202020204" pitchFamily="34" charset="0"/>
            </a:endParaRPr>
          </a:p>
          <a:p>
            <a:pPr algn="ctr"/>
            <a:r>
              <a:rPr lang="en-US" altLang="zh-CN" sz="1500">
                <a:solidFill>
                  <a:schemeClr val="tx1"/>
                </a:solidFill>
                <a:latin typeface="Arial" panose="020B0604020202020204" pitchFamily="34" charset="0"/>
              </a:rPr>
              <a:t>V</a:t>
            </a:r>
            <a:r>
              <a:rPr lang="en-US" altLang="zh-CN" sz="1500" baseline="-25000">
                <a:solidFill>
                  <a:schemeClr val="tx1"/>
                </a:solidFill>
                <a:latin typeface="Arial" panose="020B0604020202020204" pitchFamily="34" charset="0"/>
              </a:rPr>
              <a:t>M</a:t>
            </a:r>
            <a:r>
              <a:rPr lang="en-US" altLang="zh-CN" sz="1500" err="1">
                <a:solidFill>
                  <a:schemeClr val="tx1"/>
                </a:solidFill>
                <a:latin typeface="Arial" panose="020B0604020202020204" pitchFamily="34" charset="0"/>
              </a:rPr>
              <a:t> = f(R</a:t>
            </a:r>
            <a:r>
              <a:rPr lang="en-US" altLang="zh-CN" sz="1500" baseline="-25000" err="1">
                <a:solidFill>
                  <a:schemeClr val="tx1"/>
                </a:solidFill>
                <a:latin typeface="Arial" panose="020B0604020202020204" pitchFamily="34" charset="0"/>
              </a:rPr>
              <a:t>n</a:t>
            </a:r>
            <a:r>
              <a:rPr lang="en-US" altLang="zh-CN" sz="1500" err="1">
                <a:solidFill>
                  <a:schemeClr val="tx1"/>
                </a:solidFill>
                <a:latin typeface="Arial" panose="020B0604020202020204" pitchFamily="34" charset="0"/>
              </a:rPr>
              <a:t>, R</a:t>
            </a:r>
            <a:r>
              <a:rPr lang="en-US" altLang="zh-CN" sz="1500" baseline="-25000" err="1">
                <a:solidFill>
                  <a:schemeClr val="tx1"/>
                </a:solidFill>
                <a:latin typeface="Arial" panose="020B0604020202020204" pitchFamily="34" charset="0"/>
              </a:rPr>
              <a:t>p</a:t>
            </a:r>
            <a:r>
              <a:rPr lang="en-US" altLang="zh-CN" sz="1500">
                <a:solidFill>
                  <a:schemeClr val="tx1"/>
                </a:solidFill>
                <a:latin typeface="Arial" panose="020B0604020202020204" pitchFamily="34" charset="0"/>
              </a:rPr>
              <a:t>)</a:t>
            </a:r>
            <a:endParaRPr lang="en-US" altLang="zh-CN" sz="1500">
              <a:solidFill>
                <a:schemeClr val="tx1"/>
              </a:solidFill>
              <a:latin typeface="Arial" panose="020B0604020202020204" pitchFamily="34" charset="0"/>
            </a:endParaRPr>
          </a:p>
        </p:txBody>
      </p:sp>
      <p:grpSp>
        <p:nvGrpSpPr>
          <p:cNvPr id="395410" name="组合 395409"/>
          <p:cNvGrpSpPr/>
          <p:nvPr/>
        </p:nvGrpSpPr>
        <p:grpSpPr>
          <a:xfrm>
            <a:off x="919322" y="1451610"/>
            <a:ext cx="3751792" cy="3664480"/>
            <a:chOff x="953" y="1249"/>
            <a:chExt cx="2836" cy="2770"/>
          </a:xfrm>
        </p:grpSpPr>
        <p:sp>
          <p:nvSpPr>
            <p:cNvPr id="395411" name="椭圆 395410"/>
            <p:cNvSpPr/>
            <p:nvPr/>
          </p:nvSpPr>
          <p:spPr>
            <a:xfrm>
              <a:off x="3011" y="2479"/>
              <a:ext cx="59" cy="59"/>
            </a:xfrm>
            <a:prstGeom prst="ellipse">
              <a:avLst/>
            </a:prstGeom>
            <a:solidFill>
              <a:srgbClr val="000000"/>
            </a:solidFill>
            <a:ln w="9525">
              <a:noFill/>
            </a:ln>
          </p:spPr>
          <p:txBody>
            <a:bodyPr/>
            <a:lstStyle/>
            <a:p>
              <a:endParaRPr lang="zh-CN" altLang="en-US" sz="1500"/>
            </a:p>
          </p:txBody>
        </p:sp>
        <p:sp>
          <p:nvSpPr>
            <p:cNvPr id="395412" name="直接连接符 395411"/>
            <p:cNvSpPr/>
            <p:nvPr/>
          </p:nvSpPr>
          <p:spPr>
            <a:xfrm flipH="1">
              <a:off x="2848" y="1515"/>
              <a:ext cx="390" cy="1"/>
            </a:xfrm>
            <a:prstGeom prst="line">
              <a:avLst/>
            </a:prstGeom>
            <a:ln w="15875" cap="flat" cmpd="sng">
              <a:solidFill>
                <a:srgbClr val="000000"/>
              </a:solidFill>
              <a:prstDash val="solid"/>
              <a:miter/>
              <a:headEnd type="none" w="med" len="med"/>
              <a:tailEnd type="none" w="med" len="med"/>
            </a:ln>
          </p:spPr>
        </p:sp>
        <p:sp>
          <p:nvSpPr>
            <p:cNvPr id="395413" name="直接连接符 395412"/>
            <p:cNvSpPr/>
            <p:nvPr/>
          </p:nvSpPr>
          <p:spPr>
            <a:xfrm flipH="1">
              <a:off x="3041" y="2509"/>
              <a:ext cx="331" cy="1"/>
            </a:xfrm>
            <a:prstGeom prst="line">
              <a:avLst/>
            </a:prstGeom>
            <a:ln w="15875" cap="flat" cmpd="sng">
              <a:solidFill>
                <a:srgbClr val="000000"/>
              </a:solidFill>
              <a:prstDash val="solid"/>
              <a:miter/>
              <a:headEnd type="none" w="med" len="med"/>
              <a:tailEnd type="none" w="med" len="med"/>
            </a:ln>
          </p:spPr>
        </p:sp>
        <p:sp>
          <p:nvSpPr>
            <p:cNvPr id="395414" name="椭圆 395413"/>
            <p:cNvSpPr/>
            <p:nvPr/>
          </p:nvSpPr>
          <p:spPr>
            <a:xfrm>
              <a:off x="3372" y="2474"/>
              <a:ext cx="69" cy="69"/>
            </a:xfrm>
            <a:prstGeom prst="ellipse">
              <a:avLst/>
            </a:pr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15" name="直接连接符 395414"/>
            <p:cNvSpPr/>
            <p:nvPr/>
          </p:nvSpPr>
          <p:spPr>
            <a:xfrm flipH="1">
              <a:off x="2932" y="3556"/>
              <a:ext cx="222" cy="1"/>
            </a:xfrm>
            <a:prstGeom prst="line">
              <a:avLst/>
            </a:prstGeom>
            <a:ln w="23813" cap="flat" cmpd="sng">
              <a:solidFill>
                <a:srgbClr val="000000"/>
              </a:solidFill>
              <a:prstDash val="solid"/>
              <a:miter/>
              <a:headEnd type="none" w="med" len="med"/>
              <a:tailEnd type="none" w="med" len="med"/>
            </a:ln>
          </p:spPr>
        </p:sp>
        <p:sp>
          <p:nvSpPr>
            <p:cNvPr id="395416" name="直接连接符 395415"/>
            <p:cNvSpPr/>
            <p:nvPr/>
          </p:nvSpPr>
          <p:spPr>
            <a:xfrm flipH="1">
              <a:off x="2977" y="3601"/>
              <a:ext cx="138" cy="1"/>
            </a:xfrm>
            <a:prstGeom prst="line">
              <a:avLst/>
            </a:prstGeom>
            <a:ln w="23813" cap="flat" cmpd="sng">
              <a:solidFill>
                <a:srgbClr val="000000"/>
              </a:solidFill>
              <a:prstDash val="solid"/>
              <a:miter/>
              <a:headEnd type="none" w="med" len="med"/>
              <a:tailEnd type="none" w="med" len="med"/>
            </a:ln>
          </p:spPr>
        </p:sp>
        <p:sp>
          <p:nvSpPr>
            <p:cNvPr id="395417" name="直接连接符 395416"/>
            <p:cNvSpPr/>
            <p:nvPr/>
          </p:nvSpPr>
          <p:spPr>
            <a:xfrm flipH="1">
              <a:off x="3011" y="3645"/>
              <a:ext cx="64" cy="1"/>
            </a:xfrm>
            <a:prstGeom prst="line">
              <a:avLst/>
            </a:prstGeom>
            <a:ln w="23813" cap="flat" cmpd="sng">
              <a:solidFill>
                <a:srgbClr val="000000"/>
              </a:solidFill>
              <a:prstDash val="solid"/>
              <a:miter/>
              <a:headEnd type="none" w="med" len="med"/>
              <a:tailEnd type="none" w="med" len="med"/>
            </a:ln>
          </p:spPr>
        </p:sp>
        <p:sp>
          <p:nvSpPr>
            <p:cNvPr id="395418" name="任意多边形 395417"/>
            <p:cNvSpPr/>
            <p:nvPr/>
          </p:nvSpPr>
          <p:spPr>
            <a:xfrm>
              <a:off x="1163" y="2192"/>
              <a:ext cx="133" cy="79"/>
            </a:xfrm>
            <a:custGeom>
              <a:avLst/>
              <a:gdLst/>
              <a:ahLst/>
              <a:cxnLst/>
              <a:rect l="0" t="0" r="0" b="0"/>
              <a:pathLst>
                <a:path w="27" h="16">
                  <a:moveTo>
                    <a:pt x="27" y="0"/>
                  </a:moveTo>
                  <a:cubicBezTo>
                    <a:pt x="17" y="3"/>
                    <a:pt x="8" y="8"/>
                    <a:pt x="0" y="16"/>
                  </a:cubicBezTo>
                </a:path>
              </a:pathLst>
            </a:cu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19" name="任意多边形 395418"/>
            <p:cNvSpPr/>
            <p:nvPr/>
          </p:nvSpPr>
          <p:spPr>
            <a:xfrm>
              <a:off x="1113" y="2232"/>
              <a:ext cx="89" cy="84"/>
            </a:xfrm>
            <a:custGeom>
              <a:avLst/>
              <a:gdLst/>
              <a:ahLst/>
              <a:cxnLst/>
              <a:rect l="0" t="0" r="0" b="0"/>
              <a:pathLst>
                <a:path w="18" h="17">
                  <a:moveTo>
                    <a:pt x="11" y="6"/>
                  </a:moveTo>
                  <a:cubicBezTo>
                    <a:pt x="18" y="8"/>
                    <a:pt x="18" y="8"/>
                    <a:pt x="18" y="8"/>
                  </a:cubicBezTo>
                  <a:cubicBezTo>
                    <a:pt x="18" y="9"/>
                    <a:pt x="18" y="9"/>
                    <a:pt x="18" y="9"/>
                  </a:cubicBezTo>
                  <a:cubicBezTo>
                    <a:pt x="8" y="12"/>
                    <a:pt x="8" y="12"/>
                    <a:pt x="8" y="12"/>
                  </a:cubicBezTo>
                  <a:cubicBezTo>
                    <a:pt x="6" y="14"/>
                    <a:pt x="3" y="16"/>
                    <a:pt x="0" y="17"/>
                  </a:cubicBezTo>
                  <a:cubicBezTo>
                    <a:pt x="2" y="15"/>
                    <a:pt x="4" y="12"/>
                    <a:pt x="5" y="9"/>
                  </a:cubicBezTo>
                  <a:cubicBezTo>
                    <a:pt x="10" y="0"/>
                    <a:pt x="10" y="0"/>
                    <a:pt x="10" y="0"/>
                  </a:cubicBezTo>
                  <a:cubicBezTo>
                    <a:pt x="10" y="0"/>
                    <a:pt x="10" y="0"/>
                    <a:pt x="10" y="0"/>
                  </a:cubicBezTo>
                  <a:cubicBezTo>
                    <a:pt x="11" y="6"/>
                    <a:pt x="11" y="6"/>
                    <a:pt x="11" y="6"/>
                  </a:cubicBezTo>
                </a:path>
              </a:pathLst>
            </a:custGeom>
            <a:solidFill>
              <a:srgbClr val="000000"/>
            </a:solidFill>
            <a:ln w="9525">
              <a:noFill/>
            </a:ln>
          </p:spPr>
          <p:txBody>
            <a:bodyPr/>
            <a:lstStyle/>
            <a:p>
              <a:endParaRPr lang="zh-CN" altLang="en-US" sz="1500"/>
            </a:p>
          </p:txBody>
        </p:sp>
        <p:sp>
          <p:nvSpPr>
            <p:cNvPr id="395420" name="任意多边形 395419"/>
            <p:cNvSpPr>
              <a:spLocks noEditPoints="1"/>
            </p:cNvSpPr>
            <p:nvPr/>
          </p:nvSpPr>
          <p:spPr>
            <a:xfrm>
              <a:off x="1153" y="1515"/>
              <a:ext cx="168" cy="1483"/>
            </a:xfrm>
            <a:custGeom>
              <a:avLst/>
              <a:gdLst/>
              <a:ahLst/>
              <a:cxnLst/>
              <a:rect l="0" t="0" r="0" b="0"/>
              <a:pathLst>
                <a:path w="168" h="1483">
                  <a:moveTo>
                    <a:pt x="168" y="1483"/>
                  </a:moveTo>
                  <a:lnTo>
                    <a:pt x="168" y="865"/>
                  </a:lnTo>
                  <a:lnTo>
                    <a:pt x="0" y="588"/>
                  </a:lnTo>
                  <a:moveTo>
                    <a:pt x="168" y="539"/>
                  </a:moveTo>
                  <a:lnTo>
                    <a:pt x="168" y="0"/>
                  </a:lnTo>
                </a:path>
              </a:pathLst>
            </a:cu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21" name="任意多边形 395420"/>
            <p:cNvSpPr/>
            <p:nvPr/>
          </p:nvSpPr>
          <p:spPr>
            <a:xfrm>
              <a:off x="2888" y="2978"/>
              <a:ext cx="133" cy="79"/>
            </a:xfrm>
            <a:custGeom>
              <a:avLst/>
              <a:gdLst/>
              <a:ahLst/>
              <a:cxnLst/>
              <a:rect l="0" t="0" r="0" b="0"/>
              <a:pathLst>
                <a:path w="27" h="16">
                  <a:moveTo>
                    <a:pt x="27" y="0"/>
                  </a:moveTo>
                  <a:cubicBezTo>
                    <a:pt x="17" y="3"/>
                    <a:pt x="7" y="9"/>
                    <a:pt x="0" y="16"/>
                  </a:cubicBezTo>
                </a:path>
              </a:pathLst>
            </a:cu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22" name="任意多边形 395421"/>
            <p:cNvSpPr/>
            <p:nvPr/>
          </p:nvSpPr>
          <p:spPr>
            <a:xfrm>
              <a:off x="2833" y="3018"/>
              <a:ext cx="89" cy="84"/>
            </a:xfrm>
            <a:custGeom>
              <a:avLst/>
              <a:gdLst/>
              <a:ahLst/>
              <a:cxnLst/>
              <a:rect l="0" t="0" r="0" b="0"/>
              <a:pathLst>
                <a:path w="18" h="17">
                  <a:moveTo>
                    <a:pt x="12" y="7"/>
                  </a:moveTo>
                  <a:cubicBezTo>
                    <a:pt x="18" y="9"/>
                    <a:pt x="18" y="9"/>
                    <a:pt x="18" y="9"/>
                  </a:cubicBezTo>
                  <a:cubicBezTo>
                    <a:pt x="18" y="9"/>
                    <a:pt x="18" y="9"/>
                    <a:pt x="18" y="9"/>
                  </a:cubicBezTo>
                  <a:cubicBezTo>
                    <a:pt x="9" y="12"/>
                    <a:pt x="9" y="12"/>
                    <a:pt x="9" y="12"/>
                  </a:cubicBezTo>
                  <a:cubicBezTo>
                    <a:pt x="6" y="14"/>
                    <a:pt x="3" y="16"/>
                    <a:pt x="0" y="17"/>
                  </a:cubicBezTo>
                  <a:cubicBezTo>
                    <a:pt x="2" y="15"/>
                    <a:pt x="4" y="12"/>
                    <a:pt x="6" y="9"/>
                  </a:cubicBezTo>
                  <a:cubicBezTo>
                    <a:pt x="10" y="0"/>
                    <a:pt x="10" y="0"/>
                    <a:pt x="10" y="0"/>
                  </a:cubicBezTo>
                  <a:cubicBezTo>
                    <a:pt x="10" y="0"/>
                    <a:pt x="10" y="0"/>
                    <a:pt x="10" y="0"/>
                  </a:cubicBezTo>
                  <a:cubicBezTo>
                    <a:pt x="12" y="7"/>
                    <a:pt x="12" y="7"/>
                    <a:pt x="12" y="7"/>
                  </a:cubicBezTo>
                </a:path>
              </a:pathLst>
            </a:custGeom>
            <a:solidFill>
              <a:srgbClr val="000000"/>
            </a:solidFill>
            <a:ln w="9525">
              <a:noFill/>
            </a:ln>
          </p:spPr>
          <p:txBody>
            <a:bodyPr/>
            <a:lstStyle/>
            <a:p>
              <a:endParaRPr lang="zh-CN" altLang="en-US" sz="1500"/>
            </a:p>
          </p:txBody>
        </p:sp>
        <p:sp>
          <p:nvSpPr>
            <p:cNvPr id="395423" name="任意多边形 395422"/>
            <p:cNvSpPr/>
            <p:nvPr/>
          </p:nvSpPr>
          <p:spPr>
            <a:xfrm>
              <a:off x="2873" y="2889"/>
              <a:ext cx="168" cy="667"/>
            </a:xfrm>
            <a:custGeom>
              <a:avLst/>
              <a:gdLst/>
              <a:ahLst/>
              <a:cxnLst/>
              <a:rect l="0" t="0" r="0" b="0"/>
              <a:pathLst>
                <a:path w="168" h="667">
                  <a:moveTo>
                    <a:pt x="168" y="667"/>
                  </a:moveTo>
                  <a:lnTo>
                    <a:pt x="168" y="277"/>
                  </a:lnTo>
                  <a:lnTo>
                    <a:pt x="0" y="0"/>
                  </a:lnTo>
                </a:path>
              </a:pathLst>
            </a:cu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24" name="直接连接符 395423"/>
            <p:cNvSpPr/>
            <p:nvPr/>
          </p:nvSpPr>
          <p:spPr>
            <a:xfrm flipV="1">
              <a:off x="3041" y="1515"/>
              <a:ext cx="1" cy="203"/>
            </a:xfrm>
            <a:prstGeom prst="line">
              <a:avLst/>
            </a:prstGeom>
            <a:ln w="15875" cap="flat" cmpd="sng">
              <a:solidFill>
                <a:srgbClr val="000000"/>
              </a:solidFill>
              <a:prstDash val="solid"/>
              <a:miter/>
              <a:headEnd type="none" w="med" len="med"/>
              <a:tailEnd type="none" w="med" len="med"/>
            </a:ln>
          </p:spPr>
        </p:sp>
        <p:sp>
          <p:nvSpPr>
            <p:cNvPr id="395425" name="直接连接符 395424"/>
            <p:cNvSpPr/>
            <p:nvPr/>
          </p:nvSpPr>
          <p:spPr>
            <a:xfrm flipV="1">
              <a:off x="3041" y="2074"/>
              <a:ext cx="1" cy="766"/>
            </a:xfrm>
            <a:prstGeom prst="line">
              <a:avLst/>
            </a:prstGeom>
            <a:ln w="15875" cap="flat" cmpd="sng">
              <a:solidFill>
                <a:srgbClr val="000000"/>
              </a:solidFill>
              <a:prstDash val="solid"/>
              <a:miter/>
              <a:headEnd type="none" w="med" len="med"/>
              <a:tailEnd type="none" w="med" len="med"/>
            </a:ln>
          </p:spPr>
        </p:sp>
        <p:sp>
          <p:nvSpPr>
            <p:cNvPr id="395426" name="任意多边形 395425"/>
            <p:cNvSpPr/>
            <p:nvPr/>
          </p:nvSpPr>
          <p:spPr>
            <a:xfrm>
              <a:off x="2981" y="1718"/>
              <a:ext cx="124" cy="356"/>
            </a:xfrm>
            <a:custGeom>
              <a:avLst/>
              <a:gdLst/>
              <a:ahLst/>
              <a:cxnLst/>
              <a:rect l="0" t="0" r="0" b="0"/>
              <a:pathLst>
                <a:path w="124" h="356">
                  <a:moveTo>
                    <a:pt x="60" y="0"/>
                  </a:moveTo>
                  <a:lnTo>
                    <a:pt x="124" y="29"/>
                  </a:lnTo>
                  <a:lnTo>
                    <a:pt x="0" y="89"/>
                  </a:lnTo>
                  <a:lnTo>
                    <a:pt x="124" y="148"/>
                  </a:lnTo>
                  <a:lnTo>
                    <a:pt x="0" y="207"/>
                  </a:lnTo>
                  <a:lnTo>
                    <a:pt x="124" y="267"/>
                  </a:lnTo>
                  <a:lnTo>
                    <a:pt x="0" y="326"/>
                  </a:lnTo>
                  <a:lnTo>
                    <a:pt x="60" y="356"/>
                  </a:lnTo>
                </a:path>
              </a:pathLst>
            </a:custGeom>
            <a:noFill/>
            <a:ln w="23813" cap="flat" cmpd="sng">
              <a:solidFill>
                <a:srgbClr val="000000"/>
              </a:solidFill>
              <a:prstDash val="solid"/>
              <a:miter/>
              <a:headEnd type="none" w="med" len="med"/>
              <a:tailEnd type="none" w="med" len="med"/>
            </a:ln>
          </p:spPr>
          <p:txBody>
            <a:bodyPr/>
            <a:lstStyle/>
            <a:p>
              <a:endParaRPr lang="zh-CN" altLang="en-US" sz="1500"/>
            </a:p>
          </p:txBody>
        </p:sp>
        <p:sp>
          <p:nvSpPr>
            <p:cNvPr id="395427" name="椭圆 395426"/>
            <p:cNvSpPr/>
            <p:nvPr/>
          </p:nvSpPr>
          <p:spPr>
            <a:xfrm>
              <a:off x="3006" y="3131"/>
              <a:ext cx="69" cy="70"/>
            </a:xfrm>
            <a:prstGeom prst="ellipse">
              <a:avLst/>
            </a:prstGeom>
            <a:solidFill>
              <a:srgbClr val="FFFFFF"/>
            </a:solidFill>
            <a:ln w="15875" cap="flat" cmpd="sng">
              <a:solidFill>
                <a:srgbClr val="000000"/>
              </a:solidFill>
              <a:prstDash val="solid"/>
              <a:miter/>
              <a:headEnd type="none" w="med" len="med"/>
              <a:tailEnd type="none" w="med" len="med"/>
            </a:ln>
          </p:spPr>
          <p:txBody>
            <a:bodyPr/>
            <a:lstStyle/>
            <a:p>
              <a:endParaRPr lang="zh-CN" altLang="en-US" sz="1500"/>
            </a:p>
          </p:txBody>
        </p:sp>
        <p:sp>
          <p:nvSpPr>
            <p:cNvPr id="395428" name="直接连接符 395427"/>
            <p:cNvSpPr/>
            <p:nvPr/>
          </p:nvSpPr>
          <p:spPr>
            <a:xfrm flipH="1">
              <a:off x="1123" y="1515"/>
              <a:ext cx="391" cy="1"/>
            </a:xfrm>
            <a:prstGeom prst="line">
              <a:avLst/>
            </a:prstGeom>
            <a:ln w="15875" cap="flat" cmpd="sng">
              <a:solidFill>
                <a:srgbClr val="000000"/>
              </a:solidFill>
              <a:prstDash val="solid"/>
              <a:miter/>
              <a:headEnd type="none" w="med" len="med"/>
              <a:tailEnd type="none" w="med" len="med"/>
            </a:ln>
          </p:spPr>
        </p:sp>
        <p:sp>
          <p:nvSpPr>
            <p:cNvPr id="395429" name="直接连接符 395428"/>
            <p:cNvSpPr/>
            <p:nvPr/>
          </p:nvSpPr>
          <p:spPr>
            <a:xfrm flipH="1">
              <a:off x="1207" y="3556"/>
              <a:ext cx="228" cy="1"/>
            </a:xfrm>
            <a:prstGeom prst="line">
              <a:avLst/>
            </a:prstGeom>
            <a:ln w="23813" cap="flat" cmpd="sng">
              <a:solidFill>
                <a:srgbClr val="000000"/>
              </a:solidFill>
              <a:prstDash val="solid"/>
              <a:miter/>
              <a:headEnd type="none" w="med" len="med"/>
              <a:tailEnd type="none" w="med" len="med"/>
            </a:ln>
          </p:spPr>
        </p:sp>
        <p:sp>
          <p:nvSpPr>
            <p:cNvPr id="395430" name="直接连接符 395429"/>
            <p:cNvSpPr/>
            <p:nvPr/>
          </p:nvSpPr>
          <p:spPr>
            <a:xfrm flipH="1">
              <a:off x="1252" y="3601"/>
              <a:ext cx="143" cy="1"/>
            </a:xfrm>
            <a:prstGeom prst="line">
              <a:avLst/>
            </a:prstGeom>
            <a:ln w="23813" cap="flat" cmpd="sng">
              <a:solidFill>
                <a:srgbClr val="000000"/>
              </a:solidFill>
              <a:prstDash val="solid"/>
              <a:miter/>
              <a:headEnd type="none" w="med" len="med"/>
              <a:tailEnd type="none" w="med" len="med"/>
            </a:ln>
          </p:spPr>
        </p:sp>
        <p:sp>
          <p:nvSpPr>
            <p:cNvPr id="395431" name="直接连接符 395430"/>
            <p:cNvSpPr/>
            <p:nvPr/>
          </p:nvSpPr>
          <p:spPr>
            <a:xfrm flipH="1">
              <a:off x="1286" y="3645"/>
              <a:ext cx="69" cy="1"/>
            </a:xfrm>
            <a:prstGeom prst="line">
              <a:avLst/>
            </a:prstGeom>
            <a:ln w="23813" cap="flat" cmpd="sng">
              <a:solidFill>
                <a:srgbClr val="000000"/>
              </a:solidFill>
              <a:prstDash val="solid"/>
              <a:miter/>
              <a:headEnd type="none" w="med" len="med"/>
              <a:tailEnd type="none" w="med" len="med"/>
            </a:ln>
          </p:spPr>
        </p:sp>
        <p:sp>
          <p:nvSpPr>
            <p:cNvPr id="395432" name="椭圆 395431"/>
            <p:cNvSpPr/>
            <p:nvPr/>
          </p:nvSpPr>
          <p:spPr>
            <a:xfrm>
              <a:off x="1291" y="2603"/>
              <a:ext cx="60" cy="59"/>
            </a:xfrm>
            <a:prstGeom prst="ellipse">
              <a:avLst/>
            </a:prstGeom>
            <a:solidFill>
              <a:srgbClr val="000000"/>
            </a:solidFill>
            <a:ln w="9525">
              <a:noFill/>
            </a:ln>
          </p:spPr>
          <p:txBody>
            <a:bodyPr/>
            <a:lstStyle/>
            <a:p>
              <a:endParaRPr lang="zh-CN" altLang="en-US" sz="1500"/>
            </a:p>
          </p:txBody>
        </p:sp>
        <p:sp>
          <p:nvSpPr>
            <p:cNvPr id="395433" name="直接连接符 395432"/>
            <p:cNvSpPr/>
            <p:nvPr/>
          </p:nvSpPr>
          <p:spPr>
            <a:xfrm flipH="1">
              <a:off x="1321" y="2632"/>
              <a:ext cx="291" cy="1"/>
            </a:xfrm>
            <a:prstGeom prst="line">
              <a:avLst/>
            </a:prstGeom>
            <a:ln w="15875" cap="flat" cmpd="sng">
              <a:solidFill>
                <a:srgbClr val="000000"/>
              </a:solidFill>
              <a:prstDash val="solid"/>
              <a:miter/>
              <a:headEnd type="none" w="med" len="med"/>
              <a:tailEnd type="none" w="med" len="med"/>
            </a:ln>
          </p:spPr>
        </p:sp>
        <p:sp>
          <p:nvSpPr>
            <p:cNvPr id="395434" name="椭圆 395433"/>
            <p:cNvSpPr/>
            <p:nvPr/>
          </p:nvSpPr>
          <p:spPr>
            <a:xfrm>
              <a:off x="1612" y="2598"/>
              <a:ext cx="70" cy="69"/>
            </a:xfrm>
            <a:prstGeom prst="ellipse">
              <a:avLst/>
            </a:pr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35" name="椭圆 395434"/>
            <p:cNvSpPr/>
            <p:nvPr/>
          </p:nvSpPr>
          <p:spPr>
            <a:xfrm>
              <a:off x="1286" y="2345"/>
              <a:ext cx="69" cy="70"/>
            </a:xfrm>
            <a:prstGeom prst="ellipse">
              <a:avLst/>
            </a:prstGeom>
            <a:solidFill>
              <a:srgbClr val="FFFFFF"/>
            </a:solidFill>
            <a:ln w="15875" cap="flat" cmpd="sng">
              <a:solidFill>
                <a:srgbClr val="000000"/>
              </a:solidFill>
              <a:prstDash val="solid"/>
              <a:miter/>
              <a:headEnd type="none" w="med" len="med"/>
              <a:tailEnd type="none" w="med" len="med"/>
            </a:ln>
          </p:spPr>
          <p:txBody>
            <a:bodyPr/>
            <a:lstStyle/>
            <a:p>
              <a:endParaRPr lang="zh-CN" altLang="en-US" sz="1500"/>
            </a:p>
          </p:txBody>
        </p:sp>
        <p:sp>
          <p:nvSpPr>
            <p:cNvPr id="395436" name="直接连接符 395435"/>
            <p:cNvSpPr/>
            <p:nvPr/>
          </p:nvSpPr>
          <p:spPr>
            <a:xfrm>
              <a:off x="1321" y="3354"/>
              <a:ext cx="1" cy="202"/>
            </a:xfrm>
            <a:prstGeom prst="line">
              <a:avLst/>
            </a:prstGeom>
            <a:ln w="15875" cap="flat" cmpd="sng">
              <a:solidFill>
                <a:srgbClr val="000000"/>
              </a:solidFill>
              <a:prstDash val="solid"/>
              <a:miter/>
              <a:headEnd type="none" w="med" len="med"/>
              <a:tailEnd type="none" w="med" len="med"/>
            </a:ln>
          </p:spPr>
        </p:sp>
        <p:sp>
          <p:nvSpPr>
            <p:cNvPr id="395437" name="任意多边形 395436"/>
            <p:cNvSpPr/>
            <p:nvPr/>
          </p:nvSpPr>
          <p:spPr>
            <a:xfrm>
              <a:off x="1262" y="2998"/>
              <a:ext cx="118" cy="356"/>
            </a:xfrm>
            <a:custGeom>
              <a:avLst/>
              <a:gdLst/>
              <a:ahLst/>
              <a:cxnLst/>
              <a:rect l="0" t="0" r="0" b="0"/>
              <a:pathLst>
                <a:path w="118" h="356">
                  <a:moveTo>
                    <a:pt x="59" y="356"/>
                  </a:moveTo>
                  <a:lnTo>
                    <a:pt x="0" y="326"/>
                  </a:lnTo>
                  <a:lnTo>
                    <a:pt x="118" y="267"/>
                  </a:lnTo>
                  <a:lnTo>
                    <a:pt x="0" y="208"/>
                  </a:lnTo>
                  <a:lnTo>
                    <a:pt x="118" y="148"/>
                  </a:lnTo>
                  <a:lnTo>
                    <a:pt x="0" y="89"/>
                  </a:lnTo>
                  <a:lnTo>
                    <a:pt x="118" y="30"/>
                  </a:lnTo>
                  <a:lnTo>
                    <a:pt x="59" y="0"/>
                  </a:lnTo>
                </a:path>
              </a:pathLst>
            </a:custGeom>
            <a:noFill/>
            <a:ln w="23813" cap="flat" cmpd="sng">
              <a:solidFill>
                <a:srgbClr val="000000"/>
              </a:solidFill>
              <a:prstDash val="solid"/>
              <a:miter/>
              <a:headEnd type="none" w="med" len="med"/>
              <a:tailEnd type="none" w="med" len="med"/>
            </a:ln>
          </p:spPr>
          <p:txBody>
            <a:bodyPr/>
            <a:lstStyle/>
            <a:p>
              <a:endParaRPr lang="zh-CN" altLang="en-US" sz="1500"/>
            </a:p>
          </p:txBody>
        </p:sp>
        <p:sp>
          <p:nvSpPr>
            <p:cNvPr id="395438" name="矩形 395437"/>
            <p:cNvSpPr/>
            <p:nvPr/>
          </p:nvSpPr>
          <p:spPr>
            <a:xfrm>
              <a:off x="1162" y="1249"/>
              <a:ext cx="107" cy="193"/>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39" name="矩形 395438"/>
            <p:cNvSpPr/>
            <p:nvPr/>
          </p:nvSpPr>
          <p:spPr>
            <a:xfrm>
              <a:off x="1276" y="1329"/>
              <a:ext cx="174" cy="145"/>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DD</a:t>
              </a:r>
              <a:endParaRPr lang="en-US" altLang="zh-CN" sz="1500" i="0">
                <a:solidFill>
                  <a:schemeClr val="tx2"/>
                </a:solidFill>
                <a:latin typeface="Arial" panose="020B0604020202020204" pitchFamily="34" charset="0"/>
              </a:endParaRPr>
            </a:p>
          </p:txBody>
        </p:sp>
        <p:sp>
          <p:nvSpPr>
            <p:cNvPr id="395440" name="矩形 395439"/>
            <p:cNvSpPr/>
            <p:nvPr/>
          </p:nvSpPr>
          <p:spPr>
            <a:xfrm>
              <a:off x="2887" y="1249"/>
              <a:ext cx="107" cy="193"/>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41" name="矩形 395440"/>
            <p:cNvSpPr/>
            <p:nvPr/>
          </p:nvSpPr>
          <p:spPr>
            <a:xfrm>
              <a:off x="3001" y="1329"/>
              <a:ext cx="174" cy="145"/>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DD</a:t>
              </a:r>
              <a:endParaRPr lang="en-US" altLang="zh-CN" sz="1500" i="0">
                <a:solidFill>
                  <a:schemeClr val="tx2"/>
                </a:solidFill>
                <a:latin typeface="Arial" panose="020B0604020202020204" pitchFamily="34" charset="0"/>
              </a:endParaRPr>
            </a:p>
          </p:txBody>
        </p:sp>
        <p:sp>
          <p:nvSpPr>
            <p:cNvPr id="395442" name="矩形 395441"/>
            <p:cNvSpPr/>
            <p:nvPr/>
          </p:nvSpPr>
          <p:spPr>
            <a:xfrm>
              <a:off x="953" y="3796"/>
              <a:ext cx="107" cy="193"/>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43" name="矩形 395442"/>
            <p:cNvSpPr/>
            <p:nvPr/>
          </p:nvSpPr>
          <p:spPr>
            <a:xfrm>
              <a:off x="1067" y="3874"/>
              <a:ext cx="94" cy="145"/>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in</a:t>
              </a:r>
              <a:endParaRPr lang="en-US" altLang="zh-CN" sz="1500" i="0">
                <a:solidFill>
                  <a:schemeClr val="tx2"/>
                </a:solidFill>
                <a:latin typeface="Arial" panose="020B0604020202020204" pitchFamily="34" charset="0"/>
              </a:endParaRPr>
            </a:p>
          </p:txBody>
        </p:sp>
        <p:sp>
          <p:nvSpPr>
            <p:cNvPr id="395444" name="矩形 395443"/>
            <p:cNvSpPr/>
            <p:nvPr/>
          </p:nvSpPr>
          <p:spPr>
            <a:xfrm>
              <a:off x="1206" y="3821"/>
              <a:ext cx="100" cy="193"/>
            </a:xfrm>
            <a:prstGeom prst="rect">
              <a:avLst/>
            </a:prstGeom>
            <a:noFill/>
            <a:ln w="9525">
              <a:noFill/>
            </a:ln>
          </p:spPr>
          <p:txBody>
            <a:bodyPr wrap="none" lIns="0" tIns="0" rIns="0" bIns="0">
              <a:spAutoFit/>
            </a:bodyPr>
            <a:lstStyle/>
            <a:p>
              <a:r>
                <a:rPr lang="en-US" altLang="zh-CN" sz="1665" i="0">
                  <a:solidFill>
                    <a:srgbClr val="000000"/>
                  </a:solidFill>
                  <a:latin typeface="MathematicalPi 1" pitchFamily="82" charset="0"/>
                </a:rPr>
                <a:t>=</a:t>
              </a:r>
              <a:endParaRPr lang="en-US" altLang="zh-CN" sz="1500" i="0">
                <a:solidFill>
                  <a:schemeClr val="tx2"/>
                </a:solidFill>
                <a:latin typeface="Book Antiqua" panose="02040602050305030304" pitchFamily="18" charset="0"/>
              </a:endParaRPr>
            </a:p>
          </p:txBody>
        </p:sp>
        <p:sp>
          <p:nvSpPr>
            <p:cNvPr id="395445" name="矩形 395444"/>
            <p:cNvSpPr/>
            <p:nvPr/>
          </p:nvSpPr>
          <p:spPr>
            <a:xfrm>
              <a:off x="1377" y="3796"/>
              <a:ext cx="107" cy="193"/>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46" name="矩形 395445"/>
            <p:cNvSpPr/>
            <p:nvPr/>
          </p:nvSpPr>
          <p:spPr>
            <a:xfrm>
              <a:off x="1491" y="3874"/>
              <a:ext cx="174" cy="145"/>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DD</a:t>
              </a:r>
              <a:endParaRPr lang="en-US" altLang="zh-CN" sz="1500" i="0">
                <a:solidFill>
                  <a:schemeClr val="tx2"/>
                </a:solidFill>
                <a:latin typeface="Arial" panose="020B0604020202020204" pitchFamily="34" charset="0"/>
              </a:endParaRPr>
            </a:p>
          </p:txBody>
        </p:sp>
        <p:sp>
          <p:nvSpPr>
            <p:cNvPr id="395447" name="矩形 395446"/>
            <p:cNvSpPr/>
            <p:nvPr/>
          </p:nvSpPr>
          <p:spPr>
            <a:xfrm>
              <a:off x="2791" y="3796"/>
              <a:ext cx="107" cy="193"/>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48" name="矩形 395447"/>
            <p:cNvSpPr/>
            <p:nvPr/>
          </p:nvSpPr>
          <p:spPr>
            <a:xfrm>
              <a:off x="2905" y="3874"/>
              <a:ext cx="94" cy="145"/>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in</a:t>
              </a:r>
              <a:endParaRPr lang="en-US" altLang="zh-CN" sz="1500" i="0">
                <a:solidFill>
                  <a:schemeClr val="tx2"/>
                </a:solidFill>
                <a:latin typeface="Arial" panose="020B0604020202020204" pitchFamily="34" charset="0"/>
              </a:endParaRPr>
            </a:p>
          </p:txBody>
        </p:sp>
        <p:sp>
          <p:nvSpPr>
            <p:cNvPr id="395449" name="矩形 395448"/>
            <p:cNvSpPr/>
            <p:nvPr/>
          </p:nvSpPr>
          <p:spPr>
            <a:xfrm>
              <a:off x="3044" y="3821"/>
              <a:ext cx="87" cy="174"/>
            </a:xfrm>
            <a:prstGeom prst="rect">
              <a:avLst/>
            </a:prstGeom>
            <a:noFill/>
            <a:ln w="9525">
              <a:noFill/>
            </a:ln>
          </p:spPr>
          <p:txBody>
            <a:bodyPr wrap="none" lIns="0" tIns="0" rIns="0" bIns="0">
              <a:spAutoFit/>
            </a:bodyPr>
            <a:lstStyle/>
            <a:p>
              <a:r>
                <a:rPr lang="en-US" altLang="zh-CN" sz="1500" i="0">
                  <a:solidFill>
                    <a:schemeClr val="tx2"/>
                  </a:solidFill>
                  <a:latin typeface="Book Antiqua" panose="02040602050305030304" pitchFamily="18" charset="0"/>
                </a:rPr>
                <a:t>=</a:t>
              </a:r>
              <a:endParaRPr lang="en-US" altLang="zh-CN" sz="1500" i="0">
                <a:solidFill>
                  <a:schemeClr val="tx2"/>
                </a:solidFill>
                <a:latin typeface="Book Antiqua" panose="02040602050305030304" pitchFamily="18" charset="0"/>
              </a:endParaRPr>
            </a:p>
          </p:txBody>
        </p:sp>
        <p:sp>
          <p:nvSpPr>
            <p:cNvPr id="395450" name="矩形 395449"/>
            <p:cNvSpPr/>
            <p:nvPr/>
          </p:nvSpPr>
          <p:spPr>
            <a:xfrm>
              <a:off x="3176" y="3796"/>
              <a:ext cx="142" cy="193"/>
            </a:xfrm>
            <a:prstGeom prst="rect">
              <a:avLst/>
            </a:prstGeom>
            <a:noFill/>
            <a:ln w="9525">
              <a:noFill/>
            </a:ln>
          </p:spPr>
          <p:txBody>
            <a:bodyPr wrap="none" lIns="0" tIns="0" rIns="0" bIns="0">
              <a:spAutoFit/>
            </a:bodyPr>
            <a:lstStyle/>
            <a:p>
              <a:r>
                <a:rPr lang="en-US" altLang="zh-CN" sz="1665">
                  <a:solidFill>
                    <a:srgbClr val="000000"/>
                  </a:solidFill>
                  <a:latin typeface="微软雅黑" panose="020B0503020204020204" pitchFamily="34" charset="-122"/>
                  <a:ea typeface="微软雅黑" panose="020B0503020204020204" pitchFamily="34" charset="-122"/>
                </a:rPr>
                <a:t> 0</a:t>
              </a:r>
              <a:endParaRPr lang="en-US" altLang="zh-CN" sz="1500">
                <a:solidFill>
                  <a:schemeClr val="tx2"/>
                </a:solidFill>
                <a:latin typeface="微软雅黑" panose="020B0503020204020204" pitchFamily="34" charset="-122"/>
                <a:ea typeface="微软雅黑" panose="020B0503020204020204" pitchFamily="34" charset="-122"/>
              </a:endParaRPr>
            </a:p>
          </p:txBody>
        </p:sp>
        <p:sp>
          <p:nvSpPr>
            <p:cNvPr id="395451" name="矩形 395450"/>
            <p:cNvSpPr/>
            <p:nvPr/>
          </p:nvSpPr>
          <p:spPr>
            <a:xfrm>
              <a:off x="1771" y="2502"/>
              <a:ext cx="107" cy="193"/>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52" name="矩形 395451"/>
            <p:cNvSpPr/>
            <p:nvPr/>
          </p:nvSpPr>
          <p:spPr>
            <a:xfrm>
              <a:off x="1885" y="2582"/>
              <a:ext cx="167" cy="145"/>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out</a:t>
              </a:r>
              <a:endParaRPr lang="en-US" altLang="zh-CN" sz="1500" i="0">
                <a:solidFill>
                  <a:schemeClr val="tx2"/>
                </a:solidFill>
                <a:latin typeface="Arial" panose="020B0604020202020204" pitchFamily="34" charset="0"/>
              </a:endParaRPr>
            </a:p>
          </p:txBody>
        </p:sp>
        <p:sp>
          <p:nvSpPr>
            <p:cNvPr id="395453" name="矩形 395452"/>
            <p:cNvSpPr/>
            <p:nvPr/>
          </p:nvSpPr>
          <p:spPr>
            <a:xfrm>
              <a:off x="3508" y="2394"/>
              <a:ext cx="107" cy="193"/>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54" name="矩形 395453"/>
            <p:cNvSpPr/>
            <p:nvPr/>
          </p:nvSpPr>
          <p:spPr>
            <a:xfrm>
              <a:off x="3622" y="2472"/>
              <a:ext cx="167" cy="145"/>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out</a:t>
              </a:r>
              <a:endParaRPr lang="en-US" altLang="zh-CN" sz="1500" i="0">
                <a:solidFill>
                  <a:schemeClr val="tx2"/>
                </a:solidFill>
                <a:latin typeface="Arial" panose="020B0604020202020204" pitchFamily="34" charset="0"/>
              </a:endParaRPr>
            </a:p>
          </p:txBody>
        </p:sp>
        <p:sp>
          <p:nvSpPr>
            <p:cNvPr id="395455" name="矩形 395454"/>
            <p:cNvSpPr/>
            <p:nvPr/>
          </p:nvSpPr>
          <p:spPr>
            <a:xfrm>
              <a:off x="1439" y="3023"/>
              <a:ext cx="116" cy="193"/>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R</a:t>
              </a:r>
              <a:endParaRPr lang="en-US" altLang="zh-CN" sz="1500" i="0">
                <a:solidFill>
                  <a:schemeClr val="tx2"/>
                </a:solidFill>
                <a:latin typeface="Arial" panose="020B0604020202020204" pitchFamily="34" charset="0"/>
              </a:endParaRPr>
            </a:p>
          </p:txBody>
        </p:sp>
        <p:sp>
          <p:nvSpPr>
            <p:cNvPr id="395456" name="矩形 395455"/>
            <p:cNvSpPr/>
            <p:nvPr/>
          </p:nvSpPr>
          <p:spPr>
            <a:xfrm>
              <a:off x="1554" y="3101"/>
              <a:ext cx="67" cy="145"/>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n</a:t>
              </a:r>
              <a:endParaRPr lang="en-US" altLang="zh-CN" sz="1500" i="0">
                <a:solidFill>
                  <a:schemeClr val="tx2"/>
                </a:solidFill>
                <a:latin typeface="Arial" panose="020B0604020202020204" pitchFamily="34" charset="0"/>
              </a:endParaRPr>
            </a:p>
          </p:txBody>
        </p:sp>
        <p:sp>
          <p:nvSpPr>
            <p:cNvPr id="395457" name="矩形 395456"/>
            <p:cNvSpPr/>
            <p:nvPr/>
          </p:nvSpPr>
          <p:spPr>
            <a:xfrm>
              <a:off x="3162" y="1795"/>
              <a:ext cx="116" cy="193"/>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R</a:t>
              </a:r>
              <a:endParaRPr lang="en-US" altLang="zh-CN" sz="1500" i="0">
                <a:solidFill>
                  <a:schemeClr val="tx2"/>
                </a:solidFill>
                <a:latin typeface="Arial" panose="020B0604020202020204" pitchFamily="34" charset="0"/>
              </a:endParaRPr>
            </a:p>
          </p:txBody>
        </p:sp>
        <p:sp>
          <p:nvSpPr>
            <p:cNvPr id="395458" name="矩形 395457"/>
            <p:cNvSpPr/>
            <p:nvPr/>
          </p:nvSpPr>
          <p:spPr>
            <a:xfrm>
              <a:off x="3276" y="1873"/>
              <a:ext cx="67" cy="145"/>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p</a:t>
              </a:r>
              <a:endParaRPr lang="en-US" altLang="zh-CN" sz="1500" i="0">
                <a:solidFill>
                  <a:schemeClr val="tx2"/>
                </a:solidFill>
                <a:latin typeface="Arial" panose="020B0604020202020204" pitchFamily="34" charset="0"/>
              </a:endParaRPr>
            </a:p>
          </p:txBody>
        </p:sp>
      </p:grpSp>
      <p:sp>
        <p:nvSpPr>
          <p:cNvPr id="3" name="文本框 2"/>
          <p:cNvSpPr txBox="1"/>
          <p:nvPr/>
        </p:nvSpPr>
        <p:spPr>
          <a:xfrm>
            <a:off x="4867910" y="3902710"/>
            <a:ext cx="3343910" cy="1198880"/>
          </a:xfrm>
          <a:prstGeom prst="rect">
            <a:avLst/>
          </a:prstGeom>
          <a:noFill/>
        </p:spPr>
        <p:txBody>
          <a:bodyPr wrap="none" rtlCol="0" anchor="t">
            <a:spAutoFit/>
          </a:bodyPr>
          <a:lstStyle/>
          <a:p>
            <a:pPr algn="l"/>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1. </a:t>
            </a:r>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输出电压摆幅等于电源电压</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（高低输出电平为</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V</a:t>
            </a:r>
            <a:r>
              <a:rPr lang="en-US" altLang="zh-CN"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dd</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GND</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好处</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：噪声容限</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大</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静态</a:t>
            </a:r>
            <a:endParaRPr lang="zh-CN" altLang="en-US"/>
          </a:p>
        </p:txBody>
      </p:sp>
      <p:sp>
        <p:nvSpPr>
          <p:cNvPr id="395409" name="矩形 395408"/>
          <p:cNvSpPr/>
          <p:nvPr/>
        </p:nvSpPr>
        <p:spPr>
          <a:xfrm>
            <a:off x="5845863" y="2076979"/>
            <a:ext cx="1838854" cy="1415521"/>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nchorCtr="0"/>
          <a:lstStyle/>
          <a:p>
            <a:pPr algn="ctr"/>
            <a:r>
              <a:rPr lang="en-US" altLang="zh-CN" sz="1500">
                <a:solidFill>
                  <a:schemeClr val="tx1"/>
                </a:solidFill>
                <a:latin typeface="Arial" panose="020B0604020202020204" pitchFamily="34" charset="0"/>
              </a:rPr>
              <a:t>MOS</a:t>
            </a:r>
            <a:r>
              <a:rPr lang="zh-CN" altLang="en-US" sz="1500">
                <a:solidFill>
                  <a:schemeClr val="tx1"/>
                </a:solidFill>
                <a:latin typeface="Arial" panose="020B0604020202020204" pitchFamily="34" charset="0"/>
              </a:rPr>
              <a:t>器件</a:t>
            </a:r>
            <a:endParaRPr lang="zh-CN" altLang="en-US" sz="1500">
              <a:solidFill>
                <a:schemeClr val="tx1"/>
              </a:solidFill>
              <a:latin typeface="Arial" panose="020B0604020202020204" pitchFamily="34" charset="0"/>
            </a:endParaRPr>
          </a:p>
          <a:p>
            <a:pPr algn="ctr"/>
            <a:r>
              <a:rPr lang="zh-CN" altLang="en-US" sz="1500">
                <a:solidFill>
                  <a:schemeClr val="tx1"/>
                </a:solidFill>
                <a:latin typeface="Arial" panose="020B0604020202020204" pitchFamily="34" charset="0"/>
              </a:rPr>
              <a:t>开关结构</a:t>
            </a:r>
            <a:endParaRPr lang="zh-CN" altLang="en-US" sz="1500">
              <a:solidFill>
                <a:schemeClr val="tx1"/>
              </a:solidFill>
              <a:latin typeface="Arial" panose="020B0604020202020204" pitchFamily="34" charset="0"/>
            </a:endParaRPr>
          </a:p>
        </p:txBody>
      </p:sp>
      <p:sp>
        <p:nvSpPr>
          <p:cNvPr id="395411" name="椭圆 395410"/>
          <p:cNvSpPr/>
          <p:nvPr/>
        </p:nvSpPr>
        <p:spPr>
          <a:xfrm>
            <a:off x="3641725" y="3079115"/>
            <a:ext cx="78105" cy="78105"/>
          </a:xfrm>
          <a:prstGeom prst="ellipse">
            <a:avLst/>
          </a:prstGeom>
          <a:solidFill>
            <a:srgbClr val="000000"/>
          </a:solidFill>
          <a:ln w="9525">
            <a:noFill/>
          </a:ln>
        </p:spPr>
        <p:txBody>
          <a:bodyPr/>
          <a:lstStyle/>
          <a:p>
            <a:endParaRPr lang="zh-CN" altLang="en-US" sz="1500"/>
          </a:p>
        </p:txBody>
      </p:sp>
      <p:sp>
        <p:nvSpPr>
          <p:cNvPr id="395412" name="直接连接符 395411"/>
          <p:cNvSpPr/>
          <p:nvPr/>
        </p:nvSpPr>
        <p:spPr>
          <a:xfrm flipH="1">
            <a:off x="3426460" y="1803400"/>
            <a:ext cx="516255" cy="1270"/>
          </a:xfrm>
          <a:prstGeom prst="line">
            <a:avLst/>
          </a:prstGeom>
          <a:ln w="15875" cap="flat" cmpd="sng">
            <a:solidFill>
              <a:srgbClr val="000000"/>
            </a:solidFill>
            <a:prstDash val="solid"/>
            <a:miter/>
            <a:headEnd type="none" w="med" len="med"/>
            <a:tailEnd type="none" w="med" len="med"/>
          </a:ln>
        </p:spPr>
      </p:sp>
      <p:sp>
        <p:nvSpPr>
          <p:cNvPr id="395413" name="直接连接符 395412"/>
          <p:cNvSpPr/>
          <p:nvPr/>
        </p:nvSpPr>
        <p:spPr>
          <a:xfrm flipH="1">
            <a:off x="3681730" y="3118485"/>
            <a:ext cx="438150" cy="1270"/>
          </a:xfrm>
          <a:prstGeom prst="line">
            <a:avLst/>
          </a:prstGeom>
          <a:ln w="15875" cap="flat" cmpd="sng">
            <a:solidFill>
              <a:srgbClr val="000000"/>
            </a:solidFill>
            <a:prstDash val="solid"/>
            <a:miter/>
            <a:headEnd type="none" w="med" len="med"/>
            <a:tailEnd type="none" w="med" len="med"/>
          </a:ln>
        </p:spPr>
      </p:sp>
      <p:sp>
        <p:nvSpPr>
          <p:cNvPr id="395414" name="椭圆 395413"/>
          <p:cNvSpPr/>
          <p:nvPr/>
        </p:nvSpPr>
        <p:spPr>
          <a:xfrm>
            <a:off x="4119245" y="3072130"/>
            <a:ext cx="91440" cy="91440"/>
          </a:xfrm>
          <a:prstGeom prst="ellipse">
            <a:avLst/>
          </a:pr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15" name="直接连接符 395414"/>
          <p:cNvSpPr/>
          <p:nvPr/>
        </p:nvSpPr>
        <p:spPr>
          <a:xfrm flipH="1">
            <a:off x="3537585" y="4503420"/>
            <a:ext cx="294005" cy="1270"/>
          </a:xfrm>
          <a:prstGeom prst="line">
            <a:avLst/>
          </a:prstGeom>
          <a:ln w="23813" cap="flat" cmpd="sng">
            <a:solidFill>
              <a:srgbClr val="000000"/>
            </a:solidFill>
            <a:prstDash val="solid"/>
            <a:miter/>
            <a:headEnd type="none" w="med" len="med"/>
            <a:tailEnd type="none" w="med" len="med"/>
          </a:ln>
        </p:spPr>
      </p:sp>
      <p:sp>
        <p:nvSpPr>
          <p:cNvPr id="395416" name="直接连接符 395415"/>
          <p:cNvSpPr/>
          <p:nvPr/>
        </p:nvSpPr>
        <p:spPr>
          <a:xfrm flipH="1">
            <a:off x="3596640" y="4563110"/>
            <a:ext cx="182880" cy="1270"/>
          </a:xfrm>
          <a:prstGeom prst="line">
            <a:avLst/>
          </a:prstGeom>
          <a:ln w="23813" cap="flat" cmpd="sng">
            <a:solidFill>
              <a:srgbClr val="000000"/>
            </a:solidFill>
            <a:prstDash val="solid"/>
            <a:miter/>
            <a:headEnd type="none" w="med" len="med"/>
            <a:tailEnd type="none" w="med" len="med"/>
          </a:ln>
        </p:spPr>
      </p:sp>
      <p:sp>
        <p:nvSpPr>
          <p:cNvPr id="395417" name="直接连接符 395416"/>
          <p:cNvSpPr/>
          <p:nvPr/>
        </p:nvSpPr>
        <p:spPr>
          <a:xfrm flipH="1">
            <a:off x="3641725" y="4621530"/>
            <a:ext cx="84455" cy="1270"/>
          </a:xfrm>
          <a:prstGeom prst="line">
            <a:avLst/>
          </a:prstGeom>
          <a:ln w="23813" cap="flat" cmpd="sng">
            <a:solidFill>
              <a:srgbClr val="000000"/>
            </a:solidFill>
            <a:prstDash val="solid"/>
            <a:miter/>
            <a:headEnd type="none" w="med" len="med"/>
            <a:tailEnd type="none" w="med" len="med"/>
          </a:ln>
        </p:spPr>
      </p:sp>
      <p:sp>
        <p:nvSpPr>
          <p:cNvPr id="395418" name="任意多边形 395417"/>
          <p:cNvSpPr/>
          <p:nvPr/>
        </p:nvSpPr>
        <p:spPr>
          <a:xfrm>
            <a:off x="1196975" y="2699385"/>
            <a:ext cx="175895" cy="104775"/>
          </a:xfrm>
          <a:custGeom>
            <a:avLst/>
            <a:gdLst/>
            <a:ahLst/>
            <a:cxnLst/>
            <a:rect l="0" t="0" r="0" b="0"/>
            <a:pathLst>
              <a:path w="27" h="16">
                <a:moveTo>
                  <a:pt x="27" y="0"/>
                </a:moveTo>
                <a:cubicBezTo>
                  <a:pt x="17" y="3"/>
                  <a:pt x="8" y="8"/>
                  <a:pt x="0" y="16"/>
                </a:cubicBezTo>
              </a:path>
            </a:pathLst>
          </a:cu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19" name="任意多边形 395418"/>
          <p:cNvSpPr/>
          <p:nvPr/>
        </p:nvSpPr>
        <p:spPr>
          <a:xfrm>
            <a:off x="1130935" y="2752090"/>
            <a:ext cx="117475" cy="111125"/>
          </a:xfrm>
          <a:custGeom>
            <a:avLst/>
            <a:gdLst/>
            <a:ahLst/>
            <a:cxnLst/>
            <a:rect l="0" t="0" r="0" b="0"/>
            <a:pathLst>
              <a:path w="18" h="17">
                <a:moveTo>
                  <a:pt x="11" y="6"/>
                </a:moveTo>
                <a:cubicBezTo>
                  <a:pt x="18" y="8"/>
                  <a:pt x="18" y="8"/>
                  <a:pt x="18" y="8"/>
                </a:cubicBezTo>
                <a:cubicBezTo>
                  <a:pt x="18" y="9"/>
                  <a:pt x="18" y="9"/>
                  <a:pt x="18" y="9"/>
                </a:cubicBezTo>
                <a:cubicBezTo>
                  <a:pt x="8" y="12"/>
                  <a:pt x="8" y="12"/>
                  <a:pt x="8" y="12"/>
                </a:cubicBezTo>
                <a:cubicBezTo>
                  <a:pt x="6" y="14"/>
                  <a:pt x="3" y="16"/>
                  <a:pt x="0" y="17"/>
                </a:cubicBezTo>
                <a:cubicBezTo>
                  <a:pt x="2" y="15"/>
                  <a:pt x="4" y="12"/>
                  <a:pt x="5" y="9"/>
                </a:cubicBezTo>
                <a:cubicBezTo>
                  <a:pt x="10" y="0"/>
                  <a:pt x="10" y="0"/>
                  <a:pt x="10" y="0"/>
                </a:cubicBezTo>
                <a:cubicBezTo>
                  <a:pt x="10" y="0"/>
                  <a:pt x="10" y="0"/>
                  <a:pt x="10" y="0"/>
                </a:cubicBezTo>
                <a:cubicBezTo>
                  <a:pt x="11" y="6"/>
                  <a:pt x="11" y="6"/>
                  <a:pt x="11" y="6"/>
                </a:cubicBezTo>
              </a:path>
            </a:pathLst>
          </a:custGeom>
          <a:solidFill>
            <a:srgbClr val="000000"/>
          </a:solidFill>
          <a:ln w="9525">
            <a:noFill/>
          </a:ln>
        </p:spPr>
        <p:txBody>
          <a:bodyPr/>
          <a:lstStyle/>
          <a:p>
            <a:endParaRPr lang="zh-CN" altLang="en-US" sz="1500"/>
          </a:p>
        </p:txBody>
      </p:sp>
      <p:sp>
        <p:nvSpPr>
          <p:cNvPr id="395420" name="任意多边形 395419"/>
          <p:cNvSpPr>
            <a:spLocks noEditPoints="1"/>
          </p:cNvSpPr>
          <p:nvPr/>
        </p:nvSpPr>
        <p:spPr>
          <a:xfrm>
            <a:off x="1183640" y="1803400"/>
            <a:ext cx="222250" cy="1962150"/>
          </a:xfrm>
          <a:custGeom>
            <a:avLst/>
            <a:gdLst/>
            <a:ahLst/>
            <a:cxnLst/>
            <a:rect l="0" t="0" r="0" b="0"/>
            <a:pathLst>
              <a:path w="168" h="1483">
                <a:moveTo>
                  <a:pt x="168" y="1483"/>
                </a:moveTo>
                <a:lnTo>
                  <a:pt x="168" y="865"/>
                </a:lnTo>
                <a:lnTo>
                  <a:pt x="0" y="588"/>
                </a:lnTo>
                <a:moveTo>
                  <a:pt x="168" y="539"/>
                </a:moveTo>
                <a:lnTo>
                  <a:pt x="168" y="0"/>
                </a:lnTo>
              </a:path>
            </a:pathLst>
          </a:cu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21" name="任意多边形 395420"/>
          <p:cNvSpPr/>
          <p:nvPr/>
        </p:nvSpPr>
        <p:spPr>
          <a:xfrm>
            <a:off x="3479165" y="3738880"/>
            <a:ext cx="175895" cy="104775"/>
          </a:xfrm>
          <a:custGeom>
            <a:avLst/>
            <a:gdLst/>
            <a:ahLst/>
            <a:cxnLst/>
            <a:rect l="0" t="0" r="0" b="0"/>
            <a:pathLst>
              <a:path w="27" h="16">
                <a:moveTo>
                  <a:pt x="27" y="0"/>
                </a:moveTo>
                <a:cubicBezTo>
                  <a:pt x="17" y="3"/>
                  <a:pt x="7" y="9"/>
                  <a:pt x="0" y="16"/>
                </a:cubicBezTo>
              </a:path>
            </a:pathLst>
          </a:cu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22" name="任意多边形 395421"/>
          <p:cNvSpPr/>
          <p:nvPr/>
        </p:nvSpPr>
        <p:spPr>
          <a:xfrm>
            <a:off x="3406140" y="3791585"/>
            <a:ext cx="117475" cy="111125"/>
          </a:xfrm>
          <a:custGeom>
            <a:avLst/>
            <a:gdLst/>
            <a:ahLst/>
            <a:cxnLst/>
            <a:rect l="0" t="0" r="0" b="0"/>
            <a:pathLst>
              <a:path w="18" h="17">
                <a:moveTo>
                  <a:pt x="12" y="7"/>
                </a:moveTo>
                <a:cubicBezTo>
                  <a:pt x="18" y="9"/>
                  <a:pt x="18" y="9"/>
                  <a:pt x="18" y="9"/>
                </a:cubicBezTo>
                <a:cubicBezTo>
                  <a:pt x="18" y="9"/>
                  <a:pt x="18" y="9"/>
                  <a:pt x="18" y="9"/>
                </a:cubicBezTo>
                <a:cubicBezTo>
                  <a:pt x="9" y="12"/>
                  <a:pt x="9" y="12"/>
                  <a:pt x="9" y="12"/>
                </a:cubicBezTo>
                <a:cubicBezTo>
                  <a:pt x="6" y="14"/>
                  <a:pt x="3" y="16"/>
                  <a:pt x="0" y="17"/>
                </a:cubicBezTo>
                <a:cubicBezTo>
                  <a:pt x="2" y="15"/>
                  <a:pt x="4" y="12"/>
                  <a:pt x="6" y="9"/>
                </a:cubicBezTo>
                <a:cubicBezTo>
                  <a:pt x="10" y="0"/>
                  <a:pt x="10" y="0"/>
                  <a:pt x="10" y="0"/>
                </a:cubicBezTo>
                <a:cubicBezTo>
                  <a:pt x="10" y="0"/>
                  <a:pt x="10" y="0"/>
                  <a:pt x="10" y="0"/>
                </a:cubicBezTo>
                <a:cubicBezTo>
                  <a:pt x="12" y="7"/>
                  <a:pt x="12" y="7"/>
                  <a:pt x="12" y="7"/>
                </a:cubicBezTo>
              </a:path>
            </a:pathLst>
          </a:custGeom>
          <a:solidFill>
            <a:srgbClr val="000000"/>
          </a:solidFill>
          <a:ln w="9525">
            <a:noFill/>
          </a:ln>
        </p:spPr>
        <p:txBody>
          <a:bodyPr/>
          <a:lstStyle/>
          <a:p>
            <a:endParaRPr lang="zh-CN" altLang="en-US" sz="1500"/>
          </a:p>
        </p:txBody>
      </p:sp>
      <p:sp>
        <p:nvSpPr>
          <p:cNvPr id="395423" name="任意多边形 395422"/>
          <p:cNvSpPr/>
          <p:nvPr/>
        </p:nvSpPr>
        <p:spPr>
          <a:xfrm>
            <a:off x="3459480" y="3621405"/>
            <a:ext cx="222250" cy="882650"/>
          </a:xfrm>
          <a:custGeom>
            <a:avLst/>
            <a:gdLst/>
            <a:ahLst/>
            <a:cxnLst/>
            <a:rect l="0" t="0" r="0" b="0"/>
            <a:pathLst>
              <a:path w="168" h="667">
                <a:moveTo>
                  <a:pt x="168" y="667"/>
                </a:moveTo>
                <a:lnTo>
                  <a:pt x="168" y="277"/>
                </a:lnTo>
                <a:lnTo>
                  <a:pt x="0" y="0"/>
                </a:lnTo>
              </a:path>
            </a:pathLst>
          </a:cu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24" name="直接连接符 395423"/>
          <p:cNvSpPr/>
          <p:nvPr/>
        </p:nvSpPr>
        <p:spPr>
          <a:xfrm flipV="1">
            <a:off x="3681730" y="1803400"/>
            <a:ext cx="1270" cy="268605"/>
          </a:xfrm>
          <a:prstGeom prst="line">
            <a:avLst/>
          </a:prstGeom>
          <a:ln w="15875" cap="flat" cmpd="sng">
            <a:solidFill>
              <a:srgbClr val="000000"/>
            </a:solidFill>
            <a:prstDash val="solid"/>
            <a:miter/>
            <a:headEnd type="none" w="med" len="med"/>
            <a:tailEnd type="none" w="med" len="med"/>
          </a:ln>
        </p:spPr>
      </p:sp>
      <p:sp>
        <p:nvSpPr>
          <p:cNvPr id="395425" name="直接连接符 395424"/>
          <p:cNvSpPr/>
          <p:nvPr/>
        </p:nvSpPr>
        <p:spPr>
          <a:xfrm flipV="1">
            <a:off x="3681730" y="2543175"/>
            <a:ext cx="1270" cy="1013460"/>
          </a:xfrm>
          <a:prstGeom prst="line">
            <a:avLst/>
          </a:prstGeom>
          <a:ln w="15875" cap="flat" cmpd="sng">
            <a:solidFill>
              <a:srgbClr val="000000"/>
            </a:solidFill>
            <a:prstDash val="solid"/>
            <a:miter/>
            <a:headEnd type="none" w="med" len="med"/>
            <a:tailEnd type="none" w="med" len="med"/>
          </a:ln>
        </p:spPr>
      </p:sp>
      <p:sp>
        <p:nvSpPr>
          <p:cNvPr id="395426" name="任意多边形 395425"/>
          <p:cNvSpPr/>
          <p:nvPr/>
        </p:nvSpPr>
        <p:spPr>
          <a:xfrm>
            <a:off x="3602355" y="2072005"/>
            <a:ext cx="163830" cy="471170"/>
          </a:xfrm>
          <a:custGeom>
            <a:avLst/>
            <a:gdLst/>
            <a:ahLst/>
            <a:cxnLst/>
            <a:rect l="0" t="0" r="0" b="0"/>
            <a:pathLst>
              <a:path w="124" h="356">
                <a:moveTo>
                  <a:pt x="60" y="0"/>
                </a:moveTo>
                <a:lnTo>
                  <a:pt x="124" y="29"/>
                </a:lnTo>
                <a:lnTo>
                  <a:pt x="0" y="89"/>
                </a:lnTo>
                <a:lnTo>
                  <a:pt x="124" y="148"/>
                </a:lnTo>
                <a:lnTo>
                  <a:pt x="0" y="207"/>
                </a:lnTo>
                <a:lnTo>
                  <a:pt x="124" y="267"/>
                </a:lnTo>
                <a:lnTo>
                  <a:pt x="0" y="326"/>
                </a:lnTo>
                <a:lnTo>
                  <a:pt x="60" y="356"/>
                </a:lnTo>
              </a:path>
            </a:pathLst>
          </a:custGeom>
          <a:noFill/>
          <a:ln w="23813" cap="flat" cmpd="sng">
            <a:solidFill>
              <a:srgbClr val="000000"/>
            </a:solidFill>
            <a:prstDash val="solid"/>
            <a:miter/>
            <a:headEnd type="none" w="med" len="med"/>
            <a:tailEnd type="none" w="med" len="med"/>
          </a:ln>
        </p:spPr>
        <p:txBody>
          <a:bodyPr/>
          <a:lstStyle/>
          <a:p>
            <a:endParaRPr lang="zh-CN" altLang="en-US" sz="1500"/>
          </a:p>
        </p:txBody>
      </p:sp>
      <p:sp>
        <p:nvSpPr>
          <p:cNvPr id="395427" name="椭圆 395426"/>
          <p:cNvSpPr/>
          <p:nvPr/>
        </p:nvSpPr>
        <p:spPr>
          <a:xfrm>
            <a:off x="3635375" y="3941445"/>
            <a:ext cx="91440" cy="92710"/>
          </a:xfrm>
          <a:prstGeom prst="ellipse">
            <a:avLst/>
          </a:prstGeom>
          <a:solidFill>
            <a:srgbClr val="FFFFFF"/>
          </a:solidFill>
          <a:ln w="15875" cap="flat" cmpd="sng">
            <a:solidFill>
              <a:srgbClr val="000000"/>
            </a:solidFill>
            <a:prstDash val="solid"/>
            <a:miter/>
            <a:headEnd type="none" w="med" len="med"/>
            <a:tailEnd type="none" w="med" len="med"/>
          </a:ln>
        </p:spPr>
        <p:txBody>
          <a:bodyPr/>
          <a:lstStyle/>
          <a:p>
            <a:endParaRPr lang="zh-CN" altLang="en-US" sz="1500"/>
          </a:p>
        </p:txBody>
      </p:sp>
      <p:sp>
        <p:nvSpPr>
          <p:cNvPr id="395428" name="直接连接符 395427"/>
          <p:cNvSpPr/>
          <p:nvPr/>
        </p:nvSpPr>
        <p:spPr>
          <a:xfrm flipH="1">
            <a:off x="1144270" y="1803400"/>
            <a:ext cx="517525" cy="1270"/>
          </a:xfrm>
          <a:prstGeom prst="line">
            <a:avLst/>
          </a:prstGeom>
          <a:ln w="15875" cap="flat" cmpd="sng">
            <a:solidFill>
              <a:srgbClr val="000000"/>
            </a:solidFill>
            <a:prstDash val="solid"/>
            <a:miter/>
            <a:headEnd type="none" w="med" len="med"/>
            <a:tailEnd type="none" w="med" len="med"/>
          </a:ln>
        </p:spPr>
      </p:sp>
      <p:sp>
        <p:nvSpPr>
          <p:cNvPr id="395429" name="直接连接符 395428"/>
          <p:cNvSpPr/>
          <p:nvPr/>
        </p:nvSpPr>
        <p:spPr>
          <a:xfrm flipH="1">
            <a:off x="1255395" y="4503420"/>
            <a:ext cx="301625" cy="1270"/>
          </a:xfrm>
          <a:prstGeom prst="line">
            <a:avLst/>
          </a:prstGeom>
          <a:ln w="23813" cap="flat" cmpd="sng">
            <a:solidFill>
              <a:srgbClr val="000000"/>
            </a:solidFill>
            <a:prstDash val="solid"/>
            <a:miter/>
            <a:headEnd type="none" w="med" len="med"/>
            <a:tailEnd type="none" w="med" len="med"/>
          </a:ln>
        </p:spPr>
      </p:sp>
      <p:sp>
        <p:nvSpPr>
          <p:cNvPr id="395430" name="直接连接符 395429"/>
          <p:cNvSpPr/>
          <p:nvPr/>
        </p:nvSpPr>
        <p:spPr>
          <a:xfrm flipH="1">
            <a:off x="1315085" y="4563110"/>
            <a:ext cx="189230" cy="1270"/>
          </a:xfrm>
          <a:prstGeom prst="line">
            <a:avLst/>
          </a:prstGeom>
          <a:ln w="23813" cap="flat" cmpd="sng">
            <a:solidFill>
              <a:srgbClr val="000000"/>
            </a:solidFill>
            <a:prstDash val="solid"/>
            <a:miter/>
            <a:headEnd type="none" w="med" len="med"/>
            <a:tailEnd type="none" w="med" len="med"/>
          </a:ln>
        </p:spPr>
      </p:sp>
      <p:sp>
        <p:nvSpPr>
          <p:cNvPr id="395431" name="直接连接符 395430"/>
          <p:cNvSpPr/>
          <p:nvPr/>
        </p:nvSpPr>
        <p:spPr>
          <a:xfrm flipH="1">
            <a:off x="1360170" y="4621530"/>
            <a:ext cx="91440" cy="1270"/>
          </a:xfrm>
          <a:prstGeom prst="line">
            <a:avLst/>
          </a:prstGeom>
          <a:ln w="23813" cap="flat" cmpd="sng">
            <a:solidFill>
              <a:srgbClr val="000000"/>
            </a:solidFill>
            <a:prstDash val="solid"/>
            <a:miter/>
            <a:headEnd type="none" w="med" len="med"/>
            <a:tailEnd type="none" w="med" len="med"/>
          </a:ln>
        </p:spPr>
      </p:sp>
      <p:sp>
        <p:nvSpPr>
          <p:cNvPr id="395432" name="椭圆 395431"/>
          <p:cNvSpPr/>
          <p:nvPr/>
        </p:nvSpPr>
        <p:spPr>
          <a:xfrm>
            <a:off x="1366520" y="3242945"/>
            <a:ext cx="79375" cy="78105"/>
          </a:xfrm>
          <a:prstGeom prst="ellipse">
            <a:avLst/>
          </a:prstGeom>
          <a:solidFill>
            <a:srgbClr val="000000"/>
          </a:solidFill>
          <a:ln w="9525">
            <a:noFill/>
          </a:ln>
        </p:spPr>
        <p:txBody>
          <a:bodyPr/>
          <a:lstStyle/>
          <a:p>
            <a:endParaRPr lang="zh-CN" altLang="en-US" sz="1500"/>
          </a:p>
        </p:txBody>
      </p:sp>
      <p:sp>
        <p:nvSpPr>
          <p:cNvPr id="395433" name="直接连接符 395432"/>
          <p:cNvSpPr/>
          <p:nvPr/>
        </p:nvSpPr>
        <p:spPr>
          <a:xfrm flipH="1">
            <a:off x="1405890" y="3281045"/>
            <a:ext cx="384810" cy="1270"/>
          </a:xfrm>
          <a:prstGeom prst="line">
            <a:avLst/>
          </a:prstGeom>
          <a:ln w="15875" cap="flat" cmpd="sng">
            <a:solidFill>
              <a:srgbClr val="000000"/>
            </a:solidFill>
            <a:prstDash val="solid"/>
            <a:miter/>
            <a:headEnd type="none" w="med" len="med"/>
            <a:tailEnd type="none" w="med" len="med"/>
          </a:ln>
        </p:spPr>
      </p:sp>
      <p:sp>
        <p:nvSpPr>
          <p:cNvPr id="395434" name="椭圆 395433"/>
          <p:cNvSpPr/>
          <p:nvPr/>
        </p:nvSpPr>
        <p:spPr>
          <a:xfrm>
            <a:off x="1791335" y="3235960"/>
            <a:ext cx="92710" cy="91440"/>
          </a:xfrm>
          <a:prstGeom prst="ellipse">
            <a:avLst/>
          </a:pr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35" name="椭圆 395434"/>
          <p:cNvSpPr/>
          <p:nvPr/>
        </p:nvSpPr>
        <p:spPr>
          <a:xfrm>
            <a:off x="1360170" y="2901315"/>
            <a:ext cx="91440" cy="92710"/>
          </a:xfrm>
          <a:prstGeom prst="ellipse">
            <a:avLst/>
          </a:prstGeom>
          <a:solidFill>
            <a:srgbClr val="FFFFFF"/>
          </a:solidFill>
          <a:ln w="15875" cap="flat" cmpd="sng">
            <a:solidFill>
              <a:srgbClr val="000000"/>
            </a:solidFill>
            <a:prstDash val="solid"/>
            <a:miter/>
            <a:headEnd type="none" w="med" len="med"/>
            <a:tailEnd type="none" w="med" len="med"/>
          </a:ln>
        </p:spPr>
        <p:txBody>
          <a:bodyPr/>
          <a:lstStyle/>
          <a:p>
            <a:endParaRPr lang="zh-CN" altLang="en-US" sz="1500"/>
          </a:p>
        </p:txBody>
      </p:sp>
      <p:sp>
        <p:nvSpPr>
          <p:cNvPr id="395436" name="直接连接符 395435"/>
          <p:cNvSpPr/>
          <p:nvPr/>
        </p:nvSpPr>
        <p:spPr>
          <a:xfrm>
            <a:off x="1405890" y="4236085"/>
            <a:ext cx="1270" cy="267335"/>
          </a:xfrm>
          <a:prstGeom prst="line">
            <a:avLst/>
          </a:prstGeom>
          <a:ln w="15875" cap="flat" cmpd="sng">
            <a:solidFill>
              <a:srgbClr val="000000"/>
            </a:solidFill>
            <a:prstDash val="solid"/>
            <a:miter/>
            <a:headEnd type="none" w="med" len="med"/>
            <a:tailEnd type="none" w="med" len="med"/>
          </a:ln>
        </p:spPr>
      </p:sp>
      <p:sp>
        <p:nvSpPr>
          <p:cNvPr id="395437" name="任意多边形 395436"/>
          <p:cNvSpPr/>
          <p:nvPr/>
        </p:nvSpPr>
        <p:spPr>
          <a:xfrm>
            <a:off x="1328420" y="3765550"/>
            <a:ext cx="156210" cy="471170"/>
          </a:xfrm>
          <a:custGeom>
            <a:avLst/>
            <a:gdLst/>
            <a:ahLst/>
            <a:cxnLst/>
            <a:rect l="0" t="0" r="0" b="0"/>
            <a:pathLst>
              <a:path w="118" h="356">
                <a:moveTo>
                  <a:pt x="59" y="356"/>
                </a:moveTo>
                <a:lnTo>
                  <a:pt x="0" y="326"/>
                </a:lnTo>
                <a:lnTo>
                  <a:pt x="118" y="267"/>
                </a:lnTo>
                <a:lnTo>
                  <a:pt x="0" y="208"/>
                </a:lnTo>
                <a:lnTo>
                  <a:pt x="118" y="148"/>
                </a:lnTo>
                <a:lnTo>
                  <a:pt x="0" y="89"/>
                </a:lnTo>
                <a:lnTo>
                  <a:pt x="118" y="30"/>
                </a:lnTo>
                <a:lnTo>
                  <a:pt x="59" y="0"/>
                </a:lnTo>
              </a:path>
            </a:pathLst>
          </a:custGeom>
          <a:noFill/>
          <a:ln w="23813" cap="flat" cmpd="sng">
            <a:solidFill>
              <a:srgbClr val="000000"/>
            </a:solidFill>
            <a:prstDash val="solid"/>
            <a:miter/>
            <a:headEnd type="none" w="med" len="med"/>
            <a:tailEnd type="none" w="med" len="med"/>
          </a:ln>
        </p:spPr>
        <p:txBody>
          <a:bodyPr/>
          <a:lstStyle/>
          <a:p>
            <a:endParaRPr lang="zh-CN" altLang="en-US" sz="1500"/>
          </a:p>
        </p:txBody>
      </p:sp>
      <p:sp>
        <p:nvSpPr>
          <p:cNvPr id="395438" name="矩形 395437"/>
          <p:cNvSpPr/>
          <p:nvPr/>
        </p:nvSpPr>
        <p:spPr>
          <a:xfrm>
            <a:off x="1195705" y="1451610"/>
            <a:ext cx="141605" cy="255270"/>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39" name="矩形 395438"/>
          <p:cNvSpPr/>
          <p:nvPr/>
        </p:nvSpPr>
        <p:spPr>
          <a:xfrm>
            <a:off x="1346835" y="1557655"/>
            <a:ext cx="230505" cy="191770"/>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DD</a:t>
            </a:r>
            <a:endParaRPr lang="en-US" altLang="zh-CN" sz="1500" i="0">
              <a:solidFill>
                <a:schemeClr val="tx2"/>
              </a:solidFill>
              <a:latin typeface="Arial" panose="020B0604020202020204" pitchFamily="34" charset="0"/>
            </a:endParaRPr>
          </a:p>
        </p:txBody>
      </p:sp>
      <p:sp>
        <p:nvSpPr>
          <p:cNvPr id="395440" name="矩形 395439"/>
          <p:cNvSpPr/>
          <p:nvPr/>
        </p:nvSpPr>
        <p:spPr>
          <a:xfrm>
            <a:off x="3477895" y="1451610"/>
            <a:ext cx="141605" cy="255270"/>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41" name="矩形 395440"/>
          <p:cNvSpPr/>
          <p:nvPr/>
        </p:nvSpPr>
        <p:spPr>
          <a:xfrm>
            <a:off x="3628390" y="1557655"/>
            <a:ext cx="230505" cy="191770"/>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DD</a:t>
            </a:r>
            <a:endParaRPr lang="en-US" altLang="zh-CN" sz="1500" i="0">
              <a:solidFill>
                <a:schemeClr val="tx2"/>
              </a:solidFill>
              <a:latin typeface="Arial" panose="020B0604020202020204" pitchFamily="34" charset="0"/>
            </a:endParaRPr>
          </a:p>
        </p:txBody>
      </p:sp>
      <p:sp>
        <p:nvSpPr>
          <p:cNvPr id="395451" name="矩形 395450"/>
          <p:cNvSpPr/>
          <p:nvPr/>
        </p:nvSpPr>
        <p:spPr>
          <a:xfrm>
            <a:off x="2001520" y="3108960"/>
            <a:ext cx="141605" cy="255270"/>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52" name="矩形 395451"/>
          <p:cNvSpPr/>
          <p:nvPr/>
        </p:nvSpPr>
        <p:spPr>
          <a:xfrm>
            <a:off x="2152015" y="3215005"/>
            <a:ext cx="220980" cy="191770"/>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out</a:t>
            </a:r>
            <a:endParaRPr lang="en-US" altLang="zh-CN" sz="1500" i="0">
              <a:solidFill>
                <a:schemeClr val="tx2"/>
              </a:solidFill>
              <a:latin typeface="Arial" panose="020B0604020202020204" pitchFamily="34" charset="0"/>
            </a:endParaRPr>
          </a:p>
        </p:txBody>
      </p:sp>
      <p:sp>
        <p:nvSpPr>
          <p:cNvPr id="395453" name="矩形 395452"/>
          <p:cNvSpPr/>
          <p:nvPr/>
        </p:nvSpPr>
        <p:spPr>
          <a:xfrm>
            <a:off x="4299585" y="2966085"/>
            <a:ext cx="141605" cy="255270"/>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54" name="矩形 395453"/>
          <p:cNvSpPr/>
          <p:nvPr/>
        </p:nvSpPr>
        <p:spPr>
          <a:xfrm>
            <a:off x="4450080" y="3069590"/>
            <a:ext cx="220980" cy="191770"/>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out</a:t>
            </a:r>
            <a:endParaRPr lang="en-US" altLang="zh-CN" sz="1500" i="0">
              <a:solidFill>
                <a:schemeClr val="tx2"/>
              </a:solidFill>
              <a:latin typeface="Arial" panose="020B0604020202020204" pitchFamily="34" charset="0"/>
            </a:endParaRPr>
          </a:p>
        </p:txBody>
      </p:sp>
      <p:sp>
        <p:nvSpPr>
          <p:cNvPr id="395455" name="矩形 395454"/>
          <p:cNvSpPr/>
          <p:nvPr/>
        </p:nvSpPr>
        <p:spPr>
          <a:xfrm>
            <a:off x="1562100" y="3798570"/>
            <a:ext cx="153670" cy="255270"/>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R</a:t>
            </a:r>
            <a:endParaRPr lang="en-US" altLang="zh-CN" sz="1500" i="0">
              <a:solidFill>
                <a:schemeClr val="tx2"/>
              </a:solidFill>
              <a:latin typeface="Arial" panose="020B0604020202020204" pitchFamily="34" charset="0"/>
            </a:endParaRPr>
          </a:p>
        </p:txBody>
      </p:sp>
      <p:sp>
        <p:nvSpPr>
          <p:cNvPr id="395456" name="矩形 395455"/>
          <p:cNvSpPr/>
          <p:nvPr/>
        </p:nvSpPr>
        <p:spPr>
          <a:xfrm>
            <a:off x="1714500" y="3901440"/>
            <a:ext cx="88900" cy="191770"/>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n</a:t>
            </a:r>
            <a:endParaRPr lang="en-US" altLang="zh-CN" sz="1500" i="0">
              <a:solidFill>
                <a:schemeClr val="tx2"/>
              </a:solidFill>
              <a:latin typeface="Arial" panose="020B0604020202020204" pitchFamily="34" charset="0"/>
            </a:endParaRPr>
          </a:p>
        </p:txBody>
      </p:sp>
      <p:sp>
        <p:nvSpPr>
          <p:cNvPr id="395457" name="矩形 395456"/>
          <p:cNvSpPr/>
          <p:nvPr/>
        </p:nvSpPr>
        <p:spPr>
          <a:xfrm>
            <a:off x="3841750" y="2174240"/>
            <a:ext cx="153670" cy="255270"/>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R</a:t>
            </a:r>
            <a:endParaRPr lang="en-US" altLang="zh-CN" sz="1500" i="0">
              <a:solidFill>
                <a:schemeClr val="tx2"/>
              </a:solidFill>
              <a:latin typeface="Arial" panose="020B0604020202020204" pitchFamily="34" charset="0"/>
            </a:endParaRPr>
          </a:p>
        </p:txBody>
      </p:sp>
      <p:sp>
        <p:nvSpPr>
          <p:cNvPr id="395458" name="矩形 395457"/>
          <p:cNvSpPr/>
          <p:nvPr/>
        </p:nvSpPr>
        <p:spPr>
          <a:xfrm>
            <a:off x="3992245" y="2277110"/>
            <a:ext cx="88900" cy="191770"/>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p</a:t>
            </a:r>
            <a:endParaRPr lang="en-US" altLang="zh-CN" sz="1500" i="0">
              <a:solidFill>
                <a:schemeClr val="tx2"/>
              </a:solidFill>
              <a:latin typeface="Arial" panose="020B0604020202020204" pitchFamily="34" charset="0"/>
            </a:endParaRPr>
          </a:p>
        </p:txBody>
      </p:sp>
      <p:sp>
        <p:nvSpPr>
          <p:cNvPr id="3" name="文本框 2"/>
          <p:cNvSpPr txBox="1"/>
          <p:nvPr/>
        </p:nvSpPr>
        <p:spPr>
          <a:xfrm>
            <a:off x="5302250" y="3765550"/>
            <a:ext cx="2629535" cy="1198880"/>
          </a:xfrm>
          <a:prstGeom prst="rect">
            <a:avLst/>
          </a:prstGeom>
          <a:noFill/>
        </p:spPr>
        <p:txBody>
          <a:bodyPr wrap="square" rtlCol="0" anchor="t">
            <a:spAutoFit/>
          </a:bodyPr>
          <a:lstStyle/>
          <a:p>
            <a:pPr algn="l"/>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en-US" altLang="zh-C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无比逻辑</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好处</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：逻辑电平与器件</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相对尺寸</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无关</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静态</a:t>
            </a:r>
            <a:endParaRPr lang="zh-CN" altLang="en-US"/>
          </a:p>
        </p:txBody>
      </p:sp>
      <p:sp>
        <p:nvSpPr>
          <p:cNvPr id="395411" name="椭圆 395410"/>
          <p:cNvSpPr/>
          <p:nvPr/>
        </p:nvSpPr>
        <p:spPr>
          <a:xfrm>
            <a:off x="3641725" y="3079115"/>
            <a:ext cx="78105" cy="78105"/>
          </a:xfrm>
          <a:prstGeom prst="ellipse">
            <a:avLst/>
          </a:prstGeom>
          <a:solidFill>
            <a:srgbClr val="000000"/>
          </a:solidFill>
          <a:ln w="9525">
            <a:noFill/>
          </a:ln>
        </p:spPr>
        <p:txBody>
          <a:bodyPr/>
          <a:lstStyle/>
          <a:p>
            <a:endParaRPr lang="zh-CN" altLang="en-US" sz="1500"/>
          </a:p>
        </p:txBody>
      </p:sp>
      <p:sp>
        <p:nvSpPr>
          <p:cNvPr id="395412" name="直接连接符 395411"/>
          <p:cNvSpPr/>
          <p:nvPr/>
        </p:nvSpPr>
        <p:spPr>
          <a:xfrm flipH="1">
            <a:off x="3426460" y="1803400"/>
            <a:ext cx="516255" cy="1270"/>
          </a:xfrm>
          <a:prstGeom prst="line">
            <a:avLst/>
          </a:prstGeom>
          <a:ln w="15875" cap="flat" cmpd="sng">
            <a:solidFill>
              <a:srgbClr val="000000"/>
            </a:solidFill>
            <a:prstDash val="solid"/>
            <a:miter/>
            <a:headEnd type="none" w="med" len="med"/>
            <a:tailEnd type="none" w="med" len="med"/>
          </a:ln>
        </p:spPr>
      </p:sp>
      <p:sp>
        <p:nvSpPr>
          <p:cNvPr id="395413" name="直接连接符 395412"/>
          <p:cNvSpPr/>
          <p:nvPr/>
        </p:nvSpPr>
        <p:spPr>
          <a:xfrm flipH="1">
            <a:off x="3681730" y="3118485"/>
            <a:ext cx="438150" cy="1270"/>
          </a:xfrm>
          <a:prstGeom prst="line">
            <a:avLst/>
          </a:prstGeom>
          <a:ln w="15875" cap="flat" cmpd="sng">
            <a:solidFill>
              <a:srgbClr val="000000"/>
            </a:solidFill>
            <a:prstDash val="solid"/>
            <a:miter/>
            <a:headEnd type="none" w="med" len="med"/>
            <a:tailEnd type="none" w="med" len="med"/>
          </a:ln>
        </p:spPr>
      </p:sp>
      <p:sp>
        <p:nvSpPr>
          <p:cNvPr id="395414" name="椭圆 395413"/>
          <p:cNvSpPr/>
          <p:nvPr/>
        </p:nvSpPr>
        <p:spPr>
          <a:xfrm>
            <a:off x="4119245" y="3072130"/>
            <a:ext cx="91440" cy="91440"/>
          </a:xfrm>
          <a:prstGeom prst="ellipse">
            <a:avLst/>
          </a:pr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15" name="直接连接符 395414"/>
          <p:cNvSpPr/>
          <p:nvPr/>
        </p:nvSpPr>
        <p:spPr>
          <a:xfrm flipH="1">
            <a:off x="3537585" y="4503420"/>
            <a:ext cx="294005" cy="1270"/>
          </a:xfrm>
          <a:prstGeom prst="line">
            <a:avLst/>
          </a:prstGeom>
          <a:ln w="23813" cap="flat" cmpd="sng">
            <a:solidFill>
              <a:srgbClr val="000000"/>
            </a:solidFill>
            <a:prstDash val="solid"/>
            <a:miter/>
            <a:headEnd type="none" w="med" len="med"/>
            <a:tailEnd type="none" w="med" len="med"/>
          </a:ln>
        </p:spPr>
      </p:sp>
      <p:sp>
        <p:nvSpPr>
          <p:cNvPr id="395416" name="直接连接符 395415"/>
          <p:cNvSpPr/>
          <p:nvPr/>
        </p:nvSpPr>
        <p:spPr>
          <a:xfrm flipH="1">
            <a:off x="3596640" y="4563110"/>
            <a:ext cx="182880" cy="1270"/>
          </a:xfrm>
          <a:prstGeom prst="line">
            <a:avLst/>
          </a:prstGeom>
          <a:ln w="23813" cap="flat" cmpd="sng">
            <a:solidFill>
              <a:srgbClr val="000000"/>
            </a:solidFill>
            <a:prstDash val="solid"/>
            <a:miter/>
            <a:headEnd type="none" w="med" len="med"/>
            <a:tailEnd type="none" w="med" len="med"/>
          </a:ln>
        </p:spPr>
      </p:sp>
      <p:sp>
        <p:nvSpPr>
          <p:cNvPr id="395417" name="直接连接符 395416"/>
          <p:cNvSpPr/>
          <p:nvPr/>
        </p:nvSpPr>
        <p:spPr>
          <a:xfrm flipH="1">
            <a:off x="3641725" y="4621530"/>
            <a:ext cx="84455" cy="1270"/>
          </a:xfrm>
          <a:prstGeom prst="line">
            <a:avLst/>
          </a:prstGeom>
          <a:ln w="23813" cap="flat" cmpd="sng">
            <a:solidFill>
              <a:srgbClr val="000000"/>
            </a:solidFill>
            <a:prstDash val="solid"/>
            <a:miter/>
            <a:headEnd type="none" w="med" len="med"/>
            <a:tailEnd type="none" w="med" len="med"/>
          </a:ln>
        </p:spPr>
      </p:sp>
      <p:sp>
        <p:nvSpPr>
          <p:cNvPr id="395418" name="任意多边形 395417"/>
          <p:cNvSpPr/>
          <p:nvPr/>
        </p:nvSpPr>
        <p:spPr>
          <a:xfrm>
            <a:off x="1196975" y="2699385"/>
            <a:ext cx="175895" cy="104775"/>
          </a:xfrm>
          <a:custGeom>
            <a:avLst/>
            <a:gdLst/>
            <a:ahLst/>
            <a:cxnLst/>
            <a:rect l="0" t="0" r="0" b="0"/>
            <a:pathLst>
              <a:path w="27" h="16">
                <a:moveTo>
                  <a:pt x="27" y="0"/>
                </a:moveTo>
                <a:cubicBezTo>
                  <a:pt x="17" y="3"/>
                  <a:pt x="8" y="8"/>
                  <a:pt x="0" y="16"/>
                </a:cubicBezTo>
              </a:path>
            </a:pathLst>
          </a:cu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19" name="任意多边形 395418"/>
          <p:cNvSpPr/>
          <p:nvPr/>
        </p:nvSpPr>
        <p:spPr>
          <a:xfrm>
            <a:off x="1130935" y="2752090"/>
            <a:ext cx="117475" cy="111125"/>
          </a:xfrm>
          <a:custGeom>
            <a:avLst/>
            <a:gdLst/>
            <a:ahLst/>
            <a:cxnLst/>
            <a:rect l="0" t="0" r="0" b="0"/>
            <a:pathLst>
              <a:path w="18" h="17">
                <a:moveTo>
                  <a:pt x="11" y="6"/>
                </a:moveTo>
                <a:cubicBezTo>
                  <a:pt x="18" y="8"/>
                  <a:pt x="18" y="8"/>
                  <a:pt x="18" y="8"/>
                </a:cubicBezTo>
                <a:cubicBezTo>
                  <a:pt x="18" y="9"/>
                  <a:pt x="18" y="9"/>
                  <a:pt x="18" y="9"/>
                </a:cubicBezTo>
                <a:cubicBezTo>
                  <a:pt x="8" y="12"/>
                  <a:pt x="8" y="12"/>
                  <a:pt x="8" y="12"/>
                </a:cubicBezTo>
                <a:cubicBezTo>
                  <a:pt x="6" y="14"/>
                  <a:pt x="3" y="16"/>
                  <a:pt x="0" y="17"/>
                </a:cubicBezTo>
                <a:cubicBezTo>
                  <a:pt x="2" y="15"/>
                  <a:pt x="4" y="12"/>
                  <a:pt x="5" y="9"/>
                </a:cubicBezTo>
                <a:cubicBezTo>
                  <a:pt x="10" y="0"/>
                  <a:pt x="10" y="0"/>
                  <a:pt x="10" y="0"/>
                </a:cubicBezTo>
                <a:cubicBezTo>
                  <a:pt x="10" y="0"/>
                  <a:pt x="10" y="0"/>
                  <a:pt x="10" y="0"/>
                </a:cubicBezTo>
                <a:cubicBezTo>
                  <a:pt x="11" y="6"/>
                  <a:pt x="11" y="6"/>
                  <a:pt x="11" y="6"/>
                </a:cubicBezTo>
              </a:path>
            </a:pathLst>
          </a:custGeom>
          <a:solidFill>
            <a:srgbClr val="000000"/>
          </a:solidFill>
          <a:ln w="9525">
            <a:noFill/>
          </a:ln>
        </p:spPr>
        <p:txBody>
          <a:bodyPr/>
          <a:lstStyle/>
          <a:p>
            <a:endParaRPr lang="zh-CN" altLang="en-US" sz="1500"/>
          </a:p>
        </p:txBody>
      </p:sp>
      <p:sp>
        <p:nvSpPr>
          <p:cNvPr id="395420" name="任意多边形 395419"/>
          <p:cNvSpPr>
            <a:spLocks noEditPoints="1"/>
          </p:cNvSpPr>
          <p:nvPr/>
        </p:nvSpPr>
        <p:spPr>
          <a:xfrm>
            <a:off x="1183640" y="1803400"/>
            <a:ext cx="222250" cy="1962150"/>
          </a:xfrm>
          <a:custGeom>
            <a:avLst/>
            <a:gdLst/>
            <a:ahLst/>
            <a:cxnLst/>
            <a:rect l="0" t="0" r="0" b="0"/>
            <a:pathLst>
              <a:path w="168" h="1483">
                <a:moveTo>
                  <a:pt x="168" y="1483"/>
                </a:moveTo>
                <a:lnTo>
                  <a:pt x="168" y="865"/>
                </a:lnTo>
                <a:lnTo>
                  <a:pt x="0" y="588"/>
                </a:lnTo>
                <a:moveTo>
                  <a:pt x="168" y="539"/>
                </a:moveTo>
                <a:lnTo>
                  <a:pt x="168" y="0"/>
                </a:lnTo>
              </a:path>
            </a:pathLst>
          </a:cu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21" name="任意多边形 395420"/>
          <p:cNvSpPr/>
          <p:nvPr/>
        </p:nvSpPr>
        <p:spPr>
          <a:xfrm>
            <a:off x="3479165" y="3738880"/>
            <a:ext cx="175895" cy="104775"/>
          </a:xfrm>
          <a:custGeom>
            <a:avLst/>
            <a:gdLst/>
            <a:ahLst/>
            <a:cxnLst/>
            <a:rect l="0" t="0" r="0" b="0"/>
            <a:pathLst>
              <a:path w="27" h="16">
                <a:moveTo>
                  <a:pt x="27" y="0"/>
                </a:moveTo>
                <a:cubicBezTo>
                  <a:pt x="17" y="3"/>
                  <a:pt x="7" y="9"/>
                  <a:pt x="0" y="16"/>
                </a:cubicBezTo>
              </a:path>
            </a:pathLst>
          </a:cu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22" name="任意多边形 395421"/>
          <p:cNvSpPr/>
          <p:nvPr/>
        </p:nvSpPr>
        <p:spPr>
          <a:xfrm>
            <a:off x="3406140" y="3791585"/>
            <a:ext cx="117475" cy="111125"/>
          </a:xfrm>
          <a:custGeom>
            <a:avLst/>
            <a:gdLst/>
            <a:ahLst/>
            <a:cxnLst/>
            <a:rect l="0" t="0" r="0" b="0"/>
            <a:pathLst>
              <a:path w="18" h="17">
                <a:moveTo>
                  <a:pt x="12" y="7"/>
                </a:moveTo>
                <a:cubicBezTo>
                  <a:pt x="18" y="9"/>
                  <a:pt x="18" y="9"/>
                  <a:pt x="18" y="9"/>
                </a:cubicBezTo>
                <a:cubicBezTo>
                  <a:pt x="18" y="9"/>
                  <a:pt x="18" y="9"/>
                  <a:pt x="18" y="9"/>
                </a:cubicBezTo>
                <a:cubicBezTo>
                  <a:pt x="9" y="12"/>
                  <a:pt x="9" y="12"/>
                  <a:pt x="9" y="12"/>
                </a:cubicBezTo>
                <a:cubicBezTo>
                  <a:pt x="6" y="14"/>
                  <a:pt x="3" y="16"/>
                  <a:pt x="0" y="17"/>
                </a:cubicBezTo>
                <a:cubicBezTo>
                  <a:pt x="2" y="15"/>
                  <a:pt x="4" y="12"/>
                  <a:pt x="6" y="9"/>
                </a:cubicBezTo>
                <a:cubicBezTo>
                  <a:pt x="10" y="0"/>
                  <a:pt x="10" y="0"/>
                  <a:pt x="10" y="0"/>
                </a:cubicBezTo>
                <a:cubicBezTo>
                  <a:pt x="10" y="0"/>
                  <a:pt x="10" y="0"/>
                  <a:pt x="10" y="0"/>
                </a:cubicBezTo>
                <a:cubicBezTo>
                  <a:pt x="12" y="7"/>
                  <a:pt x="12" y="7"/>
                  <a:pt x="12" y="7"/>
                </a:cubicBezTo>
              </a:path>
            </a:pathLst>
          </a:custGeom>
          <a:solidFill>
            <a:srgbClr val="000000"/>
          </a:solidFill>
          <a:ln w="9525">
            <a:noFill/>
          </a:ln>
        </p:spPr>
        <p:txBody>
          <a:bodyPr/>
          <a:lstStyle/>
          <a:p>
            <a:endParaRPr lang="zh-CN" altLang="en-US" sz="1500"/>
          </a:p>
        </p:txBody>
      </p:sp>
      <p:sp>
        <p:nvSpPr>
          <p:cNvPr id="395423" name="任意多边形 395422"/>
          <p:cNvSpPr/>
          <p:nvPr/>
        </p:nvSpPr>
        <p:spPr>
          <a:xfrm>
            <a:off x="3459480" y="3621405"/>
            <a:ext cx="222250" cy="882650"/>
          </a:xfrm>
          <a:custGeom>
            <a:avLst/>
            <a:gdLst/>
            <a:ahLst/>
            <a:cxnLst/>
            <a:rect l="0" t="0" r="0" b="0"/>
            <a:pathLst>
              <a:path w="168" h="667">
                <a:moveTo>
                  <a:pt x="168" y="667"/>
                </a:moveTo>
                <a:lnTo>
                  <a:pt x="168" y="277"/>
                </a:lnTo>
                <a:lnTo>
                  <a:pt x="0" y="0"/>
                </a:lnTo>
              </a:path>
            </a:pathLst>
          </a:cu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24" name="直接连接符 395423"/>
          <p:cNvSpPr/>
          <p:nvPr/>
        </p:nvSpPr>
        <p:spPr>
          <a:xfrm flipV="1">
            <a:off x="3681730" y="1803400"/>
            <a:ext cx="1270" cy="268605"/>
          </a:xfrm>
          <a:prstGeom prst="line">
            <a:avLst/>
          </a:prstGeom>
          <a:ln w="15875" cap="flat" cmpd="sng">
            <a:solidFill>
              <a:srgbClr val="000000"/>
            </a:solidFill>
            <a:prstDash val="solid"/>
            <a:miter/>
            <a:headEnd type="none" w="med" len="med"/>
            <a:tailEnd type="none" w="med" len="med"/>
          </a:ln>
        </p:spPr>
      </p:sp>
      <p:sp>
        <p:nvSpPr>
          <p:cNvPr id="395425" name="直接连接符 395424"/>
          <p:cNvSpPr/>
          <p:nvPr/>
        </p:nvSpPr>
        <p:spPr>
          <a:xfrm flipV="1">
            <a:off x="3681730" y="2543175"/>
            <a:ext cx="1270" cy="1013460"/>
          </a:xfrm>
          <a:prstGeom prst="line">
            <a:avLst/>
          </a:prstGeom>
          <a:ln w="15875" cap="flat" cmpd="sng">
            <a:solidFill>
              <a:srgbClr val="000000"/>
            </a:solidFill>
            <a:prstDash val="solid"/>
            <a:miter/>
            <a:headEnd type="none" w="med" len="med"/>
            <a:tailEnd type="none" w="med" len="med"/>
          </a:ln>
        </p:spPr>
      </p:sp>
      <p:sp>
        <p:nvSpPr>
          <p:cNvPr id="395426" name="任意多边形 395425"/>
          <p:cNvSpPr/>
          <p:nvPr/>
        </p:nvSpPr>
        <p:spPr>
          <a:xfrm>
            <a:off x="3602355" y="2072005"/>
            <a:ext cx="163830" cy="471170"/>
          </a:xfrm>
          <a:custGeom>
            <a:avLst/>
            <a:gdLst/>
            <a:ahLst/>
            <a:cxnLst/>
            <a:rect l="0" t="0" r="0" b="0"/>
            <a:pathLst>
              <a:path w="124" h="356">
                <a:moveTo>
                  <a:pt x="60" y="0"/>
                </a:moveTo>
                <a:lnTo>
                  <a:pt x="124" y="29"/>
                </a:lnTo>
                <a:lnTo>
                  <a:pt x="0" y="89"/>
                </a:lnTo>
                <a:lnTo>
                  <a:pt x="124" y="148"/>
                </a:lnTo>
                <a:lnTo>
                  <a:pt x="0" y="207"/>
                </a:lnTo>
                <a:lnTo>
                  <a:pt x="124" y="267"/>
                </a:lnTo>
                <a:lnTo>
                  <a:pt x="0" y="326"/>
                </a:lnTo>
                <a:lnTo>
                  <a:pt x="60" y="356"/>
                </a:lnTo>
              </a:path>
            </a:pathLst>
          </a:custGeom>
          <a:noFill/>
          <a:ln w="23813" cap="flat" cmpd="sng">
            <a:solidFill>
              <a:srgbClr val="000000"/>
            </a:solidFill>
            <a:prstDash val="solid"/>
            <a:miter/>
            <a:headEnd type="none" w="med" len="med"/>
            <a:tailEnd type="none" w="med" len="med"/>
          </a:ln>
        </p:spPr>
        <p:txBody>
          <a:bodyPr/>
          <a:lstStyle/>
          <a:p>
            <a:endParaRPr lang="zh-CN" altLang="en-US" sz="1500"/>
          </a:p>
        </p:txBody>
      </p:sp>
      <p:sp>
        <p:nvSpPr>
          <p:cNvPr id="395427" name="椭圆 395426"/>
          <p:cNvSpPr/>
          <p:nvPr/>
        </p:nvSpPr>
        <p:spPr>
          <a:xfrm>
            <a:off x="3635375" y="3941445"/>
            <a:ext cx="91440" cy="92710"/>
          </a:xfrm>
          <a:prstGeom prst="ellipse">
            <a:avLst/>
          </a:prstGeom>
          <a:solidFill>
            <a:srgbClr val="FFFFFF"/>
          </a:solidFill>
          <a:ln w="15875" cap="flat" cmpd="sng">
            <a:solidFill>
              <a:srgbClr val="000000"/>
            </a:solidFill>
            <a:prstDash val="solid"/>
            <a:miter/>
            <a:headEnd type="none" w="med" len="med"/>
            <a:tailEnd type="none" w="med" len="med"/>
          </a:ln>
        </p:spPr>
        <p:txBody>
          <a:bodyPr/>
          <a:lstStyle/>
          <a:p>
            <a:endParaRPr lang="zh-CN" altLang="en-US" sz="1500"/>
          </a:p>
        </p:txBody>
      </p:sp>
      <p:sp>
        <p:nvSpPr>
          <p:cNvPr id="395428" name="直接连接符 395427"/>
          <p:cNvSpPr/>
          <p:nvPr/>
        </p:nvSpPr>
        <p:spPr>
          <a:xfrm flipH="1">
            <a:off x="1144270" y="1803400"/>
            <a:ext cx="517525" cy="1270"/>
          </a:xfrm>
          <a:prstGeom prst="line">
            <a:avLst/>
          </a:prstGeom>
          <a:ln w="15875" cap="flat" cmpd="sng">
            <a:solidFill>
              <a:srgbClr val="000000"/>
            </a:solidFill>
            <a:prstDash val="solid"/>
            <a:miter/>
            <a:headEnd type="none" w="med" len="med"/>
            <a:tailEnd type="none" w="med" len="med"/>
          </a:ln>
        </p:spPr>
      </p:sp>
      <p:sp>
        <p:nvSpPr>
          <p:cNvPr id="395429" name="直接连接符 395428"/>
          <p:cNvSpPr/>
          <p:nvPr/>
        </p:nvSpPr>
        <p:spPr>
          <a:xfrm flipH="1">
            <a:off x="1255395" y="4503420"/>
            <a:ext cx="301625" cy="1270"/>
          </a:xfrm>
          <a:prstGeom prst="line">
            <a:avLst/>
          </a:prstGeom>
          <a:ln w="23813" cap="flat" cmpd="sng">
            <a:solidFill>
              <a:srgbClr val="000000"/>
            </a:solidFill>
            <a:prstDash val="solid"/>
            <a:miter/>
            <a:headEnd type="none" w="med" len="med"/>
            <a:tailEnd type="none" w="med" len="med"/>
          </a:ln>
        </p:spPr>
      </p:sp>
      <p:sp>
        <p:nvSpPr>
          <p:cNvPr id="395430" name="直接连接符 395429"/>
          <p:cNvSpPr/>
          <p:nvPr/>
        </p:nvSpPr>
        <p:spPr>
          <a:xfrm flipH="1">
            <a:off x="1315085" y="4563110"/>
            <a:ext cx="189230" cy="1270"/>
          </a:xfrm>
          <a:prstGeom prst="line">
            <a:avLst/>
          </a:prstGeom>
          <a:ln w="23813" cap="flat" cmpd="sng">
            <a:solidFill>
              <a:srgbClr val="000000"/>
            </a:solidFill>
            <a:prstDash val="solid"/>
            <a:miter/>
            <a:headEnd type="none" w="med" len="med"/>
            <a:tailEnd type="none" w="med" len="med"/>
          </a:ln>
        </p:spPr>
      </p:sp>
      <p:sp>
        <p:nvSpPr>
          <p:cNvPr id="395431" name="直接连接符 395430"/>
          <p:cNvSpPr/>
          <p:nvPr/>
        </p:nvSpPr>
        <p:spPr>
          <a:xfrm flipH="1">
            <a:off x="1360170" y="4621530"/>
            <a:ext cx="91440" cy="1270"/>
          </a:xfrm>
          <a:prstGeom prst="line">
            <a:avLst/>
          </a:prstGeom>
          <a:ln w="23813" cap="flat" cmpd="sng">
            <a:solidFill>
              <a:srgbClr val="000000"/>
            </a:solidFill>
            <a:prstDash val="solid"/>
            <a:miter/>
            <a:headEnd type="none" w="med" len="med"/>
            <a:tailEnd type="none" w="med" len="med"/>
          </a:ln>
        </p:spPr>
      </p:sp>
      <p:sp>
        <p:nvSpPr>
          <p:cNvPr id="395432" name="椭圆 395431"/>
          <p:cNvSpPr/>
          <p:nvPr/>
        </p:nvSpPr>
        <p:spPr>
          <a:xfrm>
            <a:off x="1366520" y="3242945"/>
            <a:ext cx="79375" cy="78105"/>
          </a:xfrm>
          <a:prstGeom prst="ellipse">
            <a:avLst/>
          </a:prstGeom>
          <a:solidFill>
            <a:srgbClr val="000000"/>
          </a:solidFill>
          <a:ln w="9525">
            <a:noFill/>
          </a:ln>
        </p:spPr>
        <p:txBody>
          <a:bodyPr/>
          <a:lstStyle/>
          <a:p>
            <a:endParaRPr lang="zh-CN" altLang="en-US" sz="1500"/>
          </a:p>
        </p:txBody>
      </p:sp>
      <p:sp>
        <p:nvSpPr>
          <p:cNvPr id="395433" name="直接连接符 395432"/>
          <p:cNvSpPr/>
          <p:nvPr/>
        </p:nvSpPr>
        <p:spPr>
          <a:xfrm flipH="1">
            <a:off x="1405890" y="3281045"/>
            <a:ext cx="384810" cy="1270"/>
          </a:xfrm>
          <a:prstGeom prst="line">
            <a:avLst/>
          </a:prstGeom>
          <a:ln w="15875" cap="flat" cmpd="sng">
            <a:solidFill>
              <a:srgbClr val="000000"/>
            </a:solidFill>
            <a:prstDash val="solid"/>
            <a:miter/>
            <a:headEnd type="none" w="med" len="med"/>
            <a:tailEnd type="none" w="med" len="med"/>
          </a:ln>
        </p:spPr>
      </p:sp>
      <p:sp>
        <p:nvSpPr>
          <p:cNvPr id="395434" name="椭圆 395433"/>
          <p:cNvSpPr/>
          <p:nvPr/>
        </p:nvSpPr>
        <p:spPr>
          <a:xfrm>
            <a:off x="1791335" y="3235960"/>
            <a:ext cx="92710" cy="91440"/>
          </a:xfrm>
          <a:prstGeom prst="ellipse">
            <a:avLst/>
          </a:prstGeom>
          <a:noFill/>
          <a:ln w="15875" cap="flat" cmpd="sng">
            <a:solidFill>
              <a:srgbClr val="000000"/>
            </a:solidFill>
            <a:prstDash val="solid"/>
            <a:miter/>
            <a:headEnd type="none" w="med" len="med"/>
            <a:tailEnd type="none" w="med" len="med"/>
          </a:ln>
        </p:spPr>
        <p:txBody>
          <a:bodyPr/>
          <a:lstStyle/>
          <a:p>
            <a:endParaRPr lang="zh-CN" altLang="en-US" sz="1500"/>
          </a:p>
        </p:txBody>
      </p:sp>
      <p:sp>
        <p:nvSpPr>
          <p:cNvPr id="395435" name="椭圆 395434"/>
          <p:cNvSpPr/>
          <p:nvPr/>
        </p:nvSpPr>
        <p:spPr>
          <a:xfrm>
            <a:off x="1360170" y="2901315"/>
            <a:ext cx="91440" cy="92710"/>
          </a:xfrm>
          <a:prstGeom prst="ellipse">
            <a:avLst/>
          </a:prstGeom>
          <a:solidFill>
            <a:srgbClr val="FFFFFF"/>
          </a:solidFill>
          <a:ln w="15875" cap="flat" cmpd="sng">
            <a:solidFill>
              <a:srgbClr val="000000"/>
            </a:solidFill>
            <a:prstDash val="solid"/>
            <a:miter/>
            <a:headEnd type="none" w="med" len="med"/>
            <a:tailEnd type="none" w="med" len="med"/>
          </a:ln>
        </p:spPr>
        <p:txBody>
          <a:bodyPr/>
          <a:lstStyle/>
          <a:p>
            <a:endParaRPr lang="zh-CN" altLang="en-US" sz="1500"/>
          </a:p>
        </p:txBody>
      </p:sp>
      <p:sp>
        <p:nvSpPr>
          <p:cNvPr id="395436" name="直接连接符 395435"/>
          <p:cNvSpPr/>
          <p:nvPr/>
        </p:nvSpPr>
        <p:spPr>
          <a:xfrm>
            <a:off x="1405890" y="4236085"/>
            <a:ext cx="1270" cy="267335"/>
          </a:xfrm>
          <a:prstGeom prst="line">
            <a:avLst/>
          </a:prstGeom>
          <a:ln w="15875" cap="flat" cmpd="sng">
            <a:solidFill>
              <a:srgbClr val="000000"/>
            </a:solidFill>
            <a:prstDash val="solid"/>
            <a:miter/>
            <a:headEnd type="none" w="med" len="med"/>
            <a:tailEnd type="none" w="med" len="med"/>
          </a:ln>
        </p:spPr>
      </p:sp>
      <p:sp>
        <p:nvSpPr>
          <p:cNvPr id="395437" name="任意多边形 395436"/>
          <p:cNvSpPr/>
          <p:nvPr/>
        </p:nvSpPr>
        <p:spPr>
          <a:xfrm>
            <a:off x="1328420" y="3765550"/>
            <a:ext cx="156210" cy="471170"/>
          </a:xfrm>
          <a:custGeom>
            <a:avLst/>
            <a:gdLst/>
            <a:ahLst/>
            <a:cxnLst/>
            <a:rect l="0" t="0" r="0" b="0"/>
            <a:pathLst>
              <a:path w="118" h="356">
                <a:moveTo>
                  <a:pt x="59" y="356"/>
                </a:moveTo>
                <a:lnTo>
                  <a:pt x="0" y="326"/>
                </a:lnTo>
                <a:lnTo>
                  <a:pt x="118" y="267"/>
                </a:lnTo>
                <a:lnTo>
                  <a:pt x="0" y="208"/>
                </a:lnTo>
                <a:lnTo>
                  <a:pt x="118" y="148"/>
                </a:lnTo>
                <a:lnTo>
                  <a:pt x="0" y="89"/>
                </a:lnTo>
                <a:lnTo>
                  <a:pt x="118" y="30"/>
                </a:lnTo>
                <a:lnTo>
                  <a:pt x="59" y="0"/>
                </a:lnTo>
              </a:path>
            </a:pathLst>
          </a:custGeom>
          <a:noFill/>
          <a:ln w="23813" cap="flat" cmpd="sng">
            <a:solidFill>
              <a:srgbClr val="000000"/>
            </a:solidFill>
            <a:prstDash val="solid"/>
            <a:miter/>
            <a:headEnd type="none" w="med" len="med"/>
            <a:tailEnd type="none" w="med" len="med"/>
          </a:ln>
        </p:spPr>
        <p:txBody>
          <a:bodyPr/>
          <a:lstStyle/>
          <a:p>
            <a:endParaRPr lang="zh-CN" altLang="en-US" sz="1500"/>
          </a:p>
        </p:txBody>
      </p:sp>
      <p:sp>
        <p:nvSpPr>
          <p:cNvPr id="395438" name="矩形 395437"/>
          <p:cNvSpPr/>
          <p:nvPr/>
        </p:nvSpPr>
        <p:spPr>
          <a:xfrm>
            <a:off x="1195705" y="1451610"/>
            <a:ext cx="141605" cy="255270"/>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39" name="矩形 395438"/>
          <p:cNvSpPr/>
          <p:nvPr/>
        </p:nvSpPr>
        <p:spPr>
          <a:xfrm>
            <a:off x="1346835" y="1557655"/>
            <a:ext cx="230505" cy="191770"/>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DD</a:t>
            </a:r>
            <a:endParaRPr lang="en-US" altLang="zh-CN" sz="1500" i="0">
              <a:solidFill>
                <a:schemeClr val="tx2"/>
              </a:solidFill>
              <a:latin typeface="Arial" panose="020B0604020202020204" pitchFamily="34" charset="0"/>
            </a:endParaRPr>
          </a:p>
        </p:txBody>
      </p:sp>
      <p:sp>
        <p:nvSpPr>
          <p:cNvPr id="395440" name="矩形 395439"/>
          <p:cNvSpPr/>
          <p:nvPr/>
        </p:nvSpPr>
        <p:spPr>
          <a:xfrm>
            <a:off x="3477895" y="1451610"/>
            <a:ext cx="141605" cy="255270"/>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41" name="矩形 395440"/>
          <p:cNvSpPr/>
          <p:nvPr/>
        </p:nvSpPr>
        <p:spPr>
          <a:xfrm>
            <a:off x="3628390" y="1557655"/>
            <a:ext cx="230505" cy="191770"/>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DD</a:t>
            </a:r>
            <a:endParaRPr lang="en-US" altLang="zh-CN" sz="1500" i="0">
              <a:solidFill>
                <a:schemeClr val="tx2"/>
              </a:solidFill>
              <a:latin typeface="Arial" panose="020B0604020202020204" pitchFamily="34" charset="0"/>
            </a:endParaRPr>
          </a:p>
        </p:txBody>
      </p:sp>
      <p:sp>
        <p:nvSpPr>
          <p:cNvPr id="395451" name="矩形 395450"/>
          <p:cNvSpPr/>
          <p:nvPr/>
        </p:nvSpPr>
        <p:spPr>
          <a:xfrm>
            <a:off x="2001520" y="3108960"/>
            <a:ext cx="141605" cy="255270"/>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52" name="矩形 395451"/>
          <p:cNvSpPr/>
          <p:nvPr/>
        </p:nvSpPr>
        <p:spPr>
          <a:xfrm>
            <a:off x="2152015" y="3215005"/>
            <a:ext cx="220980" cy="191770"/>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out</a:t>
            </a:r>
            <a:endParaRPr lang="en-US" altLang="zh-CN" sz="1500" i="0">
              <a:solidFill>
                <a:schemeClr val="tx2"/>
              </a:solidFill>
              <a:latin typeface="Arial" panose="020B0604020202020204" pitchFamily="34" charset="0"/>
            </a:endParaRPr>
          </a:p>
        </p:txBody>
      </p:sp>
      <p:sp>
        <p:nvSpPr>
          <p:cNvPr id="395453" name="矩形 395452"/>
          <p:cNvSpPr/>
          <p:nvPr/>
        </p:nvSpPr>
        <p:spPr>
          <a:xfrm>
            <a:off x="4299585" y="2966085"/>
            <a:ext cx="141605" cy="255270"/>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V</a:t>
            </a:r>
            <a:endParaRPr lang="en-US" altLang="zh-CN" sz="1500" i="0">
              <a:solidFill>
                <a:schemeClr val="tx2"/>
              </a:solidFill>
              <a:latin typeface="Arial" panose="020B0604020202020204" pitchFamily="34" charset="0"/>
            </a:endParaRPr>
          </a:p>
        </p:txBody>
      </p:sp>
      <p:sp>
        <p:nvSpPr>
          <p:cNvPr id="395454" name="矩形 395453"/>
          <p:cNvSpPr/>
          <p:nvPr/>
        </p:nvSpPr>
        <p:spPr>
          <a:xfrm>
            <a:off x="4450080" y="3069590"/>
            <a:ext cx="220980" cy="191770"/>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out</a:t>
            </a:r>
            <a:endParaRPr lang="en-US" altLang="zh-CN" sz="1500" i="0">
              <a:solidFill>
                <a:schemeClr val="tx2"/>
              </a:solidFill>
              <a:latin typeface="Arial" panose="020B0604020202020204" pitchFamily="34" charset="0"/>
            </a:endParaRPr>
          </a:p>
        </p:txBody>
      </p:sp>
      <p:sp>
        <p:nvSpPr>
          <p:cNvPr id="395455" name="矩形 395454"/>
          <p:cNvSpPr/>
          <p:nvPr/>
        </p:nvSpPr>
        <p:spPr>
          <a:xfrm>
            <a:off x="1562100" y="3798570"/>
            <a:ext cx="153670" cy="255270"/>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R</a:t>
            </a:r>
            <a:endParaRPr lang="en-US" altLang="zh-CN" sz="1500" i="0">
              <a:solidFill>
                <a:schemeClr val="tx2"/>
              </a:solidFill>
              <a:latin typeface="Arial" panose="020B0604020202020204" pitchFamily="34" charset="0"/>
            </a:endParaRPr>
          </a:p>
        </p:txBody>
      </p:sp>
      <p:sp>
        <p:nvSpPr>
          <p:cNvPr id="395456" name="矩形 395455"/>
          <p:cNvSpPr/>
          <p:nvPr/>
        </p:nvSpPr>
        <p:spPr>
          <a:xfrm>
            <a:off x="1714500" y="3901440"/>
            <a:ext cx="88900" cy="191770"/>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n</a:t>
            </a:r>
            <a:endParaRPr lang="en-US" altLang="zh-CN" sz="1500" i="0">
              <a:solidFill>
                <a:schemeClr val="tx2"/>
              </a:solidFill>
              <a:latin typeface="Arial" panose="020B0604020202020204" pitchFamily="34" charset="0"/>
            </a:endParaRPr>
          </a:p>
        </p:txBody>
      </p:sp>
      <p:sp>
        <p:nvSpPr>
          <p:cNvPr id="395457" name="矩形 395456"/>
          <p:cNvSpPr/>
          <p:nvPr/>
        </p:nvSpPr>
        <p:spPr>
          <a:xfrm>
            <a:off x="3841750" y="2174240"/>
            <a:ext cx="153670" cy="255270"/>
          </a:xfrm>
          <a:prstGeom prst="rect">
            <a:avLst/>
          </a:prstGeom>
          <a:noFill/>
          <a:ln w="9525">
            <a:noFill/>
          </a:ln>
        </p:spPr>
        <p:txBody>
          <a:bodyPr wrap="none" lIns="0" tIns="0" rIns="0" bIns="0">
            <a:spAutoFit/>
          </a:bodyPr>
          <a:lstStyle/>
          <a:p>
            <a:r>
              <a:rPr lang="en-US" altLang="zh-CN" sz="1665">
                <a:solidFill>
                  <a:srgbClr val="000000"/>
                </a:solidFill>
                <a:latin typeface="Arial" panose="020B0604020202020204" pitchFamily="34" charset="0"/>
              </a:rPr>
              <a:t>R</a:t>
            </a:r>
            <a:endParaRPr lang="en-US" altLang="zh-CN" sz="1500" i="0">
              <a:solidFill>
                <a:schemeClr val="tx2"/>
              </a:solidFill>
              <a:latin typeface="Arial" panose="020B0604020202020204" pitchFamily="34" charset="0"/>
            </a:endParaRPr>
          </a:p>
        </p:txBody>
      </p:sp>
      <p:sp>
        <p:nvSpPr>
          <p:cNvPr id="395458" name="矩形 395457"/>
          <p:cNvSpPr/>
          <p:nvPr/>
        </p:nvSpPr>
        <p:spPr>
          <a:xfrm>
            <a:off x="3992245" y="2277110"/>
            <a:ext cx="88900" cy="191770"/>
          </a:xfrm>
          <a:prstGeom prst="rect">
            <a:avLst/>
          </a:prstGeom>
          <a:noFill/>
          <a:ln w="9525">
            <a:noFill/>
          </a:ln>
        </p:spPr>
        <p:txBody>
          <a:bodyPr wrap="none" lIns="0" tIns="0" rIns="0" bIns="0">
            <a:spAutoFit/>
          </a:bodyPr>
          <a:lstStyle/>
          <a:p>
            <a:r>
              <a:rPr lang="en-US" altLang="zh-CN" sz="1250">
                <a:solidFill>
                  <a:srgbClr val="000000"/>
                </a:solidFill>
                <a:latin typeface="Arial" panose="020B0604020202020204" pitchFamily="34" charset="0"/>
              </a:rPr>
              <a:t>p</a:t>
            </a:r>
            <a:endParaRPr lang="en-US" altLang="zh-CN" sz="1500" i="0">
              <a:solidFill>
                <a:schemeClr val="tx2"/>
              </a:solidFill>
              <a:latin typeface="Arial" panose="020B0604020202020204" pitchFamily="34" charset="0"/>
            </a:endParaRPr>
          </a:p>
        </p:txBody>
      </p:sp>
      <p:sp>
        <p:nvSpPr>
          <p:cNvPr id="5" name="文本框 4"/>
          <p:cNvSpPr txBox="1"/>
          <p:nvPr/>
        </p:nvSpPr>
        <p:spPr>
          <a:xfrm>
            <a:off x="5279390" y="2518410"/>
            <a:ext cx="3611880" cy="1476375"/>
          </a:xfrm>
          <a:prstGeom prst="rect">
            <a:avLst/>
          </a:prstGeom>
          <a:noFill/>
        </p:spPr>
        <p:txBody>
          <a:bodyPr wrap="none" rtlCol="0" anchor="t">
            <a:spAutoFit/>
          </a:bodyPr>
          <a:lstStyle/>
          <a:p>
            <a:pPr algn="l"/>
            <a:r>
              <a:rPr lang="en-US" altLang="zh-CN">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3</a:t>
            </a:r>
            <a:r>
              <a:rPr lang="en-US" altLang="zh-C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低输出阻抗</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输出阻抗为器件开启时内阻</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好处</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驱动能力强，对噪声和</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干扰不敏感</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6" name="右箭头 5"/>
          <p:cNvSpPr/>
          <p:nvPr/>
        </p:nvSpPr>
        <p:spPr>
          <a:xfrm rot="16200000">
            <a:off x="1424940" y="3858260"/>
            <a:ext cx="990600" cy="259080"/>
          </a:xfrm>
          <a:prstGeom prst="rightArrow">
            <a:avLst/>
          </a:prstGeom>
          <a:solidFill>
            <a:srgbClr val="122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右箭头 6"/>
          <p:cNvSpPr/>
          <p:nvPr/>
        </p:nvSpPr>
        <p:spPr>
          <a:xfrm rot="5400000">
            <a:off x="3893820" y="2261235"/>
            <a:ext cx="990600" cy="259080"/>
          </a:xfrm>
          <a:prstGeom prst="rightArrow">
            <a:avLst/>
          </a:prstGeom>
          <a:solidFill>
            <a:srgbClr val="122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静态</a:t>
            </a:r>
            <a:endParaRPr lang="zh-CN" altLang="en-US">
              <a:sym typeface="+mn-ea"/>
            </a:endParaRPr>
          </a:p>
        </p:txBody>
      </p:sp>
      <p:pic>
        <p:nvPicPr>
          <p:cNvPr id="270343" name="图片 270342"/>
          <p:cNvPicPr>
            <a:picLocks noChangeAspect="1"/>
          </p:cNvPicPr>
          <p:nvPr/>
        </p:nvPicPr>
        <p:blipFill>
          <a:blip r:embed="rId1"/>
          <a:stretch>
            <a:fillRect/>
          </a:stretch>
        </p:blipFill>
        <p:spPr>
          <a:xfrm>
            <a:off x="851535" y="1704975"/>
            <a:ext cx="3635375" cy="2738755"/>
          </a:xfrm>
          <a:prstGeom prst="rect">
            <a:avLst/>
          </a:prstGeom>
          <a:noFill/>
          <a:ln w="12700">
            <a:noFill/>
          </a:ln>
        </p:spPr>
      </p:pic>
      <p:sp>
        <p:nvSpPr>
          <p:cNvPr id="5" name="文本框 4"/>
          <p:cNvSpPr txBox="1"/>
          <p:nvPr/>
        </p:nvSpPr>
        <p:spPr>
          <a:xfrm>
            <a:off x="5279390" y="1859280"/>
            <a:ext cx="3554095" cy="3138170"/>
          </a:xfrm>
          <a:prstGeom prst="rect">
            <a:avLst/>
          </a:prstGeom>
          <a:noFill/>
        </p:spPr>
        <p:txBody>
          <a:bodyPr wrap="square" rtlCol="0" anchor="t">
            <a:spAutoFit/>
          </a:bodyPr>
          <a:lstStyle/>
          <a:p>
            <a:pPr algn="l"/>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4. </a:t>
            </a:r>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高输入电阻：</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输入阻抗为器件栅极绝缘电阻</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好处</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稳态输入电</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流几乎为</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5. </a:t>
            </a:r>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无静态功耗：</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稳态工作情况下</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V</a:t>
            </a:r>
            <a:r>
              <a:rPr lang="en-US" altLang="zh-CN"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dd</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与地之间不存在</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电流通路</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好处</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稳态时不存在漏电，无静态功耗</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-VTC</a:t>
            </a:r>
            <a:endParaRPr lang="zh-CN" altLang="en-US"/>
          </a:p>
        </p:txBody>
      </p:sp>
      <p:sp>
        <p:nvSpPr>
          <p:cNvPr id="359427" name="矩形 359426"/>
          <p:cNvSpPr/>
          <p:nvPr/>
        </p:nvSpPr>
        <p:spPr>
          <a:xfrm>
            <a:off x="5424170" y="1838113"/>
            <a:ext cx="0" cy="10583"/>
          </a:xfrm>
          <a:prstGeom prst="rect">
            <a:avLst/>
          </a:prstGeom>
          <a:blipFill rotWithShape="0">
            <a:blip r:embed="rId1"/>
          </a:blipFill>
          <a:ln w="9525">
            <a:noFill/>
          </a:ln>
        </p:spPr>
        <p:txBody>
          <a:bodyPr/>
          <a:lstStyle/>
          <a:p>
            <a:endParaRPr lang="zh-CN" altLang="en-US" sz="1500"/>
          </a:p>
        </p:txBody>
      </p:sp>
      <p:sp>
        <p:nvSpPr>
          <p:cNvPr id="359428" name="矩形 359427"/>
          <p:cNvSpPr/>
          <p:nvPr/>
        </p:nvSpPr>
        <p:spPr>
          <a:xfrm>
            <a:off x="5381837" y="1838113"/>
            <a:ext cx="0" cy="10583"/>
          </a:xfrm>
          <a:prstGeom prst="rect">
            <a:avLst/>
          </a:prstGeom>
          <a:blipFill rotWithShape="0">
            <a:blip r:embed="rId1"/>
          </a:blipFill>
          <a:ln w="9525">
            <a:noFill/>
          </a:ln>
        </p:spPr>
        <p:txBody>
          <a:bodyPr/>
          <a:lstStyle/>
          <a:p>
            <a:endParaRPr lang="zh-CN" altLang="en-US" sz="1500"/>
          </a:p>
        </p:txBody>
      </p:sp>
      <p:sp>
        <p:nvSpPr>
          <p:cNvPr id="359429" name="矩形 359428"/>
          <p:cNvSpPr/>
          <p:nvPr/>
        </p:nvSpPr>
        <p:spPr>
          <a:xfrm>
            <a:off x="5424170" y="2293197"/>
            <a:ext cx="0" cy="10583"/>
          </a:xfrm>
          <a:prstGeom prst="rect">
            <a:avLst/>
          </a:prstGeom>
          <a:blipFill rotWithShape="0">
            <a:blip r:embed="rId1"/>
          </a:blipFill>
          <a:ln w="9525">
            <a:noFill/>
          </a:ln>
        </p:spPr>
        <p:txBody>
          <a:bodyPr/>
          <a:lstStyle/>
          <a:p>
            <a:endParaRPr lang="zh-CN" altLang="en-US" sz="1500"/>
          </a:p>
        </p:txBody>
      </p:sp>
      <p:sp>
        <p:nvSpPr>
          <p:cNvPr id="359430" name="矩形 359429"/>
          <p:cNvSpPr/>
          <p:nvPr/>
        </p:nvSpPr>
        <p:spPr>
          <a:xfrm>
            <a:off x="5381837" y="2293197"/>
            <a:ext cx="0" cy="10583"/>
          </a:xfrm>
          <a:prstGeom prst="rect">
            <a:avLst/>
          </a:prstGeom>
          <a:blipFill rotWithShape="0">
            <a:blip r:embed="rId1"/>
          </a:blipFill>
          <a:ln w="9525">
            <a:noFill/>
          </a:ln>
        </p:spPr>
        <p:txBody>
          <a:bodyPr/>
          <a:lstStyle/>
          <a:p>
            <a:endParaRPr lang="zh-CN" altLang="en-US" sz="1500"/>
          </a:p>
        </p:txBody>
      </p:sp>
      <p:sp>
        <p:nvSpPr>
          <p:cNvPr id="359431" name="矩形 359430"/>
          <p:cNvSpPr/>
          <p:nvPr/>
        </p:nvSpPr>
        <p:spPr>
          <a:xfrm>
            <a:off x="5424170" y="2060363"/>
            <a:ext cx="0" cy="10583"/>
          </a:xfrm>
          <a:prstGeom prst="rect">
            <a:avLst/>
          </a:prstGeom>
          <a:blipFill rotWithShape="0">
            <a:blip r:embed="rId1"/>
          </a:blipFill>
          <a:ln w="9525">
            <a:noFill/>
          </a:ln>
        </p:spPr>
        <p:txBody>
          <a:bodyPr/>
          <a:lstStyle/>
          <a:p>
            <a:endParaRPr lang="zh-CN" altLang="en-US" sz="1500"/>
          </a:p>
        </p:txBody>
      </p:sp>
      <p:sp>
        <p:nvSpPr>
          <p:cNvPr id="359432" name="矩形 359431"/>
          <p:cNvSpPr/>
          <p:nvPr/>
        </p:nvSpPr>
        <p:spPr>
          <a:xfrm>
            <a:off x="5381837" y="2060363"/>
            <a:ext cx="0" cy="10583"/>
          </a:xfrm>
          <a:prstGeom prst="rect">
            <a:avLst/>
          </a:prstGeom>
          <a:blipFill rotWithShape="0">
            <a:blip r:embed="rId1"/>
          </a:blipFill>
          <a:ln w="9525">
            <a:noFill/>
          </a:ln>
        </p:spPr>
        <p:txBody>
          <a:bodyPr/>
          <a:lstStyle/>
          <a:p>
            <a:endParaRPr lang="zh-CN" altLang="en-US" sz="1500"/>
          </a:p>
        </p:txBody>
      </p:sp>
      <p:sp>
        <p:nvSpPr>
          <p:cNvPr id="359433" name="矩形 359432"/>
          <p:cNvSpPr/>
          <p:nvPr/>
        </p:nvSpPr>
        <p:spPr>
          <a:xfrm>
            <a:off x="5424170" y="2526030"/>
            <a:ext cx="0" cy="10583"/>
          </a:xfrm>
          <a:prstGeom prst="rect">
            <a:avLst/>
          </a:prstGeom>
          <a:blipFill rotWithShape="0">
            <a:blip r:embed="rId1"/>
          </a:blipFill>
          <a:ln w="9525">
            <a:noFill/>
          </a:ln>
        </p:spPr>
        <p:txBody>
          <a:bodyPr/>
          <a:lstStyle/>
          <a:p>
            <a:endParaRPr lang="zh-CN" altLang="en-US" sz="1500"/>
          </a:p>
        </p:txBody>
      </p:sp>
      <p:sp>
        <p:nvSpPr>
          <p:cNvPr id="359434" name="矩形 359433"/>
          <p:cNvSpPr/>
          <p:nvPr/>
        </p:nvSpPr>
        <p:spPr>
          <a:xfrm>
            <a:off x="5381837" y="2526030"/>
            <a:ext cx="0" cy="10583"/>
          </a:xfrm>
          <a:prstGeom prst="rect">
            <a:avLst/>
          </a:prstGeom>
          <a:blipFill rotWithShape="0">
            <a:blip r:embed="rId1"/>
          </a:blipFill>
          <a:ln w="9525">
            <a:noFill/>
          </a:ln>
        </p:spPr>
        <p:txBody>
          <a:bodyPr/>
          <a:lstStyle/>
          <a:p>
            <a:endParaRPr lang="zh-CN" altLang="en-US" sz="1500"/>
          </a:p>
        </p:txBody>
      </p:sp>
      <p:sp>
        <p:nvSpPr>
          <p:cNvPr id="359435" name="矩形 359434"/>
          <p:cNvSpPr/>
          <p:nvPr/>
        </p:nvSpPr>
        <p:spPr>
          <a:xfrm>
            <a:off x="5424170" y="1605280"/>
            <a:ext cx="0" cy="10583"/>
          </a:xfrm>
          <a:prstGeom prst="rect">
            <a:avLst/>
          </a:prstGeom>
          <a:blipFill rotWithShape="0">
            <a:blip r:embed="rId1"/>
          </a:blipFill>
          <a:ln w="9525">
            <a:noFill/>
          </a:ln>
        </p:spPr>
        <p:txBody>
          <a:bodyPr/>
          <a:lstStyle/>
          <a:p>
            <a:endParaRPr lang="zh-CN" altLang="en-US" sz="1500"/>
          </a:p>
        </p:txBody>
      </p:sp>
      <p:sp>
        <p:nvSpPr>
          <p:cNvPr id="359436" name="矩形 359435"/>
          <p:cNvSpPr/>
          <p:nvPr/>
        </p:nvSpPr>
        <p:spPr>
          <a:xfrm>
            <a:off x="5381837" y="1605280"/>
            <a:ext cx="0" cy="10583"/>
          </a:xfrm>
          <a:prstGeom prst="rect">
            <a:avLst/>
          </a:prstGeom>
          <a:blipFill rotWithShape="0">
            <a:blip r:embed="rId1"/>
          </a:blipFill>
          <a:ln w="9525">
            <a:noFill/>
          </a:ln>
        </p:spPr>
        <p:txBody>
          <a:bodyPr/>
          <a:lstStyle/>
          <a:p>
            <a:endParaRPr lang="zh-CN" altLang="en-US" sz="1500"/>
          </a:p>
        </p:txBody>
      </p:sp>
      <p:sp>
        <p:nvSpPr>
          <p:cNvPr id="359437" name="矩形 359436"/>
          <p:cNvSpPr/>
          <p:nvPr/>
        </p:nvSpPr>
        <p:spPr>
          <a:xfrm>
            <a:off x="5424170" y="1383030"/>
            <a:ext cx="0" cy="10583"/>
          </a:xfrm>
          <a:prstGeom prst="rect">
            <a:avLst/>
          </a:prstGeom>
          <a:blipFill rotWithShape="0">
            <a:blip r:embed="rId1"/>
          </a:blipFill>
          <a:ln w="9525">
            <a:noFill/>
          </a:ln>
        </p:spPr>
        <p:txBody>
          <a:bodyPr/>
          <a:lstStyle/>
          <a:p>
            <a:endParaRPr lang="zh-CN" altLang="en-US" sz="1500"/>
          </a:p>
        </p:txBody>
      </p:sp>
      <p:sp>
        <p:nvSpPr>
          <p:cNvPr id="359438" name="矩形 359437"/>
          <p:cNvSpPr/>
          <p:nvPr/>
        </p:nvSpPr>
        <p:spPr>
          <a:xfrm>
            <a:off x="5381837" y="1383030"/>
            <a:ext cx="0" cy="10583"/>
          </a:xfrm>
          <a:prstGeom prst="rect">
            <a:avLst/>
          </a:prstGeom>
          <a:blipFill rotWithShape="0">
            <a:blip r:embed="rId1"/>
          </a:blipFill>
          <a:ln w="9525">
            <a:noFill/>
          </a:ln>
        </p:spPr>
        <p:txBody>
          <a:bodyPr/>
          <a:lstStyle/>
          <a:p>
            <a:endParaRPr lang="zh-CN" altLang="en-US" sz="1500"/>
          </a:p>
        </p:txBody>
      </p:sp>
      <p:sp>
        <p:nvSpPr>
          <p:cNvPr id="359439" name="矩形 359438"/>
          <p:cNvSpPr/>
          <p:nvPr/>
        </p:nvSpPr>
        <p:spPr>
          <a:xfrm>
            <a:off x="6081660" y="2515447"/>
            <a:ext cx="10583" cy="0"/>
          </a:xfrm>
          <a:prstGeom prst="rect">
            <a:avLst/>
          </a:prstGeom>
          <a:blipFill rotWithShape="0">
            <a:blip r:embed="rId1"/>
          </a:blipFill>
          <a:ln w="9525">
            <a:noFill/>
          </a:ln>
        </p:spPr>
        <p:txBody>
          <a:bodyPr/>
          <a:lstStyle/>
          <a:p>
            <a:endParaRPr lang="zh-CN" altLang="en-US" sz="1500"/>
          </a:p>
        </p:txBody>
      </p:sp>
      <p:sp>
        <p:nvSpPr>
          <p:cNvPr id="359440" name="矩形 359439"/>
          <p:cNvSpPr/>
          <p:nvPr/>
        </p:nvSpPr>
        <p:spPr>
          <a:xfrm>
            <a:off x="6081660" y="2483697"/>
            <a:ext cx="10583" cy="0"/>
          </a:xfrm>
          <a:prstGeom prst="rect">
            <a:avLst/>
          </a:prstGeom>
          <a:blipFill rotWithShape="0">
            <a:blip r:embed="rId1"/>
          </a:blipFill>
          <a:ln w="9525">
            <a:noFill/>
          </a:ln>
        </p:spPr>
        <p:txBody>
          <a:bodyPr/>
          <a:lstStyle/>
          <a:p>
            <a:endParaRPr lang="zh-CN" altLang="en-US" sz="1500"/>
          </a:p>
        </p:txBody>
      </p:sp>
      <p:sp>
        <p:nvSpPr>
          <p:cNvPr id="359441" name="矩形 359440"/>
          <p:cNvSpPr/>
          <p:nvPr/>
        </p:nvSpPr>
        <p:spPr>
          <a:xfrm>
            <a:off x="5614670" y="2515447"/>
            <a:ext cx="10583" cy="0"/>
          </a:xfrm>
          <a:prstGeom prst="rect">
            <a:avLst/>
          </a:prstGeom>
          <a:blipFill rotWithShape="0">
            <a:blip r:embed="rId1"/>
          </a:blipFill>
          <a:ln w="9525">
            <a:noFill/>
          </a:ln>
        </p:spPr>
        <p:txBody>
          <a:bodyPr/>
          <a:lstStyle/>
          <a:p>
            <a:endParaRPr lang="zh-CN" altLang="en-US" sz="1500"/>
          </a:p>
        </p:txBody>
      </p:sp>
      <p:sp>
        <p:nvSpPr>
          <p:cNvPr id="359442" name="矩形 359441"/>
          <p:cNvSpPr/>
          <p:nvPr/>
        </p:nvSpPr>
        <p:spPr>
          <a:xfrm>
            <a:off x="5614670" y="2483697"/>
            <a:ext cx="10583" cy="0"/>
          </a:xfrm>
          <a:prstGeom prst="rect">
            <a:avLst/>
          </a:prstGeom>
          <a:blipFill rotWithShape="0">
            <a:blip r:embed="rId1"/>
          </a:blipFill>
          <a:ln w="9525">
            <a:noFill/>
          </a:ln>
        </p:spPr>
        <p:txBody>
          <a:bodyPr/>
          <a:lstStyle/>
          <a:p>
            <a:endParaRPr lang="zh-CN" altLang="en-US" sz="1500"/>
          </a:p>
        </p:txBody>
      </p:sp>
      <p:sp>
        <p:nvSpPr>
          <p:cNvPr id="359443" name="矩形 359442"/>
          <p:cNvSpPr/>
          <p:nvPr/>
        </p:nvSpPr>
        <p:spPr>
          <a:xfrm>
            <a:off x="5848827" y="2515447"/>
            <a:ext cx="10583" cy="0"/>
          </a:xfrm>
          <a:prstGeom prst="rect">
            <a:avLst/>
          </a:prstGeom>
          <a:blipFill rotWithShape="0">
            <a:blip r:embed="rId1"/>
          </a:blipFill>
          <a:ln w="9525">
            <a:noFill/>
          </a:ln>
        </p:spPr>
        <p:txBody>
          <a:bodyPr/>
          <a:lstStyle/>
          <a:p>
            <a:endParaRPr lang="zh-CN" altLang="en-US" sz="1500"/>
          </a:p>
        </p:txBody>
      </p:sp>
      <p:sp>
        <p:nvSpPr>
          <p:cNvPr id="359444" name="矩形 359443"/>
          <p:cNvSpPr/>
          <p:nvPr/>
        </p:nvSpPr>
        <p:spPr>
          <a:xfrm>
            <a:off x="5848827" y="2483697"/>
            <a:ext cx="10583" cy="0"/>
          </a:xfrm>
          <a:prstGeom prst="rect">
            <a:avLst/>
          </a:prstGeom>
          <a:blipFill rotWithShape="0">
            <a:blip r:embed="rId1"/>
          </a:blipFill>
          <a:ln w="9525">
            <a:noFill/>
          </a:ln>
        </p:spPr>
        <p:txBody>
          <a:bodyPr/>
          <a:lstStyle/>
          <a:p>
            <a:endParaRPr lang="zh-CN" altLang="en-US" sz="1500"/>
          </a:p>
        </p:txBody>
      </p:sp>
      <p:sp>
        <p:nvSpPr>
          <p:cNvPr id="359445" name="矩形 359444"/>
          <p:cNvSpPr/>
          <p:nvPr/>
        </p:nvSpPr>
        <p:spPr>
          <a:xfrm>
            <a:off x="5381837" y="2515447"/>
            <a:ext cx="10583" cy="0"/>
          </a:xfrm>
          <a:prstGeom prst="rect">
            <a:avLst/>
          </a:prstGeom>
          <a:blipFill rotWithShape="0">
            <a:blip r:embed="rId1"/>
          </a:blipFill>
          <a:ln w="9525">
            <a:noFill/>
          </a:ln>
        </p:spPr>
        <p:txBody>
          <a:bodyPr/>
          <a:lstStyle/>
          <a:p>
            <a:endParaRPr lang="zh-CN" altLang="en-US" sz="1500"/>
          </a:p>
        </p:txBody>
      </p:sp>
      <p:sp>
        <p:nvSpPr>
          <p:cNvPr id="359446" name="矩形 359445"/>
          <p:cNvSpPr/>
          <p:nvPr/>
        </p:nvSpPr>
        <p:spPr>
          <a:xfrm>
            <a:off x="5381837" y="2483697"/>
            <a:ext cx="10583" cy="0"/>
          </a:xfrm>
          <a:prstGeom prst="rect">
            <a:avLst/>
          </a:prstGeom>
          <a:blipFill rotWithShape="0">
            <a:blip r:embed="rId1"/>
          </a:blipFill>
          <a:ln w="9525">
            <a:noFill/>
          </a:ln>
        </p:spPr>
        <p:txBody>
          <a:bodyPr/>
          <a:lstStyle/>
          <a:p>
            <a:endParaRPr lang="zh-CN" altLang="en-US" sz="1500"/>
          </a:p>
        </p:txBody>
      </p:sp>
      <p:sp>
        <p:nvSpPr>
          <p:cNvPr id="359447" name="矩形 359446"/>
          <p:cNvSpPr/>
          <p:nvPr/>
        </p:nvSpPr>
        <p:spPr>
          <a:xfrm>
            <a:off x="6314493" y="2515447"/>
            <a:ext cx="10583" cy="0"/>
          </a:xfrm>
          <a:prstGeom prst="rect">
            <a:avLst/>
          </a:prstGeom>
          <a:blipFill rotWithShape="0">
            <a:blip r:embed="rId1"/>
          </a:blipFill>
          <a:ln w="9525">
            <a:noFill/>
          </a:ln>
        </p:spPr>
        <p:txBody>
          <a:bodyPr/>
          <a:lstStyle/>
          <a:p>
            <a:endParaRPr lang="zh-CN" altLang="en-US" sz="1500"/>
          </a:p>
        </p:txBody>
      </p:sp>
      <p:sp>
        <p:nvSpPr>
          <p:cNvPr id="359448" name="矩形 359447"/>
          <p:cNvSpPr/>
          <p:nvPr/>
        </p:nvSpPr>
        <p:spPr>
          <a:xfrm>
            <a:off x="6314493" y="2483697"/>
            <a:ext cx="10583" cy="0"/>
          </a:xfrm>
          <a:prstGeom prst="rect">
            <a:avLst/>
          </a:prstGeom>
          <a:blipFill rotWithShape="0">
            <a:blip r:embed="rId1"/>
          </a:blipFill>
          <a:ln w="9525">
            <a:noFill/>
          </a:ln>
        </p:spPr>
        <p:txBody>
          <a:bodyPr/>
          <a:lstStyle/>
          <a:p>
            <a:endParaRPr lang="zh-CN" altLang="en-US" sz="1500"/>
          </a:p>
        </p:txBody>
      </p:sp>
      <p:sp>
        <p:nvSpPr>
          <p:cNvPr id="359449" name="矩形 359448"/>
          <p:cNvSpPr/>
          <p:nvPr/>
        </p:nvSpPr>
        <p:spPr>
          <a:xfrm>
            <a:off x="6547327" y="2515447"/>
            <a:ext cx="10583" cy="0"/>
          </a:xfrm>
          <a:prstGeom prst="rect">
            <a:avLst/>
          </a:prstGeom>
          <a:blipFill rotWithShape="0">
            <a:blip r:embed="rId1"/>
          </a:blipFill>
          <a:ln w="9525">
            <a:noFill/>
          </a:ln>
        </p:spPr>
        <p:txBody>
          <a:bodyPr/>
          <a:lstStyle/>
          <a:p>
            <a:endParaRPr lang="zh-CN" altLang="en-US" sz="1500"/>
          </a:p>
        </p:txBody>
      </p:sp>
      <p:sp>
        <p:nvSpPr>
          <p:cNvPr id="359450" name="矩形 359449"/>
          <p:cNvSpPr/>
          <p:nvPr/>
        </p:nvSpPr>
        <p:spPr>
          <a:xfrm>
            <a:off x="6547327" y="2483697"/>
            <a:ext cx="10583" cy="0"/>
          </a:xfrm>
          <a:prstGeom prst="rect">
            <a:avLst/>
          </a:prstGeom>
          <a:blipFill rotWithShape="0">
            <a:blip r:embed="rId1"/>
          </a:blipFill>
          <a:ln w="9525">
            <a:noFill/>
          </a:ln>
        </p:spPr>
        <p:txBody>
          <a:bodyPr/>
          <a:lstStyle/>
          <a:p>
            <a:endParaRPr lang="zh-CN" altLang="en-US" sz="1500"/>
          </a:p>
        </p:txBody>
      </p:sp>
      <p:sp>
        <p:nvSpPr>
          <p:cNvPr id="359451" name="矩形 359450"/>
          <p:cNvSpPr/>
          <p:nvPr/>
        </p:nvSpPr>
        <p:spPr>
          <a:xfrm>
            <a:off x="5508837" y="2642447"/>
            <a:ext cx="10583" cy="0"/>
          </a:xfrm>
          <a:prstGeom prst="rect">
            <a:avLst/>
          </a:prstGeom>
          <a:blipFill rotWithShape="0">
            <a:blip r:embed="rId1"/>
          </a:blipFill>
          <a:ln w="9525">
            <a:noFill/>
          </a:ln>
        </p:spPr>
        <p:txBody>
          <a:bodyPr/>
          <a:lstStyle/>
          <a:p>
            <a:endParaRPr lang="zh-CN" altLang="en-US" sz="1500"/>
          </a:p>
        </p:txBody>
      </p:sp>
      <p:sp>
        <p:nvSpPr>
          <p:cNvPr id="359452" name="矩形 359451"/>
          <p:cNvSpPr/>
          <p:nvPr/>
        </p:nvSpPr>
        <p:spPr>
          <a:xfrm>
            <a:off x="5381837" y="1203113"/>
            <a:ext cx="10583" cy="0"/>
          </a:xfrm>
          <a:prstGeom prst="rect">
            <a:avLst/>
          </a:prstGeom>
          <a:blipFill rotWithShape="0">
            <a:blip r:embed="rId1"/>
          </a:blipFill>
          <a:ln w="9525">
            <a:noFill/>
          </a:ln>
        </p:spPr>
        <p:txBody>
          <a:bodyPr/>
          <a:lstStyle/>
          <a:p>
            <a:endParaRPr lang="zh-CN" altLang="en-US" sz="1500"/>
          </a:p>
        </p:txBody>
      </p:sp>
      <p:sp>
        <p:nvSpPr>
          <p:cNvPr id="359453" name="矩形 359452"/>
          <p:cNvSpPr/>
          <p:nvPr/>
        </p:nvSpPr>
        <p:spPr>
          <a:xfrm>
            <a:off x="5392420" y="2515447"/>
            <a:ext cx="0" cy="10583"/>
          </a:xfrm>
          <a:prstGeom prst="rect">
            <a:avLst/>
          </a:prstGeom>
          <a:blipFill rotWithShape="0">
            <a:blip r:embed="rId1"/>
          </a:blipFill>
          <a:ln w="9525">
            <a:noFill/>
          </a:ln>
        </p:spPr>
        <p:txBody>
          <a:bodyPr/>
          <a:lstStyle/>
          <a:p>
            <a:endParaRPr lang="zh-CN" altLang="en-US" sz="1500"/>
          </a:p>
        </p:txBody>
      </p:sp>
      <p:sp>
        <p:nvSpPr>
          <p:cNvPr id="359454" name="矩形 359453"/>
          <p:cNvSpPr/>
          <p:nvPr/>
        </p:nvSpPr>
        <p:spPr>
          <a:xfrm>
            <a:off x="6716660" y="2515447"/>
            <a:ext cx="0" cy="10583"/>
          </a:xfrm>
          <a:prstGeom prst="rect">
            <a:avLst/>
          </a:prstGeom>
          <a:blipFill rotWithShape="0">
            <a:blip r:embed="rId1"/>
          </a:blipFill>
          <a:ln w="9525">
            <a:noFill/>
          </a:ln>
        </p:spPr>
        <p:txBody>
          <a:bodyPr/>
          <a:lstStyle/>
          <a:p>
            <a:endParaRPr lang="zh-CN" altLang="en-US" sz="1500"/>
          </a:p>
        </p:txBody>
      </p:sp>
      <p:sp>
        <p:nvSpPr>
          <p:cNvPr id="359455" name="矩形 359454"/>
          <p:cNvSpPr/>
          <p:nvPr/>
        </p:nvSpPr>
        <p:spPr>
          <a:xfrm>
            <a:off x="5392420" y="1372447"/>
            <a:ext cx="0" cy="10583"/>
          </a:xfrm>
          <a:prstGeom prst="rect">
            <a:avLst/>
          </a:prstGeom>
          <a:blipFill rotWithShape="0">
            <a:blip r:embed="rId1"/>
          </a:blipFill>
          <a:ln w="9525">
            <a:noFill/>
          </a:ln>
        </p:spPr>
        <p:txBody>
          <a:bodyPr/>
          <a:lstStyle/>
          <a:p>
            <a:endParaRPr lang="zh-CN" altLang="en-US" sz="1500"/>
          </a:p>
        </p:txBody>
      </p:sp>
      <p:pic>
        <p:nvPicPr>
          <p:cNvPr id="359456" name="图片 359455"/>
          <p:cNvPicPr>
            <a:picLocks noChangeAspect="1"/>
          </p:cNvPicPr>
          <p:nvPr/>
        </p:nvPicPr>
        <p:blipFill>
          <a:blip r:embed="rId2"/>
          <a:srcRect l="63676" b="55576"/>
          <a:stretch>
            <a:fillRect/>
          </a:stretch>
        </p:blipFill>
        <p:spPr>
          <a:xfrm>
            <a:off x="1952625" y="882015"/>
            <a:ext cx="5170805" cy="4472305"/>
          </a:xfrm>
          <a:prstGeom prst="rect">
            <a:avLst/>
          </a:prstGeom>
          <a:noFill/>
          <a:ln w="1270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-VTC</a:t>
            </a:r>
            <a:endParaRPr lang="en-US" altLang="zh-CN">
              <a:sym typeface="+mn-ea"/>
            </a:endParaRPr>
          </a:p>
        </p:txBody>
      </p:sp>
      <p:grpSp>
        <p:nvGrpSpPr>
          <p:cNvPr id="357379" name="组合 357378"/>
          <p:cNvGrpSpPr/>
          <p:nvPr/>
        </p:nvGrpSpPr>
        <p:grpSpPr>
          <a:xfrm>
            <a:off x="2066396" y="3192198"/>
            <a:ext cx="1570302" cy="1572948"/>
            <a:chOff x="986" y="2413"/>
            <a:chExt cx="1187" cy="1189"/>
          </a:xfrm>
        </p:grpSpPr>
        <p:sp>
          <p:nvSpPr>
            <p:cNvPr id="357380" name="任意多边形 357379"/>
            <p:cNvSpPr/>
            <p:nvPr/>
          </p:nvSpPr>
          <p:spPr>
            <a:xfrm>
              <a:off x="2039" y="3093"/>
              <a:ext cx="13" cy="13"/>
            </a:xfrm>
            <a:custGeom>
              <a:avLst/>
              <a:gdLst/>
              <a:ahLst/>
              <a:cxnLst/>
              <a:rect l="0" t="0" r="0" b="0"/>
              <a:pathLst>
                <a:path w="13" h="13">
                  <a:moveTo>
                    <a:pt x="13" y="7"/>
                  </a:moveTo>
                  <a:lnTo>
                    <a:pt x="6" y="0"/>
                  </a:lnTo>
                  <a:lnTo>
                    <a:pt x="6" y="0"/>
                  </a:lnTo>
                  <a:lnTo>
                    <a:pt x="0" y="0"/>
                  </a:lnTo>
                  <a:lnTo>
                    <a:pt x="0" y="7"/>
                  </a:lnTo>
                  <a:lnTo>
                    <a:pt x="0" y="13"/>
                  </a:lnTo>
                  <a:lnTo>
                    <a:pt x="6" y="13"/>
                  </a:lnTo>
                  <a:lnTo>
                    <a:pt x="6" y="13"/>
                  </a:lnTo>
                  <a:lnTo>
                    <a:pt x="13" y="7"/>
                  </a:lnTo>
                  <a:close/>
                </a:path>
              </a:pathLst>
            </a:custGeom>
            <a:blipFill rotWithShape="0">
              <a:blip r:embed="rId1"/>
            </a:blipFill>
            <a:ln w="9525">
              <a:noFill/>
            </a:ln>
          </p:spPr>
          <p:txBody>
            <a:bodyPr/>
            <a:lstStyle/>
            <a:p>
              <a:endParaRPr lang="zh-CN" altLang="en-US" sz="1500"/>
            </a:p>
          </p:txBody>
        </p:sp>
        <p:sp>
          <p:nvSpPr>
            <p:cNvPr id="357381" name="任意多边形 357380"/>
            <p:cNvSpPr/>
            <p:nvPr/>
          </p:nvSpPr>
          <p:spPr>
            <a:xfrm>
              <a:off x="2045" y="3074"/>
              <a:ext cx="59" cy="58"/>
            </a:xfrm>
            <a:custGeom>
              <a:avLst/>
              <a:gdLst/>
              <a:ahLst/>
              <a:cxnLst/>
              <a:rect l="0" t="0" r="0" b="0"/>
              <a:pathLst>
                <a:path w="59" h="58">
                  <a:moveTo>
                    <a:pt x="0" y="26"/>
                  </a:moveTo>
                  <a:lnTo>
                    <a:pt x="0" y="0"/>
                  </a:lnTo>
                  <a:lnTo>
                    <a:pt x="0" y="0"/>
                  </a:lnTo>
                  <a:lnTo>
                    <a:pt x="0" y="0"/>
                  </a:lnTo>
                  <a:lnTo>
                    <a:pt x="46" y="26"/>
                  </a:lnTo>
                  <a:lnTo>
                    <a:pt x="59" y="26"/>
                  </a:lnTo>
                  <a:lnTo>
                    <a:pt x="46" y="32"/>
                  </a:lnTo>
                  <a:lnTo>
                    <a:pt x="0" y="58"/>
                  </a:lnTo>
                  <a:lnTo>
                    <a:pt x="0" y="58"/>
                  </a:lnTo>
                  <a:lnTo>
                    <a:pt x="0" y="52"/>
                  </a:lnTo>
                  <a:lnTo>
                    <a:pt x="0" y="52"/>
                  </a:lnTo>
                  <a:lnTo>
                    <a:pt x="46" y="26"/>
                  </a:lnTo>
                  <a:lnTo>
                    <a:pt x="46" y="32"/>
                  </a:lnTo>
                  <a:lnTo>
                    <a:pt x="46" y="32"/>
                  </a:lnTo>
                  <a:lnTo>
                    <a:pt x="0" y="6"/>
                  </a:lnTo>
                  <a:lnTo>
                    <a:pt x="0" y="0"/>
                  </a:lnTo>
                  <a:lnTo>
                    <a:pt x="7" y="0"/>
                  </a:lnTo>
                  <a:lnTo>
                    <a:pt x="7" y="26"/>
                  </a:lnTo>
                  <a:lnTo>
                    <a:pt x="0" y="26"/>
                  </a:lnTo>
                  <a:close/>
                </a:path>
              </a:pathLst>
            </a:custGeom>
            <a:blipFill rotWithShape="0">
              <a:blip r:embed="rId1"/>
            </a:blipFill>
            <a:ln w="9525">
              <a:noFill/>
            </a:ln>
          </p:spPr>
          <p:txBody>
            <a:bodyPr/>
            <a:lstStyle/>
            <a:p>
              <a:endParaRPr lang="zh-CN" altLang="en-US" sz="1500"/>
            </a:p>
          </p:txBody>
        </p:sp>
        <p:sp>
          <p:nvSpPr>
            <p:cNvPr id="357382" name="任意多边形 357381"/>
            <p:cNvSpPr/>
            <p:nvPr/>
          </p:nvSpPr>
          <p:spPr>
            <a:xfrm>
              <a:off x="2045" y="3100"/>
              <a:ext cx="7" cy="26"/>
            </a:xfrm>
            <a:custGeom>
              <a:avLst/>
              <a:gdLst/>
              <a:ahLst/>
              <a:cxnLst/>
              <a:rect l="0" t="0" r="0" b="0"/>
              <a:pathLst>
                <a:path w="7" h="26">
                  <a:moveTo>
                    <a:pt x="0" y="26"/>
                  </a:moveTo>
                  <a:lnTo>
                    <a:pt x="0" y="0"/>
                  </a:lnTo>
                  <a:lnTo>
                    <a:pt x="7" y="0"/>
                  </a:lnTo>
                  <a:lnTo>
                    <a:pt x="7" y="0"/>
                  </a:lnTo>
                  <a:lnTo>
                    <a:pt x="7" y="0"/>
                  </a:lnTo>
                  <a:lnTo>
                    <a:pt x="7" y="26"/>
                  </a:lnTo>
                  <a:lnTo>
                    <a:pt x="0" y="26"/>
                  </a:lnTo>
                  <a:close/>
                </a:path>
              </a:pathLst>
            </a:custGeom>
            <a:blipFill rotWithShape="0">
              <a:blip r:embed="rId1"/>
            </a:blipFill>
            <a:ln w="9525">
              <a:noFill/>
            </a:ln>
          </p:spPr>
          <p:txBody>
            <a:bodyPr/>
            <a:lstStyle/>
            <a:p>
              <a:endParaRPr lang="zh-CN" altLang="en-US" sz="1500"/>
            </a:p>
          </p:txBody>
        </p:sp>
        <p:sp>
          <p:nvSpPr>
            <p:cNvPr id="357383" name="任意多边形 357382"/>
            <p:cNvSpPr/>
            <p:nvPr/>
          </p:nvSpPr>
          <p:spPr>
            <a:xfrm>
              <a:off x="2045" y="3074"/>
              <a:ext cx="46" cy="52"/>
            </a:xfrm>
            <a:custGeom>
              <a:avLst/>
              <a:gdLst/>
              <a:ahLst/>
              <a:cxnLst/>
              <a:rect l="0" t="0" r="0" b="0"/>
              <a:pathLst>
                <a:path w="46" h="52">
                  <a:moveTo>
                    <a:pt x="0" y="26"/>
                  </a:moveTo>
                  <a:lnTo>
                    <a:pt x="0" y="0"/>
                  </a:lnTo>
                  <a:lnTo>
                    <a:pt x="46" y="26"/>
                  </a:lnTo>
                  <a:lnTo>
                    <a:pt x="0" y="52"/>
                  </a:lnTo>
                  <a:lnTo>
                    <a:pt x="0" y="26"/>
                  </a:lnTo>
                  <a:close/>
                </a:path>
              </a:pathLst>
            </a:custGeom>
            <a:blipFill rotWithShape="0">
              <a:blip r:embed="rId1"/>
            </a:blipFill>
            <a:ln w="9525">
              <a:noFill/>
            </a:ln>
          </p:spPr>
          <p:txBody>
            <a:bodyPr/>
            <a:lstStyle/>
            <a:p>
              <a:endParaRPr lang="zh-CN" altLang="en-US" sz="1500"/>
            </a:p>
          </p:txBody>
        </p:sp>
        <p:sp>
          <p:nvSpPr>
            <p:cNvPr id="357384" name="矩形 357383"/>
            <p:cNvSpPr/>
            <p:nvPr/>
          </p:nvSpPr>
          <p:spPr>
            <a:xfrm>
              <a:off x="986" y="3093"/>
              <a:ext cx="7" cy="13"/>
            </a:xfrm>
            <a:prstGeom prst="rect">
              <a:avLst/>
            </a:prstGeom>
            <a:blipFill rotWithShape="0">
              <a:blip r:embed="rId1"/>
            </a:blipFill>
            <a:ln w="9525">
              <a:noFill/>
            </a:ln>
          </p:spPr>
          <p:txBody>
            <a:bodyPr/>
            <a:lstStyle/>
            <a:p>
              <a:endParaRPr lang="zh-CN" altLang="en-US" sz="1500"/>
            </a:p>
          </p:txBody>
        </p:sp>
        <p:sp>
          <p:nvSpPr>
            <p:cNvPr id="357385" name="矩形 357384"/>
            <p:cNvSpPr/>
            <p:nvPr/>
          </p:nvSpPr>
          <p:spPr>
            <a:xfrm>
              <a:off x="2045" y="3093"/>
              <a:ext cx="7" cy="13"/>
            </a:xfrm>
            <a:prstGeom prst="rect">
              <a:avLst/>
            </a:prstGeom>
            <a:blipFill rotWithShape="0">
              <a:blip r:embed="rId1"/>
            </a:blipFill>
            <a:ln w="9525">
              <a:noFill/>
            </a:ln>
          </p:spPr>
          <p:txBody>
            <a:bodyPr/>
            <a:lstStyle/>
            <a:p>
              <a:endParaRPr lang="zh-CN" altLang="en-US" sz="1500"/>
            </a:p>
          </p:txBody>
        </p:sp>
        <p:sp>
          <p:nvSpPr>
            <p:cNvPr id="357386" name="矩形 357385"/>
            <p:cNvSpPr/>
            <p:nvPr/>
          </p:nvSpPr>
          <p:spPr>
            <a:xfrm>
              <a:off x="993" y="3093"/>
              <a:ext cx="1052" cy="13"/>
            </a:xfrm>
            <a:prstGeom prst="rect">
              <a:avLst/>
            </a:prstGeom>
            <a:blipFill rotWithShape="0">
              <a:blip r:embed="rId1"/>
            </a:blipFill>
            <a:ln w="9525">
              <a:noFill/>
            </a:ln>
          </p:spPr>
          <p:txBody>
            <a:bodyPr/>
            <a:lstStyle/>
            <a:p>
              <a:endParaRPr lang="zh-CN" altLang="en-US" sz="1500"/>
            </a:p>
          </p:txBody>
        </p:sp>
        <p:sp>
          <p:nvSpPr>
            <p:cNvPr id="357387" name="任意多边形 357386"/>
            <p:cNvSpPr/>
            <p:nvPr/>
          </p:nvSpPr>
          <p:spPr>
            <a:xfrm>
              <a:off x="1529" y="2596"/>
              <a:ext cx="13" cy="14"/>
            </a:xfrm>
            <a:custGeom>
              <a:avLst/>
              <a:gdLst/>
              <a:ahLst/>
              <a:cxnLst/>
              <a:rect l="0" t="0" r="0" b="0"/>
              <a:pathLst>
                <a:path w="13" h="14">
                  <a:moveTo>
                    <a:pt x="6" y="0"/>
                  </a:moveTo>
                  <a:lnTo>
                    <a:pt x="6" y="0"/>
                  </a:lnTo>
                  <a:lnTo>
                    <a:pt x="0" y="7"/>
                  </a:lnTo>
                  <a:lnTo>
                    <a:pt x="6" y="14"/>
                  </a:lnTo>
                  <a:lnTo>
                    <a:pt x="6" y="14"/>
                  </a:lnTo>
                  <a:lnTo>
                    <a:pt x="13" y="14"/>
                  </a:lnTo>
                  <a:lnTo>
                    <a:pt x="13" y="7"/>
                  </a:lnTo>
                  <a:lnTo>
                    <a:pt x="13" y="0"/>
                  </a:lnTo>
                  <a:lnTo>
                    <a:pt x="6" y="0"/>
                  </a:lnTo>
                  <a:close/>
                </a:path>
              </a:pathLst>
            </a:custGeom>
            <a:blipFill rotWithShape="0">
              <a:blip r:embed="rId1"/>
            </a:blipFill>
            <a:ln w="9525">
              <a:noFill/>
            </a:ln>
          </p:spPr>
          <p:txBody>
            <a:bodyPr/>
            <a:lstStyle/>
            <a:p>
              <a:endParaRPr lang="zh-CN" altLang="en-US" sz="1500"/>
            </a:p>
          </p:txBody>
        </p:sp>
        <p:sp>
          <p:nvSpPr>
            <p:cNvPr id="357388" name="任意多边形 357387"/>
            <p:cNvSpPr/>
            <p:nvPr/>
          </p:nvSpPr>
          <p:spPr>
            <a:xfrm>
              <a:off x="1516" y="2551"/>
              <a:ext cx="59" cy="45"/>
            </a:xfrm>
            <a:custGeom>
              <a:avLst/>
              <a:gdLst/>
              <a:ahLst/>
              <a:cxnLst/>
              <a:rect l="0" t="0" r="0" b="0"/>
              <a:pathLst>
                <a:path w="59" h="45">
                  <a:moveTo>
                    <a:pt x="19" y="45"/>
                  </a:moveTo>
                  <a:lnTo>
                    <a:pt x="0" y="45"/>
                  </a:lnTo>
                  <a:lnTo>
                    <a:pt x="0" y="45"/>
                  </a:lnTo>
                  <a:lnTo>
                    <a:pt x="0" y="45"/>
                  </a:lnTo>
                  <a:lnTo>
                    <a:pt x="19" y="6"/>
                  </a:lnTo>
                  <a:lnTo>
                    <a:pt x="26" y="0"/>
                  </a:lnTo>
                  <a:lnTo>
                    <a:pt x="26" y="0"/>
                  </a:lnTo>
                  <a:lnTo>
                    <a:pt x="52" y="39"/>
                  </a:lnTo>
                  <a:lnTo>
                    <a:pt x="59" y="45"/>
                  </a:lnTo>
                  <a:lnTo>
                    <a:pt x="46" y="45"/>
                  </a:lnTo>
                  <a:lnTo>
                    <a:pt x="46" y="45"/>
                  </a:lnTo>
                  <a:lnTo>
                    <a:pt x="19" y="6"/>
                  </a:lnTo>
                  <a:lnTo>
                    <a:pt x="26" y="0"/>
                  </a:lnTo>
                  <a:lnTo>
                    <a:pt x="26" y="6"/>
                  </a:lnTo>
                  <a:lnTo>
                    <a:pt x="6" y="45"/>
                  </a:lnTo>
                  <a:lnTo>
                    <a:pt x="0" y="45"/>
                  </a:lnTo>
                  <a:lnTo>
                    <a:pt x="0" y="39"/>
                  </a:lnTo>
                  <a:lnTo>
                    <a:pt x="19" y="39"/>
                  </a:lnTo>
                  <a:lnTo>
                    <a:pt x="19" y="45"/>
                  </a:lnTo>
                  <a:close/>
                </a:path>
              </a:pathLst>
            </a:custGeom>
            <a:blipFill rotWithShape="0">
              <a:blip r:embed="rId1"/>
            </a:blipFill>
            <a:ln w="9525">
              <a:noFill/>
            </a:ln>
          </p:spPr>
          <p:txBody>
            <a:bodyPr/>
            <a:lstStyle/>
            <a:p>
              <a:endParaRPr lang="zh-CN" altLang="en-US" sz="1500"/>
            </a:p>
          </p:txBody>
        </p:sp>
        <p:sp>
          <p:nvSpPr>
            <p:cNvPr id="357389" name="任意多边形 357388"/>
            <p:cNvSpPr/>
            <p:nvPr/>
          </p:nvSpPr>
          <p:spPr>
            <a:xfrm>
              <a:off x="1535" y="2590"/>
              <a:ext cx="27" cy="6"/>
            </a:xfrm>
            <a:custGeom>
              <a:avLst/>
              <a:gdLst/>
              <a:ahLst/>
              <a:cxnLst/>
              <a:rect l="0" t="0" r="0" b="0"/>
              <a:pathLst>
                <a:path w="27" h="6">
                  <a:moveTo>
                    <a:pt x="27" y="6"/>
                  </a:moveTo>
                  <a:lnTo>
                    <a:pt x="0" y="6"/>
                  </a:lnTo>
                  <a:lnTo>
                    <a:pt x="0" y="0"/>
                  </a:lnTo>
                  <a:lnTo>
                    <a:pt x="0" y="0"/>
                  </a:lnTo>
                  <a:lnTo>
                    <a:pt x="0" y="0"/>
                  </a:lnTo>
                  <a:lnTo>
                    <a:pt x="27" y="0"/>
                  </a:lnTo>
                  <a:lnTo>
                    <a:pt x="27" y="6"/>
                  </a:lnTo>
                  <a:close/>
                </a:path>
              </a:pathLst>
            </a:custGeom>
            <a:blipFill rotWithShape="0">
              <a:blip r:embed="rId1"/>
            </a:blipFill>
            <a:ln w="9525">
              <a:noFill/>
            </a:ln>
          </p:spPr>
          <p:txBody>
            <a:bodyPr/>
            <a:lstStyle/>
            <a:p>
              <a:endParaRPr lang="zh-CN" altLang="en-US" sz="1500"/>
            </a:p>
          </p:txBody>
        </p:sp>
        <p:sp>
          <p:nvSpPr>
            <p:cNvPr id="357390" name="任意多边形 357389"/>
            <p:cNvSpPr/>
            <p:nvPr/>
          </p:nvSpPr>
          <p:spPr>
            <a:xfrm>
              <a:off x="1516" y="2557"/>
              <a:ext cx="46" cy="39"/>
            </a:xfrm>
            <a:custGeom>
              <a:avLst/>
              <a:gdLst/>
              <a:ahLst/>
              <a:cxnLst/>
              <a:rect l="0" t="0" r="0" b="0"/>
              <a:pathLst>
                <a:path w="46" h="39">
                  <a:moveTo>
                    <a:pt x="19" y="39"/>
                  </a:moveTo>
                  <a:lnTo>
                    <a:pt x="0" y="39"/>
                  </a:lnTo>
                  <a:lnTo>
                    <a:pt x="19" y="0"/>
                  </a:lnTo>
                  <a:lnTo>
                    <a:pt x="46" y="39"/>
                  </a:lnTo>
                  <a:lnTo>
                    <a:pt x="19" y="39"/>
                  </a:lnTo>
                  <a:close/>
                </a:path>
              </a:pathLst>
            </a:custGeom>
            <a:blipFill rotWithShape="0">
              <a:blip r:embed="rId1"/>
            </a:blipFill>
            <a:ln w="9525">
              <a:noFill/>
            </a:ln>
          </p:spPr>
          <p:txBody>
            <a:bodyPr/>
            <a:lstStyle/>
            <a:p>
              <a:endParaRPr lang="zh-CN" altLang="en-US" sz="1500"/>
            </a:p>
          </p:txBody>
        </p:sp>
        <p:sp>
          <p:nvSpPr>
            <p:cNvPr id="357391" name="矩形 357390"/>
            <p:cNvSpPr/>
            <p:nvPr/>
          </p:nvSpPr>
          <p:spPr>
            <a:xfrm>
              <a:off x="1529" y="3557"/>
              <a:ext cx="13" cy="7"/>
            </a:xfrm>
            <a:prstGeom prst="rect">
              <a:avLst/>
            </a:prstGeom>
            <a:blipFill rotWithShape="0">
              <a:blip r:embed="rId1"/>
            </a:blipFill>
            <a:ln w="9525">
              <a:noFill/>
            </a:ln>
          </p:spPr>
          <p:txBody>
            <a:bodyPr/>
            <a:lstStyle/>
            <a:p>
              <a:endParaRPr lang="zh-CN" altLang="en-US" sz="1500"/>
            </a:p>
          </p:txBody>
        </p:sp>
        <p:sp>
          <p:nvSpPr>
            <p:cNvPr id="357392" name="矩形 357391"/>
            <p:cNvSpPr/>
            <p:nvPr/>
          </p:nvSpPr>
          <p:spPr>
            <a:xfrm>
              <a:off x="1529" y="2596"/>
              <a:ext cx="13" cy="7"/>
            </a:xfrm>
            <a:prstGeom prst="rect">
              <a:avLst/>
            </a:prstGeom>
            <a:blipFill rotWithShape="0">
              <a:blip r:embed="rId1"/>
            </a:blipFill>
            <a:ln w="9525">
              <a:noFill/>
            </a:ln>
          </p:spPr>
          <p:txBody>
            <a:bodyPr/>
            <a:lstStyle/>
            <a:p>
              <a:endParaRPr lang="zh-CN" altLang="en-US" sz="1500"/>
            </a:p>
          </p:txBody>
        </p:sp>
        <p:sp>
          <p:nvSpPr>
            <p:cNvPr id="357393" name="矩形 357392"/>
            <p:cNvSpPr/>
            <p:nvPr/>
          </p:nvSpPr>
          <p:spPr>
            <a:xfrm>
              <a:off x="1529" y="2603"/>
              <a:ext cx="13" cy="954"/>
            </a:xfrm>
            <a:prstGeom prst="rect">
              <a:avLst/>
            </a:prstGeom>
            <a:blipFill rotWithShape="0">
              <a:blip r:embed="rId1"/>
            </a:blipFill>
            <a:ln w="9525">
              <a:noFill/>
            </a:ln>
          </p:spPr>
          <p:txBody>
            <a:bodyPr/>
            <a:lstStyle/>
            <a:p>
              <a:endParaRPr lang="zh-CN" altLang="en-US" sz="1500"/>
            </a:p>
          </p:txBody>
        </p:sp>
        <p:sp>
          <p:nvSpPr>
            <p:cNvPr id="357394" name="矩形 357393"/>
            <p:cNvSpPr/>
            <p:nvPr/>
          </p:nvSpPr>
          <p:spPr>
            <a:xfrm>
              <a:off x="1529" y="3093"/>
              <a:ext cx="13" cy="7"/>
            </a:xfrm>
            <a:prstGeom prst="rect">
              <a:avLst/>
            </a:prstGeom>
            <a:blipFill rotWithShape="0">
              <a:blip r:embed="rId1"/>
            </a:blipFill>
            <a:ln w="9525">
              <a:noFill/>
            </a:ln>
          </p:spPr>
          <p:txBody>
            <a:bodyPr/>
            <a:lstStyle/>
            <a:p>
              <a:endParaRPr lang="zh-CN" altLang="en-US" sz="1500"/>
            </a:p>
          </p:txBody>
        </p:sp>
        <p:sp>
          <p:nvSpPr>
            <p:cNvPr id="357395" name="任意多边形 357394"/>
            <p:cNvSpPr/>
            <p:nvPr/>
          </p:nvSpPr>
          <p:spPr>
            <a:xfrm>
              <a:off x="1359" y="3100"/>
              <a:ext cx="183" cy="340"/>
            </a:xfrm>
            <a:custGeom>
              <a:avLst/>
              <a:gdLst/>
              <a:ahLst/>
              <a:cxnLst/>
              <a:rect l="0" t="0" r="0" b="0"/>
              <a:pathLst>
                <a:path w="183" h="340">
                  <a:moveTo>
                    <a:pt x="183" y="0"/>
                  </a:moveTo>
                  <a:lnTo>
                    <a:pt x="157" y="137"/>
                  </a:lnTo>
                  <a:lnTo>
                    <a:pt x="157" y="144"/>
                  </a:lnTo>
                  <a:lnTo>
                    <a:pt x="157" y="144"/>
                  </a:lnTo>
                  <a:lnTo>
                    <a:pt x="118" y="242"/>
                  </a:lnTo>
                  <a:lnTo>
                    <a:pt x="118" y="242"/>
                  </a:lnTo>
                  <a:lnTo>
                    <a:pt x="118" y="242"/>
                  </a:lnTo>
                  <a:lnTo>
                    <a:pt x="65" y="300"/>
                  </a:lnTo>
                  <a:lnTo>
                    <a:pt x="65" y="300"/>
                  </a:lnTo>
                  <a:lnTo>
                    <a:pt x="65" y="300"/>
                  </a:lnTo>
                  <a:lnTo>
                    <a:pt x="6" y="340"/>
                  </a:lnTo>
                  <a:lnTo>
                    <a:pt x="0" y="340"/>
                  </a:lnTo>
                  <a:lnTo>
                    <a:pt x="0" y="327"/>
                  </a:lnTo>
                  <a:lnTo>
                    <a:pt x="0" y="327"/>
                  </a:lnTo>
                  <a:lnTo>
                    <a:pt x="59" y="287"/>
                  </a:lnTo>
                  <a:lnTo>
                    <a:pt x="59" y="287"/>
                  </a:lnTo>
                  <a:lnTo>
                    <a:pt x="59" y="294"/>
                  </a:lnTo>
                  <a:lnTo>
                    <a:pt x="111" y="235"/>
                  </a:lnTo>
                  <a:lnTo>
                    <a:pt x="111" y="235"/>
                  </a:lnTo>
                  <a:lnTo>
                    <a:pt x="104" y="235"/>
                  </a:lnTo>
                  <a:lnTo>
                    <a:pt x="144" y="137"/>
                  </a:lnTo>
                  <a:lnTo>
                    <a:pt x="144" y="137"/>
                  </a:lnTo>
                  <a:lnTo>
                    <a:pt x="144" y="137"/>
                  </a:lnTo>
                  <a:lnTo>
                    <a:pt x="170" y="0"/>
                  </a:lnTo>
                  <a:lnTo>
                    <a:pt x="183" y="0"/>
                  </a:lnTo>
                  <a:close/>
                </a:path>
              </a:pathLst>
            </a:custGeom>
            <a:blipFill rotWithShape="0">
              <a:blip r:embed="rId1"/>
            </a:blipFill>
            <a:ln w="9525">
              <a:noFill/>
            </a:ln>
          </p:spPr>
          <p:txBody>
            <a:bodyPr/>
            <a:lstStyle/>
            <a:p>
              <a:endParaRPr lang="zh-CN" altLang="en-US" sz="1500"/>
            </a:p>
          </p:txBody>
        </p:sp>
        <p:sp>
          <p:nvSpPr>
            <p:cNvPr id="357396" name="任意多边形 357395"/>
            <p:cNvSpPr/>
            <p:nvPr/>
          </p:nvSpPr>
          <p:spPr>
            <a:xfrm>
              <a:off x="1215" y="3427"/>
              <a:ext cx="144" cy="39"/>
            </a:xfrm>
            <a:custGeom>
              <a:avLst/>
              <a:gdLst/>
              <a:ahLst/>
              <a:cxnLst/>
              <a:rect l="0" t="0" r="0" b="0"/>
              <a:pathLst>
                <a:path w="144" h="39">
                  <a:moveTo>
                    <a:pt x="144" y="13"/>
                  </a:moveTo>
                  <a:lnTo>
                    <a:pt x="0" y="39"/>
                  </a:lnTo>
                  <a:lnTo>
                    <a:pt x="0" y="39"/>
                  </a:lnTo>
                  <a:lnTo>
                    <a:pt x="0" y="26"/>
                  </a:lnTo>
                  <a:lnTo>
                    <a:pt x="0" y="26"/>
                  </a:lnTo>
                  <a:lnTo>
                    <a:pt x="144" y="0"/>
                  </a:lnTo>
                  <a:lnTo>
                    <a:pt x="144" y="13"/>
                  </a:lnTo>
                  <a:close/>
                </a:path>
              </a:pathLst>
            </a:custGeom>
            <a:blipFill rotWithShape="0">
              <a:blip r:embed="rId1"/>
            </a:blipFill>
            <a:ln w="9525">
              <a:noFill/>
            </a:ln>
          </p:spPr>
          <p:txBody>
            <a:bodyPr/>
            <a:lstStyle/>
            <a:p>
              <a:endParaRPr lang="zh-CN" altLang="en-US" sz="1500"/>
            </a:p>
          </p:txBody>
        </p:sp>
        <p:sp>
          <p:nvSpPr>
            <p:cNvPr id="357397" name="矩形 357396"/>
            <p:cNvSpPr/>
            <p:nvPr/>
          </p:nvSpPr>
          <p:spPr>
            <a:xfrm>
              <a:off x="1032" y="3466"/>
              <a:ext cx="6" cy="13"/>
            </a:xfrm>
            <a:prstGeom prst="rect">
              <a:avLst/>
            </a:prstGeom>
            <a:blipFill rotWithShape="0">
              <a:blip r:embed="rId1"/>
            </a:blipFill>
            <a:ln w="9525">
              <a:noFill/>
            </a:ln>
          </p:spPr>
          <p:txBody>
            <a:bodyPr/>
            <a:lstStyle/>
            <a:p>
              <a:endParaRPr lang="zh-CN" altLang="en-US" sz="1500"/>
            </a:p>
          </p:txBody>
        </p:sp>
        <p:sp>
          <p:nvSpPr>
            <p:cNvPr id="357398" name="任意多边形 357397"/>
            <p:cNvSpPr/>
            <p:nvPr/>
          </p:nvSpPr>
          <p:spPr>
            <a:xfrm>
              <a:off x="1038" y="3453"/>
              <a:ext cx="177" cy="26"/>
            </a:xfrm>
            <a:custGeom>
              <a:avLst/>
              <a:gdLst/>
              <a:ahLst/>
              <a:cxnLst/>
              <a:rect l="0" t="0" r="0" b="0"/>
              <a:pathLst>
                <a:path w="177" h="26">
                  <a:moveTo>
                    <a:pt x="177" y="13"/>
                  </a:moveTo>
                  <a:lnTo>
                    <a:pt x="177" y="0"/>
                  </a:lnTo>
                  <a:lnTo>
                    <a:pt x="0" y="13"/>
                  </a:lnTo>
                  <a:lnTo>
                    <a:pt x="0" y="26"/>
                  </a:lnTo>
                  <a:lnTo>
                    <a:pt x="177" y="13"/>
                  </a:lnTo>
                  <a:close/>
                </a:path>
              </a:pathLst>
            </a:custGeom>
            <a:blipFill rotWithShape="0">
              <a:blip r:embed="rId1"/>
            </a:blipFill>
            <a:ln w="9525">
              <a:noFill/>
            </a:ln>
          </p:spPr>
          <p:txBody>
            <a:bodyPr/>
            <a:lstStyle/>
            <a:p>
              <a:endParaRPr lang="zh-CN" altLang="en-US" sz="1500"/>
            </a:p>
          </p:txBody>
        </p:sp>
        <p:sp>
          <p:nvSpPr>
            <p:cNvPr id="357399" name="任意多边形 357398"/>
            <p:cNvSpPr/>
            <p:nvPr/>
          </p:nvSpPr>
          <p:spPr>
            <a:xfrm>
              <a:off x="1529" y="3106"/>
              <a:ext cx="13" cy="13"/>
            </a:xfrm>
            <a:custGeom>
              <a:avLst/>
              <a:gdLst/>
              <a:ahLst/>
              <a:cxnLst/>
              <a:rect l="0" t="0" r="0" b="0"/>
              <a:pathLst>
                <a:path w="13" h="13">
                  <a:moveTo>
                    <a:pt x="13" y="13"/>
                  </a:moveTo>
                  <a:lnTo>
                    <a:pt x="13" y="7"/>
                  </a:lnTo>
                  <a:lnTo>
                    <a:pt x="0" y="0"/>
                  </a:lnTo>
                  <a:lnTo>
                    <a:pt x="0" y="7"/>
                  </a:lnTo>
                  <a:lnTo>
                    <a:pt x="13" y="13"/>
                  </a:lnTo>
                  <a:close/>
                </a:path>
              </a:pathLst>
            </a:custGeom>
            <a:blipFill rotWithShape="0">
              <a:blip r:embed="rId1"/>
            </a:blipFill>
            <a:ln w="9525">
              <a:noFill/>
            </a:ln>
          </p:spPr>
          <p:txBody>
            <a:bodyPr/>
            <a:lstStyle/>
            <a:p>
              <a:endParaRPr lang="zh-CN" altLang="en-US" sz="1500"/>
            </a:p>
          </p:txBody>
        </p:sp>
        <p:sp>
          <p:nvSpPr>
            <p:cNvPr id="357400" name="任意多边形 357399"/>
            <p:cNvSpPr/>
            <p:nvPr/>
          </p:nvSpPr>
          <p:spPr>
            <a:xfrm>
              <a:off x="1418" y="3113"/>
              <a:ext cx="124" cy="131"/>
            </a:xfrm>
            <a:custGeom>
              <a:avLst/>
              <a:gdLst/>
              <a:ahLst/>
              <a:cxnLst/>
              <a:rect l="0" t="0" r="0" b="0"/>
              <a:pathLst>
                <a:path w="124" h="131">
                  <a:moveTo>
                    <a:pt x="124" y="6"/>
                  </a:moveTo>
                  <a:lnTo>
                    <a:pt x="98" y="65"/>
                  </a:lnTo>
                  <a:lnTo>
                    <a:pt x="98" y="65"/>
                  </a:lnTo>
                  <a:lnTo>
                    <a:pt x="98" y="65"/>
                  </a:lnTo>
                  <a:lnTo>
                    <a:pt x="59" y="104"/>
                  </a:lnTo>
                  <a:lnTo>
                    <a:pt x="59" y="104"/>
                  </a:lnTo>
                  <a:lnTo>
                    <a:pt x="59" y="104"/>
                  </a:lnTo>
                  <a:lnTo>
                    <a:pt x="6" y="131"/>
                  </a:lnTo>
                  <a:lnTo>
                    <a:pt x="6" y="131"/>
                  </a:lnTo>
                  <a:lnTo>
                    <a:pt x="0" y="117"/>
                  </a:lnTo>
                  <a:lnTo>
                    <a:pt x="0" y="117"/>
                  </a:lnTo>
                  <a:lnTo>
                    <a:pt x="52" y="91"/>
                  </a:lnTo>
                  <a:lnTo>
                    <a:pt x="52" y="91"/>
                  </a:lnTo>
                  <a:lnTo>
                    <a:pt x="52" y="98"/>
                  </a:lnTo>
                  <a:lnTo>
                    <a:pt x="91" y="59"/>
                  </a:lnTo>
                  <a:lnTo>
                    <a:pt x="91" y="59"/>
                  </a:lnTo>
                  <a:lnTo>
                    <a:pt x="85" y="59"/>
                  </a:lnTo>
                  <a:lnTo>
                    <a:pt x="111" y="0"/>
                  </a:lnTo>
                  <a:lnTo>
                    <a:pt x="124" y="6"/>
                  </a:lnTo>
                  <a:close/>
                </a:path>
              </a:pathLst>
            </a:custGeom>
            <a:blipFill rotWithShape="0">
              <a:blip r:embed="rId1"/>
            </a:blipFill>
            <a:ln w="9525">
              <a:noFill/>
            </a:ln>
          </p:spPr>
          <p:txBody>
            <a:bodyPr/>
            <a:lstStyle/>
            <a:p>
              <a:endParaRPr lang="zh-CN" altLang="en-US" sz="1500"/>
            </a:p>
          </p:txBody>
        </p:sp>
        <p:sp>
          <p:nvSpPr>
            <p:cNvPr id="357401" name="任意多边形 357400"/>
            <p:cNvSpPr/>
            <p:nvPr/>
          </p:nvSpPr>
          <p:spPr>
            <a:xfrm>
              <a:off x="1359" y="3230"/>
              <a:ext cx="65" cy="33"/>
            </a:xfrm>
            <a:custGeom>
              <a:avLst/>
              <a:gdLst/>
              <a:ahLst/>
              <a:cxnLst/>
              <a:rect l="0" t="0" r="0" b="0"/>
              <a:pathLst>
                <a:path w="65" h="33">
                  <a:moveTo>
                    <a:pt x="65" y="14"/>
                  </a:moveTo>
                  <a:lnTo>
                    <a:pt x="6" y="33"/>
                  </a:lnTo>
                  <a:lnTo>
                    <a:pt x="0" y="33"/>
                  </a:lnTo>
                  <a:lnTo>
                    <a:pt x="0" y="20"/>
                  </a:lnTo>
                  <a:lnTo>
                    <a:pt x="0" y="20"/>
                  </a:lnTo>
                  <a:lnTo>
                    <a:pt x="59" y="0"/>
                  </a:lnTo>
                  <a:lnTo>
                    <a:pt x="65" y="14"/>
                  </a:lnTo>
                  <a:close/>
                </a:path>
              </a:pathLst>
            </a:custGeom>
            <a:blipFill rotWithShape="0">
              <a:blip r:embed="rId1"/>
            </a:blipFill>
            <a:ln w="9525">
              <a:noFill/>
            </a:ln>
          </p:spPr>
          <p:txBody>
            <a:bodyPr/>
            <a:lstStyle/>
            <a:p>
              <a:endParaRPr lang="zh-CN" altLang="en-US" sz="1500"/>
            </a:p>
          </p:txBody>
        </p:sp>
        <p:sp>
          <p:nvSpPr>
            <p:cNvPr id="357402" name="矩形 357401"/>
            <p:cNvSpPr/>
            <p:nvPr/>
          </p:nvSpPr>
          <p:spPr>
            <a:xfrm>
              <a:off x="1032" y="3263"/>
              <a:ext cx="6" cy="13"/>
            </a:xfrm>
            <a:prstGeom prst="rect">
              <a:avLst/>
            </a:prstGeom>
            <a:blipFill rotWithShape="0">
              <a:blip r:embed="rId1"/>
            </a:blipFill>
            <a:ln w="9525">
              <a:noFill/>
            </a:ln>
          </p:spPr>
          <p:txBody>
            <a:bodyPr/>
            <a:lstStyle/>
            <a:p>
              <a:endParaRPr lang="zh-CN" altLang="en-US" sz="1500"/>
            </a:p>
          </p:txBody>
        </p:sp>
        <p:sp>
          <p:nvSpPr>
            <p:cNvPr id="357403" name="任意多边形 357402"/>
            <p:cNvSpPr/>
            <p:nvPr/>
          </p:nvSpPr>
          <p:spPr>
            <a:xfrm>
              <a:off x="1038" y="3250"/>
              <a:ext cx="321" cy="26"/>
            </a:xfrm>
            <a:custGeom>
              <a:avLst/>
              <a:gdLst/>
              <a:ahLst/>
              <a:cxnLst/>
              <a:rect l="0" t="0" r="0" b="0"/>
              <a:pathLst>
                <a:path w="321" h="26">
                  <a:moveTo>
                    <a:pt x="321" y="13"/>
                  </a:moveTo>
                  <a:lnTo>
                    <a:pt x="321" y="0"/>
                  </a:lnTo>
                  <a:lnTo>
                    <a:pt x="0" y="13"/>
                  </a:lnTo>
                  <a:lnTo>
                    <a:pt x="0" y="26"/>
                  </a:lnTo>
                  <a:lnTo>
                    <a:pt x="321" y="13"/>
                  </a:lnTo>
                  <a:close/>
                </a:path>
              </a:pathLst>
            </a:custGeom>
            <a:blipFill rotWithShape="0">
              <a:blip r:embed="rId1"/>
            </a:blipFill>
            <a:ln w="9525">
              <a:noFill/>
            </a:ln>
          </p:spPr>
          <p:txBody>
            <a:bodyPr/>
            <a:lstStyle/>
            <a:p>
              <a:endParaRPr lang="zh-CN" altLang="en-US" sz="1500"/>
            </a:p>
          </p:txBody>
        </p:sp>
        <p:sp>
          <p:nvSpPr>
            <p:cNvPr id="357404" name="矩形 357403"/>
            <p:cNvSpPr/>
            <p:nvPr/>
          </p:nvSpPr>
          <p:spPr>
            <a:xfrm>
              <a:off x="1947" y="3132"/>
              <a:ext cx="75"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V</a:t>
              </a:r>
              <a:endParaRPr lang="en-US" altLang="zh-CN" sz="3665" b="1" i="0">
                <a:solidFill>
                  <a:srgbClr val="0000B6"/>
                </a:solidFill>
                <a:latin typeface="Book Antiqua" panose="02040602050305030304" pitchFamily="18" charset="0"/>
              </a:endParaRPr>
            </a:p>
          </p:txBody>
        </p:sp>
        <p:sp>
          <p:nvSpPr>
            <p:cNvPr id="357405" name="矩形 357404"/>
            <p:cNvSpPr/>
            <p:nvPr/>
          </p:nvSpPr>
          <p:spPr>
            <a:xfrm>
              <a:off x="2026" y="3178"/>
              <a:ext cx="147" cy="97"/>
            </a:xfrm>
            <a:prstGeom prst="rect">
              <a:avLst/>
            </a:prstGeom>
            <a:noFill/>
            <a:ln w="9525">
              <a:noFill/>
            </a:ln>
          </p:spPr>
          <p:txBody>
            <a:bodyPr wrap="none" lIns="0" tIns="0" rIns="0" bIns="0">
              <a:spAutoFit/>
            </a:bodyPr>
            <a:lstStyle/>
            <a:p>
              <a:r>
                <a:rPr lang="en-US" altLang="zh-CN" sz="835" b="1" i="0" err="1">
                  <a:solidFill>
                    <a:srgbClr val="000000"/>
                  </a:solidFill>
                  <a:latin typeface="Times New Roman" panose="02020603050405020304" pitchFamily="18" charset="0"/>
                </a:rPr>
                <a:t>DSp</a:t>
              </a:r>
              <a:endParaRPr lang="en-US" altLang="zh-CN" sz="3665" b="1" i="0">
                <a:solidFill>
                  <a:srgbClr val="0000B6"/>
                </a:solidFill>
                <a:latin typeface="Book Antiqua" panose="02040602050305030304" pitchFamily="18" charset="0"/>
              </a:endParaRPr>
            </a:p>
          </p:txBody>
        </p:sp>
        <p:sp>
          <p:nvSpPr>
            <p:cNvPr id="357406" name="矩形 357405"/>
            <p:cNvSpPr/>
            <p:nvPr/>
          </p:nvSpPr>
          <p:spPr>
            <a:xfrm>
              <a:off x="1398" y="2413"/>
              <a:ext cx="41"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I</a:t>
              </a:r>
              <a:endParaRPr lang="en-US" altLang="zh-CN" sz="3665" b="1" i="0">
                <a:solidFill>
                  <a:srgbClr val="0000B6"/>
                </a:solidFill>
                <a:latin typeface="Book Antiqua" panose="02040602050305030304" pitchFamily="18" charset="0"/>
              </a:endParaRPr>
            </a:p>
          </p:txBody>
        </p:sp>
        <p:sp>
          <p:nvSpPr>
            <p:cNvPr id="357407" name="矩形 357406"/>
            <p:cNvSpPr/>
            <p:nvPr/>
          </p:nvSpPr>
          <p:spPr>
            <a:xfrm>
              <a:off x="1431" y="2459"/>
              <a:ext cx="103" cy="97"/>
            </a:xfrm>
            <a:prstGeom prst="rect">
              <a:avLst/>
            </a:prstGeom>
            <a:noFill/>
            <a:ln w="9525">
              <a:noFill/>
            </a:ln>
          </p:spPr>
          <p:txBody>
            <a:bodyPr wrap="none" lIns="0" tIns="0" rIns="0" bIns="0">
              <a:spAutoFit/>
            </a:bodyPr>
            <a:lstStyle/>
            <a:p>
              <a:r>
                <a:rPr lang="en-US" altLang="zh-CN" sz="835" b="1" i="0" err="1">
                  <a:solidFill>
                    <a:srgbClr val="000000"/>
                  </a:solidFill>
                  <a:latin typeface="Times New Roman" panose="02020603050405020304" pitchFamily="18" charset="0"/>
                </a:rPr>
                <a:t>Dp</a:t>
              </a:r>
              <a:endParaRPr lang="en-US" altLang="zh-CN" sz="3665" b="1" i="0">
                <a:solidFill>
                  <a:srgbClr val="0000B6"/>
                </a:solidFill>
                <a:latin typeface="Book Antiqua" panose="02040602050305030304" pitchFamily="18" charset="0"/>
              </a:endParaRPr>
            </a:p>
          </p:txBody>
        </p:sp>
        <p:sp>
          <p:nvSpPr>
            <p:cNvPr id="357408" name="矩形 357407"/>
            <p:cNvSpPr/>
            <p:nvPr/>
          </p:nvSpPr>
          <p:spPr>
            <a:xfrm>
              <a:off x="1032" y="3459"/>
              <a:ext cx="75"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V</a:t>
              </a:r>
              <a:endParaRPr lang="en-US" altLang="zh-CN" sz="3665" b="1" i="0">
                <a:solidFill>
                  <a:srgbClr val="0000B6"/>
                </a:solidFill>
                <a:latin typeface="Book Antiqua" panose="02040602050305030304" pitchFamily="18" charset="0"/>
              </a:endParaRPr>
            </a:p>
          </p:txBody>
        </p:sp>
        <p:sp>
          <p:nvSpPr>
            <p:cNvPr id="357409" name="矩形 357408"/>
            <p:cNvSpPr/>
            <p:nvPr/>
          </p:nvSpPr>
          <p:spPr>
            <a:xfrm>
              <a:off x="1104" y="3505"/>
              <a:ext cx="152" cy="97"/>
            </a:xfrm>
            <a:prstGeom prst="rect">
              <a:avLst/>
            </a:prstGeom>
            <a:noFill/>
            <a:ln w="9525">
              <a:noFill/>
            </a:ln>
          </p:spPr>
          <p:txBody>
            <a:bodyPr wrap="none" lIns="0" tIns="0" rIns="0" bIns="0">
              <a:spAutoFit/>
            </a:bodyPr>
            <a:lstStyle/>
            <a:p>
              <a:r>
                <a:rPr lang="en-US" altLang="zh-CN" sz="835" b="1" i="0" err="1">
                  <a:solidFill>
                    <a:srgbClr val="000000"/>
                  </a:solidFill>
                  <a:latin typeface="Times New Roman" panose="02020603050405020304" pitchFamily="18" charset="0"/>
                </a:rPr>
                <a:t>GSp</a:t>
              </a:r>
              <a:endParaRPr lang="en-US" altLang="zh-CN" sz="3665" b="1" i="0">
                <a:solidFill>
                  <a:srgbClr val="0000B6"/>
                </a:solidFill>
                <a:latin typeface="Book Antiqua" panose="02040602050305030304" pitchFamily="18" charset="0"/>
              </a:endParaRPr>
            </a:p>
          </p:txBody>
        </p:sp>
        <p:sp>
          <p:nvSpPr>
            <p:cNvPr id="357410" name="矩形 357409"/>
            <p:cNvSpPr/>
            <p:nvPr/>
          </p:nvSpPr>
          <p:spPr>
            <a:xfrm>
              <a:off x="1254" y="3459"/>
              <a:ext cx="226"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=-2.5</a:t>
              </a:r>
              <a:endParaRPr lang="en-US" altLang="zh-CN" sz="3665" b="1" i="0">
                <a:solidFill>
                  <a:srgbClr val="0000B6"/>
                </a:solidFill>
                <a:latin typeface="Book Antiqua" panose="02040602050305030304" pitchFamily="18" charset="0"/>
              </a:endParaRPr>
            </a:p>
          </p:txBody>
        </p:sp>
        <p:sp>
          <p:nvSpPr>
            <p:cNvPr id="357411" name="矩形 357410"/>
            <p:cNvSpPr/>
            <p:nvPr/>
          </p:nvSpPr>
          <p:spPr>
            <a:xfrm>
              <a:off x="1045" y="3244"/>
              <a:ext cx="75"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V</a:t>
              </a:r>
              <a:endParaRPr lang="en-US" altLang="zh-CN" sz="3665" b="1" i="0">
                <a:solidFill>
                  <a:srgbClr val="0000B6"/>
                </a:solidFill>
                <a:latin typeface="Book Antiqua" panose="02040602050305030304" pitchFamily="18" charset="0"/>
              </a:endParaRPr>
            </a:p>
          </p:txBody>
        </p:sp>
        <p:sp>
          <p:nvSpPr>
            <p:cNvPr id="357412" name="矩形 357411"/>
            <p:cNvSpPr/>
            <p:nvPr/>
          </p:nvSpPr>
          <p:spPr>
            <a:xfrm>
              <a:off x="1117" y="3289"/>
              <a:ext cx="152" cy="97"/>
            </a:xfrm>
            <a:prstGeom prst="rect">
              <a:avLst/>
            </a:prstGeom>
            <a:noFill/>
            <a:ln w="9525">
              <a:noFill/>
            </a:ln>
          </p:spPr>
          <p:txBody>
            <a:bodyPr wrap="none" lIns="0" tIns="0" rIns="0" bIns="0">
              <a:spAutoFit/>
            </a:bodyPr>
            <a:lstStyle/>
            <a:p>
              <a:r>
                <a:rPr lang="en-US" altLang="zh-CN" sz="835" b="1" i="0" err="1">
                  <a:solidFill>
                    <a:srgbClr val="000000"/>
                  </a:solidFill>
                  <a:latin typeface="Times New Roman" panose="02020603050405020304" pitchFamily="18" charset="0"/>
                </a:rPr>
                <a:t>GSp</a:t>
              </a:r>
              <a:endParaRPr lang="en-US" altLang="zh-CN" sz="3665" b="1" i="0">
                <a:solidFill>
                  <a:srgbClr val="0000B6"/>
                </a:solidFill>
                <a:latin typeface="Book Antiqua" panose="02040602050305030304" pitchFamily="18" charset="0"/>
              </a:endParaRPr>
            </a:p>
          </p:txBody>
        </p:sp>
        <p:sp>
          <p:nvSpPr>
            <p:cNvPr id="357413" name="矩形 357412"/>
            <p:cNvSpPr/>
            <p:nvPr/>
          </p:nvSpPr>
          <p:spPr>
            <a:xfrm>
              <a:off x="1267" y="3244"/>
              <a:ext cx="147"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=-1</a:t>
              </a:r>
              <a:endParaRPr lang="en-US" altLang="zh-CN" sz="3665" b="1" i="0">
                <a:solidFill>
                  <a:srgbClr val="0000B6"/>
                </a:solidFill>
                <a:latin typeface="Book Antiqua" panose="02040602050305030304" pitchFamily="18" charset="0"/>
              </a:endParaRPr>
            </a:p>
          </p:txBody>
        </p:sp>
      </p:grpSp>
      <p:grpSp>
        <p:nvGrpSpPr>
          <p:cNvPr id="357414" name="组合 357413"/>
          <p:cNvGrpSpPr/>
          <p:nvPr/>
        </p:nvGrpSpPr>
        <p:grpSpPr>
          <a:xfrm>
            <a:off x="3987271" y="3192198"/>
            <a:ext cx="1568980" cy="1522677"/>
            <a:chOff x="2438" y="2413"/>
            <a:chExt cx="1186" cy="1151"/>
          </a:xfrm>
        </p:grpSpPr>
        <p:sp>
          <p:nvSpPr>
            <p:cNvPr id="357415" name="任意多边形 357414"/>
            <p:cNvSpPr/>
            <p:nvPr/>
          </p:nvSpPr>
          <p:spPr>
            <a:xfrm>
              <a:off x="3490" y="3093"/>
              <a:ext cx="13" cy="13"/>
            </a:xfrm>
            <a:custGeom>
              <a:avLst/>
              <a:gdLst/>
              <a:ahLst/>
              <a:cxnLst/>
              <a:rect l="0" t="0" r="0" b="0"/>
              <a:pathLst>
                <a:path w="13" h="13">
                  <a:moveTo>
                    <a:pt x="13" y="7"/>
                  </a:moveTo>
                  <a:lnTo>
                    <a:pt x="13" y="0"/>
                  </a:lnTo>
                  <a:lnTo>
                    <a:pt x="7" y="0"/>
                  </a:lnTo>
                  <a:lnTo>
                    <a:pt x="0" y="0"/>
                  </a:lnTo>
                  <a:lnTo>
                    <a:pt x="0" y="7"/>
                  </a:lnTo>
                  <a:lnTo>
                    <a:pt x="0" y="13"/>
                  </a:lnTo>
                  <a:lnTo>
                    <a:pt x="7" y="13"/>
                  </a:lnTo>
                  <a:lnTo>
                    <a:pt x="13" y="13"/>
                  </a:lnTo>
                  <a:lnTo>
                    <a:pt x="13" y="7"/>
                  </a:lnTo>
                  <a:close/>
                </a:path>
              </a:pathLst>
            </a:custGeom>
            <a:blipFill rotWithShape="0">
              <a:blip r:embed="rId1"/>
            </a:blipFill>
            <a:ln w="9525">
              <a:noFill/>
            </a:ln>
          </p:spPr>
          <p:txBody>
            <a:bodyPr/>
            <a:lstStyle/>
            <a:p>
              <a:endParaRPr lang="zh-CN" altLang="en-US" sz="1500"/>
            </a:p>
          </p:txBody>
        </p:sp>
        <p:sp>
          <p:nvSpPr>
            <p:cNvPr id="357416" name="任意多边形 357415"/>
            <p:cNvSpPr/>
            <p:nvPr/>
          </p:nvSpPr>
          <p:spPr>
            <a:xfrm>
              <a:off x="3497" y="3074"/>
              <a:ext cx="59" cy="58"/>
            </a:xfrm>
            <a:custGeom>
              <a:avLst/>
              <a:gdLst/>
              <a:ahLst/>
              <a:cxnLst/>
              <a:rect l="0" t="0" r="0" b="0"/>
              <a:pathLst>
                <a:path w="59" h="58">
                  <a:moveTo>
                    <a:pt x="0" y="26"/>
                  </a:moveTo>
                  <a:lnTo>
                    <a:pt x="0" y="0"/>
                  </a:lnTo>
                  <a:lnTo>
                    <a:pt x="0" y="0"/>
                  </a:lnTo>
                  <a:lnTo>
                    <a:pt x="0" y="0"/>
                  </a:lnTo>
                  <a:lnTo>
                    <a:pt x="46" y="26"/>
                  </a:lnTo>
                  <a:lnTo>
                    <a:pt x="59" y="26"/>
                  </a:lnTo>
                  <a:lnTo>
                    <a:pt x="46" y="32"/>
                  </a:lnTo>
                  <a:lnTo>
                    <a:pt x="0" y="58"/>
                  </a:lnTo>
                  <a:lnTo>
                    <a:pt x="0" y="58"/>
                  </a:lnTo>
                  <a:lnTo>
                    <a:pt x="0" y="52"/>
                  </a:lnTo>
                  <a:lnTo>
                    <a:pt x="0" y="52"/>
                  </a:lnTo>
                  <a:lnTo>
                    <a:pt x="46" y="26"/>
                  </a:lnTo>
                  <a:lnTo>
                    <a:pt x="46" y="32"/>
                  </a:lnTo>
                  <a:lnTo>
                    <a:pt x="46" y="32"/>
                  </a:lnTo>
                  <a:lnTo>
                    <a:pt x="0" y="6"/>
                  </a:lnTo>
                  <a:lnTo>
                    <a:pt x="0" y="0"/>
                  </a:lnTo>
                  <a:lnTo>
                    <a:pt x="6" y="0"/>
                  </a:lnTo>
                  <a:lnTo>
                    <a:pt x="6" y="26"/>
                  </a:lnTo>
                  <a:lnTo>
                    <a:pt x="0" y="26"/>
                  </a:lnTo>
                  <a:close/>
                </a:path>
              </a:pathLst>
            </a:custGeom>
            <a:blipFill rotWithShape="0">
              <a:blip r:embed="rId1"/>
            </a:blipFill>
            <a:ln w="9525">
              <a:noFill/>
            </a:ln>
          </p:spPr>
          <p:txBody>
            <a:bodyPr/>
            <a:lstStyle/>
            <a:p>
              <a:endParaRPr lang="zh-CN" altLang="en-US" sz="1500"/>
            </a:p>
          </p:txBody>
        </p:sp>
        <p:sp>
          <p:nvSpPr>
            <p:cNvPr id="357417" name="任意多边形 357416"/>
            <p:cNvSpPr/>
            <p:nvPr/>
          </p:nvSpPr>
          <p:spPr>
            <a:xfrm>
              <a:off x="3497" y="3100"/>
              <a:ext cx="6" cy="26"/>
            </a:xfrm>
            <a:custGeom>
              <a:avLst/>
              <a:gdLst/>
              <a:ahLst/>
              <a:cxnLst/>
              <a:rect l="0" t="0" r="0" b="0"/>
              <a:pathLst>
                <a:path w="6" h="26">
                  <a:moveTo>
                    <a:pt x="0" y="26"/>
                  </a:moveTo>
                  <a:lnTo>
                    <a:pt x="0" y="0"/>
                  </a:lnTo>
                  <a:lnTo>
                    <a:pt x="6" y="0"/>
                  </a:lnTo>
                  <a:lnTo>
                    <a:pt x="6" y="0"/>
                  </a:lnTo>
                  <a:lnTo>
                    <a:pt x="6" y="0"/>
                  </a:lnTo>
                  <a:lnTo>
                    <a:pt x="6" y="26"/>
                  </a:lnTo>
                  <a:lnTo>
                    <a:pt x="0" y="26"/>
                  </a:lnTo>
                  <a:close/>
                </a:path>
              </a:pathLst>
            </a:custGeom>
            <a:blipFill rotWithShape="0">
              <a:blip r:embed="rId1"/>
            </a:blipFill>
            <a:ln w="9525">
              <a:noFill/>
            </a:ln>
          </p:spPr>
          <p:txBody>
            <a:bodyPr/>
            <a:lstStyle/>
            <a:p>
              <a:endParaRPr lang="zh-CN" altLang="en-US" sz="1500"/>
            </a:p>
          </p:txBody>
        </p:sp>
        <p:sp>
          <p:nvSpPr>
            <p:cNvPr id="357418" name="任意多边形 357417"/>
            <p:cNvSpPr/>
            <p:nvPr/>
          </p:nvSpPr>
          <p:spPr>
            <a:xfrm>
              <a:off x="3497" y="3074"/>
              <a:ext cx="46" cy="52"/>
            </a:xfrm>
            <a:custGeom>
              <a:avLst/>
              <a:gdLst/>
              <a:ahLst/>
              <a:cxnLst/>
              <a:rect l="0" t="0" r="0" b="0"/>
              <a:pathLst>
                <a:path w="46" h="52">
                  <a:moveTo>
                    <a:pt x="0" y="26"/>
                  </a:moveTo>
                  <a:lnTo>
                    <a:pt x="0" y="0"/>
                  </a:lnTo>
                  <a:lnTo>
                    <a:pt x="46" y="26"/>
                  </a:lnTo>
                  <a:lnTo>
                    <a:pt x="0" y="52"/>
                  </a:lnTo>
                  <a:lnTo>
                    <a:pt x="0" y="26"/>
                  </a:lnTo>
                  <a:close/>
                </a:path>
              </a:pathLst>
            </a:custGeom>
            <a:blipFill rotWithShape="0">
              <a:blip r:embed="rId1"/>
            </a:blipFill>
            <a:ln w="9525">
              <a:noFill/>
            </a:ln>
          </p:spPr>
          <p:txBody>
            <a:bodyPr/>
            <a:lstStyle/>
            <a:p>
              <a:endParaRPr lang="zh-CN" altLang="en-US" sz="1500"/>
            </a:p>
          </p:txBody>
        </p:sp>
        <p:sp>
          <p:nvSpPr>
            <p:cNvPr id="357419" name="矩形 357418"/>
            <p:cNvSpPr/>
            <p:nvPr/>
          </p:nvSpPr>
          <p:spPr>
            <a:xfrm>
              <a:off x="2438" y="3093"/>
              <a:ext cx="6" cy="13"/>
            </a:xfrm>
            <a:prstGeom prst="rect">
              <a:avLst/>
            </a:prstGeom>
            <a:blipFill rotWithShape="0">
              <a:blip r:embed="rId1"/>
            </a:blipFill>
            <a:ln w="9525">
              <a:noFill/>
            </a:ln>
          </p:spPr>
          <p:txBody>
            <a:bodyPr/>
            <a:lstStyle/>
            <a:p>
              <a:endParaRPr lang="zh-CN" altLang="en-US" sz="1500"/>
            </a:p>
          </p:txBody>
        </p:sp>
        <p:sp>
          <p:nvSpPr>
            <p:cNvPr id="357420" name="矩形 357419"/>
            <p:cNvSpPr/>
            <p:nvPr/>
          </p:nvSpPr>
          <p:spPr>
            <a:xfrm>
              <a:off x="3497" y="3093"/>
              <a:ext cx="6" cy="13"/>
            </a:xfrm>
            <a:prstGeom prst="rect">
              <a:avLst/>
            </a:prstGeom>
            <a:blipFill rotWithShape="0">
              <a:blip r:embed="rId1"/>
            </a:blipFill>
            <a:ln w="9525">
              <a:noFill/>
            </a:ln>
          </p:spPr>
          <p:txBody>
            <a:bodyPr/>
            <a:lstStyle/>
            <a:p>
              <a:endParaRPr lang="zh-CN" altLang="en-US" sz="1500"/>
            </a:p>
          </p:txBody>
        </p:sp>
        <p:sp>
          <p:nvSpPr>
            <p:cNvPr id="357421" name="矩形 357420"/>
            <p:cNvSpPr/>
            <p:nvPr/>
          </p:nvSpPr>
          <p:spPr>
            <a:xfrm>
              <a:off x="2444" y="3093"/>
              <a:ext cx="1053" cy="13"/>
            </a:xfrm>
            <a:prstGeom prst="rect">
              <a:avLst/>
            </a:prstGeom>
            <a:blipFill rotWithShape="0">
              <a:blip r:embed="rId1"/>
            </a:blipFill>
            <a:ln w="9525">
              <a:noFill/>
            </a:ln>
          </p:spPr>
          <p:txBody>
            <a:bodyPr/>
            <a:lstStyle/>
            <a:p>
              <a:endParaRPr lang="zh-CN" altLang="en-US" sz="1500"/>
            </a:p>
          </p:txBody>
        </p:sp>
        <p:sp>
          <p:nvSpPr>
            <p:cNvPr id="357422" name="任意多边形 357421"/>
            <p:cNvSpPr/>
            <p:nvPr/>
          </p:nvSpPr>
          <p:spPr>
            <a:xfrm>
              <a:off x="2980" y="2596"/>
              <a:ext cx="13" cy="14"/>
            </a:xfrm>
            <a:custGeom>
              <a:avLst/>
              <a:gdLst/>
              <a:ahLst/>
              <a:cxnLst/>
              <a:rect l="0" t="0" r="0" b="0"/>
              <a:pathLst>
                <a:path w="13" h="14">
                  <a:moveTo>
                    <a:pt x="7" y="0"/>
                  </a:moveTo>
                  <a:lnTo>
                    <a:pt x="7" y="0"/>
                  </a:lnTo>
                  <a:lnTo>
                    <a:pt x="0" y="7"/>
                  </a:lnTo>
                  <a:lnTo>
                    <a:pt x="7" y="14"/>
                  </a:lnTo>
                  <a:lnTo>
                    <a:pt x="7" y="14"/>
                  </a:lnTo>
                  <a:lnTo>
                    <a:pt x="13" y="14"/>
                  </a:lnTo>
                  <a:lnTo>
                    <a:pt x="13" y="7"/>
                  </a:lnTo>
                  <a:lnTo>
                    <a:pt x="13" y="0"/>
                  </a:lnTo>
                  <a:lnTo>
                    <a:pt x="7" y="0"/>
                  </a:lnTo>
                  <a:close/>
                </a:path>
              </a:pathLst>
            </a:custGeom>
            <a:blipFill rotWithShape="0">
              <a:blip r:embed="rId1"/>
            </a:blipFill>
            <a:ln w="9525">
              <a:noFill/>
            </a:ln>
          </p:spPr>
          <p:txBody>
            <a:bodyPr/>
            <a:lstStyle/>
            <a:p>
              <a:endParaRPr lang="zh-CN" altLang="en-US" sz="1500"/>
            </a:p>
          </p:txBody>
        </p:sp>
        <p:sp>
          <p:nvSpPr>
            <p:cNvPr id="357423" name="任意多边形 357422"/>
            <p:cNvSpPr/>
            <p:nvPr/>
          </p:nvSpPr>
          <p:spPr>
            <a:xfrm>
              <a:off x="2967" y="2551"/>
              <a:ext cx="59" cy="45"/>
            </a:xfrm>
            <a:custGeom>
              <a:avLst/>
              <a:gdLst/>
              <a:ahLst/>
              <a:cxnLst/>
              <a:rect l="0" t="0" r="0" b="0"/>
              <a:pathLst>
                <a:path w="59" h="45">
                  <a:moveTo>
                    <a:pt x="20" y="45"/>
                  </a:moveTo>
                  <a:lnTo>
                    <a:pt x="0" y="45"/>
                  </a:lnTo>
                  <a:lnTo>
                    <a:pt x="0" y="45"/>
                  </a:lnTo>
                  <a:lnTo>
                    <a:pt x="0" y="45"/>
                  </a:lnTo>
                  <a:lnTo>
                    <a:pt x="20" y="6"/>
                  </a:lnTo>
                  <a:lnTo>
                    <a:pt x="26" y="0"/>
                  </a:lnTo>
                  <a:lnTo>
                    <a:pt x="26" y="0"/>
                  </a:lnTo>
                  <a:lnTo>
                    <a:pt x="53" y="39"/>
                  </a:lnTo>
                  <a:lnTo>
                    <a:pt x="59" y="45"/>
                  </a:lnTo>
                  <a:lnTo>
                    <a:pt x="46" y="45"/>
                  </a:lnTo>
                  <a:lnTo>
                    <a:pt x="46" y="45"/>
                  </a:lnTo>
                  <a:lnTo>
                    <a:pt x="20" y="6"/>
                  </a:lnTo>
                  <a:lnTo>
                    <a:pt x="26" y="0"/>
                  </a:lnTo>
                  <a:lnTo>
                    <a:pt x="26" y="6"/>
                  </a:lnTo>
                  <a:lnTo>
                    <a:pt x="7" y="45"/>
                  </a:lnTo>
                  <a:lnTo>
                    <a:pt x="0" y="45"/>
                  </a:lnTo>
                  <a:lnTo>
                    <a:pt x="0" y="39"/>
                  </a:lnTo>
                  <a:lnTo>
                    <a:pt x="20" y="39"/>
                  </a:lnTo>
                  <a:lnTo>
                    <a:pt x="20" y="45"/>
                  </a:lnTo>
                  <a:close/>
                </a:path>
              </a:pathLst>
            </a:custGeom>
            <a:blipFill rotWithShape="0">
              <a:blip r:embed="rId1"/>
            </a:blipFill>
            <a:ln w="9525">
              <a:noFill/>
            </a:ln>
          </p:spPr>
          <p:txBody>
            <a:bodyPr/>
            <a:lstStyle/>
            <a:p>
              <a:endParaRPr lang="zh-CN" altLang="en-US" sz="1500"/>
            </a:p>
          </p:txBody>
        </p:sp>
        <p:sp>
          <p:nvSpPr>
            <p:cNvPr id="357424" name="任意多边形 357423"/>
            <p:cNvSpPr/>
            <p:nvPr/>
          </p:nvSpPr>
          <p:spPr>
            <a:xfrm>
              <a:off x="2987" y="2590"/>
              <a:ext cx="26" cy="6"/>
            </a:xfrm>
            <a:custGeom>
              <a:avLst/>
              <a:gdLst/>
              <a:ahLst/>
              <a:cxnLst/>
              <a:rect l="0" t="0" r="0" b="0"/>
              <a:pathLst>
                <a:path w="26" h="6">
                  <a:moveTo>
                    <a:pt x="26" y="6"/>
                  </a:moveTo>
                  <a:lnTo>
                    <a:pt x="0" y="6"/>
                  </a:lnTo>
                  <a:lnTo>
                    <a:pt x="0" y="0"/>
                  </a:lnTo>
                  <a:lnTo>
                    <a:pt x="0" y="0"/>
                  </a:lnTo>
                  <a:lnTo>
                    <a:pt x="0" y="0"/>
                  </a:lnTo>
                  <a:lnTo>
                    <a:pt x="26" y="0"/>
                  </a:lnTo>
                  <a:lnTo>
                    <a:pt x="26" y="6"/>
                  </a:lnTo>
                  <a:close/>
                </a:path>
              </a:pathLst>
            </a:custGeom>
            <a:blipFill rotWithShape="0">
              <a:blip r:embed="rId1"/>
            </a:blipFill>
            <a:ln w="9525">
              <a:noFill/>
            </a:ln>
          </p:spPr>
          <p:txBody>
            <a:bodyPr/>
            <a:lstStyle/>
            <a:p>
              <a:endParaRPr lang="zh-CN" altLang="en-US" sz="1500"/>
            </a:p>
          </p:txBody>
        </p:sp>
        <p:sp>
          <p:nvSpPr>
            <p:cNvPr id="357425" name="任意多边形 357424"/>
            <p:cNvSpPr/>
            <p:nvPr/>
          </p:nvSpPr>
          <p:spPr>
            <a:xfrm>
              <a:off x="2967" y="2557"/>
              <a:ext cx="46" cy="39"/>
            </a:xfrm>
            <a:custGeom>
              <a:avLst/>
              <a:gdLst/>
              <a:ahLst/>
              <a:cxnLst/>
              <a:rect l="0" t="0" r="0" b="0"/>
              <a:pathLst>
                <a:path w="46" h="39">
                  <a:moveTo>
                    <a:pt x="20" y="39"/>
                  </a:moveTo>
                  <a:lnTo>
                    <a:pt x="0" y="39"/>
                  </a:lnTo>
                  <a:lnTo>
                    <a:pt x="20" y="0"/>
                  </a:lnTo>
                  <a:lnTo>
                    <a:pt x="46" y="39"/>
                  </a:lnTo>
                  <a:lnTo>
                    <a:pt x="20" y="39"/>
                  </a:lnTo>
                  <a:close/>
                </a:path>
              </a:pathLst>
            </a:custGeom>
            <a:blipFill rotWithShape="0">
              <a:blip r:embed="rId1"/>
            </a:blipFill>
            <a:ln w="9525">
              <a:noFill/>
            </a:ln>
          </p:spPr>
          <p:txBody>
            <a:bodyPr/>
            <a:lstStyle/>
            <a:p>
              <a:endParaRPr lang="zh-CN" altLang="en-US" sz="1500"/>
            </a:p>
          </p:txBody>
        </p:sp>
        <p:sp>
          <p:nvSpPr>
            <p:cNvPr id="357426" name="矩形 357425"/>
            <p:cNvSpPr/>
            <p:nvPr/>
          </p:nvSpPr>
          <p:spPr>
            <a:xfrm>
              <a:off x="2980" y="3557"/>
              <a:ext cx="13" cy="7"/>
            </a:xfrm>
            <a:prstGeom prst="rect">
              <a:avLst/>
            </a:prstGeom>
            <a:blipFill rotWithShape="0">
              <a:blip r:embed="rId1"/>
            </a:blipFill>
            <a:ln w="9525">
              <a:noFill/>
            </a:ln>
          </p:spPr>
          <p:txBody>
            <a:bodyPr/>
            <a:lstStyle/>
            <a:p>
              <a:endParaRPr lang="zh-CN" altLang="en-US" sz="1500"/>
            </a:p>
          </p:txBody>
        </p:sp>
        <p:sp>
          <p:nvSpPr>
            <p:cNvPr id="357427" name="矩形 357426"/>
            <p:cNvSpPr/>
            <p:nvPr/>
          </p:nvSpPr>
          <p:spPr>
            <a:xfrm>
              <a:off x="2980" y="2596"/>
              <a:ext cx="13" cy="7"/>
            </a:xfrm>
            <a:prstGeom prst="rect">
              <a:avLst/>
            </a:prstGeom>
            <a:blipFill rotWithShape="0">
              <a:blip r:embed="rId1"/>
            </a:blipFill>
            <a:ln w="9525">
              <a:noFill/>
            </a:ln>
          </p:spPr>
          <p:txBody>
            <a:bodyPr/>
            <a:lstStyle/>
            <a:p>
              <a:endParaRPr lang="zh-CN" altLang="en-US" sz="1500"/>
            </a:p>
          </p:txBody>
        </p:sp>
        <p:sp>
          <p:nvSpPr>
            <p:cNvPr id="357428" name="矩形 357427"/>
            <p:cNvSpPr/>
            <p:nvPr/>
          </p:nvSpPr>
          <p:spPr>
            <a:xfrm>
              <a:off x="2980" y="2603"/>
              <a:ext cx="13" cy="954"/>
            </a:xfrm>
            <a:prstGeom prst="rect">
              <a:avLst/>
            </a:prstGeom>
            <a:blipFill rotWithShape="0">
              <a:blip r:embed="rId1"/>
            </a:blipFill>
            <a:ln w="9525">
              <a:noFill/>
            </a:ln>
          </p:spPr>
          <p:txBody>
            <a:bodyPr/>
            <a:lstStyle/>
            <a:p>
              <a:endParaRPr lang="zh-CN" altLang="en-US" sz="1500"/>
            </a:p>
          </p:txBody>
        </p:sp>
        <p:sp>
          <p:nvSpPr>
            <p:cNvPr id="357429" name="矩形 357428"/>
            <p:cNvSpPr/>
            <p:nvPr/>
          </p:nvSpPr>
          <p:spPr>
            <a:xfrm>
              <a:off x="2980" y="3087"/>
              <a:ext cx="13" cy="6"/>
            </a:xfrm>
            <a:prstGeom prst="rect">
              <a:avLst/>
            </a:prstGeom>
            <a:blipFill rotWithShape="0">
              <a:blip r:embed="rId1"/>
            </a:blipFill>
            <a:ln w="9525">
              <a:noFill/>
            </a:ln>
          </p:spPr>
          <p:txBody>
            <a:bodyPr/>
            <a:lstStyle/>
            <a:p>
              <a:endParaRPr lang="zh-CN" altLang="en-US" sz="1500"/>
            </a:p>
          </p:txBody>
        </p:sp>
        <p:sp>
          <p:nvSpPr>
            <p:cNvPr id="357430" name="任意多边形 357429"/>
            <p:cNvSpPr/>
            <p:nvPr/>
          </p:nvSpPr>
          <p:spPr>
            <a:xfrm>
              <a:off x="2810" y="2747"/>
              <a:ext cx="183" cy="340"/>
            </a:xfrm>
            <a:custGeom>
              <a:avLst/>
              <a:gdLst/>
              <a:ahLst/>
              <a:cxnLst/>
              <a:rect l="0" t="0" r="0" b="0"/>
              <a:pathLst>
                <a:path w="183" h="340">
                  <a:moveTo>
                    <a:pt x="170" y="340"/>
                  </a:moveTo>
                  <a:lnTo>
                    <a:pt x="144" y="202"/>
                  </a:lnTo>
                  <a:lnTo>
                    <a:pt x="144" y="209"/>
                  </a:lnTo>
                  <a:lnTo>
                    <a:pt x="144" y="209"/>
                  </a:lnTo>
                  <a:lnTo>
                    <a:pt x="105" y="111"/>
                  </a:lnTo>
                  <a:lnTo>
                    <a:pt x="105" y="111"/>
                  </a:lnTo>
                  <a:lnTo>
                    <a:pt x="105" y="111"/>
                  </a:lnTo>
                  <a:lnTo>
                    <a:pt x="59" y="52"/>
                  </a:lnTo>
                  <a:lnTo>
                    <a:pt x="66" y="52"/>
                  </a:lnTo>
                  <a:lnTo>
                    <a:pt x="66" y="52"/>
                  </a:lnTo>
                  <a:lnTo>
                    <a:pt x="0" y="13"/>
                  </a:lnTo>
                  <a:lnTo>
                    <a:pt x="0" y="13"/>
                  </a:lnTo>
                  <a:lnTo>
                    <a:pt x="0" y="0"/>
                  </a:lnTo>
                  <a:lnTo>
                    <a:pt x="7" y="0"/>
                  </a:lnTo>
                  <a:lnTo>
                    <a:pt x="72" y="39"/>
                  </a:lnTo>
                  <a:lnTo>
                    <a:pt x="72" y="39"/>
                  </a:lnTo>
                  <a:lnTo>
                    <a:pt x="72" y="46"/>
                  </a:lnTo>
                  <a:lnTo>
                    <a:pt x="118" y="104"/>
                  </a:lnTo>
                  <a:lnTo>
                    <a:pt x="118" y="104"/>
                  </a:lnTo>
                  <a:lnTo>
                    <a:pt x="118" y="104"/>
                  </a:lnTo>
                  <a:lnTo>
                    <a:pt x="157" y="202"/>
                  </a:lnTo>
                  <a:lnTo>
                    <a:pt x="157" y="202"/>
                  </a:lnTo>
                  <a:lnTo>
                    <a:pt x="157" y="202"/>
                  </a:lnTo>
                  <a:lnTo>
                    <a:pt x="183" y="340"/>
                  </a:lnTo>
                  <a:lnTo>
                    <a:pt x="170" y="340"/>
                  </a:lnTo>
                  <a:close/>
                </a:path>
              </a:pathLst>
            </a:custGeom>
            <a:blipFill rotWithShape="0">
              <a:blip r:embed="rId1"/>
            </a:blipFill>
            <a:ln w="9525">
              <a:noFill/>
            </a:ln>
          </p:spPr>
          <p:txBody>
            <a:bodyPr/>
            <a:lstStyle/>
            <a:p>
              <a:endParaRPr lang="zh-CN" altLang="en-US" sz="1500"/>
            </a:p>
          </p:txBody>
        </p:sp>
        <p:sp>
          <p:nvSpPr>
            <p:cNvPr id="357431" name="任意多边形 357430"/>
            <p:cNvSpPr/>
            <p:nvPr/>
          </p:nvSpPr>
          <p:spPr>
            <a:xfrm>
              <a:off x="2667" y="2721"/>
              <a:ext cx="143" cy="39"/>
            </a:xfrm>
            <a:custGeom>
              <a:avLst/>
              <a:gdLst/>
              <a:ahLst/>
              <a:cxnLst/>
              <a:rect l="0" t="0" r="0" b="0"/>
              <a:pathLst>
                <a:path w="143" h="39">
                  <a:moveTo>
                    <a:pt x="143" y="39"/>
                  </a:moveTo>
                  <a:lnTo>
                    <a:pt x="0" y="13"/>
                  </a:lnTo>
                  <a:lnTo>
                    <a:pt x="0" y="13"/>
                  </a:lnTo>
                  <a:lnTo>
                    <a:pt x="0" y="0"/>
                  </a:lnTo>
                  <a:lnTo>
                    <a:pt x="0" y="0"/>
                  </a:lnTo>
                  <a:lnTo>
                    <a:pt x="143" y="26"/>
                  </a:lnTo>
                  <a:lnTo>
                    <a:pt x="143" y="39"/>
                  </a:lnTo>
                  <a:close/>
                </a:path>
              </a:pathLst>
            </a:custGeom>
            <a:blipFill rotWithShape="0">
              <a:blip r:embed="rId1"/>
            </a:blipFill>
            <a:ln w="9525">
              <a:noFill/>
            </a:ln>
          </p:spPr>
          <p:txBody>
            <a:bodyPr/>
            <a:lstStyle/>
            <a:p>
              <a:endParaRPr lang="zh-CN" altLang="en-US" sz="1500"/>
            </a:p>
          </p:txBody>
        </p:sp>
        <p:sp>
          <p:nvSpPr>
            <p:cNvPr id="357432" name="矩形 357431"/>
            <p:cNvSpPr/>
            <p:nvPr/>
          </p:nvSpPr>
          <p:spPr>
            <a:xfrm>
              <a:off x="2483" y="2708"/>
              <a:ext cx="7" cy="13"/>
            </a:xfrm>
            <a:prstGeom prst="rect">
              <a:avLst/>
            </a:prstGeom>
            <a:blipFill rotWithShape="0">
              <a:blip r:embed="rId1"/>
            </a:blipFill>
            <a:ln w="9525">
              <a:noFill/>
            </a:ln>
          </p:spPr>
          <p:txBody>
            <a:bodyPr/>
            <a:lstStyle/>
            <a:p>
              <a:endParaRPr lang="zh-CN" altLang="en-US" sz="1500"/>
            </a:p>
          </p:txBody>
        </p:sp>
        <p:sp>
          <p:nvSpPr>
            <p:cNvPr id="357433" name="任意多边形 357432"/>
            <p:cNvSpPr/>
            <p:nvPr/>
          </p:nvSpPr>
          <p:spPr>
            <a:xfrm>
              <a:off x="2490" y="2708"/>
              <a:ext cx="177" cy="26"/>
            </a:xfrm>
            <a:custGeom>
              <a:avLst/>
              <a:gdLst/>
              <a:ahLst/>
              <a:cxnLst/>
              <a:rect l="0" t="0" r="0" b="0"/>
              <a:pathLst>
                <a:path w="177" h="26">
                  <a:moveTo>
                    <a:pt x="177" y="26"/>
                  </a:moveTo>
                  <a:lnTo>
                    <a:pt x="177" y="13"/>
                  </a:lnTo>
                  <a:lnTo>
                    <a:pt x="0" y="0"/>
                  </a:lnTo>
                  <a:lnTo>
                    <a:pt x="0" y="13"/>
                  </a:lnTo>
                  <a:lnTo>
                    <a:pt x="177" y="26"/>
                  </a:lnTo>
                  <a:close/>
                </a:path>
              </a:pathLst>
            </a:custGeom>
            <a:blipFill rotWithShape="0">
              <a:blip r:embed="rId1"/>
            </a:blipFill>
            <a:ln w="9525">
              <a:noFill/>
            </a:ln>
          </p:spPr>
          <p:txBody>
            <a:bodyPr/>
            <a:lstStyle/>
            <a:p>
              <a:endParaRPr lang="zh-CN" altLang="en-US" sz="1500"/>
            </a:p>
          </p:txBody>
        </p:sp>
        <p:sp>
          <p:nvSpPr>
            <p:cNvPr id="357434" name="任意多边形 357433"/>
            <p:cNvSpPr/>
            <p:nvPr/>
          </p:nvSpPr>
          <p:spPr>
            <a:xfrm>
              <a:off x="2980" y="3074"/>
              <a:ext cx="13" cy="13"/>
            </a:xfrm>
            <a:custGeom>
              <a:avLst/>
              <a:gdLst/>
              <a:ahLst/>
              <a:cxnLst/>
              <a:rect l="0" t="0" r="0" b="0"/>
              <a:pathLst>
                <a:path w="13" h="13">
                  <a:moveTo>
                    <a:pt x="0" y="6"/>
                  </a:moveTo>
                  <a:lnTo>
                    <a:pt x="0" y="13"/>
                  </a:lnTo>
                  <a:lnTo>
                    <a:pt x="13" y="6"/>
                  </a:lnTo>
                  <a:lnTo>
                    <a:pt x="13" y="0"/>
                  </a:lnTo>
                  <a:lnTo>
                    <a:pt x="0" y="6"/>
                  </a:lnTo>
                  <a:close/>
                </a:path>
              </a:pathLst>
            </a:custGeom>
            <a:blipFill rotWithShape="0">
              <a:blip r:embed="rId1"/>
            </a:blipFill>
            <a:ln w="9525">
              <a:noFill/>
            </a:ln>
          </p:spPr>
          <p:txBody>
            <a:bodyPr/>
            <a:lstStyle/>
            <a:p>
              <a:endParaRPr lang="zh-CN" altLang="en-US" sz="1500"/>
            </a:p>
          </p:txBody>
        </p:sp>
        <p:sp>
          <p:nvSpPr>
            <p:cNvPr id="357435" name="任意多边形 357434"/>
            <p:cNvSpPr/>
            <p:nvPr/>
          </p:nvSpPr>
          <p:spPr>
            <a:xfrm>
              <a:off x="2876" y="2943"/>
              <a:ext cx="117" cy="137"/>
            </a:xfrm>
            <a:custGeom>
              <a:avLst/>
              <a:gdLst/>
              <a:ahLst/>
              <a:cxnLst/>
              <a:rect l="0" t="0" r="0" b="0"/>
              <a:pathLst>
                <a:path w="117" h="137">
                  <a:moveTo>
                    <a:pt x="104" y="137"/>
                  </a:moveTo>
                  <a:lnTo>
                    <a:pt x="78" y="78"/>
                  </a:lnTo>
                  <a:lnTo>
                    <a:pt x="85" y="78"/>
                  </a:lnTo>
                  <a:lnTo>
                    <a:pt x="85" y="78"/>
                  </a:lnTo>
                  <a:lnTo>
                    <a:pt x="46" y="39"/>
                  </a:lnTo>
                  <a:lnTo>
                    <a:pt x="46" y="39"/>
                  </a:lnTo>
                  <a:lnTo>
                    <a:pt x="46" y="39"/>
                  </a:lnTo>
                  <a:lnTo>
                    <a:pt x="0" y="13"/>
                  </a:lnTo>
                  <a:lnTo>
                    <a:pt x="0" y="13"/>
                  </a:lnTo>
                  <a:lnTo>
                    <a:pt x="6" y="0"/>
                  </a:lnTo>
                  <a:lnTo>
                    <a:pt x="6" y="0"/>
                  </a:lnTo>
                  <a:lnTo>
                    <a:pt x="52" y="26"/>
                  </a:lnTo>
                  <a:lnTo>
                    <a:pt x="52" y="26"/>
                  </a:lnTo>
                  <a:lnTo>
                    <a:pt x="52" y="33"/>
                  </a:lnTo>
                  <a:lnTo>
                    <a:pt x="91" y="72"/>
                  </a:lnTo>
                  <a:lnTo>
                    <a:pt x="91" y="72"/>
                  </a:lnTo>
                  <a:lnTo>
                    <a:pt x="91" y="72"/>
                  </a:lnTo>
                  <a:lnTo>
                    <a:pt x="117" y="131"/>
                  </a:lnTo>
                  <a:lnTo>
                    <a:pt x="104" y="137"/>
                  </a:lnTo>
                  <a:close/>
                </a:path>
              </a:pathLst>
            </a:custGeom>
            <a:blipFill rotWithShape="0">
              <a:blip r:embed="rId1"/>
            </a:blipFill>
            <a:ln w="9525">
              <a:noFill/>
            </a:ln>
          </p:spPr>
          <p:txBody>
            <a:bodyPr/>
            <a:lstStyle/>
            <a:p>
              <a:endParaRPr lang="zh-CN" altLang="en-US" sz="1500"/>
            </a:p>
          </p:txBody>
        </p:sp>
        <p:sp>
          <p:nvSpPr>
            <p:cNvPr id="357436" name="任意多边形 357435"/>
            <p:cNvSpPr/>
            <p:nvPr/>
          </p:nvSpPr>
          <p:spPr>
            <a:xfrm>
              <a:off x="2810" y="2923"/>
              <a:ext cx="72" cy="33"/>
            </a:xfrm>
            <a:custGeom>
              <a:avLst/>
              <a:gdLst/>
              <a:ahLst/>
              <a:cxnLst/>
              <a:rect l="0" t="0" r="0" b="0"/>
              <a:pathLst>
                <a:path w="72" h="33">
                  <a:moveTo>
                    <a:pt x="66" y="33"/>
                  </a:moveTo>
                  <a:lnTo>
                    <a:pt x="0" y="13"/>
                  </a:lnTo>
                  <a:lnTo>
                    <a:pt x="0" y="13"/>
                  </a:lnTo>
                  <a:lnTo>
                    <a:pt x="0" y="0"/>
                  </a:lnTo>
                  <a:lnTo>
                    <a:pt x="7" y="0"/>
                  </a:lnTo>
                  <a:lnTo>
                    <a:pt x="72" y="20"/>
                  </a:lnTo>
                  <a:lnTo>
                    <a:pt x="66" y="33"/>
                  </a:lnTo>
                  <a:close/>
                </a:path>
              </a:pathLst>
            </a:custGeom>
            <a:blipFill rotWithShape="0">
              <a:blip r:embed="rId1"/>
            </a:blipFill>
            <a:ln w="9525">
              <a:noFill/>
            </a:ln>
          </p:spPr>
          <p:txBody>
            <a:bodyPr/>
            <a:lstStyle/>
            <a:p>
              <a:endParaRPr lang="zh-CN" altLang="en-US" sz="1500"/>
            </a:p>
          </p:txBody>
        </p:sp>
        <p:sp>
          <p:nvSpPr>
            <p:cNvPr id="357437" name="矩形 357436"/>
            <p:cNvSpPr/>
            <p:nvPr/>
          </p:nvSpPr>
          <p:spPr>
            <a:xfrm>
              <a:off x="2483" y="2910"/>
              <a:ext cx="7" cy="13"/>
            </a:xfrm>
            <a:prstGeom prst="rect">
              <a:avLst/>
            </a:prstGeom>
            <a:blipFill rotWithShape="0">
              <a:blip r:embed="rId1"/>
            </a:blipFill>
            <a:ln w="9525">
              <a:noFill/>
            </a:ln>
          </p:spPr>
          <p:txBody>
            <a:bodyPr/>
            <a:lstStyle/>
            <a:p>
              <a:endParaRPr lang="zh-CN" altLang="en-US" sz="1500"/>
            </a:p>
          </p:txBody>
        </p:sp>
        <p:sp>
          <p:nvSpPr>
            <p:cNvPr id="357438" name="任意多边形 357437"/>
            <p:cNvSpPr/>
            <p:nvPr/>
          </p:nvSpPr>
          <p:spPr>
            <a:xfrm>
              <a:off x="2490" y="2910"/>
              <a:ext cx="320" cy="26"/>
            </a:xfrm>
            <a:custGeom>
              <a:avLst/>
              <a:gdLst/>
              <a:ahLst/>
              <a:cxnLst/>
              <a:rect l="0" t="0" r="0" b="0"/>
              <a:pathLst>
                <a:path w="320" h="26">
                  <a:moveTo>
                    <a:pt x="320" y="26"/>
                  </a:moveTo>
                  <a:lnTo>
                    <a:pt x="320" y="13"/>
                  </a:lnTo>
                  <a:lnTo>
                    <a:pt x="0" y="0"/>
                  </a:lnTo>
                  <a:lnTo>
                    <a:pt x="0" y="13"/>
                  </a:lnTo>
                  <a:lnTo>
                    <a:pt x="320" y="26"/>
                  </a:lnTo>
                  <a:close/>
                </a:path>
              </a:pathLst>
            </a:custGeom>
            <a:blipFill rotWithShape="0">
              <a:blip r:embed="rId1"/>
            </a:blipFill>
            <a:ln w="9525">
              <a:noFill/>
            </a:ln>
          </p:spPr>
          <p:txBody>
            <a:bodyPr/>
            <a:lstStyle/>
            <a:p>
              <a:endParaRPr lang="zh-CN" altLang="en-US" sz="1500"/>
            </a:p>
          </p:txBody>
        </p:sp>
        <p:sp>
          <p:nvSpPr>
            <p:cNvPr id="357439" name="矩形 357438"/>
            <p:cNvSpPr/>
            <p:nvPr/>
          </p:nvSpPr>
          <p:spPr>
            <a:xfrm>
              <a:off x="3399" y="3132"/>
              <a:ext cx="75"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V</a:t>
              </a:r>
              <a:endParaRPr lang="en-US" altLang="zh-CN" sz="3665" b="1" i="0">
                <a:solidFill>
                  <a:srgbClr val="0000B6"/>
                </a:solidFill>
                <a:latin typeface="Book Antiqua" panose="02040602050305030304" pitchFamily="18" charset="0"/>
              </a:endParaRPr>
            </a:p>
          </p:txBody>
        </p:sp>
        <p:sp>
          <p:nvSpPr>
            <p:cNvPr id="357440" name="矩形 357439"/>
            <p:cNvSpPr/>
            <p:nvPr/>
          </p:nvSpPr>
          <p:spPr>
            <a:xfrm>
              <a:off x="3477" y="3178"/>
              <a:ext cx="147" cy="97"/>
            </a:xfrm>
            <a:prstGeom prst="rect">
              <a:avLst/>
            </a:prstGeom>
            <a:noFill/>
            <a:ln w="9525">
              <a:noFill/>
            </a:ln>
          </p:spPr>
          <p:txBody>
            <a:bodyPr wrap="none" lIns="0" tIns="0" rIns="0" bIns="0">
              <a:spAutoFit/>
            </a:bodyPr>
            <a:lstStyle/>
            <a:p>
              <a:r>
                <a:rPr lang="en-US" altLang="zh-CN" sz="835" b="1" i="0" err="1">
                  <a:solidFill>
                    <a:srgbClr val="000000"/>
                  </a:solidFill>
                  <a:latin typeface="Times New Roman" panose="02020603050405020304" pitchFamily="18" charset="0"/>
                </a:rPr>
                <a:t>DSp</a:t>
              </a:r>
              <a:endParaRPr lang="en-US" altLang="zh-CN" sz="3665" b="1" i="0">
                <a:solidFill>
                  <a:srgbClr val="0000B6"/>
                </a:solidFill>
                <a:latin typeface="Book Antiqua" panose="02040602050305030304" pitchFamily="18" charset="0"/>
              </a:endParaRPr>
            </a:p>
          </p:txBody>
        </p:sp>
        <p:sp>
          <p:nvSpPr>
            <p:cNvPr id="357441" name="矩形 357440"/>
            <p:cNvSpPr/>
            <p:nvPr/>
          </p:nvSpPr>
          <p:spPr>
            <a:xfrm>
              <a:off x="2850" y="2413"/>
              <a:ext cx="41"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I</a:t>
              </a:r>
              <a:endParaRPr lang="en-US" altLang="zh-CN" sz="3665" b="1" i="0">
                <a:solidFill>
                  <a:srgbClr val="0000B6"/>
                </a:solidFill>
                <a:latin typeface="Book Antiqua" panose="02040602050305030304" pitchFamily="18" charset="0"/>
              </a:endParaRPr>
            </a:p>
          </p:txBody>
        </p:sp>
        <p:sp>
          <p:nvSpPr>
            <p:cNvPr id="357442" name="矩形 357441"/>
            <p:cNvSpPr/>
            <p:nvPr/>
          </p:nvSpPr>
          <p:spPr>
            <a:xfrm>
              <a:off x="2882" y="2459"/>
              <a:ext cx="103" cy="97"/>
            </a:xfrm>
            <a:prstGeom prst="rect">
              <a:avLst/>
            </a:prstGeom>
            <a:noFill/>
            <a:ln w="9525">
              <a:noFill/>
            </a:ln>
          </p:spPr>
          <p:txBody>
            <a:bodyPr wrap="none" lIns="0" tIns="0" rIns="0" bIns="0">
              <a:spAutoFit/>
            </a:bodyPr>
            <a:lstStyle/>
            <a:p>
              <a:r>
                <a:rPr lang="en-US" altLang="zh-CN" sz="835" b="1" i="0" err="1">
                  <a:solidFill>
                    <a:srgbClr val="000000"/>
                  </a:solidFill>
                  <a:latin typeface="Times New Roman" panose="02020603050405020304" pitchFamily="18" charset="0"/>
                </a:rPr>
                <a:t>Dn</a:t>
              </a:r>
              <a:endParaRPr lang="en-US" altLang="zh-CN" sz="3665" b="1" i="0">
                <a:solidFill>
                  <a:srgbClr val="0000B6"/>
                </a:solidFill>
                <a:latin typeface="Book Antiqua" panose="02040602050305030304" pitchFamily="18" charset="0"/>
              </a:endParaRPr>
            </a:p>
          </p:txBody>
        </p:sp>
        <p:sp>
          <p:nvSpPr>
            <p:cNvPr id="357443" name="矩形 357442"/>
            <p:cNvSpPr/>
            <p:nvPr/>
          </p:nvSpPr>
          <p:spPr>
            <a:xfrm>
              <a:off x="2483" y="2544"/>
              <a:ext cx="75"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V</a:t>
              </a:r>
              <a:endParaRPr lang="en-US" altLang="zh-CN" sz="3665" b="1" i="0">
                <a:solidFill>
                  <a:srgbClr val="0000B6"/>
                </a:solidFill>
                <a:latin typeface="Book Antiqua" panose="02040602050305030304" pitchFamily="18" charset="0"/>
              </a:endParaRPr>
            </a:p>
          </p:txBody>
        </p:sp>
        <p:sp>
          <p:nvSpPr>
            <p:cNvPr id="357444" name="矩形 357443"/>
            <p:cNvSpPr/>
            <p:nvPr/>
          </p:nvSpPr>
          <p:spPr>
            <a:xfrm>
              <a:off x="2555" y="2590"/>
              <a:ext cx="67" cy="97"/>
            </a:xfrm>
            <a:prstGeom prst="rect">
              <a:avLst/>
            </a:prstGeom>
            <a:noFill/>
            <a:ln w="9525">
              <a:noFill/>
            </a:ln>
          </p:spPr>
          <p:txBody>
            <a:bodyPr wrap="none" lIns="0" tIns="0" rIns="0" bIns="0">
              <a:spAutoFit/>
            </a:bodyPr>
            <a:lstStyle/>
            <a:p>
              <a:r>
                <a:rPr lang="en-US" altLang="zh-CN" sz="835" b="1" i="0">
                  <a:solidFill>
                    <a:srgbClr val="000000"/>
                  </a:solidFill>
                  <a:latin typeface="Times New Roman" panose="02020603050405020304" pitchFamily="18" charset="0"/>
                </a:rPr>
                <a:t>in</a:t>
              </a:r>
              <a:endParaRPr lang="en-US" altLang="zh-CN" sz="3665" b="1" i="0">
                <a:solidFill>
                  <a:srgbClr val="0000B6"/>
                </a:solidFill>
                <a:latin typeface="Book Antiqua" panose="02040602050305030304" pitchFamily="18" charset="0"/>
              </a:endParaRPr>
            </a:p>
          </p:txBody>
        </p:sp>
        <p:sp>
          <p:nvSpPr>
            <p:cNvPr id="357445" name="矩形 357444"/>
            <p:cNvSpPr/>
            <p:nvPr/>
          </p:nvSpPr>
          <p:spPr>
            <a:xfrm>
              <a:off x="2621" y="2544"/>
              <a:ext cx="112"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=0</a:t>
              </a:r>
              <a:endParaRPr lang="en-US" altLang="zh-CN" sz="3665" b="1" i="0">
                <a:solidFill>
                  <a:srgbClr val="0000B6"/>
                </a:solidFill>
                <a:latin typeface="Book Antiqua" panose="02040602050305030304" pitchFamily="18" charset="0"/>
              </a:endParaRPr>
            </a:p>
          </p:txBody>
        </p:sp>
        <p:sp>
          <p:nvSpPr>
            <p:cNvPr id="357446" name="矩形 357445"/>
            <p:cNvSpPr/>
            <p:nvPr/>
          </p:nvSpPr>
          <p:spPr>
            <a:xfrm>
              <a:off x="2497" y="2760"/>
              <a:ext cx="75"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V</a:t>
              </a:r>
              <a:endParaRPr lang="en-US" altLang="zh-CN" sz="3665" b="1" i="0">
                <a:solidFill>
                  <a:srgbClr val="0000B6"/>
                </a:solidFill>
                <a:latin typeface="Book Antiqua" panose="02040602050305030304" pitchFamily="18" charset="0"/>
              </a:endParaRPr>
            </a:p>
          </p:txBody>
        </p:sp>
        <p:sp>
          <p:nvSpPr>
            <p:cNvPr id="357447" name="矩形 357446"/>
            <p:cNvSpPr/>
            <p:nvPr/>
          </p:nvSpPr>
          <p:spPr>
            <a:xfrm>
              <a:off x="2575" y="2806"/>
              <a:ext cx="67" cy="97"/>
            </a:xfrm>
            <a:prstGeom prst="rect">
              <a:avLst/>
            </a:prstGeom>
            <a:noFill/>
            <a:ln w="9525">
              <a:noFill/>
            </a:ln>
          </p:spPr>
          <p:txBody>
            <a:bodyPr wrap="none" lIns="0" tIns="0" rIns="0" bIns="0">
              <a:spAutoFit/>
            </a:bodyPr>
            <a:lstStyle/>
            <a:p>
              <a:r>
                <a:rPr lang="en-US" altLang="zh-CN" sz="835" b="1" i="0">
                  <a:solidFill>
                    <a:srgbClr val="000000"/>
                  </a:solidFill>
                  <a:latin typeface="Times New Roman" panose="02020603050405020304" pitchFamily="18" charset="0"/>
                </a:rPr>
                <a:t>in</a:t>
              </a:r>
              <a:endParaRPr lang="en-US" altLang="zh-CN" sz="3665" b="1" i="0">
                <a:solidFill>
                  <a:srgbClr val="0000B6"/>
                </a:solidFill>
                <a:latin typeface="Book Antiqua" panose="02040602050305030304" pitchFamily="18" charset="0"/>
              </a:endParaRPr>
            </a:p>
          </p:txBody>
        </p:sp>
        <p:sp>
          <p:nvSpPr>
            <p:cNvPr id="357448" name="矩形 357447"/>
            <p:cNvSpPr/>
            <p:nvPr/>
          </p:nvSpPr>
          <p:spPr>
            <a:xfrm>
              <a:off x="2640" y="2760"/>
              <a:ext cx="191"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=1.5</a:t>
              </a:r>
              <a:endParaRPr lang="en-US" altLang="zh-CN" sz="3665" b="1" i="0">
                <a:solidFill>
                  <a:srgbClr val="0000B6"/>
                </a:solidFill>
                <a:latin typeface="Book Antiqua" panose="02040602050305030304" pitchFamily="18" charset="0"/>
              </a:endParaRPr>
            </a:p>
          </p:txBody>
        </p:sp>
      </p:grpSp>
      <p:grpSp>
        <p:nvGrpSpPr>
          <p:cNvPr id="357449" name="组合 357448"/>
          <p:cNvGrpSpPr/>
          <p:nvPr/>
        </p:nvGrpSpPr>
        <p:grpSpPr>
          <a:xfrm>
            <a:off x="5872428" y="3192198"/>
            <a:ext cx="1514740" cy="1522677"/>
            <a:chOff x="3863" y="2413"/>
            <a:chExt cx="1145" cy="1151"/>
          </a:xfrm>
        </p:grpSpPr>
        <p:sp>
          <p:nvSpPr>
            <p:cNvPr id="357450" name="任意多边形 357449"/>
            <p:cNvSpPr/>
            <p:nvPr/>
          </p:nvSpPr>
          <p:spPr>
            <a:xfrm>
              <a:off x="4935" y="3093"/>
              <a:ext cx="13" cy="13"/>
            </a:xfrm>
            <a:custGeom>
              <a:avLst/>
              <a:gdLst/>
              <a:ahLst/>
              <a:cxnLst/>
              <a:rect l="0" t="0" r="0" b="0"/>
              <a:pathLst>
                <a:path w="13" h="13">
                  <a:moveTo>
                    <a:pt x="13" y="7"/>
                  </a:moveTo>
                  <a:lnTo>
                    <a:pt x="13" y="0"/>
                  </a:lnTo>
                  <a:lnTo>
                    <a:pt x="7" y="0"/>
                  </a:lnTo>
                  <a:lnTo>
                    <a:pt x="0" y="0"/>
                  </a:lnTo>
                  <a:lnTo>
                    <a:pt x="0" y="7"/>
                  </a:lnTo>
                  <a:lnTo>
                    <a:pt x="0" y="13"/>
                  </a:lnTo>
                  <a:lnTo>
                    <a:pt x="7" y="13"/>
                  </a:lnTo>
                  <a:lnTo>
                    <a:pt x="13" y="13"/>
                  </a:lnTo>
                  <a:lnTo>
                    <a:pt x="13" y="7"/>
                  </a:lnTo>
                  <a:close/>
                </a:path>
              </a:pathLst>
            </a:custGeom>
            <a:blipFill rotWithShape="0">
              <a:blip r:embed="rId1"/>
            </a:blipFill>
            <a:ln w="9525">
              <a:noFill/>
            </a:ln>
          </p:spPr>
          <p:txBody>
            <a:bodyPr/>
            <a:lstStyle/>
            <a:p>
              <a:endParaRPr lang="zh-CN" altLang="en-US" sz="1500"/>
            </a:p>
          </p:txBody>
        </p:sp>
        <p:sp>
          <p:nvSpPr>
            <p:cNvPr id="357451" name="任意多边形 357450"/>
            <p:cNvSpPr/>
            <p:nvPr/>
          </p:nvSpPr>
          <p:spPr>
            <a:xfrm>
              <a:off x="4948" y="3067"/>
              <a:ext cx="59" cy="72"/>
            </a:xfrm>
            <a:custGeom>
              <a:avLst/>
              <a:gdLst/>
              <a:ahLst/>
              <a:cxnLst/>
              <a:rect l="0" t="0" r="0" b="0"/>
              <a:pathLst>
                <a:path w="59" h="72">
                  <a:moveTo>
                    <a:pt x="0" y="33"/>
                  </a:moveTo>
                  <a:lnTo>
                    <a:pt x="0" y="7"/>
                  </a:lnTo>
                  <a:lnTo>
                    <a:pt x="0" y="0"/>
                  </a:lnTo>
                  <a:lnTo>
                    <a:pt x="7" y="7"/>
                  </a:lnTo>
                  <a:lnTo>
                    <a:pt x="46" y="33"/>
                  </a:lnTo>
                  <a:lnTo>
                    <a:pt x="59" y="33"/>
                  </a:lnTo>
                  <a:lnTo>
                    <a:pt x="46" y="39"/>
                  </a:lnTo>
                  <a:lnTo>
                    <a:pt x="7" y="65"/>
                  </a:lnTo>
                  <a:lnTo>
                    <a:pt x="0" y="72"/>
                  </a:lnTo>
                  <a:lnTo>
                    <a:pt x="0" y="59"/>
                  </a:lnTo>
                  <a:lnTo>
                    <a:pt x="0" y="59"/>
                  </a:lnTo>
                  <a:lnTo>
                    <a:pt x="40" y="33"/>
                  </a:lnTo>
                  <a:lnTo>
                    <a:pt x="46" y="39"/>
                  </a:lnTo>
                  <a:lnTo>
                    <a:pt x="40" y="39"/>
                  </a:lnTo>
                  <a:lnTo>
                    <a:pt x="0" y="13"/>
                  </a:lnTo>
                  <a:lnTo>
                    <a:pt x="7" y="7"/>
                  </a:lnTo>
                  <a:lnTo>
                    <a:pt x="7" y="7"/>
                  </a:lnTo>
                  <a:lnTo>
                    <a:pt x="7" y="33"/>
                  </a:lnTo>
                  <a:lnTo>
                    <a:pt x="0" y="33"/>
                  </a:lnTo>
                  <a:close/>
                </a:path>
              </a:pathLst>
            </a:custGeom>
            <a:blipFill rotWithShape="0">
              <a:blip r:embed="rId1"/>
            </a:blipFill>
            <a:ln w="9525">
              <a:noFill/>
            </a:ln>
          </p:spPr>
          <p:txBody>
            <a:bodyPr/>
            <a:lstStyle/>
            <a:p>
              <a:endParaRPr lang="zh-CN" altLang="en-US" sz="1500"/>
            </a:p>
          </p:txBody>
        </p:sp>
        <p:sp>
          <p:nvSpPr>
            <p:cNvPr id="357452" name="任意多边形 357451"/>
            <p:cNvSpPr/>
            <p:nvPr/>
          </p:nvSpPr>
          <p:spPr>
            <a:xfrm>
              <a:off x="4948" y="3100"/>
              <a:ext cx="7" cy="26"/>
            </a:xfrm>
            <a:custGeom>
              <a:avLst/>
              <a:gdLst/>
              <a:ahLst/>
              <a:cxnLst/>
              <a:rect l="0" t="0" r="0" b="0"/>
              <a:pathLst>
                <a:path w="7" h="26">
                  <a:moveTo>
                    <a:pt x="0" y="26"/>
                  </a:moveTo>
                  <a:lnTo>
                    <a:pt x="0" y="0"/>
                  </a:lnTo>
                  <a:lnTo>
                    <a:pt x="7" y="0"/>
                  </a:lnTo>
                  <a:lnTo>
                    <a:pt x="7" y="0"/>
                  </a:lnTo>
                  <a:lnTo>
                    <a:pt x="7" y="0"/>
                  </a:lnTo>
                  <a:lnTo>
                    <a:pt x="7" y="26"/>
                  </a:lnTo>
                  <a:lnTo>
                    <a:pt x="0" y="26"/>
                  </a:lnTo>
                  <a:close/>
                </a:path>
              </a:pathLst>
            </a:custGeom>
            <a:blipFill rotWithShape="0">
              <a:blip r:embed="rId1"/>
            </a:blipFill>
            <a:ln w="9525">
              <a:noFill/>
            </a:ln>
          </p:spPr>
          <p:txBody>
            <a:bodyPr/>
            <a:lstStyle/>
            <a:p>
              <a:endParaRPr lang="zh-CN" altLang="en-US" sz="1500"/>
            </a:p>
          </p:txBody>
        </p:sp>
        <p:sp>
          <p:nvSpPr>
            <p:cNvPr id="357453" name="任意多边形 357452"/>
            <p:cNvSpPr/>
            <p:nvPr/>
          </p:nvSpPr>
          <p:spPr>
            <a:xfrm>
              <a:off x="4948" y="3074"/>
              <a:ext cx="40" cy="52"/>
            </a:xfrm>
            <a:custGeom>
              <a:avLst/>
              <a:gdLst/>
              <a:ahLst/>
              <a:cxnLst/>
              <a:rect l="0" t="0" r="0" b="0"/>
              <a:pathLst>
                <a:path w="40" h="52">
                  <a:moveTo>
                    <a:pt x="0" y="26"/>
                  </a:moveTo>
                  <a:lnTo>
                    <a:pt x="0" y="0"/>
                  </a:lnTo>
                  <a:lnTo>
                    <a:pt x="40" y="26"/>
                  </a:lnTo>
                  <a:lnTo>
                    <a:pt x="0" y="52"/>
                  </a:lnTo>
                  <a:lnTo>
                    <a:pt x="0" y="26"/>
                  </a:lnTo>
                  <a:close/>
                </a:path>
              </a:pathLst>
            </a:custGeom>
            <a:blipFill rotWithShape="0">
              <a:blip r:embed="rId1"/>
            </a:blipFill>
            <a:ln w="9525">
              <a:noFill/>
            </a:ln>
          </p:spPr>
          <p:txBody>
            <a:bodyPr/>
            <a:lstStyle/>
            <a:p>
              <a:endParaRPr lang="zh-CN" altLang="en-US" sz="1500"/>
            </a:p>
          </p:txBody>
        </p:sp>
        <p:sp>
          <p:nvSpPr>
            <p:cNvPr id="357454" name="矩形 357453"/>
            <p:cNvSpPr/>
            <p:nvPr/>
          </p:nvSpPr>
          <p:spPr>
            <a:xfrm>
              <a:off x="3863" y="3093"/>
              <a:ext cx="7" cy="13"/>
            </a:xfrm>
            <a:prstGeom prst="rect">
              <a:avLst/>
            </a:prstGeom>
            <a:blipFill rotWithShape="0">
              <a:blip r:embed="rId1"/>
            </a:blipFill>
            <a:ln w="9525">
              <a:noFill/>
            </a:ln>
          </p:spPr>
          <p:txBody>
            <a:bodyPr/>
            <a:lstStyle/>
            <a:p>
              <a:endParaRPr lang="zh-CN" altLang="en-US" sz="1500"/>
            </a:p>
          </p:txBody>
        </p:sp>
        <p:sp>
          <p:nvSpPr>
            <p:cNvPr id="357455" name="矩形 357454"/>
            <p:cNvSpPr/>
            <p:nvPr/>
          </p:nvSpPr>
          <p:spPr>
            <a:xfrm>
              <a:off x="4942" y="3093"/>
              <a:ext cx="6" cy="13"/>
            </a:xfrm>
            <a:prstGeom prst="rect">
              <a:avLst/>
            </a:prstGeom>
            <a:blipFill rotWithShape="0">
              <a:blip r:embed="rId1"/>
            </a:blipFill>
            <a:ln w="9525">
              <a:noFill/>
            </a:ln>
          </p:spPr>
          <p:txBody>
            <a:bodyPr/>
            <a:lstStyle/>
            <a:p>
              <a:endParaRPr lang="zh-CN" altLang="en-US" sz="1500"/>
            </a:p>
          </p:txBody>
        </p:sp>
        <p:sp>
          <p:nvSpPr>
            <p:cNvPr id="357456" name="矩形 357455"/>
            <p:cNvSpPr/>
            <p:nvPr/>
          </p:nvSpPr>
          <p:spPr>
            <a:xfrm>
              <a:off x="3870" y="3093"/>
              <a:ext cx="1072" cy="13"/>
            </a:xfrm>
            <a:prstGeom prst="rect">
              <a:avLst/>
            </a:prstGeom>
            <a:blipFill rotWithShape="0">
              <a:blip r:embed="rId1"/>
            </a:blipFill>
            <a:ln w="9525">
              <a:noFill/>
            </a:ln>
          </p:spPr>
          <p:txBody>
            <a:bodyPr/>
            <a:lstStyle/>
            <a:p>
              <a:endParaRPr lang="zh-CN" altLang="en-US" sz="1500"/>
            </a:p>
          </p:txBody>
        </p:sp>
        <p:sp>
          <p:nvSpPr>
            <p:cNvPr id="357457" name="任意多边形 357456"/>
            <p:cNvSpPr/>
            <p:nvPr/>
          </p:nvSpPr>
          <p:spPr>
            <a:xfrm>
              <a:off x="4406" y="2596"/>
              <a:ext cx="13" cy="14"/>
            </a:xfrm>
            <a:custGeom>
              <a:avLst/>
              <a:gdLst/>
              <a:ahLst/>
              <a:cxnLst/>
              <a:rect l="0" t="0" r="0" b="0"/>
              <a:pathLst>
                <a:path w="13" h="14">
                  <a:moveTo>
                    <a:pt x="6" y="0"/>
                  </a:moveTo>
                  <a:lnTo>
                    <a:pt x="0" y="0"/>
                  </a:lnTo>
                  <a:lnTo>
                    <a:pt x="0" y="7"/>
                  </a:lnTo>
                  <a:lnTo>
                    <a:pt x="0" y="14"/>
                  </a:lnTo>
                  <a:lnTo>
                    <a:pt x="6" y="14"/>
                  </a:lnTo>
                  <a:lnTo>
                    <a:pt x="13" y="14"/>
                  </a:lnTo>
                  <a:lnTo>
                    <a:pt x="13" y="7"/>
                  </a:lnTo>
                  <a:lnTo>
                    <a:pt x="13" y="0"/>
                  </a:lnTo>
                  <a:lnTo>
                    <a:pt x="6" y="0"/>
                  </a:lnTo>
                  <a:close/>
                </a:path>
              </a:pathLst>
            </a:custGeom>
            <a:blipFill rotWithShape="0">
              <a:blip r:embed="rId1"/>
            </a:blipFill>
            <a:ln w="9525">
              <a:noFill/>
            </a:ln>
          </p:spPr>
          <p:txBody>
            <a:bodyPr/>
            <a:lstStyle/>
            <a:p>
              <a:endParaRPr lang="zh-CN" altLang="en-US" sz="1500"/>
            </a:p>
          </p:txBody>
        </p:sp>
        <p:sp>
          <p:nvSpPr>
            <p:cNvPr id="357458" name="任意多边形 357457"/>
            <p:cNvSpPr/>
            <p:nvPr/>
          </p:nvSpPr>
          <p:spPr>
            <a:xfrm>
              <a:off x="4380" y="2538"/>
              <a:ext cx="72" cy="58"/>
            </a:xfrm>
            <a:custGeom>
              <a:avLst/>
              <a:gdLst/>
              <a:ahLst/>
              <a:cxnLst/>
              <a:rect l="0" t="0" r="0" b="0"/>
              <a:pathLst>
                <a:path w="72" h="58">
                  <a:moveTo>
                    <a:pt x="32" y="58"/>
                  </a:moveTo>
                  <a:lnTo>
                    <a:pt x="6" y="58"/>
                  </a:lnTo>
                  <a:lnTo>
                    <a:pt x="0" y="58"/>
                  </a:lnTo>
                  <a:lnTo>
                    <a:pt x="6" y="52"/>
                  </a:lnTo>
                  <a:lnTo>
                    <a:pt x="32" y="13"/>
                  </a:lnTo>
                  <a:lnTo>
                    <a:pt x="32" y="0"/>
                  </a:lnTo>
                  <a:lnTo>
                    <a:pt x="39" y="13"/>
                  </a:lnTo>
                  <a:lnTo>
                    <a:pt x="65" y="52"/>
                  </a:lnTo>
                  <a:lnTo>
                    <a:pt x="72" y="58"/>
                  </a:lnTo>
                  <a:lnTo>
                    <a:pt x="58" y="58"/>
                  </a:lnTo>
                  <a:lnTo>
                    <a:pt x="58" y="58"/>
                  </a:lnTo>
                  <a:lnTo>
                    <a:pt x="32" y="19"/>
                  </a:lnTo>
                  <a:lnTo>
                    <a:pt x="39" y="13"/>
                  </a:lnTo>
                  <a:lnTo>
                    <a:pt x="39" y="19"/>
                  </a:lnTo>
                  <a:lnTo>
                    <a:pt x="13" y="58"/>
                  </a:lnTo>
                  <a:lnTo>
                    <a:pt x="6" y="52"/>
                  </a:lnTo>
                  <a:lnTo>
                    <a:pt x="6" y="52"/>
                  </a:lnTo>
                  <a:lnTo>
                    <a:pt x="32" y="52"/>
                  </a:lnTo>
                  <a:lnTo>
                    <a:pt x="32" y="58"/>
                  </a:lnTo>
                  <a:close/>
                </a:path>
              </a:pathLst>
            </a:custGeom>
            <a:blipFill rotWithShape="0">
              <a:blip r:embed="rId1"/>
            </a:blipFill>
            <a:ln w="9525">
              <a:noFill/>
            </a:ln>
          </p:spPr>
          <p:txBody>
            <a:bodyPr/>
            <a:lstStyle/>
            <a:p>
              <a:endParaRPr lang="zh-CN" altLang="en-US" sz="1500"/>
            </a:p>
          </p:txBody>
        </p:sp>
        <p:sp>
          <p:nvSpPr>
            <p:cNvPr id="357459" name="任意多边形 357458"/>
            <p:cNvSpPr/>
            <p:nvPr/>
          </p:nvSpPr>
          <p:spPr>
            <a:xfrm>
              <a:off x="4412" y="2590"/>
              <a:ext cx="26" cy="6"/>
            </a:xfrm>
            <a:custGeom>
              <a:avLst/>
              <a:gdLst/>
              <a:ahLst/>
              <a:cxnLst/>
              <a:rect l="0" t="0" r="0" b="0"/>
              <a:pathLst>
                <a:path w="26" h="6">
                  <a:moveTo>
                    <a:pt x="26" y="6"/>
                  </a:moveTo>
                  <a:lnTo>
                    <a:pt x="0" y="6"/>
                  </a:lnTo>
                  <a:lnTo>
                    <a:pt x="0" y="0"/>
                  </a:lnTo>
                  <a:lnTo>
                    <a:pt x="0" y="0"/>
                  </a:lnTo>
                  <a:lnTo>
                    <a:pt x="0" y="0"/>
                  </a:lnTo>
                  <a:lnTo>
                    <a:pt x="26" y="0"/>
                  </a:lnTo>
                  <a:lnTo>
                    <a:pt x="26" y="6"/>
                  </a:lnTo>
                  <a:close/>
                </a:path>
              </a:pathLst>
            </a:custGeom>
            <a:blipFill rotWithShape="0">
              <a:blip r:embed="rId1"/>
            </a:blipFill>
            <a:ln w="9525">
              <a:noFill/>
            </a:ln>
          </p:spPr>
          <p:txBody>
            <a:bodyPr/>
            <a:lstStyle/>
            <a:p>
              <a:endParaRPr lang="zh-CN" altLang="en-US" sz="1500"/>
            </a:p>
          </p:txBody>
        </p:sp>
        <p:sp>
          <p:nvSpPr>
            <p:cNvPr id="357460" name="任意多边形 357459"/>
            <p:cNvSpPr/>
            <p:nvPr/>
          </p:nvSpPr>
          <p:spPr>
            <a:xfrm>
              <a:off x="4386" y="2557"/>
              <a:ext cx="52" cy="39"/>
            </a:xfrm>
            <a:custGeom>
              <a:avLst/>
              <a:gdLst/>
              <a:ahLst/>
              <a:cxnLst/>
              <a:rect l="0" t="0" r="0" b="0"/>
              <a:pathLst>
                <a:path w="52" h="39">
                  <a:moveTo>
                    <a:pt x="26" y="39"/>
                  </a:moveTo>
                  <a:lnTo>
                    <a:pt x="0" y="39"/>
                  </a:lnTo>
                  <a:lnTo>
                    <a:pt x="26" y="0"/>
                  </a:lnTo>
                  <a:lnTo>
                    <a:pt x="52" y="39"/>
                  </a:lnTo>
                  <a:lnTo>
                    <a:pt x="26" y="39"/>
                  </a:lnTo>
                  <a:close/>
                </a:path>
              </a:pathLst>
            </a:custGeom>
            <a:blipFill rotWithShape="0">
              <a:blip r:embed="rId1"/>
            </a:blipFill>
            <a:ln w="9525">
              <a:noFill/>
            </a:ln>
          </p:spPr>
          <p:txBody>
            <a:bodyPr/>
            <a:lstStyle/>
            <a:p>
              <a:endParaRPr lang="zh-CN" altLang="en-US" sz="1500"/>
            </a:p>
          </p:txBody>
        </p:sp>
        <p:sp>
          <p:nvSpPr>
            <p:cNvPr id="357461" name="矩形 357460"/>
            <p:cNvSpPr/>
            <p:nvPr/>
          </p:nvSpPr>
          <p:spPr>
            <a:xfrm>
              <a:off x="4406" y="3557"/>
              <a:ext cx="13" cy="7"/>
            </a:xfrm>
            <a:prstGeom prst="rect">
              <a:avLst/>
            </a:prstGeom>
            <a:blipFill rotWithShape="0">
              <a:blip r:embed="rId1"/>
            </a:blipFill>
            <a:ln w="9525">
              <a:noFill/>
            </a:ln>
          </p:spPr>
          <p:txBody>
            <a:bodyPr/>
            <a:lstStyle/>
            <a:p>
              <a:endParaRPr lang="zh-CN" altLang="en-US" sz="1500"/>
            </a:p>
          </p:txBody>
        </p:sp>
        <p:sp>
          <p:nvSpPr>
            <p:cNvPr id="357462" name="矩形 357461"/>
            <p:cNvSpPr/>
            <p:nvPr/>
          </p:nvSpPr>
          <p:spPr>
            <a:xfrm>
              <a:off x="4406" y="2596"/>
              <a:ext cx="13" cy="7"/>
            </a:xfrm>
            <a:prstGeom prst="rect">
              <a:avLst/>
            </a:prstGeom>
            <a:blipFill rotWithShape="0">
              <a:blip r:embed="rId1"/>
            </a:blipFill>
            <a:ln w="9525">
              <a:noFill/>
            </a:ln>
          </p:spPr>
          <p:txBody>
            <a:bodyPr/>
            <a:lstStyle/>
            <a:p>
              <a:endParaRPr lang="zh-CN" altLang="en-US" sz="1500"/>
            </a:p>
          </p:txBody>
        </p:sp>
        <p:sp>
          <p:nvSpPr>
            <p:cNvPr id="357463" name="矩形 357462"/>
            <p:cNvSpPr/>
            <p:nvPr/>
          </p:nvSpPr>
          <p:spPr>
            <a:xfrm>
              <a:off x="4406" y="2603"/>
              <a:ext cx="13" cy="954"/>
            </a:xfrm>
            <a:prstGeom prst="rect">
              <a:avLst/>
            </a:prstGeom>
            <a:blipFill rotWithShape="0">
              <a:blip r:embed="rId1"/>
            </a:blipFill>
            <a:ln w="9525">
              <a:noFill/>
            </a:ln>
          </p:spPr>
          <p:txBody>
            <a:bodyPr/>
            <a:lstStyle/>
            <a:p>
              <a:endParaRPr lang="zh-CN" altLang="en-US" sz="1500"/>
            </a:p>
          </p:txBody>
        </p:sp>
        <p:sp>
          <p:nvSpPr>
            <p:cNvPr id="357464" name="矩形 357463"/>
            <p:cNvSpPr/>
            <p:nvPr/>
          </p:nvSpPr>
          <p:spPr>
            <a:xfrm>
              <a:off x="4824" y="3132"/>
              <a:ext cx="75"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V</a:t>
              </a:r>
              <a:endParaRPr lang="en-US" altLang="zh-CN" sz="3665" b="1" i="0">
                <a:solidFill>
                  <a:srgbClr val="0000B6"/>
                </a:solidFill>
                <a:latin typeface="Book Antiqua" panose="02040602050305030304" pitchFamily="18" charset="0"/>
              </a:endParaRPr>
            </a:p>
          </p:txBody>
        </p:sp>
        <p:sp>
          <p:nvSpPr>
            <p:cNvPr id="357465" name="矩形 357464"/>
            <p:cNvSpPr/>
            <p:nvPr/>
          </p:nvSpPr>
          <p:spPr>
            <a:xfrm>
              <a:off x="4896" y="3178"/>
              <a:ext cx="112" cy="97"/>
            </a:xfrm>
            <a:prstGeom prst="rect">
              <a:avLst/>
            </a:prstGeom>
            <a:noFill/>
            <a:ln w="9525">
              <a:noFill/>
            </a:ln>
          </p:spPr>
          <p:txBody>
            <a:bodyPr wrap="none" lIns="0" tIns="0" rIns="0" bIns="0">
              <a:spAutoFit/>
            </a:bodyPr>
            <a:lstStyle/>
            <a:p>
              <a:r>
                <a:rPr lang="en-US" altLang="zh-CN" sz="835" b="1" i="0">
                  <a:solidFill>
                    <a:srgbClr val="000000"/>
                  </a:solidFill>
                  <a:latin typeface="Times New Roman" panose="02020603050405020304" pitchFamily="18" charset="0"/>
                </a:rPr>
                <a:t>out</a:t>
              </a:r>
              <a:endParaRPr lang="en-US" altLang="zh-CN" sz="3665" b="1" i="0">
                <a:solidFill>
                  <a:srgbClr val="0000B6"/>
                </a:solidFill>
                <a:latin typeface="Book Antiqua" panose="02040602050305030304" pitchFamily="18" charset="0"/>
              </a:endParaRPr>
            </a:p>
          </p:txBody>
        </p:sp>
        <p:sp>
          <p:nvSpPr>
            <p:cNvPr id="357466" name="矩形 357465"/>
            <p:cNvSpPr/>
            <p:nvPr/>
          </p:nvSpPr>
          <p:spPr>
            <a:xfrm>
              <a:off x="4268" y="2413"/>
              <a:ext cx="41"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I</a:t>
              </a:r>
              <a:endParaRPr lang="en-US" altLang="zh-CN" sz="3665" b="1" i="0">
                <a:solidFill>
                  <a:srgbClr val="0000B6"/>
                </a:solidFill>
                <a:latin typeface="Book Antiqua" panose="02040602050305030304" pitchFamily="18" charset="0"/>
              </a:endParaRPr>
            </a:p>
          </p:txBody>
        </p:sp>
        <p:sp>
          <p:nvSpPr>
            <p:cNvPr id="357467" name="矩形 357466"/>
            <p:cNvSpPr/>
            <p:nvPr/>
          </p:nvSpPr>
          <p:spPr>
            <a:xfrm>
              <a:off x="4308" y="2459"/>
              <a:ext cx="103" cy="97"/>
            </a:xfrm>
            <a:prstGeom prst="rect">
              <a:avLst/>
            </a:prstGeom>
            <a:noFill/>
            <a:ln w="9525">
              <a:noFill/>
            </a:ln>
          </p:spPr>
          <p:txBody>
            <a:bodyPr wrap="none" lIns="0" tIns="0" rIns="0" bIns="0">
              <a:spAutoFit/>
            </a:bodyPr>
            <a:lstStyle/>
            <a:p>
              <a:r>
                <a:rPr lang="en-US" altLang="zh-CN" sz="835" b="1" i="0" err="1">
                  <a:solidFill>
                    <a:srgbClr val="000000"/>
                  </a:solidFill>
                  <a:latin typeface="Times New Roman" panose="02020603050405020304" pitchFamily="18" charset="0"/>
                </a:rPr>
                <a:t>Dn</a:t>
              </a:r>
              <a:endParaRPr lang="en-US" altLang="zh-CN" sz="3665" b="1" i="0">
                <a:solidFill>
                  <a:srgbClr val="0000B6"/>
                </a:solidFill>
                <a:latin typeface="Book Antiqua" panose="02040602050305030304" pitchFamily="18" charset="0"/>
              </a:endParaRPr>
            </a:p>
          </p:txBody>
        </p:sp>
        <p:sp>
          <p:nvSpPr>
            <p:cNvPr id="357468" name="矩形 357467"/>
            <p:cNvSpPr/>
            <p:nvPr/>
          </p:nvSpPr>
          <p:spPr>
            <a:xfrm>
              <a:off x="4909" y="3087"/>
              <a:ext cx="13" cy="6"/>
            </a:xfrm>
            <a:prstGeom prst="rect">
              <a:avLst/>
            </a:prstGeom>
            <a:blipFill rotWithShape="0">
              <a:blip r:embed="rId1"/>
            </a:blipFill>
            <a:ln w="9525">
              <a:noFill/>
            </a:ln>
          </p:spPr>
          <p:txBody>
            <a:bodyPr/>
            <a:lstStyle/>
            <a:p>
              <a:endParaRPr lang="zh-CN" altLang="en-US" sz="1500"/>
            </a:p>
          </p:txBody>
        </p:sp>
        <p:sp>
          <p:nvSpPr>
            <p:cNvPr id="357469" name="任意多边形 357468"/>
            <p:cNvSpPr/>
            <p:nvPr/>
          </p:nvSpPr>
          <p:spPr>
            <a:xfrm>
              <a:off x="4739" y="2747"/>
              <a:ext cx="183" cy="340"/>
            </a:xfrm>
            <a:custGeom>
              <a:avLst/>
              <a:gdLst/>
              <a:ahLst/>
              <a:cxnLst/>
              <a:rect l="0" t="0" r="0" b="0"/>
              <a:pathLst>
                <a:path w="183" h="340">
                  <a:moveTo>
                    <a:pt x="170" y="340"/>
                  </a:moveTo>
                  <a:lnTo>
                    <a:pt x="144" y="202"/>
                  </a:lnTo>
                  <a:lnTo>
                    <a:pt x="144" y="209"/>
                  </a:lnTo>
                  <a:lnTo>
                    <a:pt x="144" y="209"/>
                  </a:lnTo>
                  <a:lnTo>
                    <a:pt x="105" y="111"/>
                  </a:lnTo>
                  <a:lnTo>
                    <a:pt x="111" y="111"/>
                  </a:lnTo>
                  <a:lnTo>
                    <a:pt x="111" y="111"/>
                  </a:lnTo>
                  <a:lnTo>
                    <a:pt x="59" y="52"/>
                  </a:lnTo>
                  <a:lnTo>
                    <a:pt x="59" y="52"/>
                  </a:lnTo>
                  <a:lnTo>
                    <a:pt x="59" y="52"/>
                  </a:lnTo>
                  <a:lnTo>
                    <a:pt x="0" y="13"/>
                  </a:lnTo>
                  <a:lnTo>
                    <a:pt x="0" y="13"/>
                  </a:lnTo>
                  <a:lnTo>
                    <a:pt x="0" y="0"/>
                  </a:lnTo>
                  <a:lnTo>
                    <a:pt x="7" y="0"/>
                  </a:lnTo>
                  <a:lnTo>
                    <a:pt x="66" y="39"/>
                  </a:lnTo>
                  <a:lnTo>
                    <a:pt x="66" y="39"/>
                  </a:lnTo>
                  <a:lnTo>
                    <a:pt x="66" y="46"/>
                  </a:lnTo>
                  <a:lnTo>
                    <a:pt x="118" y="104"/>
                  </a:lnTo>
                  <a:lnTo>
                    <a:pt x="118" y="104"/>
                  </a:lnTo>
                  <a:lnTo>
                    <a:pt x="118" y="104"/>
                  </a:lnTo>
                  <a:lnTo>
                    <a:pt x="157" y="202"/>
                  </a:lnTo>
                  <a:lnTo>
                    <a:pt x="157" y="202"/>
                  </a:lnTo>
                  <a:lnTo>
                    <a:pt x="157" y="202"/>
                  </a:lnTo>
                  <a:lnTo>
                    <a:pt x="183" y="340"/>
                  </a:lnTo>
                  <a:lnTo>
                    <a:pt x="170" y="340"/>
                  </a:lnTo>
                  <a:close/>
                </a:path>
              </a:pathLst>
            </a:custGeom>
            <a:blipFill rotWithShape="0">
              <a:blip r:embed="rId1"/>
            </a:blipFill>
            <a:ln w="9525">
              <a:noFill/>
            </a:ln>
          </p:spPr>
          <p:txBody>
            <a:bodyPr/>
            <a:lstStyle/>
            <a:p>
              <a:endParaRPr lang="zh-CN" altLang="en-US" sz="1500"/>
            </a:p>
          </p:txBody>
        </p:sp>
        <p:sp>
          <p:nvSpPr>
            <p:cNvPr id="357470" name="任意多边形 357469"/>
            <p:cNvSpPr/>
            <p:nvPr/>
          </p:nvSpPr>
          <p:spPr>
            <a:xfrm>
              <a:off x="4595" y="2721"/>
              <a:ext cx="144" cy="39"/>
            </a:xfrm>
            <a:custGeom>
              <a:avLst/>
              <a:gdLst/>
              <a:ahLst/>
              <a:cxnLst/>
              <a:rect l="0" t="0" r="0" b="0"/>
              <a:pathLst>
                <a:path w="144" h="39">
                  <a:moveTo>
                    <a:pt x="144" y="39"/>
                  </a:moveTo>
                  <a:lnTo>
                    <a:pt x="0" y="13"/>
                  </a:lnTo>
                  <a:lnTo>
                    <a:pt x="0" y="13"/>
                  </a:lnTo>
                  <a:lnTo>
                    <a:pt x="0" y="0"/>
                  </a:lnTo>
                  <a:lnTo>
                    <a:pt x="0" y="0"/>
                  </a:lnTo>
                  <a:lnTo>
                    <a:pt x="144" y="26"/>
                  </a:lnTo>
                  <a:lnTo>
                    <a:pt x="144" y="39"/>
                  </a:lnTo>
                  <a:close/>
                </a:path>
              </a:pathLst>
            </a:custGeom>
            <a:blipFill rotWithShape="0">
              <a:blip r:embed="rId1"/>
            </a:blipFill>
            <a:ln w="9525">
              <a:noFill/>
            </a:ln>
          </p:spPr>
          <p:txBody>
            <a:bodyPr/>
            <a:lstStyle/>
            <a:p>
              <a:endParaRPr lang="zh-CN" altLang="en-US" sz="1500"/>
            </a:p>
          </p:txBody>
        </p:sp>
        <p:sp>
          <p:nvSpPr>
            <p:cNvPr id="357471" name="矩形 357470"/>
            <p:cNvSpPr/>
            <p:nvPr/>
          </p:nvSpPr>
          <p:spPr>
            <a:xfrm>
              <a:off x="4412" y="2708"/>
              <a:ext cx="7" cy="13"/>
            </a:xfrm>
            <a:prstGeom prst="rect">
              <a:avLst/>
            </a:prstGeom>
            <a:blipFill rotWithShape="0">
              <a:blip r:embed="rId1"/>
            </a:blipFill>
            <a:ln w="9525">
              <a:noFill/>
            </a:ln>
          </p:spPr>
          <p:txBody>
            <a:bodyPr/>
            <a:lstStyle/>
            <a:p>
              <a:endParaRPr lang="zh-CN" altLang="en-US" sz="1500"/>
            </a:p>
          </p:txBody>
        </p:sp>
        <p:sp>
          <p:nvSpPr>
            <p:cNvPr id="357472" name="任意多边形 357471"/>
            <p:cNvSpPr/>
            <p:nvPr/>
          </p:nvSpPr>
          <p:spPr>
            <a:xfrm>
              <a:off x="4419" y="2708"/>
              <a:ext cx="176" cy="26"/>
            </a:xfrm>
            <a:custGeom>
              <a:avLst/>
              <a:gdLst/>
              <a:ahLst/>
              <a:cxnLst/>
              <a:rect l="0" t="0" r="0" b="0"/>
              <a:pathLst>
                <a:path w="176" h="26">
                  <a:moveTo>
                    <a:pt x="176" y="26"/>
                  </a:moveTo>
                  <a:lnTo>
                    <a:pt x="176" y="13"/>
                  </a:lnTo>
                  <a:lnTo>
                    <a:pt x="0" y="0"/>
                  </a:lnTo>
                  <a:lnTo>
                    <a:pt x="0" y="13"/>
                  </a:lnTo>
                  <a:lnTo>
                    <a:pt x="176" y="26"/>
                  </a:lnTo>
                  <a:close/>
                </a:path>
              </a:pathLst>
            </a:custGeom>
            <a:blipFill rotWithShape="0">
              <a:blip r:embed="rId1"/>
            </a:blipFill>
            <a:ln w="9525">
              <a:noFill/>
            </a:ln>
          </p:spPr>
          <p:txBody>
            <a:bodyPr/>
            <a:lstStyle/>
            <a:p>
              <a:endParaRPr lang="zh-CN" altLang="en-US" sz="1500"/>
            </a:p>
          </p:txBody>
        </p:sp>
        <p:sp>
          <p:nvSpPr>
            <p:cNvPr id="357473" name="任意多边形 357472"/>
            <p:cNvSpPr/>
            <p:nvPr/>
          </p:nvSpPr>
          <p:spPr>
            <a:xfrm>
              <a:off x="4909" y="3074"/>
              <a:ext cx="13" cy="13"/>
            </a:xfrm>
            <a:custGeom>
              <a:avLst/>
              <a:gdLst/>
              <a:ahLst/>
              <a:cxnLst/>
              <a:rect l="0" t="0" r="0" b="0"/>
              <a:pathLst>
                <a:path w="13" h="13">
                  <a:moveTo>
                    <a:pt x="0" y="6"/>
                  </a:moveTo>
                  <a:lnTo>
                    <a:pt x="0" y="13"/>
                  </a:lnTo>
                  <a:lnTo>
                    <a:pt x="13" y="6"/>
                  </a:lnTo>
                  <a:lnTo>
                    <a:pt x="13" y="0"/>
                  </a:lnTo>
                  <a:lnTo>
                    <a:pt x="0" y="6"/>
                  </a:lnTo>
                  <a:close/>
                </a:path>
              </a:pathLst>
            </a:custGeom>
            <a:blipFill rotWithShape="0">
              <a:blip r:embed="rId1"/>
            </a:blipFill>
            <a:ln w="9525">
              <a:noFill/>
            </a:ln>
          </p:spPr>
          <p:txBody>
            <a:bodyPr/>
            <a:lstStyle/>
            <a:p>
              <a:endParaRPr lang="zh-CN" altLang="en-US" sz="1500"/>
            </a:p>
          </p:txBody>
        </p:sp>
        <p:sp>
          <p:nvSpPr>
            <p:cNvPr id="357474" name="任意多边形 357473"/>
            <p:cNvSpPr/>
            <p:nvPr/>
          </p:nvSpPr>
          <p:spPr>
            <a:xfrm>
              <a:off x="4798" y="2943"/>
              <a:ext cx="124" cy="137"/>
            </a:xfrm>
            <a:custGeom>
              <a:avLst/>
              <a:gdLst/>
              <a:ahLst/>
              <a:cxnLst/>
              <a:rect l="0" t="0" r="0" b="0"/>
              <a:pathLst>
                <a:path w="124" h="137">
                  <a:moveTo>
                    <a:pt x="111" y="137"/>
                  </a:moveTo>
                  <a:lnTo>
                    <a:pt x="85" y="78"/>
                  </a:lnTo>
                  <a:lnTo>
                    <a:pt x="92" y="78"/>
                  </a:lnTo>
                  <a:lnTo>
                    <a:pt x="92" y="78"/>
                  </a:lnTo>
                  <a:lnTo>
                    <a:pt x="52" y="39"/>
                  </a:lnTo>
                  <a:lnTo>
                    <a:pt x="52" y="39"/>
                  </a:lnTo>
                  <a:lnTo>
                    <a:pt x="52" y="39"/>
                  </a:lnTo>
                  <a:lnTo>
                    <a:pt x="0" y="13"/>
                  </a:lnTo>
                  <a:lnTo>
                    <a:pt x="0" y="13"/>
                  </a:lnTo>
                  <a:lnTo>
                    <a:pt x="7" y="0"/>
                  </a:lnTo>
                  <a:lnTo>
                    <a:pt x="7" y="0"/>
                  </a:lnTo>
                  <a:lnTo>
                    <a:pt x="59" y="26"/>
                  </a:lnTo>
                  <a:lnTo>
                    <a:pt x="59" y="26"/>
                  </a:lnTo>
                  <a:lnTo>
                    <a:pt x="59" y="33"/>
                  </a:lnTo>
                  <a:lnTo>
                    <a:pt x="98" y="72"/>
                  </a:lnTo>
                  <a:lnTo>
                    <a:pt x="98" y="72"/>
                  </a:lnTo>
                  <a:lnTo>
                    <a:pt x="98" y="72"/>
                  </a:lnTo>
                  <a:lnTo>
                    <a:pt x="124" y="131"/>
                  </a:lnTo>
                  <a:lnTo>
                    <a:pt x="111" y="137"/>
                  </a:lnTo>
                  <a:close/>
                </a:path>
              </a:pathLst>
            </a:custGeom>
            <a:blipFill rotWithShape="0">
              <a:blip r:embed="rId1"/>
            </a:blipFill>
            <a:ln w="9525">
              <a:noFill/>
            </a:ln>
          </p:spPr>
          <p:txBody>
            <a:bodyPr/>
            <a:lstStyle/>
            <a:p>
              <a:endParaRPr lang="zh-CN" altLang="en-US" sz="1500"/>
            </a:p>
          </p:txBody>
        </p:sp>
        <p:sp>
          <p:nvSpPr>
            <p:cNvPr id="357475" name="任意多边形 357474"/>
            <p:cNvSpPr/>
            <p:nvPr/>
          </p:nvSpPr>
          <p:spPr>
            <a:xfrm>
              <a:off x="4739" y="2923"/>
              <a:ext cx="66" cy="33"/>
            </a:xfrm>
            <a:custGeom>
              <a:avLst/>
              <a:gdLst/>
              <a:ahLst/>
              <a:cxnLst/>
              <a:rect l="0" t="0" r="0" b="0"/>
              <a:pathLst>
                <a:path w="66" h="33">
                  <a:moveTo>
                    <a:pt x="59" y="33"/>
                  </a:moveTo>
                  <a:lnTo>
                    <a:pt x="0" y="13"/>
                  </a:lnTo>
                  <a:lnTo>
                    <a:pt x="0" y="13"/>
                  </a:lnTo>
                  <a:lnTo>
                    <a:pt x="0" y="0"/>
                  </a:lnTo>
                  <a:lnTo>
                    <a:pt x="7" y="0"/>
                  </a:lnTo>
                  <a:lnTo>
                    <a:pt x="66" y="20"/>
                  </a:lnTo>
                  <a:lnTo>
                    <a:pt x="59" y="33"/>
                  </a:lnTo>
                  <a:close/>
                </a:path>
              </a:pathLst>
            </a:custGeom>
            <a:blipFill rotWithShape="0">
              <a:blip r:embed="rId1"/>
            </a:blipFill>
            <a:ln w="9525">
              <a:noFill/>
            </a:ln>
          </p:spPr>
          <p:txBody>
            <a:bodyPr/>
            <a:lstStyle/>
            <a:p>
              <a:endParaRPr lang="zh-CN" altLang="en-US" sz="1500"/>
            </a:p>
          </p:txBody>
        </p:sp>
        <p:sp>
          <p:nvSpPr>
            <p:cNvPr id="357476" name="矩形 357475"/>
            <p:cNvSpPr/>
            <p:nvPr/>
          </p:nvSpPr>
          <p:spPr>
            <a:xfrm>
              <a:off x="4412" y="2910"/>
              <a:ext cx="7" cy="13"/>
            </a:xfrm>
            <a:prstGeom prst="rect">
              <a:avLst/>
            </a:prstGeom>
            <a:blipFill rotWithShape="0">
              <a:blip r:embed="rId1"/>
            </a:blipFill>
            <a:ln w="9525">
              <a:noFill/>
            </a:ln>
          </p:spPr>
          <p:txBody>
            <a:bodyPr/>
            <a:lstStyle/>
            <a:p>
              <a:endParaRPr lang="zh-CN" altLang="en-US" sz="1500"/>
            </a:p>
          </p:txBody>
        </p:sp>
        <p:sp>
          <p:nvSpPr>
            <p:cNvPr id="357477" name="任意多边形 357476"/>
            <p:cNvSpPr/>
            <p:nvPr/>
          </p:nvSpPr>
          <p:spPr>
            <a:xfrm>
              <a:off x="4419" y="2910"/>
              <a:ext cx="320" cy="26"/>
            </a:xfrm>
            <a:custGeom>
              <a:avLst/>
              <a:gdLst/>
              <a:ahLst/>
              <a:cxnLst/>
              <a:rect l="0" t="0" r="0" b="0"/>
              <a:pathLst>
                <a:path w="320" h="26">
                  <a:moveTo>
                    <a:pt x="320" y="26"/>
                  </a:moveTo>
                  <a:lnTo>
                    <a:pt x="320" y="13"/>
                  </a:lnTo>
                  <a:lnTo>
                    <a:pt x="0" y="0"/>
                  </a:lnTo>
                  <a:lnTo>
                    <a:pt x="0" y="13"/>
                  </a:lnTo>
                  <a:lnTo>
                    <a:pt x="320" y="26"/>
                  </a:lnTo>
                  <a:close/>
                </a:path>
              </a:pathLst>
            </a:custGeom>
            <a:blipFill rotWithShape="0">
              <a:blip r:embed="rId1"/>
            </a:blipFill>
            <a:ln w="9525">
              <a:noFill/>
            </a:ln>
          </p:spPr>
          <p:txBody>
            <a:bodyPr/>
            <a:lstStyle/>
            <a:p>
              <a:endParaRPr lang="zh-CN" altLang="en-US" sz="1500"/>
            </a:p>
          </p:txBody>
        </p:sp>
        <p:sp>
          <p:nvSpPr>
            <p:cNvPr id="357478" name="矩形 357477"/>
            <p:cNvSpPr/>
            <p:nvPr/>
          </p:nvSpPr>
          <p:spPr>
            <a:xfrm>
              <a:off x="4438" y="2544"/>
              <a:ext cx="75"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V</a:t>
              </a:r>
              <a:endParaRPr lang="en-US" altLang="zh-CN" sz="3665" b="1" i="0">
                <a:solidFill>
                  <a:srgbClr val="0000B6"/>
                </a:solidFill>
                <a:latin typeface="Book Antiqua" panose="02040602050305030304" pitchFamily="18" charset="0"/>
              </a:endParaRPr>
            </a:p>
          </p:txBody>
        </p:sp>
        <p:sp>
          <p:nvSpPr>
            <p:cNvPr id="357479" name="矩形 357478"/>
            <p:cNvSpPr/>
            <p:nvPr/>
          </p:nvSpPr>
          <p:spPr>
            <a:xfrm>
              <a:off x="4510" y="2590"/>
              <a:ext cx="67" cy="97"/>
            </a:xfrm>
            <a:prstGeom prst="rect">
              <a:avLst/>
            </a:prstGeom>
            <a:noFill/>
            <a:ln w="9525">
              <a:noFill/>
            </a:ln>
          </p:spPr>
          <p:txBody>
            <a:bodyPr wrap="none" lIns="0" tIns="0" rIns="0" bIns="0">
              <a:spAutoFit/>
            </a:bodyPr>
            <a:lstStyle/>
            <a:p>
              <a:r>
                <a:rPr lang="en-US" altLang="zh-CN" sz="835" b="1" i="0">
                  <a:solidFill>
                    <a:srgbClr val="000000"/>
                  </a:solidFill>
                  <a:latin typeface="Times New Roman" panose="02020603050405020304" pitchFamily="18" charset="0"/>
                </a:rPr>
                <a:t>in</a:t>
              </a:r>
              <a:endParaRPr lang="en-US" altLang="zh-CN" sz="3665" b="1" i="0">
                <a:solidFill>
                  <a:srgbClr val="0000B6"/>
                </a:solidFill>
                <a:latin typeface="Book Antiqua" panose="02040602050305030304" pitchFamily="18" charset="0"/>
              </a:endParaRPr>
            </a:p>
          </p:txBody>
        </p:sp>
        <p:sp>
          <p:nvSpPr>
            <p:cNvPr id="357480" name="矩形 357479"/>
            <p:cNvSpPr/>
            <p:nvPr/>
          </p:nvSpPr>
          <p:spPr>
            <a:xfrm>
              <a:off x="4576" y="2544"/>
              <a:ext cx="112"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=0</a:t>
              </a:r>
              <a:endParaRPr lang="en-US" altLang="zh-CN" sz="3665" b="1" i="0">
                <a:solidFill>
                  <a:srgbClr val="0000B6"/>
                </a:solidFill>
                <a:latin typeface="Book Antiqua" panose="02040602050305030304" pitchFamily="18" charset="0"/>
              </a:endParaRPr>
            </a:p>
          </p:txBody>
        </p:sp>
        <p:sp>
          <p:nvSpPr>
            <p:cNvPr id="357481" name="矩形 357480"/>
            <p:cNvSpPr/>
            <p:nvPr/>
          </p:nvSpPr>
          <p:spPr>
            <a:xfrm>
              <a:off x="4458" y="2760"/>
              <a:ext cx="75"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V</a:t>
              </a:r>
              <a:endParaRPr lang="en-US" altLang="zh-CN" sz="3665" b="1" i="0">
                <a:solidFill>
                  <a:srgbClr val="0000B6"/>
                </a:solidFill>
                <a:latin typeface="Book Antiqua" panose="02040602050305030304" pitchFamily="18" charset="0"/>
              </a:endParaRPr>
            </a:p>
          </p:txBody>
        </p:sp>
        <p:sp>
          <p:nvSpPr>
            <p:cNvPr id="357482" name="矩形 357481"/>
            <p:cNvSpPr/>
            <p:nvPr/>
          </p:nvSpPr>
          <p:spPr>
            <a:xfrm>
              <a:off x="4530" y="2806"/>
              <a:ext cx="67" cy="97"/>
            </a:xfrm>
            <a:prstGeom prst="rect">
              <a:avLst/>
            </a:prstGeom>
            <a:noFill/>
            <a:ln w="9525">
              <a:noFill/>
            </a:ln>
          </p:spPr>
          <p:txBody>
            <a:bodyPr wrap="none" lIns="0" tIns="0" rIns="0" bIns="0">
              <a:spAutoFit/>
            </a:bodyPr>
            <a:lstStyle/>
            <a:p>
              <a:r>
                <a:rPr lang="en-US" altLang="zh-CN" sz="835" b="1" i="0">
                  <a:solidFill>
                    <a:srgbClr val="000000"/>
                  </a:solidFill>
                  <a:latin typeface="Times New Roman" panose="02020603050405020304" pitchFamily="18" charset="0"/>
                </a:rPr>
                <a:t>in</a:t>
              </a:r>
              <a:endParaRPr lang="en-US" altLang="zh-CN" sz="3665" b="1" i="0">
                <a:solidFill>
                  <a:srgbClr val="0000B6"/>
                </a:solidFill>
                <a:latin typeface="Book Antiqua" panose="02040602050305030304" pitchFamily="18" charset="0"/>
              </a:endParaRPr>
            </a:p>
          </p:txBody>
        </p:sp>
        <p:sp>
          <p:nvSpPr>
            <p:cNvPr id="357483" name="矩形 357482"/>
            <p:cNvSpPr/>
            <p:nvPr/>
          </p:nvSpPr>
          <p:spPr>
            <a:xfrm>
              <a:off x="4595" y="2760"/>
              <a:ext cx="191"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=1.5</a:t>
              </a:r>
              <a:endParaRPr lang="en-US" altLang="zh-CN" sz="3665" b="1" i="0">
                <a:solidFill>
                  <a:srgbClr val="0000B6"/>
                </a:solidFill>
                <a:latin typeface="Book Antiqua" panose="02040602050305030304" pitchFamily="18" charset="0"/>
              </a:endParaRPr>
            </a:p>
          </p:txBody>
        </p:sp>
      </p:grpSp>
      <p:grpSp>
        <p:nvGrpSpPr>
          <p:cNvPr id="357484" name="组合 357483"/>
          <p:cNvGrpSpPr/>
          <p:nvPr/>
        </p:nvGrpSpPr>
        <p:grpSpPr>
          <a:xfrm>
            <a:off x="3579813" y="4411928"/>
            <a:ext cx="936625" cy="578115"/>
            <a:chOff x="2130" y="3335"/>
            <a:chExt cx="708" cy="437"/>
          </a:xfrm>
        </p:grpSpPr>
        <p:sp>
          <p:nvSpPr>
            <p:cNvPr id="357485" name="任意多边形 357484"/>
            <p:cNvSpPr/>
            <p:nvPr/>
          </p:nvSpPr>
          <p:spPr>
            <a:xfrm>
              <a:off x="2222" y="3361"/>
              <a:ext cx="360" cy="150"/>
            </a:xfrm>
            <a:custGeom>
              <a:avLst/>
              <a:gdLst/>
              <a:ahLst/>
              <a:cxnLst/>
              <a:rect l="0" t="0" r="0" b="0"/>
              <a:pathLst>
                <a:path w="360" h="150">
                  <a:moveTo>
                    <a:pt x="360" y="79"/>
                  </a:moveTo>
                  <a:lnTo>
                    <a:pt x="157" y="0"/>
                  </a:lnTo>
                  <a:lnTo>
                    <a:pt x="157" y="26"/>
                  </a:lnTo>
                  <a:lnTo>
                    <a:pt x="0" y="26"/>
                  </a:lnTo>
                  <a:lnTo>
                    <a:pt x="0" y="124"/>
                  </a:lnTo>
                  <a:lnTo>
                    <a:pt x="157" y="124"/>
                  </a:lnTo>
                  <a:lnTo>
                    <a:pt x="157" y="150"/>
                  </a:lnTo>
                  <a:lnTo>
                    <a:pt x="360" y="79"/>
                  </a:lnTo>
                  <a:close/>
                </a:path>
              </a:pathLst>
            </a:custGeom>
            <a:blipFill rotWithShape="0">
              <a:blip r:embed="rId2"/>
            </a:blipFill>
            <a:ln w="9525">
              <a:noFill/>
            </a:ln>
          </p:spPr>
          <p:txBody>
            <a:bodyPr/>
            <a:lstStyle/>
            <a:p>
              <a:endParaRPr lang="zh-CN" altLang="en-US" sz="1500"/>
            </a:p>
          </p:txBody>
        </p:sp>
        <p:sp>
          <p:nvSpPr>
            <p:cNvPr id="357486" name="任意多边形 357485"/>
            <p:cNvSpPr/>
            <p:nvPr/>
          </p:nvSpPr>
          <p:spPr>
            <a:xfrm>
              <a:off x="2372" y="3348"/>
              <a:ext cx="216" cy="98"/>
            </a:xfrm>
            <a:custGeom>
              <a:avLst/>
              <a:gdLst/>
              <a:ahLst/>
              <a:cxnLst/>
              <a:rect l="0" t="0" r="0" b="0"/>
              <a:pathLst>
                <a:path w="216" h="98">
                  <a:moveTo>
                    <a:pt x="210" y="98"/>
                  </a:moveTo>
                  <a:lnTo>
                    <a:pt x="7" y="20"/>
                  </a:lnTo>
                  <a:lnTo>
                    <a:pt x="0" y="13"/>
                  </a:lnTo>
                  <a:lnTo>
                    <a:pt x="0" y="0"/>
                  </a:lnTo>
                  <a:lnTo>
                    <a:pt x="13" y="7"/>
                  </a:lnTo>
                  <a:lnTo>
                    <a:pt x="216" y="85"/>
                  </a:lnTo>
                  <a:lnTo>
                    <a:pt x="210" y="98"/>
                  </a:lnTo>
                  <a:close/>
                </a:path>
              </a:pathLst>
            </a:custGeom>
            <a:blipFill rotWithShape="0">
              <a:blip r:embed="rId1"/>
            </a:blipFill>
            <a:ln w="9525">
              <a:noFill/>
            </a:ln>
          </p:spPr>
          <p:txBody>
            <a:bodyPr/>
            <a:lstStyle/>
            <a:p>
              <a:endParaRPr lang="zh-CN" altLang="en-US" sz="1500"/>
            </a:p>
          </p:txBody>
        </p:sp>
        <p:sp>
          <p:nvSpPr>
            <p:cNvPr id="357487" name="矩形 357486"/>
            <p:cNvSpPr/>
            <p:nvPr/>
          </p:nvSpPr>
          <p:spPr>
            <a:xfrm>
              <a:off x="2372" y="3361"/>
              <a:ext cx="13" cy="33"/>
            </a:xfrm>
            <a:prstGeom prst="rect">
              <a:avLst/>
            </a:prstGeom>
            <a:blipFill rotWithShape="0">
              <a:blip r:embed="rId1"/>
            </a:blipFill>
            <a:ln w="9525">
              <a:noFill/>
            </a:ln>
          </p:spPr>
          <p:txBody>
            <a:bodyPr/>
            <a:lstStyle/>
            <a:p>
              <a:endParaRPr lang="zh-CN" altLang="en-US" sz="1500"/>
            </a:p>
          </p:txBody>
        </p:sp>
        <p:sp>
          <p:nvSpPr>
            <p:cNvPr id="357488" name="矩形 357487"/>
            <p:cNvSpPr/>
            <p:nvPr/>
          </p:nvSpPr>
          <p:spPr>
            <a:xfrm>
              <a:off x="2215" y="3381"/>
              <a:ext cx="164" cy="13"/>
            </a:xfrm>
            <a:prstGeom prst="rect">
              <a:avLst/>
            </a:prstGeom>
            <a:blipFill rotWithShape="0">
              <a:blip r:embed="rId1"/>
            </a:blipFill>
            <a:ln w="9525">
              <a:noFill/>
            </a:ln>
          </p:spPr>
          <p:txBody>
            <a:bodyPr/>
            <a:lstStyle/>
            <a:p>
              <a:endParaRPr lang="zh-CN" altLang="en-US" sz="1500"/>
            </a:p>
          </p:txBody>
        </p:sp>
        <p:sp>
          <p:nvSpPr>
            <p:cNvPr id="357489" name="矩形 357488"/>
            <p:cNvSpPr/>
            <p:nvPr/>
          </p:nvSpPr>
          <p:spPr>
            <a:xfrm>
              <a:off x="2215" y="3387"/>
              <a:ext cx="13" cy="105"/>
            </a:xfrm>
            <a:prstGeom prst="rect">
              <a:avLst/>
            </a:prstGeom>
            <a:blipFill rotWithShape="0">
              <a:blip r:embed="rId1"/>
            </a:blipFill>
            <a:ln w="9525">
              <a:noFill/>
            </a:ln>
          </p:spPr>
          <p:txBody>
            <a:bodyPr/>
            <a:lstStyle/>
            <a:p>
              <a:endParaRPr lang="zh-CN" altLang="en-US" sz="1500"/>
            </a:p>
          </p:txBody>
        </p:sp>
        <p:sp>
          <p:nvSpPr>
            <p:cNvPr id="357490" name="矩形 357489"/>
            <p:cNvSpPr/>
            <p:nvPr/>
          </p:nvSpPr>
          <p:spPr>
            <a:xfrm>
              <a:off x="2222" y="3479"/>
              <a:ext cx="163" cy="13"/>
            </a:xfrm>
            <a:prstGeom prst="rect">
              <a:avLst/>
            </a:prstGeom>
            <a:blipFill rotWithShape="0">
              <a:blip r:embed="rId1"/>
            </a:blipFill>
            <a:ln w="9525">
              <a:noFill/>
            </a:ln>
          </p:spPr>
          <p:txBody>
            <a:bodyPr/>
            <a:lstStyle/>
            <a:p>
              <a:endParaRPr lang="zh-CN" altLang="en-US" sz="1500"/>
            </a:p>
          </p:txBody>
        </p:sp>
        <p:sp>
          <p:nvSpPr>
            <p:cNvPr id="357491" name="任意多边形 357490"/>
            <p:cNvSpPr/>
            <p:nvPr/>
          </p:nvSpPr>
          <p:spPr>
            <a:xfrm>
              <a:off x="2372" y="3433"/>
              <a:ext cx="236" cy="92"/>
            </a:xfrm>
            <a:custGeom>
              <a:avLst/>
              <a:gdLst/>
              <a:ahLst/>
              <a:cxnLst/>
              <a:rect l="0" t="0" r="0" b="0"/>
              <a:pathLst>
                <a:path w="236" h="92">
                  <a:moveTo>
                    <a:pt x="13" y="52"/>
                  </a:moveTo>
                  <a:lnTo>
                    <a:pt x="13" y="78"/>
                  </a:lnTo>
                  <a:lnTo>
                    <a:pt x="13" y="85"/>
                  </a:lnTo>
                  <a:lnTo>
                    <a:pt x="7" y="72"/>
                  </a:lnTo>
                  <a:lnTo>
                    <a:pt x="210" y="0"/>
                  </a:lnTo>
                  <a:lnTo>
                    <a:pt x="216" y="0"/>
                  </a:lnTo>
                  <a:lnTo>
                    <a:pt x="236" y="7"/>
                  </a:lnTo>
                  <a:lnTo>
                    <a:pt x="216" y="13"/>
                  </a:lnTo>
                  <a:lnTo>
                    <a:pt x="13" y="85"/>
                  </a:lnTo>
                  <a:lnTo>
                    <a:pt x="0" y="92"/>
                  </a:lnTo>
                  <a:lnTo>
                    <a:pt x="0" y="78"/>
                  </a:lnTo>
                  <a:lnTo>
                    <a:pt x="0" y="52"/>
                  </a:lnTo>
                  <a:lnTo>
                    <a:pt x="13" y="52"/>
                  </a:lnTo>
                  <a:close/>
                </a:path>
              </a:pathLst>
            </a:custGeom>
            <a:blipFill rotWithShape="0">
              <a:blip r:embed="rId1"/>
            </a:blipFill>
            <a:ln w="9525">
              <a:noFill/>
            </a:ln>
          </p:spPr>
          <p:txBody>
            <a:bodyPr/>
            <a:lstStyle/>
            <a:p>
              <a:endParaRPr lang="zh-CN" altLang="en-US" sz="1500"/>
            </a:p>
          </p:txBody>
        </p:sp>
        <p:sp>
          <p:nvSpPr>
            <p:cNvPr id="357492" name="任意多边形 357491"/>
            <p:cNvSpPr/>
            <p:nvPr/>
          </p:nvSpPr>
          <p:spPr>
            <a:xfrm>
              <a:off x="2196" y="3348"/>
              <a:ext cx="183" cy="131"/>
            </a:xfrm>
            <a:custGeom>
              <a:avLst/>
              <a:gdLst/>
              <a:ahLst/>
              <a:cxnLst/>
              <a:rect l="0" t="0" r="0" b="0"/>
              <a:pathLst>
                <a:path w="183" h="131">
                  <a:moveTo>
                    <a:pt x="157" y="0"/>
                  </a:moveTo>
                  <a:lnTo>
                    <a:pt x="183" y="13"/>
                  </a:lnTo>
                  <a:lnTo>
                    <a:pt x="183" y="39"/>
                  </a:lnTo>
                  <a:lnTo>
                    <a:pt x="26" y="39"/>
                  </a:lnTo>
                  <a:lnTo>
                    <a:pt x="26" y="131"/>
                  </a:lnTo>
                  <a:lnTo>
                    <a:pt x="0" y="124"/>
                  </a:lnTo>
                  <a:lnTo>
                    <a:pt x="0" y="33"/>
                  </a:lnTo>
                  <a:lnTo>
                    <a:pt x="157" y="33"/>
                  </a:lnTo>
                  <a:lnTo>
                    <a:pt x="157" y="0"/>
                  </a:lnTo>
                  <a:close/>
                </a:path>
              </a:pathLst>
            </a:custGeom>
            <a:blipFill rotWithShape="0">
              <a:blip r:embed="rId1"/>
            </a:blipFill>
            <a:ln w="9525">
              <a:noFill/>
            </a:ln>
          </p:spPr>
          <p:txBody>
            <a:bodyPr/>
            <a:lstStyle/>
            <a:p>
              <a:endParaRPr lang="zh-CN" altLang="en-US" sz="1500"/>
            </a:p>
          </p:txBody>
        </p:sp>
        <p:sp>
          <p:nvSpPr>
            <p:cNvPr id="357493" name="任意多边形 357492"/>
            <p:cNvSpPr/>
            <p:nvPr/>
          </p:nvSpPr>
          <p:spPr>
            <a:xfrm>
              <a:off x="2353" y="3342"/>
              <a:ext cx="32" cy="26"/>
            </a:xfrm>
            <a:custGeom>
              <a:avLst/>
              <a:gdLst/>
              <a:ahLst/>
              <a:cxnLst/>
              <a:rect l="0" t="0" r="0" b="0"/>
              <a:pathLst>
                <a:path w="32" h="26">
                  <a:moveTo>
                    <a:pt x="6" y="0"/>
                  </a:moveTo>
                  <a:lnTo>
                    <a:pt x="32" y="13"/>
                  </a:lnTo>
                  <a:lnTo>
                    <a:pt x="32" y="13"/>
                  </a:lnTo>
                  <a:lnTo>
                    <a:pt x="32" y="19"/>
                  </a:lnTo>
                  <a:lnTo>
                    <a:pt x="26" y="26"/>
                  </a:lnTo>
                  <a:lnTo>
                    <a:pt x="0" y="13"/>
                  </a:lnTo>
                  <a:lnTo>
                    <a:pt x="6" y="0"/>
                  </a:lnTo>
                  <a:close/>
                </a:path>
              </a:pathLst>
            </a:custGeom>
            <a:blipFill rotWithShape="0">
              <a:blip r:embed="rId1"/>
            </a:blipFill>
            <a:ln w="9525">
              <a:noFill/>
            </a:ln>
          </p:spPr>
          <p:txBody>
            <a:bodyPr/>
            <a:lstStyle/>
            <a:p>
              <a:endParaRPr lang="zh-CN" altLang="en-US" sz="1500"/>
            </a:p>
          </p:txBody>
        </p:sp>
        <p:sp>
          <p:nvSpPr>
            <p:cNvPr id="357494" name="矩形 357493"/>
            <p:cNvSpPr/>
            <p:nvPr/>
          </p:nvSpPr>
          <p:spPr>
            <a:xfrm>
              <a:off x="2372" y="3361"/>
              <a:ext cx="13" cy="33"/>
            </a:xfrm>
            <a:prstGeom prst="rect">
              <a:avLst/>
            </a:prstGeom>
            <a:blipFill rotWithShape="0">
              <a:blip r:embed="rId1"/>
            </a:blipFill>
            <a:ln w="9525">
              <a:noFill/>
            </a:ln>
          </p:spPr>
          <p:txBody>
            <a:bodyPr/>
            <a:lstStyle/>
            <a:p>
              <a:endParaRPr lang="zh-CN" altLang="en-US" sz="1500"/>
            </a:p>
          </p:txBody>
        </p:sp>
        <p:sp>
          <p:nvSpPr>
            <p:cNvPr id="357495" name="矩形 357494"/>
            <p:cNvSpPr/>
            <p:nvPr/>
          </p:nvSpPr>
          <p:spPr>
            <a:xfrm>
              <a:off x="2215" y="3381"/>
              <a:ext cx="164" cy="13"/>
            </a:xfrm>
            <a:prstGeom prst="rect">
              <a:avLst/>
            </a:prstGeom>
            <a:blipFill rotWithShape="0">
              <a:blip r:embed="rId1"/>
            </a:blipFill>
            <a:ln w="9525">
              <a:noFill/>
            </a:ln>
          </p:spPr>
          <p:txBody>
            <a:bodyPr/>
            <a:lstStyle/>
            <a:p>
              <a:endParaRPr lang="zh-CN" altLang="en-US" sz="1500"/>
            </a:p>
          </p:txBody>
        </p:sp>
        <p:sp>
          <p:nvSpPr>
            <p:cNvPr id="357496" name="任意多边形 357495"/>
            <p:cNvSpPr/>
            <p:nvPr/>
          </p:nvSpPr>
          <p:spPr>
            <a:xfrm>
              <a:off x="2189" y="3387"/>
              <a:ext cx="39" cy="98"/>
            </a:xfrm>
            <a:custGeom>
              <a:avLst/>
              <a:gdLst/>
              <a:ahLst/>
              <a:cxnLst/>
              <a:rect l="0" t="0" r="0" b="0"/>
              <a:pathLst>
                <a:path w="39" h="98">
                  <a:moveTo>
                    <a:pt x="39" y="0"/>
                  </a:moveTo>
                  <a:lnTo>
                    <a:pt x="39" y="92"/>
                  </a:lnTo>
                  <a:lnTo>
                    <a:pt x="39" y="98"/>
                  </a:lnTo>
                  <a:lnTo>
                    <a:pt x="33" y="98"/>
                  </a:lnTo>
                  <a:lnTo>
                    <a:pt x="7" y="92"/>
                  </a:lnTo>
                  <a:lnTo>
                    <a:pt x="0" y="92"/>
                  </a:lnTo>
                  <a:lnTo>
                    <a:pt x="0" y="85"/>
                  </a:lnTo>
                  <a:lnTo>
                    <a:pt x="7" y="79"/>
                  </a:lnTo>
                  <a:lnTo>
                    <a:pt x="33" y="85"/>
                  </a:lnTo>
                  <a:lnTo>
                    <a:pt x="33" y="98"/>
                  </a:lnTo>
                  <a:lnTo>
                    <a:pt x="26" y="92"/>
                  </a:lnTo>
                  <a:lnTo>
                    <a:pt x="26" y="0"/>
                  </a:lnTo>
                  <a:lnTo>
                    <a:pt x="39" y="0"/>
                  </a:lnTo>
                  <a:close/>
                </a:path>
              </a:pathLst>
            </a:custGeom>
            <a:blipFill rotWithShape="0">
              <a:blip r:embed="rId1"/>
            </a:blipFill>
            <a:ln w="9525">
              <a:noFill/>
            </a:ln>
          </p:spPr>
          <p:txBody>
            <a:bodyPr/>
            <a:lstStyle/>
            <a:p>
              <a:endParaRPr lang="zh-CN" altLang="en-US" sz="1500"/>
            </a:p>
          </p:txBody>
        </p:sp>
        <p:sp>
          <p:nvSpPr>
            <p:cNvPr id="357497" name="矩形 357496"/>
            <p:cNvSpPr/>
            <p:nvPr/>
          </p:nvSpPr>
          <p:spPr>
            <a:xfrm>
              <a:off x="2189" y="3374"/>
              <a:ext cx="13" cy="98"/>
            </a:xfrm>
            <a:prstGeom prst="rect">
              <a:avLst/>
            </a:prstGeom>
            <a:blipFill rotWithShape="0">
              <a:blip r:embed="rId1"/>
            </a:blipFill>
            <a:ln w="9525">
              <a:noFill/>
            </a:ln>
          </p:spPr>
          <p:txBody>
            <a:bodyPr/>
            <a:lstStyle/>
            <a:p>
              <a:endParaRPr lang="zh-CN" altLang="en-US" sz="1500"/>
            </a:p>
          </p:txBody>
        </p:sp>
        <p:sp>
          <p:nvSpPr>
            <p:cNvPr id="357498" name="矩形 357497"/>
            <p:cNvSpPr/>
            <p:nvPr/>
          </p:nvSpPr>
          <p:spPr>
            <a:xfrm>
              <a:off x="2196" y="3374"/>
              <a:ext cx="163" cy="13"/>
            </a:xfrm>
            <a:prstGeom prst="rect">
              <a:avLst/>
            </a:prstGeom>
            <a:blipFill rotWithShape="0">
              <a:blip r:embed="rId1"/>
            </a:blipFill>
            <a:ln w="9525">
              <a:noFill/>
            </a:ln>
          </p:spPr>
          <p:txBody>
            <a:bodyPr/>
            <a:lstStyle/>
            <a:p>
              <a:endParaRPr lang="zh-CN" altLang="en-US" sz="1500"/>
            </a:p>
          </p:txBody>
        </p:sp>
        <p:sp>
          <p:nvSpPr>
            <p:cNvPr id="357499" name="任意多边形 357498"/>
            <p:cNvSpPr/>
            <p:nvPr/>
          </p:nvSpPr>
          <p:spPr>
            <a:xfrm>
              <a:off x="2346" y="3335"/>
              <a:ext cx="13" cy="46"/>
            </a:xfrm>
            <a:custGeom>
              <a:avLst/>
              <a:gdLst/>
              <a:ahLst/>
              <a:cxnLst/>
              <a:rect l="0" t="0" r="0" b="0"/>
              <a:pathLst>
                <a:path w="13" h="46">
                  <a:moveTo>
                    <a:pt x="0" y="46"/>
                  </a:moveTo>
                  <a:lnTo>
                    <a:pt x="0" y="13"/>
                  </a:lnTo>
                  <a:lnTo>
                    <a:pt x="0" y="0"/>
                  </a:lnTo>
                  <a:lnTo>
                    <a:pt x="13" y="7"/>
                  </a:lnTo>
                  <a:lnTo>
                    <a:pt x="13" y="13"/>
                  </a:lnTo>
                  <a:lnTo>
                    <a:pt x="13" y="46"/>
                  </a:lnTo>
                  <a:lnTo>
                    <a:pt x="0" y="46"/>
                  </a:lnTo>
                  <a:close/>
                </a:path>
              </a:pathLst>
            </a:custGeom>
            <a:blipFill rotWithShape="0">
              <a:blip r:embed="rId1"/>
            </a:blipFill>
            <a:ln w="9525">
              <a:noFill/>
            </a:ln>
          </p:spPr>
          <p:txBody>
            <a:bodyPr/>
            <a:lstStyle/>
            <a:p>
              <a:endParaRPr lang="zh-CN" altLang="en-US" sz="1500"/>
            </a:p>
          </p:txBody>
        </p:sp>
        <p:sp>
          <p:nvSpPr>
            <p:cNvPr id="357500" name="任意多边形 357499"/>
            <p:cNvSpPr/>
            <p:nvPr/>
          </p:nvSpPr>
          <p:spPr>
            <a:xfrm>
              <a:off x="2353" y="3485"/>
              <a:ext cx="26" cy="26"/>
            </a:xfrm>
            <a:custGeom>
              <a:avLst/>
              <a:gdLst/>
              <a:ahLst/>
              <a:cxnLst/>
              <a:rect l="0" t="0" r="0" b="0"/>
              <a:pathLst>
                <a:path w="26" h="26">
                  <a:moveTo>
                    <a:pt x="26" y="0"/>
                  </a:moveTo>
                  <a:lnTo>
                    <a:pt x="26" y="26"/>
                  </a:lnTo>
                  <a:lnTo>
                    <a:pt x="0" y="13"/>
                  </a:lnTo>
                  <a:lnTo>
                    <a:pt x="0" y="0"/>
                  </a:lnTo>
                  <a:lnTo>
                    <a:pt x="26" y="0"/>
                  </a:lnTo>
                  <a:close/>
                </a:path>
              </a:pathLst>
            </a:custGeom>
            <a:blipFill rotWithShape="0">
              <a:blip r:embed="rId1"/>
            </a:blipFill>
            <a:ln w="9525">
              <a:noFill/>
            </a:ln>
          </p:spPr>
          <p:txBody>
            <a:bodyPr/>
            <a:lstStyle/>
            <a:p>
              <a:endParaRPr lang="zh-CN" altLang="en-US" sz="1500"/>
            </a:p>
          </p:txBody>
        </p:sp>
        <p:sp>
          <p:nvSpPr>
            <p:cNvPr id="357501" name="任意多边形 357500"/>
            <p:cNvSpPr/>
            <p:nvPr/>
          </p:nvSpPr>
          <p:spPr>
            <a:xfrm>
              <a:off x="2346" y="3485"/>
              <a:ext cx="39" cy="40"/>
            </a:xfrm>
            <a:custGeom>
              <a:avLst/>
              <a:gdLst/>
              <a:ahLst/>
              <a:cxnLst/>
              <a:rect l="0" t="0" r="0" b="0"/>
              <a:pathLst>
                <a:path w="39" h="40">
                  <a:moveTo>
                    <a:pt x="39" y="0"/>
                  </a:moveTo>
                  <a:lnTo>
                    <a:pt x="39" y="26"/>
                  </a:lnTo>
                  <a:lnTo>
                    <a:pt x="39" y="40"/>
                  </a:lnTo>
                  <a:lnTo>
                    <a:pt x="33" y="33"/>
                  </a:lnTo>
                  <a:lnTo>
                    <a:pt x="7" y="20"/>
                  </a:lnTo>
                  <a:lnTo>
                    <a:pt x="0" y="13"/>
                  </a:lnTo>
                  <a:lnTo>
                    <a:pt x="0" y="13"/>
                  </a:lnTo>
                  <a:lnTo>
                    <a:pt x="13" y="7"/>
                  </a:lnTo>
                  <a:lnTo>
                    <a:pt x="39" y="20"/>
                  </a:lnTo>
                  <a:lnTo>
                    <a:pt x="33" y="33"/>
                  </a:lnTo>
                  <a:lnTo>
                    <a:pt x="26" y="26"/>
                  </a:lnTo>
                  <a:lnTo>
                    <a:pt x="26" y="0"/>
                  </a:lnTo>
                  <a:lnTo>
                    <a:pt x="39" y="0"/>
                  </a:lnTo>
                  <a:close/>
                </a:path>
              </a:pathLst>
            </a:custGeom>
            <a:blipFill rotWithShape="0">
              <a:blip r:embed="rId1"/>
            </a:blipFill>
            <a:ln w="9525">
              <a:noFill/>
            </a:ln>
          </p:spPr>
          <p:txBody>
            <a:bodyPr/>
            <a:lstStyle/>
            <a:p>
              <a:endParaRPr lang="zh-CN" altLang="en-US" sz="1500"/>
            </a:p>
          </p:txBody>
        </p:sp>
        <p:sp>
          <p:nvSpPr>
            <p:cNvPr id="357502" name="矩形 357501"/>
            <p:cNvSpPr/>
            <p:nvPr/>
          </p:nvSpPr>
          <p:spPr>
            <a:xfrm>
              <a:off x="2346" y="3479"/>
              <a:ext cx="13" cy="19"/>
            </a:xfrm>
            <a:prstGeom prst="rect">
              <a:avLst/>
            </a:prstGeom>
            <a:blipFill rotWithShape="0">
              <a:blip r:embed="rId1"/>
            </a:blipFill>
            <a:ln w="9525">
              <a:noFill/>
            </a:ln>
          </p:spPr>
          <p:txBody>
            <a:bodyPr/>
            <a:lstStyle/>
            <a:p>
              <a:endParaRPr lang="zh-CN" altLang="en-US" sz="1500"/>
            </a:p>
          </p:txBody>
        </p:sp>
        <p:sp>
          <p:nvSpPr>
            <p:cNvPr id="357503" name="矩形 357502"/>
            <p:cNvSpPr/>
            <p:nvPr/>
          </p:nvSpPr>
          <p:spPr>
            <a:xfrm>
              <a:off x="2353" y="3479"/>
              <a:ext cx="32" cy="13"/>
            </a:xfrm>
            <a:prstGeom prst="rect">
              <a:avLst/>
            </a:prstGeom>
            <a:blipFill rotWithShape="0">
              <a:blip r:embed="rId1"/>
            </a:blipFill>
            <a:ln w="9525">
              <a:noFill/>
            </a:ln>
          </p:spPr>
          <p:txBody>
            <a:bodyPr/>
            <a:lstStyle/>
            <a:p>
              <a:endParaRPr lang="zh-CN" altLang="en-US" sz="1500"/>
            </a:p>
          </p:txBody>
        </p:sp>
        <p:sp>
          <p:nvSpPr>
            <p:cNvPr id="357504" name="矩形 357503"/>
            <p:cNvSpPr/>
            <p:nvPr/>
          </p:nvSpPr>
          <p:spPr>
            <a:xfrm>
              <a:off x="2130" y="3518"/>
              <a:ext cx="75"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V</a:t>
              </a:r>
              <a:endParaRPr lang="en-US" altLang="zh-CN" sz="3665" b="1" i="0">
                <a:solidFill>
                  <a:schemeClr val="accent1"/>
                </a:solidFill>
                <a:latin typeface="Book Antiqua" panose="02040602050305030304" pitchFamily="18" charset="0"/>
              </a:endParaRPr>
            </a:p>
          </p:txBody>
        </p:sp>
        <p:sp>
          <p:nvSpPr>
            <p:cNvPr id="357505" name="矩形 357504"/>
            <p:cNvSpPr/>
            <p:nvPr/>
          </p:nvSpPr>
          <p:spPr>
            <a:xfrm>
              <a:off x="2202" y="3564"/>
              <a:ext cx="67" cy="97"/>
            </a:xfrm>
            <a:prstGeom prst="rect">
              <a:avLst/>
            </a:prstGeom>
            <a:noFill/>
            <a:ln w="9525">
              <a:noFill/>
            </a:ln>
          </p:spPr>
          <p:txBody>
            <a:bodyPr wrap="none" lIns="0" tIns="0" rIns="0" bIns="0">
              <a:spAutoFit/>
            </a:bodyPr>
            <a:lstStyle/>
            <a:p>
              <a:r>
                <a:rPr lang="en-US" altLang="zh-CN" sz="835" b="1" i="0">
                  <a:solidFill>
                    <a:schemeClr val="accent1"/>
                  </a:solidFill>
                  <a:latin typeface="Times New Roman" panose="02020603050405020304" pitchFamily="18" charset="0"/>
                </a:rPr>
                <a:t>in</a:t>
              </a:r>
              <a:endParaRPr lang="en-US" altLang="zh-CN" sz="3665" b="1" i="0">
                <a:solidFill>
                  <a:schemeClr val="accent1"/>
                </a:solidFill>
                <a:latin typeface="Book Antiqua" panose="02040602050305030304" pitchFamily="18" charset="0"/>
              </a:endParaRPr>
            </a:p>
          </p:txBody>
        </p:sp>
        <p:sp>
          <p:nvSpPr>
            <p:cNvPr id="357506" name="矩形 357505"/>
            <p:cNvSpPr/>
            <p:nvPr/>
          </p:nvSpPr>
          <p:spPr>
            <a:xfrm>
              <a:off x="2268" y="3518"/>
              <a:ext cx="188"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 = V</a:t>
              </a:r>
              <a:endParaRPr lang="en-US" altLang="zh-CN" sz="3665" b="1" i="0">
                <a:solidFill>
                  <a:schemeClr val="accent1"/>
                </a:solidFill>
                <a:latin typeface="Book Antiqua" panose="02040602050305030304" pitchFamily="18" charset="0"/>
              </a:endParaRPr>
            </a:p>
          </p:txBody>
        </p:sp>
        <p:sp>
          <p:nvSpPr>
            <p:cNvPr id="357507" name="矩形 357506"/>
            <p:cNvSpPr/>
            <p:nvPr/>
          </p:nvSpPr>
          <p:spPr>
            <a:xfrm>
              <a:off x="2457" y="3564"/>
              <a:ext cx="116" cy="97"/>
            </a:xfrm>
            <a:prstGeom prst="rect">
              <a:avLst/>
            </a:prstGeom>
            <a:noFill/>
            <a:ln w="9525">
              <a:noFill/>
            </a:ln>
          </p:spPr>
          <p:txBody>
            <a:bodyPr wrap="none" lIns="0" tIns="0" rIns="0" bIns="0">
              <a:spAutoFit/>
            </a:bodyPr>
            <a:lstStyle/>
            <a:p>
              <a:r>
                <a:rPr lang="en-US" altLang="zh-CN" sz="835" b="1" i="0">
                  <a:solidFill>
                    <a:schemeClr val="accent1"/>
                  </a:solidFill>
                  <a:latin typeface="Times New Roman" panose="02020603050405020304" pitchFamily="18" charset="0"/>
                </a:rPr>
                <a:t>DD</a:t>
              </a:r>
              <a:endParaRPr lang="en-US" altLang="zh-CN" sz="3665" b="1" i="0">
                <a:solidFill>
                  <a:schemeClr val="accent1"/>
                </a:solidFill>
                <a:latin typeface="Book Antiqua" panose="02040602050305030304" pitchFamily="18" charset="0"/>
              </a:endParaRPr>
            </a:p>
          </p:txBody>
        </p:sp>
        <p:sp>
          <p:nvSpPr>
            <p:cNvPr id="357508" name="矩形 357507"/>
            <p:cNvSpPr/>
            <p:nvPr/>
          </p:nvSpPr>
          <p:spPr>
            <a:xfrm>
              <a:off x="2575" y="3518"/>
              <a:ext cx="135"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+V</a:t>
              </a:r>
              <a:endParaRPr lang="en-US" altLang="zh-CN" sz="3665" b="1" i="0">
                <a:solidFill>
                  <a:schemeClr val="accent1"/>
                </a:solidFill>
                <a:latin typeface="Book Antiqua" panose="02040602050305030304" pitchFamily="18" charset="0"/>
              </a:endParaRPr>
            </a:p>
          </p:txBody>
        </p:sp>
        <p:sp>
          <p:nvSpPr>
            <p:cNvPr id="357509" name="矩形 357508"/>
            <p:cNvSpPr/>
            <p:nvPr/>
          </p:nvSpPr>
          <p:spPr>
            <a:xfrm>
              <a:off x="2686" y="3564"/>
              <a:ext cx="152" cy="97"/>
            </a:xfrm>
            <a:prstGeom prst="rect">
              <a:avLst/>
            </a:prstGeom>
            <a:noFill/>
            <a:ln w="9525">
              <a:noFill/>
            </a:ln>
          </p:spPr>
          <p:txBody>
            <a:bodyPr wrap="none" lIns="0" tIns="0" rIns="0" bIns="0">
              <a:spAutoFit/>
            </a:bodyPr>
            <a:lstStyle/>
            <a:p>
              <a:r>
                <a:rPr lang="en-US" altLang="zh-CN" sz="835" b="1" i="0" err="1">
                  <a:solidFill>
                    <a:schemeClr val="accent1"/>
                  </a:solidFill>
                  <a:latin typeface="Times New Roman" panose="02020603050405020304" pitchFamily="18" charset="0"/>
                </a:rPr>
                <a:t>GSp</a:t>
              </a:r>
              <a:endParaRPr lang="en-US" altLang="zh-CN" sz="3665" b="1" i="0">
                <a:solidFill>
                  <a:schemeClr val="accent1"/>
                </a:solidFill>
                <a:latin typeface="Book Antiqua" panose="02040602050305030304" pitchFamily="18" charset="0"/>
              </a:endParaRPr>
            </a:p>
          </p:txBody>
        </p:sp>
        <p:sp>
          <p:nvSpPr>
            <p:cNvPr id="357510" name="矩形 357509"/>
            <p:cNvSpPr/>
            <p:nvPr/>
          </p:nvSpPr>
          <p:spPr>
            <a:xfrm>
              <a:off x="2215" y="3629"/>
              <a:ext cx="41"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I</a:t>
              </a:r>
              <a:endParaRPr lang="en-US" altLang="zh-CN" sz="3665" b="1" i="0">
                <a:solidFill>
                  <a:schemeClr val="accent1"/>
                </a:solidFill>
                <a:latin typeface="Book Antiqua" panose="02040602050305030304" pitchFamily="18" charset="0"/>
              </a:endParaRPr>
            </a:p>
          </p:txBody>
        </p:sp>
        <p:sp>
          <p:nvSpPr>
            <p:cNvPr id="357511" name="矩形 357510"/>
            <p:cNvSpPr/>
            <p:nvPr/>
          </p:nvSpPr>
          <p:spPr>
            <a:xfrm>
              <a:off x="2248" y="3675"/>
              <a:ext cx="103" cy="97"/>
            </a:xfrm>
            <a:prstGeom prst="rect">
              <a:avLst/>
            </a:prstGeom>
            <a:noFill/>
            <a:ln w="9525">
              <a:noFill/>
            </a:ln>
          </p:spPr>
          <p:txBody>
            <a:bodyPr wrap="none" lIns="0" tIns="0" rIns="0" bIns="0">
              <a:spAutoFit/>
            </a:bodyPr>
            <a:lstStyle/>
            <a:p>
              <a:r>
                <a:rPr lang="en-US" altLang="zh-CN" sz="835" b="1" i="0" err="1">
                  <a:solidFill>
                    <a:schemeClr val="accent1"/>
                  </a:solidFill>
                  <a:latin typeface="Times New Roman" panose="02020603050405020304" pitchFamily="18" charset="0"/>
                </a:rPr>
                <a:t>Dn</a:t>
              </a:r>
              <a:endParaRPr lang="en-US" altLang="zh-CN" sz="3665" b="1" i="0">
                <a:solidFill>
                  <a:schemeClr val="accent1"/>
                </a:solidFill>
                <a:latin typeface="Book Antiqua" panose="02040602050305030304" pitchFamily="18" charset="0"/>
              </a:endParaRPr>
            </a:p>
          </p:txBody>
        </p:sp>
        <p:sp>
          <p:nvSpPr>
            <p:cNvPr id="357512" name="矩形 357511"/>
            <p:cNvSpPr/>
            <p:nvPr/>
          </p:nvSpPr>
          <p:spPr>
            <a:xfrm>
              <a:off x="2353" y="3629"/>
              <a:ext cx="215"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 = - I</a:t>
              </a:r>
              <a:endParaRPr lang="en-US" altLang="zh-CN" sz="3665" b="1" i="0">
                <a:solidFill>
                  <a:schemeClr val="accent1"/>
                </a:solidFill>
                <a:latin typeface="Book Antiqua" panose="02040602050305030304" pitchFamily="18" charset="0"/>
              </a:endParaRPr>
            </a:p>
          </p:txBody>
        </p:sp>
        <p:sp>
          <p:nvSpPr>
            <p:cNvPr id="357513" name="矩形 357512"/>
            <p:cNvSpPr/>
            <p:nvPr/>
          </p:nvSpPr>
          <p:spPr>
            <a:xfrm>
              <a:off x="2555" y="3675"/>
              <a:ext cx="103" cy="97"/>
            </a:xfrm>
            <a:prstGeom prst="rect">
              <a:avLst/>
            </a:prstGeom>
            <a:noFill/>
            <a:ln w="9525">
              <a:noFill/>
            </a:ln>
          </p:spPr>
          <p:txBody>
            <a:bodyPr wrap="none" lIns="0" tIns="0" rIns="0" bIns="0">
              <a:spAutoFit/>
            </a:bodyPr>
            <a:lstStyle/>
            <a:p>
              <a:r>
                <a:rPr lang="en-US" altLang="zh-CN" sz="835" b="1" i="0" err="1">
                  <a:solidFill>
                    <a:schemeClr val="accent1"/>
                  </a:solidFill>
                  <a:latin typeface="Times New Roman" panose="02020603050405020304" pitchFamily="18" charset="0"/>
                </a:rPr>
                <a:t>Dp</a:t>
              </a:r>
              <a:endParaRPr lang="en-US" altLang="zh-CN" sz="3665" b="1" i="0">
                <a:solidFill>
                  <a:schemeClr val="accent1"/>
                </a:solidFill>
                <a:latin typeface="Book Antiqua" panose="02040602050305030304" pitchFamily="18" charset="0"/>
              </a:endParaRPr>
            </a:p>
          </p:txBody>
        </p:sp>
      </p:grpSp>
      <p:grpSp>
        <p:nvGrpSpPr>
          <p:cNvPr id="357514" name="组合 357513"/>
          <p:cNvGrpSpPr/>
          <p:nvPr/>
        </p:nvGrpSpPr>
        <p:grpSpPr>
          <a:xfrm>
            <a:off x="5491428" y="4411928"/>
            <a:ext cx="981604" cy="456406"/>
            <a:chOff x="3575" y="3335"/>
            <a:chExt cx="742" cy="345"/>
          </a:xfrm>
        </p:grpSpPr>
        <p:sp>
          <p:nvSpPr>
            <p:cNvPr id="357515" name="任意多边形 357514"/>
            <p:cNvSpPr/>
            <p:nvPr/>
          </p:nvSpPr>
          <p:spPr>
            <a:xfrm>
              <a:off x="3667" y="3361"/>
              <a:ext cx="366" cy="150"/>
            </a:xfrm>
            <a:custGeom>
              <a:avLst/>
              <a:gdLst/>
              <a:ahLst/>
              <a:cxnLst/>
              <a:rect l="0" t="0" r="0" b="0"/>
              <a:pathLst>
                <a:path w="366" h="150">
                  <a:moveTo>
                    <a:pt x="366" y="79"/>
                  </a:moveTo>
                  <a:lnTo>
                    <a:pt x="163" y="0"/>
                  </a:lnTo>
                  <a:lnTo>
                    <a:pt x="163" y="26"/>
                  </a:lnTo>
                  <a:lnTo>
                    <a:pt x="0" y="26"/>
                  </a:lnTo>
                  <a:lnTo>
                    <a:pt x="0" y="124"/>
                  </a:lnTo>
                  <a:lnTo>
                    <a:pt x="163" y="124"/>
                  </a:lnTo>
                  <a:lnTo>
                    <a:pt x="163" y="150"/>
                  </a:lnTo>
                  <a:lnTo>
                    <a:pt x="366" y="79"/>
                  </a:lnTo>
                  <a:close/>
                </a:path>
              </a:pathLst>
            </a:custGeom>
            <a:blipFill rotWithShape="0">
              <a:blip r:embed="rId2"/>
            </a:blipFill>
            <a:ln w="9525">
              <a:noFill/>
            </a:ln>
          </p:spPr>
          <p:txBody>
            <a:bodyPr/>
            <a:lstStyle/>
            <a:p>
              <a:endParaRPr lang="zh-CN" altLang="en-US" sz="1500"/>
            </a:p>
          </p:txBody>
        </p:sp>
        <p:sp>
          <p:nvSpPr>
            <p:cNvPr id="357516" name="任意多边形 357515"/>
            <p:cNvSpPr/>
            <p:nvPr/>
          </p:nvSpPr>
          <p:spPr>
            <a:xfrm>
              <a:off x="3824" y="3348"/>
              <a:ext cx="216" cy="98"/>
            </a:xfrm>
            <a:custGeom>
              <a:avLst/>
              <a:gdLst/>
              <a:ahLst/>
              <a:cxnLst/>
              <a:rect l="0" t="0" r="0" b="0"/>
              <a:pathLst>
                <a:path w="216" h="98">
                  <a:moveTo>
                    <a:pt x="209" y="98"/>
                  </a:moveTo>
                  <a:lnTo>
                    <a:pt x="6" y="20"/>
                  </a:lnTo>
                  <a:lnTo>
                    <a:pt x="0" y="13"/>
                  </a:lnTo>
                  <a:lnTo>
                    <a:pt x="0" y="0"/>
                  </a:lnTo>
                  <a:lnTo>
                    <a:pt x="13" y="7"/>
                  </a:lnTo>
                  <a:lnTo>
                    <a:pt x="216" y="85"/>
                  </a:lnTo>
                  <a:lnTo>
                    <a:pt x="209" y="98"/>
                  </a:lnTo>
                  <a:close/>
                </a:path>
              </a:pathLst>
            </a:custGeom>
            <a:blipFill rotWithShape="0">
              <a:blip r:embed="rId1"/>
            </a:blipFill>
            <a:ln w="9525">
              <a:noFill/>
            </a:ln>
          </p:spPr>
          <p:txBody>
            <a:bodyPr/>
            <a:lstStyle/>
            <a:p>
              <a:endParaRPr lang="zh-CN" altLang="en-US" sz="1500"/>
            </a:p>
          </p:txBody>
        </p:sp>
        <p:sp>
          <p:nvSpPr>
            <p:cNvPr id="357517" name="矩形 357516"/>
            <p:cNvSpPr/>
            <p:nvPr/>
          </p:nvSpPr>
          <p:spPr>
            <a:xfrm>
              <a:off x="3824" y="3361"/>
              <a:ext cx="13" cy="33"/>
            </a:xfrm>
            <a:prstGeom prst="rect">
              <a:avLst/>
            </a:prstGeom>
            <a:blipFill rotWithShape="0">
              <a:blip r:embed="rId1"/>
            </a:blipFill>
            <a:ln w="9525">
              <a:noFill/>
            </a:ln>
          </p:spPr>
          <p:txBody>
            <a:bodyPr/>
            <a:lstStyle/>
            <a:p>
              <a:endParaRPr lang="zh-CN" altLang="en-US" sz="1500"/>
            </a:p>
          </p:txBody>
        </p:sp>
        <p:sp>
          <p:nvSpPr>
            <p:cNvPr id="357518" name="矩形 357517"/>
            <p:cNvSpPr/>
            <p:nvPr/>
          </p:nvSpPr>
          <p:spPr>
            <a:xfrm>
              <a:off x="3660" y="3381"/>
              <a:ext cx="170" cy="13"/>
            </a:xfrm>
            <a:prstGeom prst="rect">
              <a:avLst/>
            </a:prstGeom>
            <a:blipFill rotWithShape="0">
              <a:blip r:embed="rId1"/>
            </a:blipFill>
            <a:ln w="9525">
              <a:noFill/>
            </a:ln>
          </p:spPr>
          <p:txBody>
            <a:bodyPr/>
            <a:lstStyle/>
            <a:p>
              <a:endParaRPr lang="zh-CN" altLang="en-US" sz="1500"/>
            </a:p>
          </p:txBody>
        </p:sp>
        <p:sp>
          <p:nvSpPr>
            <p:cNvPr id="357519" name="矩形 357518"/>
            <p:cNvSpPr/>
            <p:nvPr/>
          </p:nvSpPr>
          <p:spPr>
            <a:xfrm>
              <a:off x="3660" y="3387"/>
              <a:ext cx="13" cy="105"/>
            </a:xfrm>
            <a:prstGeom prst="rect">
              <a:avLst/>
            </a:prstGeom>
            <a:blipFill rotWithShape="0">
              <a:blip r:embed="rId1"/>
            </a:blipFill>
            <a:ln w="9525">
              <a:noFill/>
            </a:ln>
          </p:spPr>
          <p:txBody>
            <a:bodyPr/>
            <a:lstStyle/>
            <a:p>
              <a:endParaRPr lang="zh-CN" altLang="en-US" sz="1500"/>
            </a:p>
          </p:txBody>
        </p:sp>
        <p:sp>
          <p:nvSpPr>
            <p:cNvPr id="357520" name="矩形 357519"/>
            <p:cNvSpPr/>
            <p:nvPr/>
          </p:nvSpPr>
          <p:spPr>
            <a:xfrm>
              <a:off x="3667" y="3479"/>
              <a:ext cx="170" cy="13"/>
            </a:xfrm>
            <a:prstGeom prst="rect">
              <a:avLst/>
            </a:prstGeom>
            <a:blipFill rotWithShape="0">
              <a:blip r:embed="rId1"/>
            </a:blipFill>
            <a:ln w="9525">
              <a:noFill/>
            </a:ln>
          </p:spPr>
          <p:txBody>
            <a:bodyPr/>
            <a:lstStyle/>
            <a:p>
              <a:endParaRPr lang="zh-CN" altLang="en-US" sz="1500"/>
            </a:p>
          </p:txBody>
        </p:sp>
        <p:sp>
          <p:nvSpPr>
            <p:cNvPr id="357521" name="任意多边形 357520"/>
            <p:cNvSpPr/>
            <p:nvPr/>
          </p:nvSpPr>
          <p:spPr>
            <a:xfrm>
              <a:off x="3824" y="3433"/>
              <a:ext cx="235" cy="92"/>
            </a:xfrm>
            <a:custGeom>
              <a:avLst/>
              <a:gdLst/>
              <a:ahLst/>
              <a:cxnLst/>
              <a:rect l="0" t="0" r="0" b="0"/>
              <a:pathLst>
                <a:path w="235" h="92">
                  <a:moveTo>
                    <a:pt x="13" y="52"/>
                  </a:moveTo>
                  <a:lnTo>
                    <a:pt x="13" y="78"/>
                  </a:lnTo>
                  <a:lnTo>
                    <a:pt x="13" y="85"/>
                  </a:lnTo>
                  <a:lnTo>
                    <a:pt x="6" y="72"/>
                  </a:lnTo>
                  <a:lnTo>
                    <a:pt x="209" y="0"/>
                  </a:lnTo>
                  <a:lnTo>
                    <a:pt x="216" y="0"/>
                  </a:lnTo>
                  <a:lnTo>
                    <a:pt x="235" y="7"/>
                  </a:lnTo>
                  <a:lnTo>
                    <a:pt x="216" y="13"/>
                  </a:lnTo>
                  <a:lnTo>
                    <a:pt x="13" y="85"/>
                  </a:lnTo>
                  <a:lnTo>
                    <a:pt x="0" y="92"/>
                  </a:lnTo>
                  <a:lnTo>
                    <a:pt x="0" y="78"/>
                  </a:lnTo>
                  <a:lnTo>
                    <a:pt x="0" y="52"/>
                  </a:lnTo>
                  <a:lnTo>
                    <a:pt x="13" y="52"/>
                  </a:lnTo>
                  <a:close/>
                </a:path>
              </a:pathLst>
            </a:custGeom>
            <a:blipFill rotWithShape="0">
              <a:blip r:embed="rId1"/>
            </a:blipFill>
            <a:ln w="9525">
              <a:noFill/>
            </a:ln>
          </p:spPr>
          <p:txBody>
            <a:bodyPr/>
            <a:lstStyle/>
            <a:p>
              <a:endParaRPr lang="zh-CN" altLang="en-US" sz="1500"/>
            </a:p>
          </p:txBody>
        </p:sp>
        <p:sp>
          <p:nvSpPr>
            <p:cNvPr id="357522" name="任意多边形 357521"/>
            <p:cNvSpPr/>
            <p:nvPr/>
          </p:nvSpPr>
          <p:spPr>
            <a:xfrm>
              <a:off x="3641" y="3348"/>
              <a:ext cx="189" cy="131"/>
            </a:xfrm>
            <a:custGeom>
              <a:avLst/>
              <a:gdLst/>
              <a:ahLst/>
              <a:cxnLst/>
              <a:rect l="0" t="0" r="0" b="0"/>
              <a:pathLst>
                <a:path w="189" h="131">
                  <a:moveTo>
                    <a:pt x="163" y="0"/>
                  </a:moveTo>
                  <a:lnTo>
                    <a:pt x="189" y="13"/>
                  </a:lnTo>
                  <a:lnTo>
                    <a:pt x="189" y="39"/>
                  </a:lnTo>
                  <a:lnTo>
                    <a:pt x="26" y="39"/>
                  </a:lnTo>
                  <a:lnTo>
                    <a:pt x="26" y="131"/>
                  </a:lnTo>
                  <a:lnTo>
                    <a:pt x="0" y="124"/>
                  </a:lnTo>
                  <a:lnTo>
                    <a:pt x="0" y="33"/>
                  </a:lnTo>
                  <a:lnTo>
                    <a:pt x="163" y="33"/>
                  </a:lnTo>
                  <a:lnTo>
                    <a:pt x="163" y="0"/>
                  </a:lnTo>
                  <a:close/>
                </a:path>
              </a:pathLst>
            </a:custGeom>
            <a:blipFill rotWithShape="0">
              <a:blip r:embed="rId1"/>
            </a:blipFill>
            <a:ln w="9525">
              <a:noFill/>
            </a:ln>
          </p:spPr>
          <p:txBody>
            <a:bodyPr/>
            <a:lstStyle/>
            <a:p>
              <a:endParaRPr lang="zh-CN" altLang="en-US" sz="1500"/>
            </a:p>
          </p:txBody>
        </p:sp>
        <p:sp>
          <p:nvSpPr>
            <p:cNvPr id="357523" name="任意多边形 357522"/>
            <p:cNvSpPr/>
            <p:nvPr/>
          </p:nvSpPr>
          <p:spPr>
            <a:xfrm>
              <a:off x="3804" y="3342"/>
              <a:ext cx="33" cy="26"/>
            </a:xfrm>
            <a:custGeom>
              <a:avLst/>
              <a:gdLst/>
              <a:ahLst/>
              <a:cxnLst/>
              <a:rect l="0" t="0" r="0" b="0"/>
              <a:pathLst>
                <a:path w="33" h="26">
                  <a:moveTo>
                    <a:pt x="7" y="0"/>
                  </a:moveTo>
                  <a:lnTo>
                    <a:pt x="33" y="13"/>
                  </a:lnTo>
                  <a:lnTo>
                    <a:pt x="33" y="13"/>
                  </a:lnTo>
                  <a:lnTo>
                    <a:pt x="33" y="19"/>
                  </a:lnTo>
                  <a:lnTo>
                    <a:pt x="26" y="26"/>
                  </a:lnTo>
                  <a:lnTo>
                    <a:pt x="0" y="13"/>
                  </a:lnTo>
                  <a:lnTo>
                    <a:pt x="7" y="0"/>
                  </a:lnTo>
                  <a:close/>
                </a:path>
              </a:pathLst>
            </a:custGeom>
            <a:blipFill rotWithShape="0">
              <a:blip r:embed="rId1"/>
            </a:blipFill>
            <a:ln w="9525">
              <a:noFill/>
            </a:ln>
          </p:spPr>
          <p:txBody>
            <a:bodyPr/>
            <a:lstStyle/>
            <a:p>
              <a:endParaRPr lang="zh-CN" altLang="en-US" sz="1500"/>
            </a:p>
          </p:txBody>
        </p:sp>
        <p:sp>
          <p:nvSpPr>
            <p:cNvPr id="357524" name="矩形 357523"/>
            <p:cNvSpPr/>
            <p:nvPr/>
          </p:nvSpPr>
          <p:spPr>
            <a:xfrm>
              <a:off x="3824" y="3361"/>
              <a:ext cx="13" cy="33"/>
            </a:xfrm>
            <a:prstGeom prst="rect">
              <a:avLst/>
            </a:prstGeom>
            <a:blipFill rotWithShape="0">
              <a:blip r:embed="rId1"/>
            </a:blipFill>
            <a:ln w="9525">
              <a:noFill/>
            </a:ln>
          </p:spPr>
          <p:txBody>
            <a:bodyPr/>
            <a:lstStyle/>
            <a:p>
              <a:endParaRPr lang="zh-CN" altLang="en-US" sz="1500"/>
            </a:p>
          </p:txBody>
        </p:sp>
        <p:sp>
          <p:nvSpPr>
            <p:cNvPr id="357525" name="矩形 357524"/>
            <p:cNvSpPr/>
            <p:nvPr/>
          </p:nvSpPr>
          <p:spPr>
            <a:xfrm>
              <a:off x="3660" y="3381"/>
              <a:ext cx="170" cy="13"/>
            </a:xfrm>
            <a:prstGeom prst="rect">
              <a:avLst/>
            </a:prstGeom>
            <a:blipFill rotWithShape="0">
              <a:blip r:embed="rId1"/>
            </a:blipFill>
            <a:ln w="9525">
              <a:noFill/>
            </a:ln>
          </p:spPr>
          <p:txBody>
            <a:bodyPr/>
            <a:lstStyle/>
            <a:p>
              <a:endParaRPr lang="zh-CN" altLang="en-US" sz="1500"/>
            </a:p>
          </p:txBody>
        </p:sp>
        <p:sp>
          <p:nvSpPr>
            <p:cNvPr id="357526" name="任意多边形 357525"/>
            <p:cNvSpPr/>
            <p:nvPr/>
          </p:nvSpPr>
          <p:spPr>
            <a:xfrm>
              <a:off x="3634" y="3387"/>
              <a:ext cx="39" cy="98"/>
            </a:xfrm>
            <a:custGeom>
              <a:avLst/>
              <a:gdLst/>
              <a:ahLst/>
              <a:cxnLst/>
              <a:rect l="0" t="0" r="0" b="0"/>
              <a:pathLst>
                <a:path w="39" h="98">
                  <a:moveTo>
                    <a:pt x="39" y="0"/>
                  </a:moveTo>
                  <a:lnTo>
                    <a:pt x="39" y="92"/>
                  </a:lnTo>
                  <a:lnTo>
                    <a:pt x="39" y="98"/>
                  </a:lnTo>
                  <a:lnTo>
                    <a:pt x="33" y="98"/>
                  </a:lnTo>
                  <a:lnTo>
                    <a:pt x="7" y="92"/>
                  </a:lnTo>
                  <a:lnTo>
                    <a:pt x="0" y="92"/>
                  </a:lnTo>
                  <a:lnTo>
                    <a:pt x="0" y="85"/>
                  </a:lnTo>
                  <a:lnTo>
                    <a:pt x="7" y="79"/>
                  </a:lnTo>
                  <a:lnTo>
                    <a:pt x="33" y="85"/>
                  </a:lnTo>
                  <a:lnTo>
                    <a:pt x="33" y="98"/>
                  </a:lnTo>
                  <a:lnTo>
                    <a:pt x="26" y="92"/>
                  </a:lnTo>
                  <a:lnTo>
                    <a:pt x="26" y="0"/>
                  </a:lnTo>
                  <a:lnTo>
                    <a:pt x="39" y="0"/>
                  </a:lnTo>
                  <a:close/>
                </a:path>
              </a:pathLst>
            </a:custGeom>
            <a:blipFill rotWithShape="0">
              <a:blip r:embed="rId1"/>
            </a:blipFill>
            <a:ln w="9525">
              <a:noFill/>
            </a:ln>
          </p:spPr>
          <p:txBody>
            <a:bodyPr/>
            <a:lstStyle/>
            <a:p>
              <a:endParaRPr lang="zh-CN" altLang="en-US" sz="1500"/>
            </a:p>
          </p:txBody>
        </p:sp>
        <p:sp>
          <p:nvSpPr>
            <p:cNvPr id="357527" name="矩形 357526"/>
            <p:cNvSpPr/>
            <p:nvPr/>
          </p:nvSpPr>
          <p:spPr>
            <a:xfrm>
              <a:off x="3634" y="3374"/>
              <a:ext cx="13" cy="98"/>
            </a:xfrm>
            <a:prstGeom prst="rect">
              <a:avLst/>
            </a:prstGeom>
            <a:blipFill rotWithShape="0">
              <a:blip r:embed="rId1"/>
            </a:blipFill>
            <a:ln w="9525">
              <a:noFill/>
            </a:ln>
          </p:spPr>
          <p:txBody>
            <a:bodyPr/>
            <a:lstStyle/>
            <a:p>
              <a:endParaRPr lang="zh-CN" altLang="en-US" sz="1500"/>
            </a:p>
          </p:txBody>
        </p:sp>
        <p:sp>
          <p:nvSpPr>
            <p:cNvPr id="357528" name="矩形 357527"/>
            <p:cNvSpPr/>
            <p:nvPr/>
          </p:nvSpPr>
          <p:spPr>
            <a:xfrm>
              <a:off x="3641" y="3374"/>
              <a:ext cx="170" cy="13"/>
            </a:xfrm>
            <a:prstGeom prst="rect">
              <a:avLst/>
            </a:prstGeom>
            <a:blipFill rotWithShape="0">
              <a:blip r:embed="rId1"/>
            </a:blipFill>
            <a:ln w="9525">
              <a:noFill/>
            </a:ln>
          </p:spPr>
          <p:txBody>
            <a:bodyPr/>
            <a:lstStyle/>
            <a:p>
              <a:endParaRPr lang="zh-CN" altLang="en-US" sz="1500"/>
            </a:p>
          </p:txBody>
        </p:sp>
        <p:sp>
          <p:nvSpPr>
            <p:cNvPr id="357529" name="任意多边形 357528"/>
            <p:cNvSpPr/>
            <p:nvPr/>
          </p:nvSpPr>
          <p:spPr>
            <a:xfrm>
              <a:off x="3798" y="3335"/>
              <a:ext cx="13" cy="46"/>
            </a:xfrm>
            <a:custGeom>
              <a:avLst/>
              <a:gdLst/>
              <a:ahLst/>
              <a:cxnLst/>
              <a:rect l="0" t="0" r="0" b="0"/>
              <a:pathLst>
                <a:path w="13" h="46">
                  <a:moveTo>
                    <a:pt x="0" y="46"/>
                  </a:moveTo>
                  <a:lnTo>
                    <a:pt x="0" y="13"/>
                  </a:lnTo>
                  <a:lnTo>
                    <a:pt x="0" y="0"/>
                  </a:lnTo>
                  <a:lnTo>
                    <a:pt x="13" y="7"/>
                  </a:lnTo>
                  <a:lnTo>
                    <a:pt x="13" y="13"/>
                  </a:lnTo>
                  <a:lnTo>
                    <a:pt x="13" y="46"/>
                  </a:lnTo>
                  <a:lnTo>
                    <a:pt x="0" y="46"/>
                  </a:lnTo>
                  <a:close/>
                </a:path>
              </a:pathLst>
            </a:custGeom>
            <a:blipFill rotWithShape="0">
              <a:blip r:embed="rId1"/>
            </a:blipFill>
            <a:ln w="9525">
              <a:noFill/>
            </a:ln>
          </p:spPr>
          <p:txBody>
            <a:bodyPr/>
            <a:lstStyle/>
            <a:p>
              <a:endParaRPr lang="zh-CN" altLang="en-US" sz="1500"/>
            </a:p>
          </p:txBody>
        </p:sp>
        <p:sp>
          <p:nvSpPr>
            <p:cNvPr id="357530" name="任意多边形 357529"/>
            <p:cNvSpPr/>
            <p:nvPr/>
          </p:nvSpPr>
          <p:spPr>
            <a:xfrm>
              <a:off x="3798" y="3485"/>
              <a:ext cx="32" cy="26"/>
            </a:xfrm>
            <a:custGeom>
              <a:avLst/>
              <a:gdLst/>
              <a:ahLst/>
              <a:cxnLst/>
              <a:rect l="0" t="0" r="0" b="0"/>
              <a:pathLst>
                <a:path w="32" h="26">
                  <a:moveTo>
                    <a:pt x="32" y="0"/>
                  </a:moveTo>
                  <a:lnTo>
                    <a:pt x="32" y="26"/>
                  </a:lnTo>
                  <a:lnTo>
                    <a:pt x="0" y="13"/>
                  </a:lnTo>
                  <a:lnTo>
                    <a:pt x="0" y="0"/>
                  </a:lnTo>
                  <a:lnTo>
                    <a:pt x="32" y="0"/>
                  </a:lnTo>
                  <a:close/>
                </a:path>
              </a:pathLst>
            </a:custGeom>
            <a:blipFill rotWithShape="0">
              <a:blip r:embed="rId1"/>
            </a:blipFill>
            <a:ln w="9525">
              <a:noFill/>
            </a:ln>
          </p:spPr>
          <p:txBody>
            <a:bodyPr/>
            <a:lstStyle/>
            <a:p>
              <a:endParaRPr lang="zh-CN" altLang="en-US" sz="1500"/>
            </a:p>
          </p:txBody>
        </p:sp>
        <p:sp>
          <p:nvSpPr>
            <p:cNvPr id="357531" name="任意多边形 357530"/>
            <p:cNvSpPr/>
            <p:nvPr/>
          </p:nvSpPr>
          <p:spPr>
            <a:xfrm>
              <a:off x="3791" y="3485"/>
              <a:ext cx="46" cy="33"/>
            </a:xfrm>
            <a:custGeom>
              <a:avLst/>
              <a:gdLst/>
              <a:ahLst/>
              <a:cxnLst/>
              <a:rect l="0" t="0" r="0" b="0"/>
              <a:pathLst>
                <a:path w="46" h="33">
                  <a:moveTo>
                    <a:pt x="46" y="0"/>
                  </a:moveTo>
                  <a:lnTo>
                    <a:pt x="46" y="26"/>
                  </a:lnTo>
                  <a:lnTo>
                    <a:pt x="46" y="33"/>
                  </a:lnTo>
                  <a:lnTo>
                    <a:pt x="39" y="33"/>
                  </a:lnTo>
                  <a:lnTo>
                    <a:pt x="7" y="20"/>
                  </a:lnTo>
                  <a:lnTo>
                    <a:pt x="0" y="20"/>
                  </a:lnTo>
                  <a:lnTo>
                    <a:pt x="0" y="13"/>
                  </a:lnTo>
                  <a:lnTo>
                    <a:pt x="13" y="7"/>
                  </a:lnTo>
                  <a:lnTo>
                    <a:pt x="46" y="20"/>
                  </a:lnTo>
                  <a:lnTo>
                    <a:pt x="39" y="33"/>
                  </a:lnTo>
                  <a:lnTo>
                    <a:pt x="33" y="26"/>
                  </a:lnTo>
                  <a:lnTo>
                    <a:pt x="33" y="0"/>
                  </a:lnTo>
                  <a:lnTo>
                    <a:pt x="46" y="0"/>
                  </a:lnTo>
                  <a:close/>
                </a:path>
              </a:pathLst>
            </a:custGeom>
            <a:blipFill rotWithShape="0">
              <a:blip r:embed="rId1"/>
            </a:blipFill>
            <a:ln w="9525">
              <a:noFill/>
            </a:ln>
          </p:spPr>
          <p:txBody>
            <a:bodyPr/>
            <a:lstStyle/>
            <a:p>
              <a:endParaRPr lang="zh-CN" altLang="en-US" sz="1500"/>
            </a:p>
          </p:txBody>
        </p:sp>
        <p:sp>
          <p:nvSpPr>
            <p:cNvPr id="357532" name="矩形 357531"/>
            <p:cNvSpPr/>
            <p:nvPr/>
          </p:nvSpPr>
          <p:spPr>
            <a:xfrm>
              <a:off x="3791" y="3479"/>
              <a:ext cx="13" cy="19"/>
            </a:xfrm>
            <a:prstGeom prst="rect">
              <a:avLst/>
            </a:prstGeom>
            <a:blipFill rotWithShape="0">
              <a:blip r:embed="rId1"/>
            </a:blipFill>
            <a:ln w="9525">
              <a:noFill/>
            </a:ln>
          </p:spPr>
          <p:txBody>
            <a:bodyPr/>
            <a:lstStyle/>
            <a:p>
              <a:endParaRPr lang="zh-CN" altLang="en-US" sz="1500"/>
            </a:p>
          </p:txBody>
        </p:sp>
        <p:sp>
          <p:nvSpPr>
            <p:cNvPr id="357533" name="矩形 357532"/>
            <p:cNvSpPr/>
            <p:nvPr/>
          </p:nvSpPr>
          <p:spPr>
            <a:xfrm>
              <a:off x="3798" y="3479"/>
              <a:ext cx="39" cy="13"/>
            </a:xfrm>
            <a:prstGeom prst="rect">
              <a:avLst/>
            </a:prstGeom>
            <a:blipFill rotWithShape="0">
              <a:blip r:embed="rId1"/>
            </a:blipFill>
            <a:ln w="9525">
              <a:noFill/>
            </a:ln>
          </p:spPr>
          <p:txBody>
            <a:bodyPr/>
            <a:lstStyle/>
            <a:p>
              <a:endParaRPr lang="zh-CN" altLang="en-US" sz="1500"/>
            </a:p>
          </p:txBody>
        </p:sp>
        <p:sp>
          <p:nvSpPr>
            <p:cNvPr id="357534" name="矩形 357533"/>
            <p:cNvSpPr/>
            <p:nvPr/>
          </p:nvSpPr>
          <p:spPr>
            <a:xfrm>
              <a:off x="3575" y="3538"/>
              <a:ext cx="75"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V</a:t>
              </a:r>
              <a:endParaRPr lang="en-US" altLang="zh-CN" sz="3665" b="1" i="0">
                <a:solidFill>
                  <a:schemeClr val="accent1"/>
                </a:solidFill>
                <a:latin typeface="Book Antiqua" panose="02040602050305030304" pitchFamily="18" charset="0"/>
              </a:endParaRPr>
            </a:p>
          </p:txBody>
        </p:sp>
        <p:sp>
          <p:nvSpPr>
            <p:cNvPr id="357535" name="矩形 357534"/>
            <p:cNvSpPr/>
            <p:nvPr/>
          </p:nvSpPr>
          <p:spPr>
            <a:xfrm>
              <a:off x="3647" y="3583"/>
              <a:ext cx="112" cy="97"/>
            </a:xfrm>
            <a:prstGeom prst="rect">
              <a:avLst/>
            </a:prstGeom>
            <a:noFill/>
            <a:ln w="9525">
              <a:noFill/>
            </a:ln>
          </p:spPr>
          <p:txBody>
            <a:bodyPr wrap="none" lIns="0" tIns="0" rIns="0" bIns="0">
              <a:spAutoFit/>
            </a:bodyPr>
            <a:lstStyle/>
            <a:p>
              <a:r>
                <a:rPr lang="en-US" altLang="zh-CN" sz="835" b="1" i="0">
                  <a:solidFill>
                    <a:schemeClr val="accent1"/>
                  </a:solidFill>
                  <a:latin typeface="Times New Roman" panose="02020603050405020304" pitchFamily="18" charset="0"/>
                </a:rPr>
                <a:t>out</a:t>
              </a:r>
              <a:endParaRPr lang="en-US" altLang="zh-CN" sz="3665" b="1" i="0">
                <a:solidFill>
                  <a:schemeClr val="accent1"/>
                </a:solidFill>
                <a:latin typeface="Book Antiqua" panose="02040602050305030304" pitchFamily="18" charset="0"/>
              </a:endParaRPr>
            </a:p>
          </p:txBody>
        </p:sp>
        <p:sp>
          <p:nvSpPr>
            <p:cNvPr id="357536" name="矩形 357535"/>
            <p:cNvSpPr/>
            <p:nvPr/>
          </p:nvSpPr>
          <p:spPr>
            <a:xfrm>
              <a:off x="3752" y="3538"/>
              <a:ext cx="188"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 = V</a:t>
              </a:r>
              <a:endParaRPr lang="en-US" altLang="zh-CN" sz="3665" b="1" i="0">
                <a:solidFill>
                  <a:schemeClr val="accent1"/>
                </a:solidFill>
                <a:latin typeface="Book Antiqua" panose="02040602050305030304" pitchFamily="18" charset="0"/>
              </a:endParaRPr>
            </a:p>
          </p:txBody>
        </p:sp>
        <p:sp>
          <p:nvSpPr>
            <p:cNvPr id="357537" name="矩形 357536"/>
            <p:cNvSpPr/>
            <p:nvPr/>
          </p:nvSpPr>
          <p:spPr>
            <a:xfrm>
              <a:off x="3942" y="3583"/>
              <a:ext cx="116" cy="97"/>
            </a:xfrm>
            <a:prstGeom prst="rect">
              <a:avLst/>
            </a:prstGeom>
            <a:noFill/>
            <a:ln w="9525">
              <a:noFill/>
            </a:ln>
          </p:spPr>
          <p:txBody>
            <a:bodyPr wrap="none" lIns="0" tIns="0" rIns="0" bIns="0">
              <a:spAutoFit/>
            </a:bodyPr>
            <a:lstStyle/>
            <a:p>
              <a:r>
                <a:rPr lang="en-US" altLang="zh-CN" sz="835" b="1" i="0">
                  <a:solidFill>
                    <a:schemeClr val="accent1"/>
                  </a:solidFill>
                  <a:latin typeface="Times New Roman" panose="02020603050405020304" pitchFamily="18" charset="0"/>
                </a:rPr>
                <a:t>DD</a:t>
              </a:r>
              <a:endParaRPr lang="en-US" altLang="zh-CN" sz="3665" b="1" i="0">
                <a:solidFill>
                  <a:schemeClr val="accent1"/>
                </a:solidFill>
                <a:latin typeface="Book Antiqua" panose="02040602050305030304" pitchFamily="18" charset="0"/>
              </a:endParaRPr>
            </a:p>
          </p:txBody>
        </p:sp>
        <p:sp>
          <p:nvSpPr>
            <p:cNvPr id="357538" name="矩形 357537"/>
            <p:cNvSpPr/>
            <p:nvPr/>
          </p:nvSpPr>
          <p:spPr>
            <a:xfrm>
              <a:off x="4059" y="3538"/>
              <a:ext cx="135"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+V</a:t>
              </a:r>
              <a:endParaRPr lang="en-US" altLang="zh-CN" sz="3665" b="1" i="0">
                <a:solidFill>
                  <a:schemeClr val="accent1"/>
                </a:solidFill>
                <a:latin typeface="Book Antiqua" panose="02040602050305030304" pitchFamily="18" charset="0"/>
              </a:endParaRPr>
            </a:p>
          </p:txBody>
        </p:sp>
        <p:sp>
          <p:nvSpPr>
            <p:cNvPr id="357539" name="矩形 357538"/>
            <p:cNvSpPr/>
            <p:nvPr/>
          </p:nvSpPr>
          <p:spPr>
            <a:xfrm>
              <a:off x="4170" y="3583"/>
              <a:ext cx="147" cy="97"/>
            </a:xfrm>
            <a:prstGeom prst="rect">
              <a:avLst/>
            </a:prstGeom>
            <a:noFill/>
            <a:ln w="9525">
              <a:noFill/>
            </a:ln>
          </p:spPr>
          <p:txBody>
            <a:bodyPr wrap="none" lIns="0" tIns="0" rIns="0" bIns="0">
              <a:spAutoFit/>
            </a:bodyPr>
            <a:lstStyle/>
            <a:p>
              <a:r>
                <a:rPr lang="en-US" altLang="zh-CN" sz="835" b="1" i="0" err="1">
                  <a:solidFill>
                    <a:schemeClr val="accent1"/>
                  </a:solidFill>
                  <a:latin typeface="Times New Roman" panose="02020603050405020304" pitchFamily="18" charset="0"/>
                </a:rPr>
                <a:t>DSp</a:t>
              </a:r>
              <a:endParaRPr lang="en-US" altLang="zh-CN" sz="3665" b="1" i="0">
                <a:solidFill>
                  <a:schemeClr val="accent1"/>
                </a:solidFill>
                <a:latin typeface="Book Antiqua" panose="02040602050305030304" pitchFamily="18" charset="0"/>
              </a:endParaRPr>
            </a:p>
          </p:txBody>
        </p:sp>
      </p:grpSp>
      <p:grpSp>
        <p:nvGrpSpPr>
          <p:cNvPr id="357540" name="组合 357539"/>
          <p:cNvGrpSpPr/>
          <p:nvPr/>
        </p:nvGrpSpPr>
        <p:grpSpPr>
          <a:xfrm>
            <a:off x="3278188" y="1550458"/>
            <a:ext cx="3018896" cy="1469761"/>
            <a:chOff x="1902" y="1172"/>
            <a:chExt cx="2282" cy="1111"/>
          </a:xfrm>
        </p:grpSpPr>
        <p:sp>
          <p:nvSpPr>
            <p:cNvPr id="357541" name="任意多边形 357540"/>
            <p:cNvSpPr/>
            <p:nvPr/>
          </p:nvSpPr>
          <p:spPr>
            <a:xfrm>
              <a:off x="2987" y="1322"/>
              <a:ext cx="13" cy="13"/>
            </a:xfrm>
            <a:custGeom>
              <a:avLst/>
              <a:gdLst/>
              <a:ahLst/>
              <a:cxnLst/>
              <a:rect l="0" t="0" r="0" b="0"/>
              <a:pathLst>
                <a:path w="13" h="13">
                  <a:moveTo>
                    <a:pt x="6" y="0"/>
                  </a:moveTo>
                  <a:lnTo>
                    <a:pt x="0" y="6"/>
                  </a:lnTo>
                  <a:lnTo>
                    <a:pt x="0" y="6"/>
                  </a:lnTo>
                  <a:lnTo>
                    <a:pt x="0" y="13"/>
                  </a:lnTo>
                  <a:lnTo>
                    <a:pt x="6" y="13"/>
                  </a:lnTo>
                  <a:lnTo>
                    <a:pt x="13" y="13"/>
                  </a:lnTo>
                  <a:lnTo>
                    <a:pt x="13" y="6"/>
                  </a:lnTo>
                  <a:lnTo>
                    <a:pt x="13" y="6"/>
                  </a:lnTo>
                  <a:lnTo>
                    <a:pt x="6" y="0"/>
                  </a:lnTo>
                  <a:close/>
                </a:path>
              </a:pathLst>
            </a:custGeom>
            <a:blipFill rotWithShape="0">
              <a:blip r:embed="rId1"/>
            </a:blipFill>
            <a:ln w="9525">
              <a:noFill/>
            </a:ln>
          </p:spPr>
          <p:txBody>
            <a:bodyPr/>
            <a:lstStyle/>
            <a:p>
              <a:endParaRPr lang="zh-CN" altLang="en-US" sz="1500"/>
            </a:p>
          </p:txBody>
        </p:sp>
        <p:sp>
          <p:nvSpPr>
            <p:cNvPr id="357542" name="任意多边形 357541"/>
            <p:cNvSpPr/>
            <p:nvPr/>
          </p:nvSpPr>
          <p:spPr>
            <a:xfrm>
              <a:off x="2967" y="1230"/>
              <a:ext cx="59" cy="98"/>
            </a:xfrm>
            <a:custGeom>
              <a:avLst/>
              <a:gdLst/>
              <a:ahLst/>
              <a:cxnLst/>
              <a:rect l="0" t="0" r="0" b="0"/>
              <a:pathLst>
                <a:path w="59" h="98">
                  <a:moveTo>
                    <a:pt x="26" y="98"/>
                  </a:moveTo>
                  <a:lnTo>
                    <a:pt x="0" y="98"/>
                  </a:lnTo>
                  <a:lnTo>
                    <a:pt x="0" y="98"/>
                  </a:lnTo>
                  <a:lnTo>
                    <a:pt x="0" y="98"/>
                  </a:lnTo>
                  <a:lnTo>
                    <a:pt x="26" y="0"/>
                  </a:lnTo>
                  <a:lnTo>
                    <a:pt x="33" y="0"/>
                  </a:lnTo>
                  <a:lnTo>
                    <a:pt x="33" y="0"/>
                  </a:lnTo>
                  <a:lnTo>
                    <a:pt x="59" y="98"/>
                  </a:lnTo>
                  <a:lnTo>
                    <a:pt x="59" y="98"/>
                  </a:lnTo>
                  <a:lnTo>
                    <a:pt x="53" y="98"/>
                  </a:lnTo>
                  <a:lnTo>
                    <a:pt x="53" y="98"/>
                  </a:lnTo>
                  <a:lnTo>
                    <a:pt x="26" y="0"/>
                  </a:lnTo>
                  <a:lnTo>
                    <a:pt x="26" y="0"/>
                  </a:lnTo>
                  <a:lnTo>
                    <a:pt x="33" y="0"/>
                  </a:lnTo>
                  <a:lnTo>
                    <a:pt x="7" y="98"/>
                  </a:lnTo>
                  <a:lnTo>
                    <a:pt x="0" y="98"/>
                  </a:lnTo>
                  <a:lnTo>
                    <a:pt x="0" y="92"/>
                  </a:lnTo>
                  <a:lnTo>
                    <a:pt x="26" y="92"/>
                  </a:lnTo>
                  <a:lnTo>
                    <a:pt x="26" y="98"/>
                  </a:lnTo>
                  <a:close/>
                </a:path>
              </a:pathLst>
            </a:custGeom>
            <a:blipFill rotWithShape="0">
              <a:blip r:embed="rId1"/>
            </a:blipFill>
            <a:ln w="9525">
              <a:noFill/>
            </a:ln>
          </p:spPr>
          <p:txBody>
            <a:bodyPr/>
            <a:lstStyle/>
            <a:p>
              <a:endParaRPr lang="zh-CN" altLang="en-US" sz="1500"/>
            </a:p>
          </p:txBody>
        </p:sp>
        <p:sp>
          <p:nvSpPr>
            <p:cNvPr id="357543" name="任意多边形 357542"/>
            <p:cNvSpPr/>
            <p:nvPr/>
          </p:nvSpPr>
          <p:spPr>
            <a:xfrm>
              <a:off x="2993" y="1322"/>
              <a:ext cx="27" cy="6"/>
            </a:xfrm>
            <a:custGeom>
              <a:avLst/>
              <a:gdLst/>
              <a:ahLst/>
              <a:cxnLst/>
              <a:rect l="0" t="0" r="0" b="0"/>
              <a:pathLst>
                <a:path w="27" h="6">
                  <a:moveTo>
                    <a:pt x="27" y="6"/>
                  </a:moveTo>
                  <a:lnTo>
                    <a:pt x="0" y="6"/>
                  </a:lnTo>
                  <a:lnTo>
                    <a:pt x="0" y="0"/>
                  </a:lnTo>
                  <a:lnTo>
                    <a:pt x="0" y="0"/>
                  </a:lnTo>
                  <a:lnTo>
                    <a:pt x="0" y="0"/>
                  </a:lnTo>
                  <a:lnTo>
                    <a:pt x="27" y="0"/>
                  </a:lnTo>
                  <a:lnTo>
                    <a:pt x="27" y="6"/>
                  </a:lnTo>
                  <a:close/>
                </a:path>
              </a:pathLst>
            </a:custGeom>
            <a:blipFill rotWithShape="0">
              <a:blip r:embed="rId1"/>
            </a:blipFill>
            <a:ln w="9525">
              <a:noFill/>
            </a:ln>
          </p:spPr>
          <p:txBody>
            <a:bodyPr/>
            <a:lstStyle/>
            <a:p>
              <a:endParaRPr lang="zh-CN" altLang="en-US" sz="1500"/>
            </a:p>
          </p:txBody>
        </p:sp>
        <p:sp>
          <p:nvSpPr>
            <p:cNvPr id="357544" name="任意多边形 357543"/>
            <p:cNvSpPr/>
            <p:nvPr/>
          </p:nvSpPr>
          <p:spPr>
            <a:xfrm>
              <a:off x="2967" y="1230"/>
              <a:ext cx="53" cy="98"/>
            </a:xfrm>
            <a:custGeom>
              <a:avLst/>
              <a:gdLst/>
              <a:ahLst/>
              <a:cxnLst/>
              <a:rect l="0" t="0" r="0" b="0"/>
              <a:pathLst>
                <a:path w="53" h="98">
                  <a:moveTo>
                    <a:pt x="26" y="98"/>
                  </a:moveTo>
                  <a:lnTo>
                    <a:pt x="0" y="98"/>
                  </a:lnTo>
                  <a:lnTo>
                    <a:pt x="26" y="0"/>
                  </a:lnTo>
                  <a:lnTo>
                    <a:pt x="53" y="98"/>
                  </a:lnTo>
                  <a:lnTo>
                    <a:pt x="26" y="98"/>
                  </a:lnTo>
                  <a:close/>
                </a:path>
              </a:pathLst>
            </a:custGeom>
            <a:blipFill rotWithShape="0">
              <a:blip r:embed="rId1"/>
            </a:blipFill>
            <a:ln w="9525">
              <a:noFill/>
            </a:ln>
          </p:spPr>
          <p:txBody>
            <a:bodyPr/>
            <a:lstStyle/>
            <a:p>
              <a:endParaRPr lang="zh-CN" altLang="en-US" sz="1500"/>
            </a:p>
          </p:txBody>
        </p:sp>
        <p:sp>
          <p:nvSpPr>
            <p:cNvPr id="357545" name="矩形 357544"/>
            <p:cNvSpPr/>
            <p:nvPr/>
          </p:nvSpPr>
          <p:spPr>
            <a:xfrm>
              <a:off x="2987" y="2276"/>
              <a:ext cx="13" cy="7"/>
            </a:xfrm>
            <a:prstGeom prst="rect">
              <a:avLst/>
            </a:prstGeom>
            <a:blipFill rotWithShape="0">
              <a:blip r:embed="rId1"/>
            </a:blipFill>
            <a:ln w="9525">
              <a:noFill/>
            </a:ln>
          </p:spPr>
          <p:txBody>
            <a:bodyPr/>
            <a:lstStyle/>
            <a:p>
              <a:endParaRPr lang="zh-CN" altLang="en-US" sz="1500"/>
            </a:p>
          </p:txBody>
        </p:sp>
        <p:sp>
          <p:nvSpPr>
            <p:cNvPr id="357546" name="矩形 357545"/>
            <p:cNvSpPr/>
            <p:nvPr/>
          </p:nvSpPr>
          <p:spPr>
            <a:xfrm>
              <a:off x="2987" y="1322"/>
              <a:ext cx="13" cy="6"/>
            </a:xfrm>
            <a:prstGeom prst="rect">
              <a:avLst/>
            </a:prstGeom>
            <a:blipFill rotWithShape="0">
              <a:blip r:embed="rId1"/>
            </a:blipFill>
            <a:ln w="9525">
              <a:noFill/>
            </a:ln>
          </p:spPr>
          <p:txBody>
            <a:bodyPr/>
            <a:lstStyle/>
            <a:p>
              <a:endParaRPr lang="zh-CN" altLang="en-US" sz="1500"/>
            </a:p>
          </p:txBody>
        </p:sp>
        <p:sp>
          <p:nvSpPr>
            <p:cNvPr id="357547" name="矩形 357546"/>
            <p:cNvSpPr/>
            <p:nvPr/>
          </p:nvSpPr>
          <p:spPr>
            <a:xfrm>
              <a:off x="2987" y="1328"/>
              <a:ext cx="13" cy="948"/>
            </a:xfrm>
            <a:prstGeom prst="rect">
              <a:avLst/>
            </a:prstGeom>
            <a:blipFill rotWithShape="0">
              <a:blip r:embed="rId1"/>
            </a:blipFill>
            <a:ln w="9525">
              <a:noFill/>
            </a:ln>
          </p:spPr>
          <p:txBody>
            <a:bodyPr/>
            <a:lstStyle/>
            <a:p>
              <a:endParaRPr lang="zh-CN" altLang="en-US" sz="1500"/>
            </a:p>
          </p:txBody>
        </p:sp>
        <p:sp>
          <p:nvSpPr>
            <p:cNvPr id="357548" name="任意多边形 357547"/>
            <p:cNvSpPr/>
            <p:nvPr/>
          </p:nvSpPr>
          <p:spPr>
            <a:xfrm>
              <a:off x="3902" y="2067"/>
              <a:ext cx="13" cy="13"/>
            </a:xfrm>
            <a:custGeom>
              <a:avLst/>
              <a:gdLst/>
              <a:ahLst/>
              <a:cxnLst/>
              <a:rect l="0" t="0" r="0" b="0"/>
              <a:pathLst>
                <a:path w="13" h="13">
                  <a:moveTo>
                    <a:pt x="13" y="7"/>
                  </a:moveTo>
                  <a:lnTo>
                    <a:pt x="13" y="0"/>
                  </a:lnTo>
                  <a:lnTo>
                    <a:pt x="7" y="0"/>
                  </a:lnTo>
                  <a:lnTo>
                    <a:pt x="0" y="0"/>
                  </a:lnTo>
                  <a:lnTo>
                    <a:pt x="0" y="7"/>
                  </a:lnTo>
                  <a:lnTo>
                    <a:pt x="0" y="7"/>
                  </a:lnTo>
                  <a:lnTo>
                    <a:pt x="7" y="13"/>
                  </a:lnTo>
                  <a:lnTo>
                    <a:pt x="13" y="7"/>
                  </a:lnTo>
                  <a:lnTo>
                    <a:pt x="13" y="7"/>
                  </a:lnTo>
                  <a:close/>
                </a:path>
              </a:pathLst>
            </a:custGeom>
            <a:blipFill rotWithShape="0">
              <a:blip r:embed="rId1"/>
            </a:blipFill>
            <a:ln w="9525">
              <a:noFill/>
            </a:ln>
          </p:spPr>
          <p:txBody>
            <a:bodyPr/>
            <a:lstStyle/>
            <a:p>
              <a:endParaRPr lang="zh-CN" altLang="en-US" sz="1500"/>
            </a:p>
          </p:txBody>
        </p:sp>
        <p:sp>
          <p:nvSpPr>
            <p:cNvPr id="357549" name="任意多边形 357548"/>
            <p:cNvSpPr/>
            <p:nvPr/>
          </p:nvSpPr>
          <p:spPr>
            <a:xfrm>
              <a:off x="3915" y="2041"/>
              <a:ext cx="98" cy="65"/>
            </a:xfrm>
            <a:custGeom>
              <a:avLst/>
              <a:gdLst/>
              <a:ahLst/>
              <a:cxnLst/>
              <a:rect l="0" t="0" r="0" b="0"/>
              <a:pathLst>
                <a:path w="98" h="65">
                  <a:moveTo>
                    <a:pt x="0" y="33"/>
                  </a:moveTo>
                  <a:lnTo>
                    <a:pt x="0" y="0"/>
                  </a:lnTo>
                  <a:lnTo>
                    <a:pt x="0" y="0"/>
                  </a:lnTo>
                  <a:lnTo>
                    <a:pt x="0" y="0"/>
                  </a:lnTo>
                  <a:lnTo>
                    <a:pt x="98" y="33"/>
                  </a:lnTo>
                  <a:lnTo>
                    <a:pt x="98" y="39"/>
                  </a:lnTo>
                  <a:lnTo>
                    <a:pt x="98" y="39"/>
                  </a:lnTo>
                  <a:lnTo>
                    <a:pt x="0" y="65"/>
                  </a:lnTo>
                  <a:lnTo>
                    <a:pt x="0" y="65"/>
                  </a:lnTo>
                  <a:lnTo>
                    <a:pt x="0" y="59"/>
                  </a:lnTo>
                  <a:lnTo>
                    <a:pt x="0" y="59"/>
                  </a:lnTo>
                  <a:lnTo>
                    <a:pt x="98" y="33"/>
                  </a:lnTo>
                  <a:lnTo>
                    <a:pt x="98" y="39"/>
                  </a:lnTo>
                  <a:lnTo>
                    <a:pt x="98" y="39"/>
                  </a:lnTo>
                  <a:lnTo>
                    <a:pt x="0" y="6"/>
                  </a:lnTo>
                  <a:lnTo>
                    <a:pt x="0" y="0"/>
                  </a:lnTo>
                  <a:lnTo>
                    <a:pt x="7" y="0"/>
                  </a:lnTo>
                  <a:lnTo>
                    <a:pt x="7" y="33"/>
                  </a:lnTo>
                  <a:lnTo>
                    <a:pt x="0" y="33"/>
                  </a:lnTo>
                  <a:close/>
                </a:path>
              </a:pathLst>
            </a:custGeom>
            <a:blipFill rotWithShape="0">
              <a:blip r:embed="rId1"/>
            </a:blipFill>
            <a:ln w="9525">
              <a:noFill/>
            </a:ln>
          </p:spPr>
          <p:txBody>
            <a:bodyPr/>
            <a:lstStyle/>
            <a:p>
              <a:endParaRPr lang="zh-CN" altLang="en-US" sz="1500"/>
            </a:p>
          </p:txBody>
        </p:sp>
        <p:sp>
          <p:nvSpPr>
            <p:cNvPr id="357550" name="任意多边形 357549"/>
            <p:cNvSpPr/>
            <p:nvPr/>
          </p:nvSpPr>
          <p:spPr>
            <a:xfrm>
              <a:off x="3915" y="2074"/>
              <a:ext cx="7" cy="26"/>
            </a:xfrm>
            <a:custGeom>
              <a:avLst/>
              <a:gdLst/>
              <a:ahLst/>
              <a:cxnLst/>
              <a:rect l="0" t="0" r="0" b="0"/>
              <a:pathLst>
                <a:path w="7" h="26">
                  <a:moveTo>
                    <a:pt x="0" y="26"/>
                  </a:moveTo>
                  <a:lnTo>
                    <a:pt x="0" y="0"/>
                  </a:lnTo>
                  <a:lnTo>
                    <a:pt x="7" y="0"/>
                  </a:lnTo>
                  <a:lnTo>
                    <a:pt x="7" y="0"/>
                  </a:lnTo>
                  <a:lnTo>
                    <a:pt x="7" y="0"/>
                  </a:lnTo>
                  <a:lnTo>
                    <a:pt x="7" y="26"/>
                  </a:lnTo>
                  <a:lnTo>
                    <a:pt x="0" y="26"/>
                  </a:lnTo>
                  <a:close/>
                </a:path>
              </a:pathLst>
            </a:custGeom>
            <a:blipFill rotWithShape="0">
              <a:blip r:embed="rId1"/>
            </a:blipFill>
            <a:ln w="9525">
              <a:noFill/>
            </a:ln>
          </p:spPr>
          <p:txBody>
            <a:bodyPr/>
            <a:lstStyle/>
            <a:p>
              <a:endParaRPr lang="zh-CN" altLang="en-US" sz="1500"/>
            </a:p>
          </p:txBody>
        </p:sp>
        <p:sp>
          <p:nvSpPr>
            <p:cNvPr id="357551" name="任意多边形 357550"/>
            <p:cNvSpPr/>
            <p:nvPr/>
          </p:nvSpPr>
          <p:spPr>
            <a:xfrm>
              <a:off x="3915" y="2041"/>
              <a:ext cx="98" cy="59"/>
            </a:xfrm>
            <a:custGeom>
              <a:avLst/>
              <a:gdLst/>
              <a:ahLst/>
              <a:cxnLst/>
              <a:rect l="0" t="0" r="0" b="0"/>
              <a:pathLst>
                <a:path w="98" h="59">
                  <a:moveTo>
                    <a:pt x="0" y="33"/>
                  </a:moveTo>
                  <a:lnTo>
                    <a:pt x="0" y="0"/>
                  </a:lnTo>
                  <a:lnTo>
                    <a:pt x="98" y="33"/>
                  </a:lnTo>
                  <a:lnTo>
                    <a:pt x="0" y="59"/>
                  </a:lnTo>
                  <a:lnTo>
                    <a:pt x="0" y="33"/>
                  </a:lnTo>
                  <a:close/>
                </a:path>
              </a:pathLst>
            </a:custGeom>
            <a:blipFill rotWithShape="0">
              <a:blip r:embed="rId1"/>
            </a:blipFill>
            <a:ln w="9525">
              <a:noFill/>
            </a:ln>
          </p:spPr>
          <p:txBody>
            <a:bodyPr/>
            <a:lstStyle/>
            <a:p>
              <a:endParaRPr lang="zh-CN" altLang="en-US" sz="1500"/>
            </a:p>
          </p:txBody>
        </p:sp>
        <p:sp>
          <p:nvSpPr>
            <p:cNvPr id="357552" name="矩形 357551"/>
            <p:cNvSpPr/>
            <p:nvPr/>
          </p:nvSpPr>
          <p:spPr>
            <a:xfrm>
              <a:off x="1902" y="2067"/>
              <a:ext cx="6" cy="13"/>
            </a:xfrm>
            <a:prstGeom prst="rect">
              <a:avLst/>
            </a:prstGeom>
            <a:blipFill rotWithShape="0">
              <a:blip r:embed="rId1"/>
            </a:blipFill>
            <a:ln w="9525">
              <a:noFill/>
            </a:ln>
          </p:spPr>
          <p:txBody>
            <a:bodyPr/>
            <a:lstStyle/>
            <a:p>
              <a:endParaRPr lang="zh-CN" altLang="en-US" sz="1500"/>
            </a:p>
          </p:txBody>
        </p:sp>
        <p:sp>
          <p:nvSpPr>
            <p:cNvPr id="357553" name="矩形 357552"/>
            <p:cNvSpPr/>
            <p:nvPr/>
          </p:nvSpPr>
          <p:spPr>
            <a:xfrm>
              <a:off x="3909" y="2067"/>
              <a:ext cx="6" cy="13"/>
            </a:xfrm>
            <a:prstGeom prst="rect">
              <a:avLst/>
            </a:prstGeom>
            <a:blipFill rotWithShape="0">
              <a:blip r:embed="rId1"/>
            </a:blipFill>
            <a:ln w="9525">
              <a:noFill/>
            </a:ln>
          </p:spPr>
          <p:txBody>
            <a:bodyPr/>
            <a:lstStyle/>
            <a:p>
              <a:endParaRPr lang="zh-CN" altLang="en-US" sz="1500"/>
            </a:p>
          </p:txBody>
        </p:sp>
        <p:sp>
          <p:nvSpPr>
            <p:cNvPr id="357554" name="矩形 357553"/>
            <p:cNvSpPr/>
            <p:nvPr/>
          </p:nvSpPr>
          <p:spPr>
            <a:xfrm>
              <a:off x="1908" y="2067"/>
              <a:ext cx="2001" cy="13"/>
            </a:xfrm>
            <a:prstGeom prst="rect">
              <a:avLst/>
            </a:prstGeom>
            <a:blipFill rotWithShape="0">
              <a:blip r:embed="rId1"/>
            </a:blipFill>
            <a:ln w="9525">
              <a:noFill/>
            </a:ln>
          </p:spPr>
          <p:txBody>
            <a:bodyPr/>
            <a:lstStyle/>
            <a:p>
              <a:endParaRPr lang="zh-CN" altLang="en-US" sz="1500"/>
            </a:p>
          </p:txBody>
        </p:sp>
        <p:sp>
          <p:nvSpPr>
            <p:cNvPr id="357555" name="矩形 357554"/>
            <p:cNvSpPr/>
            <p:nvPr/>
          </p:nvSpPr>
          <p:spPr>
            <a:xfrm>
              <a:off x="3994" y="2113"/>
              <a:ext cx="75"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V</a:t>
              </a:r>
              <a:endParaRPr lang="en-US" altLang="zh-CN" sz="3665" b="1" i="0">
                <a:solidFill>
                  <a:srgbClr val="0000B6"/>
                </a:solidFill>
                <a:latin typeface="Book Antiqua" panose="02040602050305030304" pitchFamily="18" charset="0"/>
              </a:endParaRPr>
            </a:p>
          </p:txBody>
        </p:sp>
        <p:sp>
          <p:nvSpPr>
            <p:cNvPr id="357556" name="矩形 357555"/>
            <p:cNvSpPr/>
            <p:nvPr/>
          </p:nvSpPr>
          <p:spPr>
            <a:xfrm>
              <a:off x="4072" y="2159"/>
              <a:ext cx="112" cy="97"/>
            </a:xfrm>
            <a:prstGeom prst="rect">
              <a:avLst/>
            </a:prstGeom>
            <a:noFill/>
            <a:ln w="9525">
              <a:noFill/>
            </a:ln>
          </p:spPr>
          <p:txBody>
            <a:bodyPr wrap="none" lIns="0" tIns="0" rIns="0" bIns="0">
              <a:spAutoFit/>
            </a:bodyPr>
            <a:lstStyle/>
            <a:p>
              <a:r>
                <a:rPr lang="en-US" altLang="zh-CN" sz="835" b="1" i="0">
                  <a:solidFill>
                    <a:srgbClr val="000000"/>
                  </a:solidFill>
                  <a:latin typeface="Times New Roman" panose="02020603050405020304" pitchFamily="18" charset="0"/>
                </a:rPr>
                <a:t>out</a:t>
              </a:r>
              <a:endParaRPr lang="en-US" altLang="zh-CN" sz="3665" b="1" i="0">
                <a:solidFill>
                  <a:srgbClr val="0000B6"/>
                </a:solidFill>
                <a:latin typeface="Book Antiqua" panose="02040602050305030304" pitchFamily="18" charset="0"/>
              </a:endParaRPr>
            </a:p>
          </p:txBody>
        </p:sp>
        <p:sp>
          <p:nvSpPr>
            <p:cNvPr id="357557" name="矩形 357556"/>
            <p:cNvSpPr/>
            <p:nvPr/>
          </p:nvSpPr>
          <p:spPr>
            <a:xfrm>
              <a:off x="2732" y="1172"/>
              <a:ext cx="41" cy="126"/>
            </a:xfrm>
            <a:prstGeom prst="rect">
              <a:avLst/>
            </a:prstGeom>
            <a:noFill/>
            <a:ln w="9525">
              <a:noFill/>
            </a:ln>
          </p:spPr>
          <p:txBody>
            <a:bodyPr wrap="none" lIns="0" tIns="0" rIns="0" bIns="0">
              <a:spAutoFit/>
            </a:bodyPr>
            <a:lstStyle/>
            <a:p>
              <a:r>
                <a:rPr lang="en-US" altLang="zh-CN" sz="1085" b="1" i="0">
                  <a:solidFill>
                    <a:srgbClr val="000000"/>
                  </a:solidFill>
                  <a:latin typeface="Times New Roman" panose="02020603050405020304" pitchFamily="18" charset="0"/>
                </a:rPr>
                <a:t>I</a:t>
              </a:r>
              <a:endParaRPr lang="en-US" altLang="zh-CN" sz="3665" b="1" i="0">
                <a:solidFill>
                  <a:srgbClr val="0000B6"/>
                </a:solidFill>
                <a:latin typeface="Book Antiqua" panose="02040602050305030304" pitchFamily="18" charset="0"/>
              </a:endParaRPr>
            </a:p>
          </p:txBody>
        </p:sp>
        <p:sp>
          <p:nvSpPr>
            <p:cNvPr id="357558" name="矩形 357557"/>
            <p:cNvSpPr/>
            <p:nvPr/>
          </p:nvSpPr>
          <p:spPr>
            <a:xfrm>
              <a:off x="2765" y="1217"/>
              <a:ext cx="103" cy="97"/>
            </a:xfrm>
            <a:prstGeom prst="rect">
              <a:avLst/>
            </a:prstGeom>
            <a:noFill/>
            <a:ln w="9525">
              <a:noFill/>
            </a:ln>
          </p:spPr>
          <p:txBody>
            <a:bodyPr wrap="none" lIns="0" tIns="0" rIns="0" bIns="0">
              <a:spAutoFit/>
            </a:bodyPr>
            <a:lstStyle/>
            <a:p>
              <a:r>
                <a:rPr lang="en-US" altLang="zh-CN" sz="835" b="1" i="0" err="1">
                  <a:solidFill>
                    <a:srgbClr val="000000"/>
                  </a:solidFill>
                  <a:latin typeface="Times New Roman" panose="02020603050405020304" pitchFamily="18" charset="0"/>
                </a:rPr>
                <a:t>Dn</a:t>
              </a:r>
              <a:endParaRPr lang="en-US" altLang="zh-CN" sz="3665" b="1" i="0">
                <a:solidFill>
                  <a:srgbClr val="0000B6"/>
                </a:solidFill>
                <a:latin typeface="Book Antiqua" panose="02040602050305030304" pitchFamily="18" charset="0"/>
              </a:endParaRPr>
            </a:p>
          </p:txBody>
        </p:sp>
      </p:grpSp>
      <p:grpSp>
        <p:nvGrpSpPr>
          <p:cNvPr id="357559" name="组合 357558"/>
          <p:cNvGrpSpPr/>
          <p:nvPr/>
        </p:nvGrpSpPr>
        <p:grpSpPr>
          <a:xfrm>
            <a:off x="2308490" y="1722438"/>
            <a:ext cx="990865" cy="560917"/>
            <a:chOff x="1169" y="1302"/>
            <a:chExt cx="749" cy="424"/>
          </a:xfrm>
        </p:grpSpPr>
        <p:sp>
          <p:nvSpPr>
            <p:cNvPr id="357560" name="矩形 357559"/>
            <p:cNvSpPr/>
            <p:nvPr/>
          </p:nvSpPr>
          <p:spPr>
            <a:xfrm>
              <a:off x="1169" y="1302"/>
              <a:ext cx="75"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V</a:t>
              </a:r>
              <a:endParaRPr lang="en-US" altLang="zh-CN" sz="3665" b="1" i="0">
                <a:solidFill>
                  <a:schemeClr val="accent1"/>
                </a:solidFill>
                <a:latin typeface="Book Antiqua" panose="02040602050305030304" pitchFamily="18" charset="0"/>
              </a:endParaRPr>
            </a:p>
          </p:txBody>
        </p:sp>
        <p:sp>
          <p:nvSpPr>
            <p:cNvPr id="357561" name="矩形 357560"/>
            <p:cNvSpPr/>
            <p:nvPr/>
          </p:nvSpPr>
          <p:spPr>
            <a:xfrm>
              <a:off x="1248" y="1348"/>
              <a:ext cx="67" cy="97"/>
            </a:xfrm>
            <a:prstGeom prst="rect">
              <a:avLst/>
            </a:prstGeom>
            <a:noFill/>
            <a:ln w="9525">
              <a:noFill/>
            </a:ln>
          </p:spPr>
          <p:txBody>
            <a:bodyPr wrap="none" lIns="0" tIns="0" rIns="0" bIns="0">
              <a:spAutoFit/>
            </a:bodyPr>
            <a:lstStyle/>
            <a:p>
              <a:r>
                <a:rPr lang="en-US" altLang="zh-CN" sz="835" b="1" i="0">
                  <a:solidFill>
                    <a:schemeClr val="accent1"/>
                  </a:solidFill>
                  <a:latin typeface="Times New Roman" panose="02020603050405020304" pitchFamily="18" charset="0"/>
                </a:rPr>
                <a:t>in</a:t>
              </a:r>
              <a:endParaRPr lang="en-US" altLang="zh-CN" sz="3665" b="1" i="0">
                <a:solidFill>
                  <a:schemeClr val="accent1"/>
                </a:solidFill>
                <a:latin typeface="Book Antiqua" panose="02040602050305030304" pitchFamily="18" charset="0"/>
              </a:endParaRPr>
            </a:p>
          </p:txBody>
        </p:sp>
        <p:sp>
          <p:nvSpPr>
            <p:cNvPr id="357562" name="矩形 357561"/>
            <p:cNvSpPr/>
            <p:nvPr/>
          </p:nvSpPr>
          <p:spPr>
            <a:xfrm>
              <a:off x="1307" y="1302"/>
              <a:ext cx="188"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 = V</a:t>
              </a:r>
              <a:endParaRPr lang="en-US" altLang="zh-CN" sz="3665" b="1" i="0">
                <a:solidFill>
                  <a:schemeClr val="accent1"/>
                </a:solidFill>
                <a:latin typeface="Book Antiqua" panose="02040602050305030304" pitchFamily="18" charset="0"/>
              </a:endParaRPr>
            </a:p>
          </p:txBody>
        </p:sp>
        <p:sp>
          <p:nvSpPr>
            <p:cNvPr id="357563" name="矩形 357562"/>
            <p:cNvSpPr/>
            <p:nvPr/>
          </p:nvSpPr>
          <p:spPr>
            <a:xfrm>
              <a:off x="1496" y="1348"/>
              <a:ext cx="116" cy="97"/>
            </a:xfrm>
            <a:prstGeom prst="rect">
              <a:avLst/>
            </a:prstGeom>
            <a:noFill/>
            <a:ln w="9525">
              <a:noFill/>
            </a:ln>
          </p:spPr>
          <p:txBody>
            <a:bodyPr wrap="none" lIns="0" tIns="0" rIns="0" bIns="0">
              <a:spAutoFit/>
            </a:bodyPr>
            <a:lstStyle/>
            <a:p>
              <a:r>
                <a:rPr lang="en-US" altLang="zh-CN" sz="835" b="1" i="0">
                  <a:solidFill>
                    <a:schemeClr val="accent1"/>
                  </a:solidFill>
                  <a:latin typeface="Times New Roman" panose="02020603050405020304" pitchFamily="18" charset="0"/>
                </a:rPr>
                <a:t>DD</a:t>
              </a:r>
              <a:endParaRPr lang="en-US" altLang="zh-CN" sz="3665" b="1" i="0">
                <a:solidFill>
                  <a:schemeClr val="accent1"/>
                </a:solidFill>
                <a:latin typeface="Book Antiqua" panose="02040602050305030304" pitchFamily="18" charset="0"/>
              </a:endParaRPr>
            </a:p>
          </p:txBody>
        </p:sp>
        <p:sp>
          <p:nvSpPr>
            <p:cNvPr id="357564" name="矩形 357563"/>
            <p:cNvSpPr/>
            <p:nvPr/>
          </p:nvSpPr>
          <p:spPr>
            <a:xfrm>
              <a:off x="1620" y="1302"/>
              <a:ext cx="135"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+V</a:t>
              </a:r>
              <a:endParaRPr lang="en-US" altLang="zh-CN" sz="3665" b="1" i="0">
                <a:solidFill>
                  <a:schemeClr val="accent1"/>
                </a:solidFill>
                <a:latin typeface="Book Antiqua" panose="02040602050305030304" pitchFamily="18" charset="0"/>
              </a:endParaRPr>
            </a:p>
          </p:txBody>
        </p:sp>
        <p:sp>
          <p:nvSpPr>
            <p:cNvPr id="357565" name="矩形 357564"/>
            <p:cNvSpPr/>
            <p:nvPr/>
          </p:nvSpPr>
          <p:spPr>
            <a:xfrm>
              <a:off x="1725" y="1348"/>
              <a:ext cx="152" cy="97"/>
            </a:xfrm>
            <a:prstGeom prst="rect">
              <a:avLst/>
            </a:prstGeom>
            <a:noFill/>
            <a:ln w="9525">
              <a:noFill/>
            </a:ln>
          </p:spPr>
          <p:txBody>
            <a:bodyPr wrap="none" lIns="0" tIns="0" rIns="0" bIns="0">
              <a:spAutoFit/>
            </a:bodyPr>
            <a:lstStyle/>
            <a:p>
              <a:r>
                <a:rPr lang="en-US" altLang="zh-CN" sz="835" b="1" i="0" err="1">
                  <a:solidFill>
                    <a:schemeClr val="accent1"/>
                  </a:solidFill>
                  <a:latin typeface="Times New Roman" panose="02020603050405020304" pitchFamily="18" charset="0"/>
                </a:rPr>
                <a:t>GSp</a:t>
              </a:r>
              <a:endParaRPr lang="en-US" altLang="zh-CN" sz="3665" b="1" i="0">
                <a:solidFill>
                  <a:schemeClr val="accent1"/>
                </a:solidFill>
                <a:latin typeface="Book Antiqua" panose="02040602050305030304" pitchFamily="18" charset="0"/>
              </a:endParaRPr>
            </a:p>
          </p:txBody>
        </p:sp>
        <p:sp>
          <p:nvSpPr>
            <p:cNvPr id="357566" name="矩形 357565"/>
            <p:cNvSpPr/>
            <p:nvPr/>
          </p:nvSpPr>
          <p:spPr>
            <a:xfrm>
              <a:off x="1202" y="1433"/>
              <a:ext cx="41"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I</a:t>
              </a:r>
              <a:endParaRPr lang="en-US" altLang="zh-CN" sz="3665" b="1" i="0">
                <a:solidFill>
                  <a:schemeClr val="accent1"/>
                </a:solidFill>
                <a:latin typeface="Book Antiqua" panose="02040602050305030304" pitchFamily="18" charset="0"/>
              </a:endParaRPr>
            </a:p>
          </p:txBody>
        </p:sp>
        <p:sp>
          <p:nvSpPr>
            <p:cNvPr id="357567" name="矩形 357566"/>
            <p:cNvSpPr/>
            <p:nvPr/>
          </p:nvSpPr>
          <p:spPr>
            <a:xfrm>
              <a:off x="1235" y="1479"/>
              <a:ext cx="103" cy="97"/>
            </a:xfrm>
            <a:prstGeom prst="rect">
              <a:avLst/>
            </a:prstGeom>
            <a:noFill/>
            <a:ln w="9525">
              <a:noFill/>
            </a:ln>
          </p:spPr>
          <p:txBody>
            <a:bodyPr wrap="none" lIns="0" tIns="0" rIns="0" bIns="0">
              <a:spAutoFit/>
            </a:bodyPr>
            <a:lstStyle/>
            <a:p>
              <a:r>
                <a:rPr lang="en-US" altLang="zh-CN" sz="835" b="1" i="0" err="1">
                  <a:solidFill>
                    <a:schemeClr val="accent1"/>
                  </a:solidFill>
                  <a:latin typeface="Times New Roman" panose="02020603050405020304" pitchFamily="18" charset="0"/>
                </a:rPr>
                <a:t>Dn</a:t>
              </a:r>
              <a:endParaRPr lang="en-US" altLang="zh-CN" sz="3665" b="1" i="0">
                <a:solidFill>
                  <a:schemeClr val="accent1"/>
                </a:solidFill>
                <a:latin typeface="Book Antiqua" panose="02040602050305030304" pitchFamily="18" charset="0"/>
              </a:endParaRPr>
            </a:p>
          </p:txBody>
        </p:sp>
        <p:sp>
          <p:nvSpPr>
            <p:cNvPr id="357568" name="矩形 357567"/>
            <p:cNvSpPr/>
            <p:nvPr/>
          </p:nvSpPr>
          <p:spPr>
            <a:xfrm>
              <a:off x="1333" y="1433"/>
              <a:ext cx="215"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 = - I</a:t>
              </a:r>
              <a:endParaRPr lang="en-US" altLang="zh-CN" sz="3665" b="1" i="0">
                <a:solidFill>
                  <a:schemeClr val="accent1"/>
                </a:solidFill>
                <a:latin typeface="Book Antiqua" panose="02040602050305030304" pitchFamily="18" charset="0"/>
              </a:endParaRPr>
            </a:p>
          </p:txBody>
        </p:sp>
        <p:sp>
          <p:nvSpPr>
            <p:cNvPr id="357569" name="矩形 357568"/>
            <p:cNvSpPr/>
            <p:nvPr/>
          </p:nvSpPr>
          <p:spPr>
            <a:xfrm>
              <a:off x="1542" y="1479"/>
              <a:ext cx="103" cy="97"/>
            </a:xfrm>
            <a:prstGeom prst="rect">
              <a:avLst/>
            </a:prstGeom>
            <a:noFill/>
            <a:ln w="9525">
              <a:noFill/>
            </a:ln>
          </p:spPr>
          <p:txBody>
            <a:bodyPr wrap="none" lIns="0" tIns="0" rIns="0" bIns="0">
              <a:spAutoFit/>
            </a:bodyPr>
            <a:lstStyle/>
            <a:p>
              <a:r>
                <a:rPr lang="en-US" altLang="zh-CN" sz="835" b="1" i="0" err="1">
                  <a:solidFill>
                    <a:schemeClr val="accent1"/>
                  </a:solidFill>
                  <a:latin typeface="Times New Roman" panose="02020603050405020304" pitchFamily="18" charset="0"/>
                </a:rPr>
                <a:t>Dp</a:t>
              </a:r>
              <a:endParaRPr lang="en-US" altLang="zh-CN" sz="3665" b="1" i="0">
                <a:solidFill>
                  <a:schemeClr val="accent1"/>
                </a:solidFill>
                <a:latin typeface="Book Antiqua" panose="02040602050305030304" pitchFamily="18" charset="0"/>
              </a:endParaRPr>
            </a:p>
          </p:txBody>
        </p:sp>
        <p:sp>
          <p:nvSpPr>
            <p:cNvPr id="357570" name="矩形 357569"/>
            <p:cNvSpPr/>
            <p:nvPr/>
          </p:nvSpPr>
          <p:spPr>
            <a:xfrm>
              <a:off x="1169" y="1583"/>
              <a:ext cx="75"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V</a:t>
              </a:r>
              <a:endParaRPr lang="en-US" altLang="zh-CN" sz="3665" b="1" i="0">
                <a:solidFill>
                  <a:schemeClr val="accent1"/>
                </a:solidFill>
                <a:latin typeface="Book Antiqua" panose="02040602050305030304" pitchFamily="18" charset="0"/>
              </a:endParaRPr>
            </a:p>
          </p:txBody>
        </p:sp>
        <p:sp>
          <p:nvSpPr>
            <p:cNvPr id="357571" name="矩形 357570"/>
            <p:cNvSpPr/>
            <p:nvPr/>
          </p:nvSpPr>
          <p:spPr>
            <a:xfrm>
              <a:off x="1248" y="1629"/>
              <a:ext cx="112" cy="97"/>
            </a:xfrm>
            <a:prstGeom prst="rect">
              <a:avLst/>
            </a:prstGeom>
            <a:noFill/>
            <a:ln w="9525">
              <a:noFill/>
            </a:ln>
          </p:spPr>
          <p:txBody>
            <a:bodyPr wrap="none" lIns="0" tIns="0" rIns="0" bIns="0">
              <a:spAutoFit/>
            </a:bodyPr>
            <a:lstStyle/>
            <a:p>
              <a:r>
                <a:rPr lang="en-US" altLang="zh-CN" sz="835" b="1" i="0">
                  <a:solidFill>
                    <a:schemeClr val="accent1"/>
                  </a:solidFill>
                  <a:latin typeface="Times New Roman" panose="02020603050405020304" pitchFamily="18" charset="0"/>
                </a:rPr>
                <a:t>out</a:t>
              </a:r>
              <a:endParaRPr lang="en-US" altLang="zh-CN" sz="3665" b="1" i="0">
                <a:solidFill>
                  <a:schemeClr val="accent1"/>
                </a:solidFill>
                <a:latin typeface="Book Antiqua" panose="02040602050305030304" pitchFamily="18" charset="0"/>
              </a:endParaRPr>
            </a:p>
          </p:txBody>
        </p:sp>
        <p:sp>
          <p:nvSpPr>
            <p:cNvPr id="357572" name="矩形 357571"/>
            <p:cNvSpPr/>
            <p:nvPr/>
          </p:nvSpPr>
          <p:spPr>
            <a:xfrm>
              <a:off x="1352" y="1583"/>
              <a:ext cx="188"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 = V</a:t>
              </a:r>
              <a:endParaRPr lang="en-US" altLang="zh-CN" sz="3665" b="1" i="0">
                <a:solidFill>
                  <a:schemeClr val="accent1"/>
                </a:solidFill>
                <a:latin typeface="Book Antiqua" panose="02040602050305030304" pitchFamily="18" charset="0"/>
              </a:endParaRPr>
            </a:p>
          </p:txBody>
        </p:sp>
        <p:sp>
          <p:nvSpPr>
            <p:cNvPr id="357573" name="矩形 357572"/>
            <p:cNvSpPr/>
            <p:nvPr/>
          </p:nvSpPr>
          <p:spPr>
            <a:xfrm>
              <a:off x="1535" y="1629"/>
              <a:ext cx="116" cy="97"/>
            </a:xfrm>
            <a:prstGeom prst="rect">
              <a:avLst/>
            </a:prstGeom>
            <a:noFill/>
            <a:ln w="9525">
              <a:noFill/>
            </a:ln>
          </p:spPr>
          <p:txBody>
            <a:bodyPr wrap="none" lIns="0" tIns="0" rIns="0" bIns="0">
              <a:spAutoFit/>
            </a:bodyPr>
            <a:lstStyle/>
            <a:p>
              <a:r>
                <a:rPr lang="en-US" altLang="zh-CN" sz="835" b="1" i="0">
                  <a:solidFill>
                    <a:schemeClr val="accent1"/>
                  </a:solidFill>
                  <a:latin typeface="Times New Roman" panose="02020603050405020304" pitchFamily="18" charset="0"/>
                </a:rPr>
                <a:t>DD</a:t>
              </a:r>
              <a:endParaRPr lang="en-US" altLang="zh-CN" sz="3665" b="1" i="0">
                <a:solidFill>
                  <a:schemeClr val="accent1"/>
                </a:solidFill>
                <a:latin typeface="Book Antiqua" panose="02040602050305030304" pitchFamily="18" charset="0"/>
              </a:endParaRPr>
            </a:p>
          </p:txBody>
        </p:sp>
        <p:sp>
          <p:nvSpPr>
            <p:cNvPr id="357574" name="矩形 357573"/>
            <p:cNvSpPr/>
            <p:nvPr/>
          </p:nvSpPr>
          <p:spPr>
            <a:xfrm>
              <a:off x="1660" y="1583"/>
              <a:ext cx="135" cy="126"/>
            </a:xfrm>
            <a:prstGeom prst="rect">
              <a:avLst/>
            </a:prstGeom>
            <a:noFill/>
            <a:ln w="9525">
              <a:noFill/>
            </a:ln>
          </p:spPr>
          <p:txBody>
            <a:bodyPr wrap="none" lIns="0" tIns="0" rIns="0" bIns="0">
              <a:spAutoFit/>
            </a:bodyPr>
            <a:lstStyle/>
            <a:p>
              <a:r>
                <a:rPr lang="en-US" altLang="zh-CN" sz="1085" b="1" i="0">
                  <a:solidFill>
                    <a:schemeClr val="accent1"/>
                  </a:solidFill>
                  <a:latin typeface="Times New Roman" panose="02020603050405020304" pitchFamily="18" charset="0"/>
                </a:rPr>
                <a:t>+V</a:t>
              </a:r>
              <a:endParaRPr lang="en-US" altLang="zh-CN" sz="3665" b="1" i="0">
                <a:solidFill>
                  <a:schemeClr val="accent1"/>
                </a:solidFill>
                <a:latin typeface="Book Antiqua" panose="02040602050305030304" pitchFamily="18" charset="0"/>
              </a:endParaRPr>
            </a:p>
          </p:txBody>
        </p:sp>
        <p:sp>
          <p:nvSpPr>
            <p:cNvPr id="357575" name="矩形 357574"/>
            <p:cNvSpPr/>
            <p:nvPr/>
          </p:nvSpPr>
          <p:spPr>
            <a:xfrm>
              <a:off x="1771" y="1629"/>
              <a:ext cx="147" cy="97"/>
            </a:xfrm>
            <a:prstGeom prst="rect">
              <a:avLst/>
            </a:prstGeom>
            <a:noFill/>
            <a:ln w="9525">
              <a:noFill/>
            </a:ln>
          </p:spPr>
          <p:txBody>
            <a:bodyPr wrap="none" lIns="0" tIns="0" rIns="0" bIns="0">
              <a:spAutoFit/>
            </a:bodyPr>
            <a:lstStyle/>
            <a:p>
              <a:r>
                <a:rPr lang="en-US" altLang="zh-CN" sz="835" b="1" i="0" err="1">
                  <a:solidFill>
                    <a:schemeClr val="accent1"/>
                  </a:solidFill>
                  <a:latin typeface="Times New Roman" panose="02020603050405020304" pitchFamily="18" charset="0"/>
                </a:rPr>
                <a:t>DSp</a:t>
              </a:r>
              <a:endParaRPr lang="en-US" altLang="zh-CN" sz="3665" b="1" i="0">
                <a:solidFill>
                  <a:schemeClr val="accent1"/>
                </a:solidFill>
                <a:latin typeface="Book Antiqua" panose="02040602050305030304" pitchFamily="18" charset="0"/>
              </a:endParaRPr>
            </a:p>
          </p:txBody>
        </p:sp>
      </p:grpSp>
      <p:sp>
        <p:nvSpPr>
          <p:cNvPr id="2" name="文本框 1"/>
          <p:cNvSpPr txBox="1"/>
          <p:nvPr/>
        </p:nvSpPr>
        <p:spPr>
          <a:xfrm>
            <a:off x="822960" y="1032510"/>
            <a:ext cx="7546340" cy="368300"/>
          </a:xfrm>
          <a:prstGeom prst="rect">
            <a:avLst/>
          </a:prstGeom>
          <a:noFill/>
        </p:spPr>
        <p:txBody>
          <a:bodyPr wrap="square" rtlCol="0" anchor="t">
            <a:spAutoFit/>
          </a:bodyPr>
          <a:lstStyle/>
          <a:p>
            <a:pPr algn="l"/>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VTC</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曲线   </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NMOS</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PMOS</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器件电流特性进行叠加</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-VTC</a:t>
            </a:r>
            <a:endParaRPr lang="zh-CN" altLang="en-US"/>
          </a:p>
        </p:txBody>
      </p:sp>
      <p:pic>
        <p:nvPicPr>
          <p:cNvPr id="358403" name="图片 358402"/>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1304713" y="1323128"/>
            <a:ext cx="6363229" cy="3704167"/>
          </a:xfrm>
          <a:prstGeom prst="rect">
            <a:avLst/>
          </a:prstGeom>
          <a:noFill/>
          <a:ln w="12700">
            <a:noFill/>
          </a:ln>
        </p:spPr>
      </p:pic>
      <p:sp>
        <p:nvSpPr>
          <p:cNvPr id="358404" name="椭圆 358403"/>
          <p:cNvSpPr/>
          <p:nvPr/>
        </p:nvSpPr>
        <p:spPr>
          <a:xfrm>
            <a:off x="6604318" y="4606608"/>
            <a:ext cx="134938" cy="134938"/>
          </a:xfrm>
          <a:prstGeom prst="ellipse">
            <a:avLst/>
          </a:prstGeom>
          <a:solidFill>
            <a:schemeClr val="accent1"/>
          </a:solidFill>
          <a:ln w="12700" cap="flat" cmpd="sng">
            <a:solidFill>
              <a:schemeClr val="tx1"/>
            </a:solidFill>
            <a:prstDash val="solid"/>
            <a:headEnd type="none" w="med" len="med"/>
            <a:tailEnd type="none" w="med" len="med"/>
          </a:ln>
        </p:spPr>
        <p:txBody>
          <a:bodyPr/>
          <a:lstStyle/>
          <a:p>
            <a:endParaRPr lang="zh-CN" altLang="en-US" sz="1500"/>
          </a:p>
        </p:txBody>
      </p:sp>
      <p:sp>
        <p:nvSpPr>
          <p:cNvPr id="358405" name="椭圆 358404"/>
          <p:cNvSpPr/>
          <p:nvPr/>
        </p:nvSpPr>
        <p:spPr>
          <a:xfrm>
            <a:off x="6540818" y="4376420"/>
            <a:ext cx="134938" cy="134938"/>
          </a:xfrm>
          <a:prstGeom prst="ellipse">
            <a:avLst/>
          </a:prstGeom>
          <a:solidFill>
            <a:schemeClr val="accent1"/>
          </a:solidFill>
          <a:ln w="12700" cap="flat" cmpd="sng">
            <a:solidFill>
              <a:schemeClr val="tx1"/>
            </a:solidFill>
            <a:prstDash val="solid"/>
            <a:headEnd type="none" w="med" len="med"/>
            <a:tailEnd type="none" w="med" len="med"/>
          </a:ln>
        </p:spPr>
        <p:txBody>
          <a:bodyPr/>
          <a:lstStyle/>
          <a:p>
            <a:endParaRPr lang="zh-CN" altLang="en-US" sz="1500"/>
          </a:p>
        </p:txBody>
      </p:sp>
      <p:sp>
        <p:nvSpPr>
          <p:cNvPr id="358406" name="椭圆 358405"/>
          <p:cNvSpPr/>
          <p:nvPr/>
        </p:nvSpPr>
        <p:spPr>
          <a:xfrm>
            <a:off x="6247130" y="3939858"/>
            <a:ext cx="134938" cy="134938"/>
          </a:xfrm>
          <a:prstGeom prst="ellipse">
            <a:avLst/>
          </a:prstGeom>
          <a:solidFill>
            <a:schemeClr val="accent1"/>
          </a:solidFill>
          <a:ln w="12700" cap="flat" cmpd="sng">
            <a:solidFill>
              <a:schemeClr val="tx1"/>
            </a:solidFill>
            <a:prstDash val="solid"/>
            <a:headEnd type="none" w="med" len="med"/>
            <a:tailEnd type="none" w="med" len="med"/>
          </a:ln>
        </p:spPr>
        <p:txBody>
          <a:bodyPr/>
          <a:lstStyle/>
          <a:p>
            <a:endParaRPr lang="zh-CN" altLang="en-US" sz="1500"/>
          </a:p>
        </p:txBody>
      </p:sp>
      <p:sp>
        <p:nvSpPr>
          <p:cNvPr id="358407" name="椭圆 358406"/>
          <p:cNvSpPr/>
          <p:nvPr/>
        </p:nvSpPr>
        <p:spPr>
          <a:xfrm>
            <a:off x="2746693" y="3923983"/>
            <a:ext cx="134938" cy="134938"/>
          </a:xfrm>
          <a:prstGeom prst="ellipse">
            <a:avLst/>
          </a:prstGeom>
          <a:solidFill>
            <a:schemeClr val="accent1"/>
          </a:solidFill>
          <a:ln w="12700" cap="flat" cmpd="sng">
            <a:solidFill>
              <a:schemeClr val="tx1"/>
            </a:solidFill>
            <a:prstDash val="solid"/>
            <a:headEnd type="none" w="med" len="med"/>
            <a:tailEnd type="none" w="med" len="med"/>
          </a:ln>
        </p:spPr>
        <p:txBody>
          <a:bodyPr/>
          <a:lstStyle/>
          <a:p>
            <a:endParaRPr lang="zh-CN" altLang="en-US" sz="1500"/>
          </a:p>
        </p:txBody>
      </p:sp>
      <p:sp>
        <p:nvSpPr>
          <p:cNvPr id="358408" name="椭圆 358407"/>
          <p:cNvSpPr/>
          <p:nvPr/>
        </p:nvSpPr>
        <p:spPr>
          <a:xfrm>
            <a:off x="2460943" y="4384358"/>
            <a:ext cx="134938" cy="134938"/>
          </a:xfrm>
          <a:prstGeom prst="ellipse">
            <a:avLst/>
          </a:prstGeom>
          <a:solidFill>
            <a:schemeClr val="accent1"/>
          </a:solidFill>
          <a:ln w="12700" cap="flat" cmpd="sng">
            <a:solidFill>
              <a:schemeClr val="tx1"/>
            </a:solidFill>
            <a:prstDash val="solid"/>
            <a:headEnd type="none" w="med" len="med"/>
            <a:tailEnd type="none" w="med" len="med"/>
          </a:ln>
        </p:spPr>
        <p:txBody>
          <a:bodyPr/>
          <a:lstStyle/>
          <a:p>
            <a:endParaRPr lang="zh-CN" altLang="en-US" sz="1500"/>
          </a:p>
        </p:txBody>
      </p:sp>
      <p:sp>
        <p:nvSpPr>
          <p:cNvPr id="358409" name="椭圆 358408"/>
          <p:cNvSpPr/>
          <p:nvPr/>
        </p:nvSpPr>
        <p:spPr>
          <a:xfrm>
            <a:off x="2357755" y="4614545"/>
            <a:ext cx="134938" cy="134938"/>
          </a:xfrm>
          <a:prstGeom prst="ellipse">
            <a:avLst/>
          </a:prstGeom>
          <a:solidFill>
            <a:schemeClr val="accent1"/>
          </a:solidFill>
          <a:ln w="12700" cap="flat" cmpd="sng">
            <a:solidFill>
              <a:schemeClr val="tx1"/>
            </a:solidFill>
            <a:prstDash val="solid"/>
            <a:headEnd type="none" w="med" len="med"/>
            <a:tailEnd type="none" w="med" len="med"/>
          </a:ln>
        </p:spPr>
        <p:txBody>
          <a:bodyPr/>
          <a:lstStyle/>
          <a:p>
            <a:endParaRPr lang="zh-CN" altLang="en-US" sz="15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-VTC</a:t>
            </a:r>
            <a:endParaRPr lang="zh-CN" altLang="en-US"/>
          </a:p>
        </p:txBody>
      </p:sp>
      <p:sp>
        <p:nvSpPr>
          <p:cNvPr id="359427" name="矩形 359426"/>
          <p:cNvSpPr/>
          <p:nvPr/>
        </p:nvSpPr>
        <p:spPr>
          <a:xfrm>
            <a:off x="5424170" y="1838113"/>
            <a:ext cx="0" cy="10583"/>
          </a:xfrm>
          <a:prstGeom prst="rect">
            <a:avLst/>
          </a:prstGeom>
          <a:blipFill rotWithShape="0">
            <a:blip r:embed="rId1"/>
          </a:blipFill>
          <a:ln w="9525">
            <a:noFill/>
          </a:ln>
        </p:spPr>
        <p:txBody>
          <a:bodyPr/>
          <a:lstStyle/>
          <a:p>
            <a:endParaRPr lang="zh-CN" altLang="en-US" sz="1500"/>
          </a:p>
        </p:txBody>
      </p:sp>
      <p:sp>
        <p:nvSpPr>
          <p:cNvPr id="359428" name="矩形 359427"/>
          <p:cNvSpPr/>
          <p:nvPr/>
        </p:nvSpPr>
        <p:spPr>
          <a:xfrm>
            <a:off x="5381837" y="1838113"/>
            <a:ext cx="0" cy="10583"/>
          </a:xfrm>
          <a:prstGeom prst="rect">
            <a:avLst/>
          </a:prstGeom>
          <a:blipFill rotWithShape="0">
            <a:blip r:embed="rId1"/>
          </a:blipFill>
          <a:ln w="9525">
            <a:noFill/>
          </a:ln>
        </p:spPr>
        <p:txBody>
          <a:bodyPr/>
          <a:lstStyle/>
          <a:p>
            <a:endParaRPr lang="zh-CN" altLang="en-US" sz="1500"/>
          </a:p>
        </p:txBody>
      </p:sp>
      <p:sp>
        <p:nvSpPr>
          <p:cNvPr id="359429" name="矩形 359428"/>
          <p:cNvSpPr/>
          <p:nvPr/>
        </p:nvSpPr>
        <p:spPr>
          <a:xfrm>
            <a:off x="5424170" y="2293197"/>
            <a:ext cx="0" cy="10583"/>
          </a:xfrm>
          <a:prstGeom prst="rect">
            <a:avLst/>
          </a:prstGeom>
          <a:blipFill rotWithShape="0">
            <a:blip r:embed="rId1"/>
          </a:blipFill>
          <a:ln w="9525">
            <a:noFill/>
          </a:ln>
        </p:spPr>
        <p:txBody>
          <a:bodyPr/>
          <a:lstStyle/>
          <a:p>
            <a:endParaRPr lang="zh-CN" altLang="en-US" sz="1500"/>
          </a:p>
        </p:txBody>
      </p:sp>
      <p:sp>
        <p:nvSpPr>
          <p:cNvPr id="359430" name="矩形 359429"/>
          <p:cNvSpPr/>
          <p:nvPr/>
        </p:nvSpPr>
        <p:spPr>
          <a:xfrm>
            <a:off x="5381837" y="2293197"/>
            <a:ext cx="0" cy="10583"/>
          </a:xfrm>
          <a:prstGeom prst="rect">
            <a:avLst/>
          </a:prstGeom>
          <a:blipFill rotWithShape="0">
            <a:blip r:embed="rId1"/>
          </a:blipFill>
          <a:ln w="9525">
            <a:noFill/>
          </a:ln>
        </p:spPr>
        <p:txBody>
          <a:bodyPr/>
          <a:lstStyle/>
          <a:p>
            <a:endParaRPr lang="zh-CN" altLang="en-US" sz="1500"/>
          </a:p>
        </p:txBody>
      </p:sp>
      <p:sp>
        <p:nvSpPr>
          <p:cNvPr id="359431" name="矩形 359430"/>
          <p:cNvSpPr/>
          <p:nvPr/>
        </p:nvSpPr>
        <p:spPr>
          <a:xfrm>
            <a:off x="5424170" y="2060363"/>
            <a:ext cx="0" cy="10583"/>
          </a:xfrm>
          <a:prstGeom prst="rect">
            <a:avLst/>
          </a:prstGeom>
          <a:blipFill rotWithShape="0">
            <a:blip r:embed="rId1"/>
          </a:blipFill>
          <a:ln w="9525">
            <a:noFill/>
          </a:ln>
        </p:spPr>
        <p:txBody>
          <a:bodyPr/>
          <a:lstStyle/>
          <a:p>
            <a:endParaRPr lang="zh-CN" altLang="en-US" sz="1500"/>
          </a:p>
        </p:txBody>
      </p:sp>
      <p:sp>
        <p:nvSpPr>
          <p:cNvPr id="359432" name="矩形 359431"/>
          <p:cNvSpPr/>
          <p:nvPr/>
        </p:nvSpPr>
        <p:spPr>
          <a:xfrm>
            <a:off x="5381837" y="2060363"/>
            <a:ext cx="0" cy="10583"/>
          </a:xfrm>
          <a:prstGeom prst="rect">
            <a:avLst/>
          </a:prstGeom>
          <a:blipFill rotWithShape="0">
            <a:blip r:embed="rId1"/>
          </a:blipFill>
          <a:ln w="9525">
            <a:noFill/>
          </a:ln>
        </p:spPr>
        <p:txBody>
          <a:bodyPr/>
          <a:lstStyle/>
          <a:p>
            <a:endParaRPr lang="zh-CN" altLang="en-US" sz="1500"/>
          </a:p>
        </p:txBody>
      </p:sp>
      <p:sp>
        <p:nvSpPr>
          <p:cNvPr id="359433" name="矩形 359432"/>
          <p:cNvSpPr/>
          <p:nvPr/>
        </p:nvSpPr>
        <p:spPr>
          <a:xfrm>
            <a:off x="5424170" y="2526030"/>
            <a:ext cx="0" cy="10583"/>
          </a:xfrm>
          <a:prstGeom prst="rect">
            <a:avLst/>
          </a:prstGeom>
          <a:blipFill rotWithShape="0">
            <a:blip r:embed="rId1"/>
          </a:blipFill>
          <a:ln w="9525">
            <a:noFill/>
          </a:ln>
        </p:spPr>
        <p:txBody>
          <a:bodyPr/>
          <a:lstStyle/>
          <a:p>
            <a:endParaRPr lang="zh-CN" altLang="en-US" sz="1500"/>
          </a:p>
        </p:txBody>
      </p:sp>
      <p:sp>
        <p:nvSpPr>
          <p:cNvPr id="359434" name="矩形 359433"/>
          <p:cNvSpPr/>
          <p:nvPr/>
        </p:nvSpPr>
        <p:spPr>
          <a:xfrm>
            <a:off x="5381837" y="2526030"/>
            <a:ext cx="0" cy="10583"/>
          </a:xfrm>
          <a:prstGeom prst="rect">
            <a:avLst/>
          </a:prstGeom>
          <a:blipFill rotWithShape="0">
            <a:blip r:embed="rId1"/>
          </a:blipFill>
          <a:ln w="9525">
            <a:noFill/>
          </a:ln>
        </p:spPr>
        <p:txBody>
          <a:bodyPr/>
          <a:lstStyle/>
          <a:p>
            <a:endParaRPr lang="zh-CN" altLang="en-US" sz="1500"/>
          </a:p>
        </p:txBody>
      </p:sp>
      <p:sp>
        <p:nvSpPr>
          <p:cNvPr id="359435" name="矩形 359434"/>
          <p:cNvSpPr/>
          <p:nvPr/>
        </p:nvSpPr>
        <p:spPr>
          <a:xfrm>
            <a:off x="5424170" y="1605280"/>
            <a:ext cx="0" cy="10583"/>
          </a:xfrm>
          <a:prstGeom prst="rect">
            <a:avLst/>
          </a:prstGeom>
          <a:blipFill rotWithShape="0">
            <a:blip r:embed="rId1"/>
          </a:blipFill>
          <a:ln w="9525">
            <a:noFill/>
          </a:ln>
        </p:spPr>
        <p:txBody>
          <a:bodyPr/>
          <a:lstStyle/>
          <a:p>
            <a:endParaRPr lang="zh-CN" altLang="en-US" sz="1500"/>
          </a:p>
        </p:txBody>
      </p:sp>
      <p:sp>
        <p:nvSpPr>
          <p:cNvPr id="359436" name="矩形 359435"/>
          <p:cNvSpPr/>
          <p:nvPr/>
        </p:nvSpPr>
        <p:spPr>
          <a:xfrm>
            <a:off x="5381837" y="1605280"/>
            <a:ext cx="0" cy="10583"/>
          </a:xfrm>
          <a:prstGeom prst="rect">
            <a:avLst/>
          </a:prstGeom>
          <a:blipFill rotWithShape="0">
            <a:blip r:embed="rId1"/>
          </a:blipFill>
          <a:ln w="9525">
            <a:noFill/>
          </a:ln>
        </p:spPr>
        <p:txBody>
          <a:bodyPr/>
          <a:lstStyle/>
          <a:p>
            <a:endParaRPr lang="zh-CN" altLang="en-US" sz="1500"/>
          </a:p>
        </p:txBody>
      </p:sp>
      <p:sp>
        <p:nvSpPr>
          <p:cNvPr id="359437" name="矩形 359436"/>
          <p:cNvSpPr/>
          <p:nvPr/>
        </p:nvSpPr>
        <p:spPr>
          <a:xfrm>
            <a:off x="5424170" y="1383030"/>
            <a:ext cx="0" cy="10583"/>
          </a:xfrm>
          <a:prstGeom prst="rect">
            <a:avLst/>
          </a:prstGeom>
          <a:blipFill rotWithShape="0">
            <a:blip r:embed="rId1"/>
          </a:blipFill>
          <a:ln w="9525">
            <a:noFill/>
          </a:ln>
        </p:spPr>
        <p:txBody>
          <a:bodyPr/>
          <a:lstStyle/>
          <a:p>
            <a:endParaRPr lang="zh-CN" altLang="en-US" sz="1500"/>
          </a:p>
        </p:txBody>
      </p:sp>
      <p:sp>
        <p:nvSpPr>
          <p:cNvPr id="359438" name="矩形 359437"/>
          <p:cNvSpPr/>
          <p:nvPr/>
        </p:nvSpPr>
        <p:spPr>
          <a:xfrm>
            <a:off x="5381837" y="1383030"/>
            <a:ext cx="0" cy="10583"/>
          </a:xfrm>
          <a:prstGeom prst="rect">
            <a:avLst/>
          </a:prstGeom>
          <a:blipFill rotWithShape="0">
            <a:blip r:embed="rId1"/>
          </a:blipFill>
          <a:ln w="9525">
            <a:noFill/>
          </a:ln>
        </p:spPr>
        <p:txBody>
          <a:bodyPr/>
          <a:lstStyle/>
          <a:p>
            <a:endParaRPr lang="zh-CN" altLang="en-US" sz="1500"/>
          </a:p>
        </p:txBody>
      </p:sp>
      <p:sp>
        <p:nvSpPr>
          <p:cNvPr id="359439" name="矩形 359438"/>
          <p:cNvSpPr/>
          <p:nvPr/>
        </p:nvSpPr>
        <p:spPr>
          <a:xfrm>
            <a:off x="6081660" y="2515447"/>
            <a:ext cx="10583" cy="0"/>
          </a:xfrm>
          <a:prstGeom prst="rect">
            <a:avLst/>
          </a:prstGeom>
          <a:blipFill rotWithShape="0">
            <a:blip r:embed="rId1"/>
          </a:blipFill>
          <a:ln w="9525">
            <a:noFill/>
          </a:ln>
        </p:spPr>
        <p:txBody>
          <a:bodyPr/>
          <a:lstStyle/>
          <a:p>
            <a:endParaRPr lang="zh-CN" altLang="en-US" sz="1500"/>
          </a:p>
        </p:txBody>
      </p:sp>
      <p:sp>
        <p:nvSpPr>
          <p:cNvPr id="359440" name="矩形 359439"/>
          <p:cNvSpPr/>
          <p:nvPr/>
        </p:nvSpPr>
        <p:spPr>
          <a:xfrm>
            <a:off x="6081660" y="2483697"/>
            <a:ext cx="10583" cy="0"/>
          </a:xfrm>
          <a:prstGeom prst="rect">
            <a:avLst/>
          </a:prstGeom>
          <a:blipFill rotWithShape="0">
            <a:blip r:embed="rId1"/>
          </a:blipFill>
          <a:ln w="9525">
            <a:noFill/>
          </a:ln>
        </p:spPr>
        <p:txBody>
          <a:bodyPr/>
          <a:lstStyle/>
          <a:p>
            <a:endParaRPr lang="zh-CN" altLang="en-US" sz="1500"/>
          </a:p>
        </p:txBody>
      </p:sp>
      <p:sp>
        <p:nvSpPr>
          <p:cNvPr id="359441" name="矩形 359440"/>
          <p:cNvSpPr/>
          <p:nvPr/>
        </p:nvSpPr>
        <p:spPr>
          <a:xfrm>
            <a:off x="5614670" y="2515447"/>
            <a:ext cx="10583" cy="0"/>
          </a:xfrm>
          <a:prstGeom prst="rect">
            <a:avLst/>
          </a:prstGeom>
          <a:blipFill rotWithShape="0">
            <a:blip r:embed="rId1"/>
          </a:blipFill>
          <a:ln w="9525">
            <a:noFill/>
          </a:ln>
        </p:spPr>
        <p:txBody>
          <a:bodyPr/>
          <a:lstStyle/>
          <a:p>
            <a:endParaRPr lang="zh-CN" altLang="en-US" sz="1500"/>
          </a:p>
        </p:txBody>
      </p:sp>
      <p:sp>
        <p:nvSpPr>
          <p:cNvPr id="359442" name="矩形 359441"/>
          <p:cNvSpPr/>
          <p:nvPr/>
        </p:nvSpPr>
        <p:spPr>
          <a:xfrm>
            <a:off x="5614670" y="2483697"/>
            <a:ext cx="10583" cy="0"/>
          </a:xfrm>
          <a:prstGeom prst="rect">
            <a:avLst/>
          </a:prstGeom>
          <a:blipFill rotWithShape="0">
            <a:blip r:embed="rId1"/>
          </a:blipFill>
          <a:ln w="9525">
            <a:noFill/>
          </a:ln>
        </p:spPr>
        <p:txBody>
          <a:bodyPr/>
          <a:lstStyle/>
          <a:p>
            <a:endParaRPr lang="zh-CN" altLang="en-US" sz="1500"/>
          </a:p>
        </p:txBody>
      </p:sp>
      <p:sp>
        <p:nvSpPr>
          <p:cNvPr id="359443" name="矩形 359442"/>
          <p:cNvSpPr/>
          <p:nvPr/>
        </p:nvSpPr>
        <p:spPr>
          <a:xfrm>
            <a:off x="5848827" y="2515447"/>
            <a:ext cx="10583" cy="0"/>
          </a:xfrm>
          <a:prstGeom prst="rect">
            <a:avLst/>
          </a:prstGeom>
          <a:blipFill rotWithShape="0">
            <a:blip r:embed="rId1"/>
          </a:blipFill>
          <a:ln w="9525">
            <a:noFill/>
          </a:ln>
        </p:spPr>
        <p:txBody>
          <a:bodyPr/>
          <a:lstStyle/>
          <a:p>
            <a:endParaRPr lang="zh-CN" altLang="en-US" sz="1500"/>
          </a:p>
        </p:txBody>
      </p:sp>
      <p:sp>
        <p:nvSpPr>
          <p:cNvPr id="359444" name="矩形 359443"/>
          <p:cNvSpPr/>
          <p:nvPr/>
        </p:nvSpPr>
        <p:spPr>
          <a:xfrm>
            <a:off x="5848827" y="2483697"/>
            <a:ext cx="10583" cy="0"/>
          </a:xfrm>
          <a:prstGeom prst="rect">
            <a:avLst/>
          </a:prstGeom>
          <a:blipFill rotWithShape="0">
            <a:blip r:embed="rId1"/>
          </a:blipFill>
          <a:ln w="9525">
            <a:noFill/>
          </a:ln>
        </p:spPr>
        <p:txBody>
          <a:bodyPr/>
          <a:lstStyle/>
          <a:p>
            <a:endParaRPr lang="zh-CN" altLang="en-US" sz="1500"/>
          </a:p>
        </p:txBody>
      </p:sp>
      <p:sp>
        <p:nvSpPr>
          <p:cNvPr id="359445" name="矩形 359444"/>
          <p:cNvSpPr/>
          <p:nvPr/>
        </p:nvSpPr>
        <p:spPr>
          <a:xfrm>
            <a:off x="5381837" y="2515447"/>
            <a:ext cx="10583" cy="0"/>
          </a:xfrm>
          <a:prstGeom prst="rect">
            <a:avLst/>
          </a:prstGeom>
          <a:blipFill rotWithShape="0">
            <a:blip r:embed="rId1"/>
          </a:blipFill>
          <a:ln w="9525">
            <a:noFill/>
          </a:ln>
        </p:spPr>
        <p:txBody>
          <a:bodyPr/>
          <a:lstStyle/>
          <a:p>
            <a:endParaRPr lang="zh-CN" altLang="en-US" sz="1500"/>
          </a:p>
        </p:txBody>
      </p:sp>
      <p:sp>
        <p:nvSpPr>
          <p:cNvPr id="359446" name="矩形 359445"/>
          <p:cNvSpPr/>
          <p:nvPr/>
        </p:nvSpPr>
        <p:spPr>
          <a:xfrm>
            <a:off x="5381837" y="2483697"/>
            <a:ext cx="10583" cy="0"/>
          </a:xfrm>
          <a:prstGeom prst="rect">
            <a:avLst/>
          </a:prstGeom>
          <a:blipFill rotWithShape="0">
            <a:blip r:embed="rId1"/>
          </a:blipFill>
          <a:ln w="9525">
            <a:noFill/>
          </a:ln>
        </p:spPr>
        <p:txBody>
          <a:bodyPr/>
          <a:lstStyle/>
          <a:p>
            <a:endParaRPr lang="zh-CN" altLang="en-US" sz="1500"/>
          </a:p>
        </p:txBody>
      </p:sp>
      <p:sp>
        <p:nvSpPr>
          <p:cNvPr id="359447" name="矩形 359446"/>
          <p:cNvSpPr/>
          <p:nvPr/>
        </p:nvSpPr>
        <p:spPr>
          <a:xfrm>
            <a:off x="6314493" y="2515447"/>
            <a:ext cx="10583" cy="0"/>
          </a:xfrm>
          <a:prstGeom prst="rect">
            <a:avLst/>
          </a:prstGeom>
          <a:blipFill rotWithShape="0">
            <a:blip r:embed="rId1"/>
          </a:blipFill>
          <a:ln w="9525">
            <a:noFill/>
          </a:ln>
        </p:spPr>
        <p:txBody>
          <a:bodyPr/>
          <a:lstStyle/>
          <a:p>
            <a:endParaRPr lang="zh-CN" altLang="en-US" sz="1500"/>
          </a:p>
        </p:txBody>
      </p:sp>
      <p:sp>
        <p:nvSpPr>
          <p:cNvPr id="359448" name="矩形 359447"/>
          <p:cNvSpPr/>
          <p:nvPr/>
        </p:nvSpPr>
        <p:spPr>
          <a:xfrm>
            <a:off x="6314493" y="2483697"/>
            <a:ext cx="10583" cy="0"/>
          </a:xfrm>
          <a:prstGeom prst="rect">
            <a:avLst/>
          </a:prstGeom>
          <a:blipFill rotWithShape="0">
            <a:blip r:embed="rId1"/>
          </a:blipFill>
          <a:ln w="9525">
            <a:noFill/>
          </a:ln>
        </p:spPr>
        <p:txBody>
          <a:bodyPr/>
          <a:lstStyle/>
          <a:p>
            <a:endParaRPr lang="zh-CN" altLang="en-US" sz="1500"/>
          </a:p>
        </p:txBody>
      </p:sp>
      <p:sp>
        <p:nvSpPr>
          <p:cNvPr id="359449" name="矩形 359448"/>
          <p:cNvSpPr/>
          <p:nvPr/>
        </p:nvSpPr>
        <p:spPr>
          <a:xfrm>
            <a:off x="6547327" y="2515447"/>
            <a:ext cx="10583" cy="0"/>
          </a:xfrm>
          <a:prstGeom prst="rect">
            <a:avLst/>
          </a:prstGeom>
          <a:blipFill rotWithShape="0">
            <a:blip r:embed="rId1"/>
          </a:blipFill>
          <a:ln w="9525">
            <a:noFill/>
          </a:ln>
        </p:spPr>
        <p:txBody>
          <a:bodyPr/>
          <a:lstStyle/>
          <a:p>
            <a:endParaRPr lang="zh-CN" altLang="en-US" sz="1500"/>
          </a:p>
        </p:txBody>
      </p:sp>
      <p:sp>
        <p:nvSpPr>
          <p:cNvPr id="359450" name="矩形 359449"/>
          <p:cNvSpPr/>
          <p:nvPr/>
        </p:nvSpPr>
        <p:spPr>
          <a:xfrm>
            <a:off x="6547327" y="2483697"/>
            <a:ext cx="10583" cy="0"/>
          </a:xfrm>
          <a:prstGeom prst="rect">
            <a:avLst/>
          </a:prstGeom>
          <a:blipFill rotWithShape="0">
            <a:blip r:embed="rId1"/>
          </a:blipFill>
          <a:ln w="9525">
            <a:noFill/>
          </a:ln>
        </p:spPr>
        <p:txBody>
          <a:bodyPr/>
          <a:lstStyle/>
          <a:p>
            <a:endParaRPr lang="zh-CN" altLang="en-US" sz="1500"/>
          </a:p>
        </p:txBody>
      </p:sp>
      <p:sp>
        <p:nvSpPr>
          <p:cNvPr id="359451" name="矩形 359450"/>
          <p:cNvSpPr/>
          <p:nvPr/>
        </p:nvSpPr>
        <p:spPr>
          <a:xfrm>
            <a:off x="5508837" y="2642447"/>
            <a:ext cx="10583" cy="0"/>
          </a:xfrm>
          <a:prstGeom prst="rect">
            <a:avLst/>
          </a:prstGeom>
          <a:blipFill rotWithShape="0">
            <a:blip r:embed="rId1"/>
          </a:blipFill>
          <a:ln w="9525">
            <a:noFill/>
          </a:ln>
        </p:spPr>
        <p:txBody>
          <a:bodyPr/>
          <a:lstStyle/>
          <a:p>
            <a:endParaRPr lang="zh-CN" altLang="en-US" sz="1500"/>
          </a:p>
        </p:txBody>
      </p:sp>
      <p:sp>
        <p:nvSpPr>
          <p:cNvPr id="359452" name="矩形 359451"/>
          <p:cNvSpPr/>
          <p:nvPr/>
        </p:nvSpPr>
        <p:spPr>
          <a:xfrm>
            <a:off x="5381837" y="1203113"/>
            <a:ext cx="10583" cy="0"/>
          </a:xfrm>
          <a:prstGeom prst="rect">
            <a:avLst/>
          </a:prstGeom>
          <a:blipFill rotWithShape="0">
            <a:blip r:embed="rId1"/>
          </a:blipFill>
          <a:ln w="9525">
            <a:noFill/>
          </a:ln>
        </p:spPr>
        <p:txBody>
          <a:bodyPr/>
          <a:lstStyle/>
          <a:p>
            <a:endParaRPr lang="zh-CN" altLang="en-US" sz="1500"/>
          </a:p>
        </p:txBody>
      </p:sp>
      <p:sp>
        <p:nvSpPr>
          <p:cNvPr id="359453" name="矩形 359452"/>
          <p:cNvSpPr/>
          <p:nvPr/>
        </p:nvSpPr>
        <p:spPr>
          <a:xfrm>
            <a:off x="5392420" y="2515447"/>
            <a:ext cx="0" cy="10583"/>
          </a:xfrm>
          <a:prstGeom prst="rect">
            <a:avLst/>
          </a:prstGeom>
          <a:blipFill rotWithShape="0">
            <a:blip r:embed="rId1"/>
          </a:blipFill>
          <a:ln w="9525">
            <a:noFill/>
          </a:ln>
        </p:spPr>
        <p:txBody>
          <a:bodyPr/>
          <a:lstStyle/>
          <a:p>
            <a:endParaRPr lang="zh-CN" altLang="en-US" sz="1500"/>
          </a:p>
        </p:txBody>
      </p:sp>
      <p:sp>
        <p:nvSpPr>
          <p:cNvPr id="359454" name="矩形 359453"/>
          <p:cNvSpPr/>
          <p:nvPr/>
        </p:nvSpPr>
        <p:spPr>
          <a:xfrm>
            <a:off x="6716660" y="2515447"/>
            <a:ext cx="0" cy="10583"/>
          </a:xfrm>
          <a:prstGeom prst="rect">
            <a:avLst/>
          </a:prstGeom>
          <a:blipFill rotWithShape="0">
            <a:blip r:embed="rId1"/>
          </a:blipFill>
          <a:ln w="9525">
            <a:noFill/>
          </a:ln>
        </p:spPr>
        <p:txBody>
          <a:bodyPr/>
          <a:lstStyle/>
          <a:p>
            <a:endParaRPr lang="zh-CN" altLang="en-US" sz="1500"/>
          </a:p>
        </p:txBody>
      </p:sp>
      <p:sp>
        <p:nvSpPr>
          <p:cNvPr id="359455" name="矩形 359454"/>
          <p:cNvSpPr/>
          <p:nvPr/>
        </p:nvSpPr>
        <p:spPr>
          <a:xfrm>
            <a:off x="5392420" y="1372447"/>
            <a:ext cx="0" cy="10583"/>
          </a:xfrm>
          <a:prstGeom prst="rect">
            <a:avLst/>
          </a:prstGeom>
          <a:blipFill rotWithShape="0">
            <a:blip r:embed="rId1"/>
          </a:blipFill>
          <a:ln w="9525">
            <a:noFill/>
          </a:ln>
        </p:spPr>
        <p:txBody>
          <a:bodyPr/>
          <a:lstStyle/>
          <a:p>
            <a:endParaRPr lang="zh-CN" altLang="en-US" sz="1500"/>
          </a:p>
        </p:txBody>
      </p:sp>
      <p:pic>
        <p:nvPicPr>
          <p:cNvPr id="359456" name="图片 359455"/>
          <p:cNvPicPr>
            <a:picLocks noChangeAspect="1"/>
          </p:cNvPicPr>
          <p:nvPr/>
        </p:nvPicPr>
        <p:blipFill>
          <a:blip r:embed="rId2"/>
          <a:srcRect l="63676" b="55576"/>
          <a:stretch>
            <a:fillRect/>
          </a:stretch>
        </p:blipFill>
        <p:spPr>
          <a:xfrm>
            <a:off x="3558170" y="1176655"/>
            <a:ext cx="4855104" cy="4198938"/>
          </a:xfrm>
          <a:prstGeom prst="rect">
            <a:avLst/>
          </a:prstGeom>
          <a:noFill/>
          <a:ln w="12700">
            <a:noFill/>
          </a:ln>
        </p:spPr>
      </p:pic>
      <p:graphicFrame>
        <p:nvGraphicFramePr>
          <p:cNvPr id="475177" name="对象 475176"/>
          <p:cNvGraphicFramePr/>
          <p:nvPr/>
        </p:nvGraphicFramePr>
        <p:xfrm>
          <a:off x="201930" y="1302703"/>
          <a:ext cx="2934229" cy="3108854"/>
        </p:xfrm>
        <a:graphic>
          <a:graphicData uri="http://schemas.openxmlformats.org/presentationml/2006/ole">
            <mc:AlternateContent xmlns:mc="http://schemas.openxmlformats.org/markup-compatibility/2006">
              <mc:Choice xmlns:v="urn:schemas-microsoft-com:vml" Requires="v">
                <p:oleObj spid="_x0000_s2" name="" r:id="rId3" imgW="1862455" imgH="1976120" progId="Visio.Drawing.6">
                  <p:embed/>
                </p:oleObj>
              </mc:Choice>
              <mc:Fallback>
                <p:oleObj name="" r:id="rId3" imgW="1862455" imgH="1976120" progId="Visio.Drawing.6">
                  <p:embed/>
                  <p:pic>
                    <p:nvPicPr>
                      <p:cNvPr id="0" name="图片 3075"/>
                      <p:cNvPicPr/>
                      <p:nvPr/>
                    </p:nvPicPr>
                    <p:blipFill>
                      <a:blip r:embed="rId4"/>
                      <a:stretch>
                        <a:fillRect/>
                      </a:stretch>
                    </p:blipFill>
                    <p:spPr>
                      <a:xfrm>
                        <a:off x="201930" y="1302703"/>
                        <a:ext cx="2934229" cy="3108854"/>
                      </a:xfrm>
                      <a:prstGeom prst="rect">
                        <a:avLst/>
                      </a:prstGeom>
                      <a:noFill/>
                      <a:ln w="38100">
                        <a:noFill/>
                        <a:miter/>
                      </a:ln>
                    </p:spPr>
                  </p:pic>
                </p:oleObj>
              </mc:Fallback>
            </mc:AlternateContent>
          </a:graphicData>
        </a:graphic>
      </p:graphicFrame>
      <p:cxnSp>
        <p:nvCxnSpPr>
          <p:cNvPr id="3" name="直接连接符 2"/>
          <p:cNvCxnSpPr/>
          <p:nvPr/>
        </p:nvCxnSpPr>
        <p:spPr>
          <a:xfrm>
            <a:off x="5508625" y="2303780"/>
            <a:ext cx="0" cy="2577465"/>
          </a:xfrm>
          <a:prstGeom prst="line">
            <a:avLst/>
          </a:prstGeom>
          <a:ln w="22225" cmpd="sng">
            <a:solidFill>
              <a:schemeClr val="accent1">
                <a:shade val="50000"/>
              </a:schemeClr>
            </a:solidFill>
            <a:prstDash val="lgDashDot"/>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a:off x="5782945" y="3431540"/>
            <a:ext cx="0" cy="1460500"/>
          </a:xfrm>
          <a:prstGeom prst="line">
            <a:avLst/>
          </a:prstGeom>
          <a:ln w="12700" cmpd="sng">
            <a:solidFill>
              <a:schemeClr val="accent1">
                <a:shade val="50000"/>
              </a:schemeClr>
            </a:solidFill>
            <a:prstDash val="lgDashDot"/>
          </a:ln>
        </p:spPr>
        <p:style>
          <a:lnRef idx="2">
            <a:schemeClr val="accent1"/>
          </a:lnRef>
          <a:fillRef idx="0">
            <a:srgbClr val="FFFFFF"/>
          </a:fillRef>
          <a:effectRef idx="0">
            <a:srgbClr val="FFFFFF"/>
          </a:effectRef>
          <a:fontRef idx="minor">
            <a:schemeClr val="tx1"/>
          </a:fontRef>
        </p:style>
      </p:cxnSp>
      <p:cxnSp>
        <p:nvCxnSpPr>
          <p:cNvPr id="6" name="直接连接符 5"/>
          <p:cNvCxnSpPr/>
          <p:nvPr/>
        </p:nvCxnSpPr>
        <p:spPr>
          <a:xfrm>
            <a:off x="6109335" y="4612005"/>
            <a:ext cx="15240" cy="264160"/>
          </a:xfrm>
          <a:prstGeom prst="line">
            <a:avLst/>
          </a:prstGeom>
          <a:ln w="12700" cmpd="sng">
            <a:solidFill>
              <a:schemeClr val="accent1">
                <a:shade val="50000"/>
              </a:schemeClr>
            </a:solidFill>
            <a:prstDash val="lgDashDot"/>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4700905" y="2273935"/>
            <a:ext cx="411480" cy="368300"/>
          </a:xfrm>
          <a:prstGeom prst="rect">
            <a:avLst/>
          </a:prstGeom>
          <a:noFill/>
        </p:spPr>
        <p:txBody>
          <a:bodyPr wrap="none" rtlCol="0">
            <a:spAutoFit/>
          </a:bodyPr>
          <a:p>
            <a:pPr algn="l"/>
            <a:r>
              <a:rPr lang="en-US" altLang="zh-CN" dirty="0">
                <a:solidFill>
                  <a:srgbClr val="FF0000"/>
                </a:solidFill>
                <a:latin typeface="微软雅黑" panose="020B0503020204020204" pitchFamily="34" charset="-122"/>
                <a:ea typeface="微软雅黑" panose="020B0503020204020204" pitchFamily="34" charset="-122"/>
              </a:rPr>
              <a:t>Ⅰ</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5447665" y="3010535"/>
            <a:ext cx="411480" cy="368300"/>
          </a:xfrm>
          <a:prstGeom prst="rect">
            <a:avLst/>
          </a:prstGeom>
          <a:noFill/>
        </p:spPr>
        <p:txBody>
          <a:bodyPr wrap="none" rtlCol="0">
            <a:spAutoFit/>
          </a:bodyPr>
          <a:p>
            <a:pPr algn="l"/>
            <a:r>
              <a:rPr lang="en-US" altLang="zh-CN" dirty="0">
                <a:solidFill>
                  <a:srgbClr val="FF0000"/>
                </a:solidFill>
                <a:latin typeface="微软雅黑" panose="020B0503020204020204" pitchFamily="34" charset="-122"/>
                <a:ea typeface="微软雅黑" panose="020B0503020204020204" pitchFamily="34" charset="-122"/>
              </a:rPr>
              <a:t>Ⅱ</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697855" y="4464685"/>
            <a:ext cx="411480" cy="368300"/>
          </a:xfrm>
          <a:prstGeom prst="rect">
            <a:avLst/>
          </a:prstGeom>
          <a:noFill/>
        </p:spPr>
        <p:txBody>
          <a:bodyPr wrap="none" rtlCol="0">
            <a:spAutoFit/>
          </a:bodyPr>
          <a:p>
            <a:pPr algn="l"/>
            <a:r>
              <a:rPr lang="en-US" altLang="zh-CN" dirty="0">
                <a:solidFill>
                  <a:srgbClr val="FF0000"/>
                </a:solidFill>
                <a:latin typeface="微软雅黑" panose="020B0503020204020204" pitchFamily="34" charset="-122"/>
                <a:ea typeface="微软雅黑" panose="020B0503020204020204" pitchFamily="34" charset="-122"/>
              </a:rPr>
              <a:t>Ⅲ</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393815" y="4356100"/>
            <a:ext cx="411480" cy="368300"/>
          </a:xfrm>
          <a:prstGeom prst="rect">
            <a:avLst/>
          </a:prstGeom>
          <a:noFill/>
        </p:spPr>
        <p:txBody>
          <a:bodyPr wrap="none" rtlCol="0">
            <a:spAutoFit/>
          </a:bodyPr>
          <a:p>
            <a:pPr algn="l"/>
            <a:r>
              <a:rPr lang="en-US" altLang="zh-CN" dirty="0">
                <a:solidFill>
                  <a:srgbClr val="FF0000"/>
                </a:solidFill>
                <a:latin typeface="微软雅黑" panose="020B0503020204020204" pitchFamily="34" charset="-122"/>
                <a:ea typeface="微软雅黑" panose="020B0503020204020204" pitchFamily="34" charset="-122"/>
              </a:rPr>
              <a:t>Ⅳ</a:t>
            </a:r>
            <a:endParaRPr lang="en-US" altLang="zh-CN"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a:t>
            </a:r>
            <a:r>
              <a:rPr lang="zh-CN" altLang="en-US">
                <a:sym typeface="+mn-ea"/>
              </a:rPr>
              <a:t>开关阈值</a:t>
            </a:r>
            <a:endParaRPr lang="zh-CN" altLang="en-US">
              <a:sym typeface="+mn-ea"/>
            </a:endParaRPr>
          </a:p>
        </p:txBody>
      </p:sp>
      <p:pic>
        <p:nvPicPr>
          <p:cNvPr id="360551" name="图片 360550"/>
          <p:cNvPicPr>
            <a:picLocks noChangeAspect="1"/>
          </p:cNvPicPr>
          <p:nvPr/>
        </p:nvPicPr>
        <p:blipFill>
          <a:blip r:embed="rId1"/>
          <a:srcRect l="10751" t="24023" r="17628" b="51270"/>
          <a:stretch>
            <a:fillRect/>
          </a:stretch>
        </p:blipFill>
        <p:spPr>
          <a:xfrm>
            <a:off x="1628140" y="1585595"/>
            <a:ext cx="5752465" cy="1606550"/>
          </a:xfrm>
          <a:prstGeom prst="rect">
            <a:avLst/>
          </a:prstGeom>
          <a:noFill/>
          <a:ln w="12700">
            <a:noFill/>
          </a:ln>
        </p:spPr>
      </p:pic>
      <p:sp>
        <p:nvSpPr>
          <p:cNvPr id="3" name="矩形 2"/>
          <p:cNvSpPr/>
          <p:nvPr/>
        </p:nvSpPr>
        <p:spPr>
          <a:xfrm>
            <a:off x="2484385" y="1264497"/>
            <a:ext cx="643255" cy="243840"/>
          </a:xfrm>
          <a:prstGeom prst="rect">
            <a:avLst/>
          </a:prstGeom>
          <a:noFill/>
          <a:ln w="9525">
            <a:noFill/>
          </a:ln>
        </p:spPr>
        <p:txBody>
          <a:bodyPr wrap="none" lIns="0" tIns="0" rIns="0" bIns="0">
            <a:spAutoFit/>
          </a:bodyPr>
          <a:lstStyle/>
          <a:p>
            <a:r>
              <a:rPr lang="en-US" altLang="zh-CN" sz="1585" i="0">
                <a:solidFill>
                  <a:srgbClr val="000000"/>
                </a:solidFill>
                <a:latin typeface="微软雅黑" panose="020B0503020204020204" pitchFamily="34" charset="-122"/>
                <a:ea typeface="微软雅黑" panose="020B0503020204020204" pitchFamily="34" charset="-122"/>
              </a:rPr>
              <a:t>NMOS</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 name="矩形 3"/>
          <p:cNvSpPr/>
          <p:nvPr/>
        </p:nvSpPr>
        <p:spPr>
          <a:xfrm>
            <a:off x="5423165" y="1264497"/>
            <a:ext cx="602615" cy="243840"/>
          </a:xfrm>
          <a:prstGeom prst="rect">
            <a:avLst/>
          </a:prstGeom>
          <a:noFill/>
          <a:ln w="9525">
            <a:noFill/>
          </a:ln>
        </p:spPr>
        <p:txBody>
          <a:bodyPr wrap="none" lIns="0" tIns="0" rIns="0" bIns="0">
            <a:spAutoFit/>
          </a:bodyPr>
          <a:lstStyle/>
          <a:p>
            <a:r>
              <a:rPr lang="en-US" altLang="zh-CN" sz="1585" i="0">
                <a:solidFill>
                  <a:srgbClr val="000000"/>
                </a:solidFill>
                <a:latin typeface="微软雅黑" panose="020B0503020204020204" pitchFamily="34" charset="-122"/>
                <a:ea typeface="微软雅黑" panose="020B0503020204020204" pitchFamily="34" charset="-122"/>
              </a:rPr>
              <a:t>PMOS</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906780" y="895985"/>
            <a:ext cx="3154680" cy="368300"/>
          </a:xfrm>
          <a:prstGeom prst="rect">
            <a:avLst/>
          </a:prstGeom>
          <a:noFill/>
        </p:spPr>
        <p:txBody>
          <a:bodyPr wrap="none" rtlCol="0" anchor="t">
            <a:spAutoFit/>
          </a:bodyPr>
          <a:lstStyle/>
          <a:p>
            <a:pPr algn="l"/>
            <a:r>
              <a:rPr lang="zh-CN" altLang="en-US">
                <a:sym typeface="+mn-ea"/>
              </a:rPr>
              <a:t>开关阈值：输入输出相等的点</a:t>
            </a:r>
            <a:endParaRPr lang="zh-CN" altLang="en-US">
              <a:sym typeface="+mn-ea"/>
            </a:endParaRPr>
          </a:p>
        </p:txBody>
      </p:sp>
      <p:sp>
        <p:nvSpPr>
          <p:cNvPr id="6" name="矩形 5"/>
          <p:cNvSpPr/>
          <p:nvPr/>
        </p:nvSpPr>
        <p:spPr>
          <a:xfrm>
            <a:off x="5712725" y="3288877"/>
            <a:ext cx="1211580" cy="243840"/>
          </a:xfrm>
          <a:prstGeom prst="rect">
            <a:avLst/>
          </a:prstGeom>
          <a:noFill/>
          <a:ln w="9525">
            <a:noFill/>
          </a:ln>
        </p:spPr>
        <p:txBody>
          <a:bodyPr wrap="none" lIns="0" tIns="0" rIns="0" bIns="0">
            <a:spAutoFit/>
          </a:bodyPr>
          <a:lstStyle/>
          <a:p>
            <a:r>
              <a:rPr lang="zh-CN" altLang="en-US" sz="1585" i="0">
                <a:solidFill>
                  <a:srgbClr val="000000"/>
                </a:solidFill>
                <a:latin typeface="微软雅黑" panose="020B0503020204020204" pitchFamily="34" charset="-122"/>
                <a:ea typeface="微软雅黑" panose="020B0503020204020204" pitchFamily="34" charset="-122"/>
              </a:rPr>
              <a:t>驱动强度对比</a:t>
            </a:r>
            <a:endParaRPr lang="zh-CN" altLang="en-US" sz="1585" i="0">
              <a:solidFill>
                <a:srgbClr val="000000"/>
              </a:solidFill>
              <a:latin typeface="微软雅黑" panose="020B0503020204020204" pitchFamily="34" charset="-122"/>
              <a:ea typeface="微软雅黑" panose="020B0503020204020204" pitchFamily="34" charset="-122"/>
            </a:endParaRPr>
          </a:p>
        </p:txBody>
      </p:sp>
      <p:graphicFrame>
        <p:nvGraphicFramePr>
          <p:cNvPr id="8" name="对象 7">
            <a:hlinkClick r:id="" action="ppaction://ole?verb=0"/>
          </p:cNvPr>
          <p:cNvGraphicFramePr>
            <a:graphicFrameLocks noChangeAspect="1"/>
          </p:cNvGraphicFramePr>
          <p:nvPr/>
        </p:nvGraphicFramePr>
        <p:xfrm>
          <a:off x="3211830" y="3818890"/>
          <a:ext cx="1396365" cy="759460"/>
        </p:xfrm>
        <a:graphic>
          <a:graphicData uri="http://schemas.openxmlformats.org/presentationml/2006/ole">
            <mc:AlternateContent xmlns:mc="http://schemas.openxmlformats.org/markup-compatibility/2006">
              <mc:Choice xmlns:v="urn:schemas-microsoft-com:vml" Requires="v">
                <p:oleObj spid="_x0000_s2" name="" r:id="rId2" imgW="723900" imgH="393700" progId="Equation.KSEE3">
                  <p:embed/>
                </p:oleObj>
              </mc:Choice>
              <mc:Fallback>
                <p:oleObj name="" r:id="rId2" imgW="723900" imgH="393700" progId="Equation.KSEE3">
                  <p:embed/>
                  <p:pic>
                    <p:nvPicPr>
                      <p:cNvPr id="0" name="图片 1024"/>
                      <p:cNvPicPr/>
                      <p:nvPr/>
                    </p:nvPicPr>
                    <p:blipFill>
                      <a:blip r:embed="rId3"/>
                      <a:stretch>
                        <a:fillRect/>
                      </a:stretch>
                    </p:blipFill>
                    <p:spPr>
                      <a:xfrm>
                        <a:off x="3211830" y="3818890"/>
                        <a:ext cx="1396365" cy="759460"/>
                      </a:xfrm>
                      <a:prstGeom prst="rect">
                        <a:avLst/>
                      </a:prstGeom>
                    </p:spPr>
                  </p:pic>
                </p:oleObj>
              </mc:Fallback>
            </mc:AlternateContent>
          </a:graphicData>
        </a:graphic>
      </p:graphicFrame>
      <p:sp>
        <p:nvSpPr>
          <p:cNvPr id="9" name="矩形 8"/>
          <p:cNvSpPr/>
          <p:nvPr/>
        </p:nvSpPr>
        <p:spPr>
          <a:xfrm>
            <a:off x="2829825" y="4787477"/>
            <a:ext cx="2651125" cy="488315"/>
          </a:xfrm>
          <a:prstGeom prst="rect">
            <a:avLst/>
          </a:prstGeom>
          <a:noFill/>
          <a:ln w="9525">
            <a:noFill/>
          </a:ln>
        </p:spPr>
        <p:txBody>
          <a:bodyPr wrap="none" lIns="0" tIns="0" rIns="0" bIns="0">
            <a:spAutoFit/>
          </a:bodyPr>
          <a:lstStyle/>
          <a:p>
            <a:r>
              <a:rPr lang="zh-CN" altLang="en-US" sz="1585" i="0">
                <a:solidFill>
                  <a:srgbClr val="FF0000"/>
                </a:solidFill>
                <a:latin typeface="微软雅黑" panose="020B0503020204020204" pitchFamily="34" charset="-122"/>
                <a:ea typeface="微软雅黑" panose="020B0503020204020204" pitchFamily="34" charset="-122"/>
              </a:rPr>
              <a:t>期望：</a:t>
            </a:r>
            <a:r>
              <a:rPr lang="en-US" altLang="zh-CN" sz="1585" i="0">
                <a:solidFill>
                  <a:srgbClr val="FF0000"/>
                </a:solidFill>
                <a:latin typeface="微软雅黑" panose="020B0503020204020204" pitchFamily="34" charset="-122"/>
                <a:ea typeface="微软雅黑" panose="020B0503020204020204" pitchFamily="34" charset="-122"/>
              </a:rPr>
              <a:t>r=1 </a:t>
            </a:r>
            <a:r>
              <a:rPr lang="zh-CN" altLang="en-US" sz="1585" i="0">
                <a:solidFill>
                  <a:srgbClr val="FF0000"/>
                </a:solidFill>
                <a:latin typeface="微软雅黑" panose="020B0503020204020204" pitchFamily="34" charset="-122"/>
                <a:ea typeface="微软雅黑" panose="020B0503020204020204" pitchFamily="34" charset="-122"/>
              </a:rPr>
              <a:t>，此时</a:t>
            </a:r>
            <a:r>
              <a:rPr lang="en-US" altLang="zh-CN" sz="1585" i="0">
                <a:solidFill>
                  <a:srgbClr val="FF0000"/>
                </a:solidFill>
                <a:latin typeface="微软雅黑" panose="020B0503020204020204" pitchFamily="34" charset="-122"/>
                <a:ea typeface="微软雅黑" panose="020B0503020204020204" pitchFamily="34" charset="-122"/>
              </a:rPr>
              <a:t>V</a:t>
            </a:r>
            <a:r>
              <a:rPr lang="en-US" altLang="zh-CN" sz="1585" i="0" baseline="-25000">
                <a:solidFill>
                  <a:srgbClr val="FF0000"/>
                </a:solidFill>
                <a:latin typeface="微软雅黑" panose="020B0503020204020204" pitchFamily="34" charset="-122"/>
                <a:ea typeface="微软雅黑" panose="020B0503020204020204" pitchFamily="34" charset="-122"/>
              </a:rPr>
              <a:t>M</a:t>
            </a:r>
            <a:r>
              <a:rPr lang="en-US" altLang="zh-CN" sz="1585" i="0">
                <a:solidFill>
                  <a:srgbClr val="FF0000"/>
                </a:solidFill>
                <a:latin typeface="微软雅黑" panose="020B0503020204020204" pitchFamily="34" charset="-122"/>
                <a:ea typeface="微软雅黑" panose="020B0503020204020204" pitchFamily="34" charset="-122"/>
              </a:rPr>
              <a:t>=0.5V</a:t>
            </a:r>
            <a:r>
              <a:rPr lang="en-US" altLang="zh-CN" sz="1585" i="0" baseline="-25000">
                <a:solidFill>
                  <a:srgbClr val="FF0000"/>
                </a:solidFill>
                <a:latin typeface="微软雅黑" panose="020B0503020204020204" pitchFamily="34" charset="-122"/>
                <a:ea typeface="微软雅黑" panose="020B0503020204020204" pitchFamily="34" charset="-122"/>
              </a:rPr>
              <a:t>DD</a:t>
            </a:r>
            <a:endParaRPr lang="en-US" altLang="zh-CN" sz="1585" i="0" baseline="-25000">
              <a:solidFill>
                <a:srgbClr val="FF0000"/>
              </a:solidFill>
              <a:latin typeface="微软雅黑" panose="020B0503020204020204" pitchFamily="34" charset="-122"/>
              <a:ea typeface="微软雅黑" panose="020B0503020204020204" pitchFamily="34" charset="-122"/>
            </a:endParaRPr>
          </a:p>
          <a:p>
            <a:r>
              <a:rPr lang="zh-CN" altLang="en-US" sz="1585" i="0">
                <a:solidFill>
                  <a:srgbClr val="FF0000"/>
                </a:solidFill>
                <a:latin typeface="微软雅黑" panose="020B0503020204020204" pitchFamily="34" charset="-122"/>
                <a:ea typeface="微软雅黑" panose="020B0503020204020204" pitchFamily="34" charset="-122"/>
              </a:rPr>
              <a:t>此时噪声容限最大</a:t>
            </a:r>
            <a:endParaRPr lang="zh-CN" altLang="en-US" sz="1585" i="0">
              <a:solidFill>
                <a:srgbClr val="FF000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530860" y="2734945"/>
            <a:ext cx="1097280" cy="368300"/>
          </a:xfrm>
          <a:prstGeom prst="rect">
            <a:avLst/>
          </a:prstGeom>
          <a:noFill/>
        </p:spPr>
        <p:txBody>
          <a:bodyPr wrap="none" rtlCol="0">
            <a:spAutoFit/>
          </a:bodyPr>
          <a:p>
            <a:pPr algn="l"/>
            <a:r>
              <a:rPr lang="zh-CN" altLang="en-US" dirty="0">
                <a:solidFill>
                  <a:srgbClr val="C00000"/>
                </a:solidFill>
                <a:latin typeface="微软雅黑" panose="020B0503020204020204" pitchFamily="34" charset="-122"/>
                <a:ea typeface="微软雅黑" panose="020B0503020204020204" pitchFamily="34" charset="-122"/>
              </a:rPr>
              <a:t>重要公式</a:t>
            </a:r>
            <a:endParaRPr lang="zh-CN" altLang="en-US"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a:xfrm>
            <a:off x="846379" y="266699"/>
            <a:ext cx="7120446" cy="452564"/>
          </a:xfrm>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开关阈值</a:t>
            </a:r>
            <a:endParaRPr lang="zh-CN" altLang="en-US">
              <a:sym typeface="+mn-ea"/>
            </a:endParaRPr>
          </a:p>
        </p:txBody>
      </p:sp>
      <p:pic>
        <p:nvPicPr>
          <p:cNvPr id="7" name="图片 6"/>
          <p:cNvPicPr>
            <a:picLocks noChangeAspect="1"/>
          </p:cNvPicPr>
          <p:nvPr/>
        </p:nvPicPr>
        <p:blipFill>
          <a:blip r:embed="rId1"/>
          <a:stretch>
            <a:fillRect/>
          </a:stretch>
        </p:blipFill>
        <p:spPr>
          <a:xfrm>
            <a:off x="1415415" y="1238885"/>
            <a:ext cx="5356225" cy="4015105"/>
          </a:xfrm>
          <a:prstGeom prst="rect">
            <a:avLst/>
          </a:prstGeom>
        </p:spPr>
      </p:pic>
      <p:sp>
        <p:nvSpPr>
          <p:cNvPr id="2" name="椭圆 1"/>
          <p:cNvSpPr/>
          <p:nvPr/>
        </p:nvSpPr>
        <p:spPr>
          <a:xfrm>
            <a:off x="4390390" y="3174365"/>
            <a:ext cx="137160" cy="14478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3801110" y="806450"/>
            <a:ext cx="1210310" cy="368300"/>
          </a:xfrm>
          <a:prstGeom prst="rect">
            <a:avLst/>
          </a:prstGeom>
          <a:noFill/>
        </p:spPr>
        <p:txBody>
          <a:bodyPr wrap="none" rtlCol="0" anchor="t">
            <a:spAutoFit/>
          </a:bodyPr>
          <a:lstStyle/>
          <a:p>
            <a:pPr algn="l"/>
            <a:r>
              <a:rPr lang="en-US" altLang="zh-CN">
                <a:solidFill>
                  <a:schemeClr val="tx1"/>
                </a:solidFill>
                <a:latin typeface="微软雅黑" panose="020B0503020204020204" pitchFamily="34" charset="-122"/>
                <a:ea typeface="微软雅黑" panose="020B0503020204020204" pitchFamily="34" charset="-122"/>
                <a:sym typeface="+mn-ea"/>
              </a:rPr>
              <a:t>V</a:t>
            </a:r>
            <a:r>
              <a:rPr lang="en-US" altLang="zh-CN" baseline="-25000">
                <a:solidFill>
                  <a:schemeClr val="tx1"/>
                </a:solidFill>
                <a:latin typeface="微软雅黑" panose="020B0503020204020204" pitchFamily="34" charset="-122"/>
                <a:ea typeface="微软雅黑" panose="020B0503020204020204" pitchFamily="34" charset="-122"/>
                <a:sym typeface="+mn-ea"/>
              </a:rPr>
              <a:t>DD</a:t>
            </a:r>
            <a:r>
              <a:rPr lang="en-US" altLang="zh-CN">
                <a:solidFill>
                  <a:schemeClr val="tx1"/>
                </a:solidFill>
                <a:latin typeface="微软雅黑" panose="020B0503020204020204" pitchFamily="34" charset="-122"/>
                <a:ea typeface="微软雅黑" panose="020B0503020204020204" pitchFamily="34" charset="-122"/>
                <a:sym typeface="+mn-ea"/>
              </a:rPr>
              <a:t>=2.5V</a:t>
            </a:r>
            <a:endParaRPr lang="en-US" altLang="zh-CN">
              <a:solidFill>
                <a:schemeClr val="tx1"/>
              </a:solidFill>
              <a:latin typeface="微软雅黑" panose="020B0503020204020204" pitchFamily="34" charset="-122"/>
              <a:ea typeface="微软雅黑" panose="020B0503020204020204" pitchFamily="34" charset="-122"/>
              <a:sym typeface="+mn-ea"/>
            </a:endParaRPr>
          </a:p>
        </p:txBody>
      </p:sp>
      <p:sp>
        <p:nvSpPr>
          <p:cNvPr id="9" name="文本框 8"/>
          <p:cNvSpPr txBox="1"/>
          <p:nvPr/>
        </p:nvSpPr>
        <p:spPr>
          <a:xfrm>
            <a:off x="2585085" y="5314950"/>
            <a:ext cx="3972560" cy="368300"/>
          </a:xfrm>
          <a:prstGeom prst="rect">
            <a:avLst/>
          </a:prstGeom>
          <a:noFill/>
        </p:spPr>
        <p:txBody>
          <a:bodyPr wrap="none" rtlCol="0" anchor="t">
            <a:spAutoFit/>
          </a:bodyPr>
          <a:lstStyle/>
          <a:p>
            <a:pPr algn="l"/>
            <a:r>
              <a:rPr lang="en-US" altLang="zh-CN">
                <a:solidFill>
                  <a:schemeClr val="tx1"/>
                </a:solidFill>
                <a:latin typeface="微软雅黑" panose="020B0503020204020204" pitchFamily="34" charset="-122"/>
                <a:ea typeface="微软雅黑" panose="020B0503020204020204" pitchFamily="34" charset="-122"/>
                <a:sym typeface="+mn-ea"/>
              </a:rPr>
              <a:t>PMOS</a:t>
            </a:r>
            <a:r>
              <a:rPr lang="zh-CN" altLang="en-US">
                <a:solidFill>
                  <a:schemeClr val="tx1"/>
                </a:solidFill>
                <a:latin typeface="微软雅黑" panose="020B0503020204020204" pitchFamily="34" charset="-122"/>
                <a:ea typeface="微软雅黑" panose="020B0503020204020204" pitchFamily="34" charset="-122"/>
                <a:sym typeface="+mn-ea"/>
              </a:rPr>
              <a:t>和</a:t>
            </a:r>
            <a:r>
              <a:rPr lang="en-US" altLang="zh-CN">
                <a:solidFill>
                  <a:schemeClr val="tx1"/>
                </a:solidFill>
                <a:latin typeface="微软雅黑" panose="020B0503020204020204" pitchFamily="34" charset="-122"/>
                <a:ea typeface="微软雅黑" panose="020B0503020204020204" pitchFamily="34" charset="-122"/>
                <a:sym typeface="+mn-ea"/>
              </a:rPr>
              <a:t>NMOS</a:t>
            </a:r>
            <a:r>
              <a:rPr lang="zh-CN" altLang="en-US">
                <a:solidFill>
                  <a:schemeClr val="tx1"/>
                </a:solidFill>
                <a:latin typeface="微软雅黑" panose="020B0503020204020204" pitchFamily="34" charset="-122"/>
                <a:ea typeface="微软雅黑" panose="020B0503020204020204" pitchFamily="34" charset="-122"/>
                <a:sym typeface="+mn-ea"/>
              </a:rPr>
              <a:t>的宽长比为</a:t>
            </a:r>
            <a:r>
              <a:rPr lang="en-US" altLang="zh-CN">
                <a:solidFill>
                  <a:schemeClr val="tx1"/>
                </a:solidFill>
                <a:latin typeface="微软雅黑" panose="020B0503020204020204" pitchFamily="34" charset="-122"/>
                <a:ea typeface="微软雅黑" panose="020B0503020204020204" pitchFamily="34" charset="-122"/>
                <a:sym typeface="+mn-ea"/>
              </a:rPr>
              <a:t>3.5</a:t>
            </a:r>
            <a:r>
              <a:rPr lang="zh-CN" altLang="en-US">
                <a:solidFill>
                  <a:schemeClr val="tx1"/>
                </a:solidFill>
                <a:latin typeface="微软雅黑" panose="020B0503020204020204" pitchFamily="34" charset="-122"/>
                <a:ea typeface="微软雅黑" panose="020B0503020204020204" pitchFamily="34" charset="-122"/>
                <a:sym typeface="+mn-ea"/>
              </a:rPr>
              <a:t>时最优</a:t>
            </a:r>
            <a:endParaRPr lang="zh-CN" altLang="en-US">
              <a:solidFill>
                <a:schemeClr val="tx1"/>
              </a:solidFill>
              <a:latin typeface="微软雅黑" panose="020B0503020204020204" pitchFamily="34" charset="-122"/>
              <a:ea typeface="微软雅黑" panose="020B0503020204020204" pitchFamily="34" charset="-122"/>
              <a:sym typeface="+mn-ea"/>
            </a:endParaRPr>
          </a:p>
        </p:txBody>
      </p:sp>
      <p:sp>
        <p:nvSpPr>
          <p:cNvPr id="10" name="文本框 9"/>
          <p:cNvSpPr txBox="1"/>
          <p:nvPr/>
        </p:nvSpPr>
        <p:spPr>
          <a:xfrm>
            <a:off x="6930390" y="2153920"/>
            <a:ext cx="1848485" cy="1753235"/>
          </a:xfrm>
          <a:prstGeom prst="rect">
            <a:avLst/>
          </a:prstGeom>
          <a:noFill/>
        </p:spPr>
        <p:txBody>
          <a:bodyPr wrap="square" rtlCol="0" anchor="t">
            <a:spAutoFit/>
          </a:bodyPr>
          <a:lstStyle/>
          <a:p>
            <a:pPr algn="l"/>
            <a:r>
              <a:rPr lang="en-US" altLang="zh-CN">
                <a:solidFill>
                  <a:schemeClr val="tx1"/>
                </a:solidFill>
                <a:latin typeface="微软雅黑" panose="020B0503020204020204" pitchFamily="34" charset="-122"/>
                <a:ea typeface="微软雅黑" panose="020B0503020204020204" pitchFamily="34" charset="-122"/>
                <a:sym typeface="+mn-ea"/>
              </a:rPr>
              <a:t>1.V</a:t>
            </a:r>
            <a:r>
              <a:rPr lang="en-US" altLang="zh-CN" baseline="-25000">
                <a:solidFill>
                  <a:schemeClr val="tx1"/>
                </a:solidFill>
                <a:latin typeface="微软雅黑" panose="020B0503020204020204" pitchFamily="34" charset="-122"/>
                <a:ea typeface="微软雅黑" panose="020B0503020204020204" pitchFamily="34" charset="-122"/>
                <a:sym typeface="+mn-ea"/>
              </a:rPr>
              <a:t>M</a:t>
            </a:r>
            <a:r>
              <a:rPr lang="zh-CN" altLang="en-US">
                <a:solidFill>
                  <a:schemeClr val="tx1"/>
                </a:solidFill>
                <a:latin typeface="微软雅黑" panose="020B0503020204020204" pitchFamily="34" charset="-122"/>
                <a:ea typeface="微软雅黑" panose="020B0503020204020204" pitchFamily="34" charset="-122"/>
                <a:sym typeface="+mn-ea"/>
              </a:rPr>
              <a:t>对器件尺寸比值相对不敏感。（斜率低）</a:t>
            </a:r>
            <a:endParaRPr lang="zh-CN" altLang="en-US">
              <a:solidFill>
                <a:schemeClr val="tx1"/>
              </a:solidFill>
              <a:latin typeface="微软雅黑" panose="020B0503020204020204" pitchFamily="34" charset="-122"/>
              <a:ea typeface="微软雅黑" panose="020B0503020204020204" pitchFamily="34" charset="-122"/>
              <a:sym typeface="+mn-ea"/>
            </a:endParaRPr>
          </a:p>
          <a:p>
            <a:pPr algn="l"/>
            <a:r>
              <a:rPr lang="en-US" altLang="zh-CN">
                <a:solidFill>
                  <a:schemeClr val="tx1"/>
                </a:solidFill>
                <a:latin typeface="微软雅黑" panose="020B0503020204020204" pitchFamily="34" charset="-122"/>
                <a:ea typeface="微软雅黑" panose="020B0503020204020204" pitchFamily="34" charset="-122"/>
                <a:sym typeface="+mn-ea"/>
              </a:rPr>
              <a:t>2. </a:t>
            </a:r>
            <a:r>
              <a:rPr lang="zh-CN" altLang="en-US">
                <a:solidFill>
                  <a:schemeClr val="tx1"/>
                </a:solidFill>
                <a:latin typeface="微软雅黑" panose="020B0503020204020204" pitchFamily="34" charset="-122"/>
                <a:ea typeface="微软雅黑" panose="020B0503020204020204" pitchFamily="34" charset="-122"/>
                <a:sym typeface="+mn-ea"/>
              </a:rPr>
              <a:t>调节宽长比可以实现平移</a:t>
            </a:r>
            <a:r>
              <a:rPr lang="en-US" altLang="zh-CN">
                <a:solidFill>
                  <a:schemeClr val="tx1"/>
                </a:solidFill>
                <a:latin typeface="微软雅黑" panose="020B0503020204020204" pitchFamily="34" charset="-122"/>
                <a:ea typeface="微软雅黑" panose="020B0503020204020204" pitchFamily="34" charset="-122"/>
                <a:sym typeface="+mn-ea"/>
              </a:rPr>
              <a:t>VTC</a:t>
            </a:r>
            <a:r>
              <a:rPr lang="zh-CN" altLang="en-US">
                <a:solidFill>
                  <a:schemeClr val="tx1"/>
                </a:solidFill>
                <a:latin typeface="微软雅黑" panose="020B0503020204020204" pitchFamily="34" charset="-122"/>
                <a:ea typeface="微软雅黑" panose="020B0503020204020204" pitchFamily="34" charset="-122"/>
                <a:sym typeface="+mn-ea"/>
              </a:rPr>
              <a:t>曲线。</a:t>
            </a:r>
            <a:endParaRPr lang="zh-CN" altLang="en-US">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噪声容限</a:t>
            </a:r>
            <a:endParaRPr lang="zh-CN" altLang="en-US">
              <a:sym typeface="+mn-ea"/>
            </a:endParaRPr>
          </a:p>
        </p:txBody>
      </p:sp>
      <p:sp>
        <p:nvSpPr>
          <p:cNvPr id="359427" name="矩形 359426"/>
          <p:cNvSpPr/>
          <p:nvPr/>
        </p:nvSpPr>
        <p:spPr>
          <a:xfrm>
            <a:off x="5424170" y="1838113"/>
            <a:ext cx="0" cy="10583"/>
          </a:xfrm>
          <a:prstGeom prst="rect">
            <a:avLst/>
          </a:prstGeom>
          <a:blipFill rotWithShape="0">
            <a:blip r:embed="rId1"/>
          </a:blipFill>
          <a:ln w="9525">
            <a:noFill/>
          </a:ln>
        </p:spPr>
        <p:txBody>
          <a:bodyPr/>
          <a:lstStyle/>
          <a:p>
            <a:endParaRPr lang="zh-CN" altLang="en-US" sz="1500"/>
          </a:p>
        </p:txBody>
      </p:sp>
      <p:sp>
        <p:nvSpPr>
          <p:cNvPr id="359428" name="矩形 359427"/>
          <p:cNvSpPr/>
          <p:nvPr/>
        </p:nvSpPr>
        <p:spPr>
          <a:xfrm>
            <a:off x="5381837" y="1838113"/>
            <a:ext cx="0" cy="10583"/>
          </a:xfrm>
          <a:prstGeom prst="rect">
            <a:avLst/>
          </a:prstGeom>
          <a:blipFill rotWithShape="0">
            <a:blip r:embed="rId1"/>
          </a:blipFill>
          <a:ln w="9525">
            <a:noFill/>
          </a:ln>
        </p:spPr>
        <p:txBody>
          <a:bodyPr/>
          <a:lstStyle/>
          <a:p>
            <a:endParaRPr lang="zh-CN" altLang="en-US" sz="1500"/>
          </a:p>
        </p:txBody>
      </p:sp>
      <p:sp>
        <p:nvSpPr>
          <p:cNvPr id="359429" name="矩形 359428"/>
          <p:cNvSpPr/>
          <p:nvPr/>
        </p:nvSpPr>
        <p:spPr>
          <a:xfrm>
            <a:off x="5424170" y="2293197"/>
            <a:ext cx="0" cy="10583"/>
          </a:xfrm>
          <a:prstGeom prst="rect">
            <a:avLst/>
          </a:prstGeom>
          <a:blipFill rotWithShape="0">
            <a:blip r:embed="rId1"/>
          </a:blipFill>
          <a:ln w="9525">
            <a:noFill/>
          </a:ln>
        </p:spPr>
        <p:txBody>
          <a:bodyPr/>
          <a:lstStyle/>
          <a:p>
            <a:endParaRPr lang="zh-CN" altLang="en-US" sz="1500"/>
          </a:p>
        </p:txBody>
      </p:sp>
      <p:sp>
        <p:nvSpPr>
          <p:cNvPr id="359430" name="矩形 359429"/>
          <p:cNvSpPr/>
          <p:nvPr/>
        </p:nvSpPr>
        <p:spPr>
          <a:xfrm>
            <a:off x="5381837" y="2293197"/>
            <a:ext cx="0" cy="10583"/>
          </a:xfrm>
          <a:prstGeom prst="rect">
            <a:avLst/>
          </a:prstGeom>
          <a:blipFill rotWithShape="0">
            <a:blip r:embed="rId1"/>
          </a:blipFill>
          <a:ln w="9525">
            <a:noFill/>
          </a:ln>
        </p:spPr>
        <p:txBody>
          <a:bodyPr/>
          <a:lstStyle/>
          <a:p>
            <a:endParaRPr lang="zh-CN" altLang="en-US" sz="1500"/>
          </a:p>
        </p:txBody>
      </p:sp>
      <p:sp>
        <p:nvSpPr>
          <p:cNvPr id="359431" name="矩形 359430"/>
          <p:cNvSpPr/>
          <p:nvPr/>
        </p:nvSpPr>
        <p:spPr>
          <a:xfrm>
            <a:off x="5424170" y="2060363"/>
            <a:ext cx="0" cy="10583"/>
          </a:xfrm>
          <a:prstGeom prst="rect">
            <a:avLst/>
          </a:prstGeom>
          <a:blipFill rotWithShape="0">
            <a:blip r:embed="rId1"/>
          </a:blipFill>
          <a:ln w="9525">
            <a:noFill/>
          </a:ln>
        </p:spPr>
        <p:txBody>
          <a:bodyPr/>
          <a:lstStyle/>
          <a:p>
            <a:endParaRPr lang="zh-CN" altLang="en-US" sz="1500"/>
          </a:p>
        </p:txBody>
      </p:sp>
      <p:sp>
        <p:nvSpPr>
          <p:cNvPr id="359432" name="矩形 359431"/>
          <p:cNvSpPr/>
          <p:nvPr/>
        </p:nvSpPr>
        <p:spPr>
          <a:xfrm>
            <a:off x="5381837" y="2060363"/>
            <a:ext cx="0" cy="10583"/>
          </a:xfrm>
          <a:prstGeom prst="rect">
            <a:avLst/>
          </a:prstGeom>
          <a:blipFill rotWithShape="0">
            <a:blip r:embed="rId1"/>
          </a:blipFill>
          <a:ln w="9525">
            <a:noFill/>
          </a:ln>
        </p:spPr>
        <p:txBody>
          <a:bodyPr/>
          <a:lstStyle/>
          <a:p>
            <a:endParaRPr lang="zh-CN" altLang="en-US" sz="1500"/>
          </a:p>
        </p:txBody>
      </p:sp>
      <p:sp>
        <p:nvSpPr>
          <p:cNvPr id="359433" name="矩形 359432"/>
          <p:cNvSpPr/>
          <p:nvPr/>
        </p:nvSpPr>
        <p:spPr>
          <a:xfrm>
            <a:off x="5424170" y="2526030"/>
            <a:ext cx="0" cy="10583"/>
          </a:xfrm>
          <a:prstGeom prst="rect">
            <a:avLst/>
          </a:prstGeom>
          <a:blipFill rotWithShape="0">
            <a:blip r:embed="rId1"/>
          </a:blipFill>
          <a:ln w="9525">
            <a:noFill/>
          </a:ln>
        </p:spPr>
        <p:txBody>
          <a:bodyPr/>
          <a:lstStyle/>
          <a:p>
            <a:endParaRPr lang="zh-CN" altLang="en-US" sz="1500"/>
          </a:p>
        </p:txBody>
      </p:sp>
      <p:sp>
        <p:nvSpPr>
          <p:cNvPr id="359434" name="矩形 359433"/>
          <p:cNvSpPr/>
          <p:nvPr/>
        </p:nvSpPr>
        <p:spPr>
          <a:xfrm>
            <a:off x="5381837" y="2526030"/>
            <a:ext cx="0" cy="10583"/>
          </a:xfrm>
          <a:prstGeom prst="rect">
            <a:avLst/>
          </a:prstGeom>
          <a:blipFill rotWithShape="0">
            <a:blip r:embed="rId1"/>
          </a:blipFill>
          <a:ln w="9525">
            <a:noFill/>
          </a:ln>
        </p:spPr>
        <p:txBody>
          <a:bodyPr/>
          <a:lstStyle/>
          <a:p>
            <a:endParaRPr lang="zh-CN" altLang="en-US" sz="1500"/>
          </a:p>
        </p:txBody>
      </p:sp>
      <p:sp>
        <p:nvSpPr>
          <p:cNvPr id="359435" name="矩形 359434"/>
          <p:cNvSpPr/>
          <p:nvPr/>
        </p:nvSpPr>
        <p:spPr>
          <a:xfrm>
            <a:off x="5424170" y="1605280"/>
            <a:ext cx="0" cy="10583"/>
          </a:xfrm>
          <a:prstGeom prst="rect">
            <a:avLst/>
          </a:prstGeom>
          <a:blipFill rotWithShape="0">
            <a:blip r:embed="rId1"/>
          </a:blipFill>
          <a:ln w="9525">
            <a:noFill/>
          </a:ln>
        </p:spPr>
        <p:txBody>
          <a:bodyPr/>
          <a:lstStyle/>
          <a:p>
            <a:endParaRPr lang="zh-CN" altLang="en-US" sz="1500"/>
          </a:p>
        </p:txBody>
      </p:sp>
      <p:sp>
        <p:nvSpPr>
          <p:cNvPr id="359436" name="矩形 359435"/>
          <p:cNvSpPr/>
          <p:nvPr/>
        </p:nvSpPr>
        <p:spPr>
          <a:xfrm>
            <a:off x="5381837" y="1605280"/>
            <a:ext cx="0" cy="10583"/>
          </a:xfrm>
          <a:prstGeom prst="rect">
            <a:avLst/>
          </a:prstGeom>
          <a:blipFill rotWithShape="0">
            <a:blip r:embed="rId1"/>
          </a:blipFill>
          <a:ln w="9525">
            <a:noFill/>
          </a:ln>
        </p:spPr>
        <p:txBody>
          <a:bodyPr/>
          <a:lstStyle/>
          <a:p>
            <a:endParaRPr lang="zh-CN" altLang="en-US" sz="1500"/>
          </a:p>
        </p:txBody>
      </p:sp>
      <p:sp>
        <p:nvSpPr>
          <p:cNvPr id="359437" name="矩形 359436"/>
          <p:cNvSpPr/>
          <p:nvPr/>
        </p:nvSpPr>
        <p:spPr>
          <a:xfrm>
            <a:off x="5424170" y="1383030"/>
            <a:ext cx="0" cy="10583"/>
          </a:xfrm>
          <a:prstGeom prst="rect">
            <a:avLst/>
          </a:prstGeom>
          <a:blipFill rotWithShape="0">
            <a:blip r:embed="rId1"/>
          </a:blipFill>
          <a:ln w="9525">
            <a:noFill/>
          </a:ln>
        </p:spPr>
        <p:txBody>
          <a:bodyPr/>
          <a:lstStyle/>
          <a:p>
            <a:endParaRPr lang="zh-CN" altLang="en-US" sz="1500"/>
          </a:p>
        </p:txBody>
      </p:sp>
      <p:sp>
        <p:nvSpPr>
          <p:cNvPr id="359438" name="矩形 359437"/>
          <p:cNvSpPr/>
          <p:nvPr/>
        </p:nvSpPr>
        <p:spPr>
          <a:xfrm>
            <a:off x="5381837" y="1383030"/>
            <a:ext cx="0" cy="10583"/>
          </a:xfrm>
          <a:prstGeom prst="rect">
            <a:avLst/>
          </a:prstGeom>
          <a:blipFill rotWithShape="0">
            <a:blip r:embed="rId1"/>
          </a:blipFill>
          <a:ln w="9525">
            <a:noFill/>
          </a:ln>
        </p:spPr>
        <p:txBody>
          <a:bodyPr/>
          <a:lstStyle/>
          <a:p>
            <a:endParaRPr lang="zh-CN" altLang="en-US" sz="1500"/>
          </a:p>
        </p:txBody>
      </p:sp>
      <p:sp>
        <p:nvSpPr>
          <p:cNvPr id="359439" name="矩形 359438"/>
          <p:cNvSpPr/>
          <p:nvPr/>
        </p:nvSpPr>
        <p:spPr>
          <a:xfrm>
            <a:off x="6081660" y="2515447"/>
            <a:ext cx="10583" cy="0"/>
          </a:xfrm>
          <a:prstGeom prst="rect">
            <a:avLst/>
          </a:prstGeom>
          <a:blipFill rotWithShape="0">
            <a:blip r:embed="rId1"/>
          </a:blipFill>
          <a:ln w="9525">
            <a:noFill/>
          </a:ln>
        </p:spPr>
        <p:txBody>
          <a:bodyPr/>
          <a:lstStyle/>
          <a:p>
            <a:endParaRPr lang="zh-CN" altLang="en-US" sz="1500"/>
          </a:p>
        </p:txBody>
      </p:sp>
      <p:sp>
        <p:nvSpPr>
          <p:cNvPr id="359440" name="矩形 359439"/>
          <p:cNvSpPr/>
          <p:nvPr/>
        </p:nvSpPr>
        <p:spPr>
          <a:xfrm>
            <a:off x="6081660" y="2483697"/>
            <a:ext cx="10583" cy="0"/>
          </a:xfrm>
          <a:prstGeom prst="rect">
            <a:avLst/>
          </a:prstGeom>
          <a:blipFill rotWithShape="0">
            <a:blip r:embed="rId1"/>
          </a:blipFill>
          <a:ln w="9525">
            <a:noFill/>
          </a:ln>
        </p:spPr>
        <p:txBody>
          <a:bodyPr/>
          <a:lstStyle/>
          <a:p>
            <a:endParaRPr lang="zh-CN" altLang="en-US" sz="1500"/>
          </a:p>
        </p:txBody>
      </p:sp>
      <p:sp>
        <p:nvSpPr>
          <p:cNvPr id="359441" name="矩形 359440"/>
          <p:cNvSpPr/>
          <p:nvPr/>
        </p:nvSpPr>
        <p:spPr>
          <a:xfrm>
            <a:off x="5614670" y="2515447"/>
            <a:ext cx="10583" cy="0"/>
          </a:xfrm>
          <a:prstGeom prst="rect">
            <a:avLst/>
          </a:prstGeom>
          <a:blipFill rotWithShape="0">
            <a:blip r:embed="rId1"/>
          </a:blipFill>
          <a:ln w="9525">
            <a:noFill/>
          </a:ln>
        </p:spPr>
        <p:txBody>
          <a:bodyPr/>
          <a:lstStyle/>
          <a:p>
            <a:endParaRPr lang="zh-CN" altLang="en-US" sz="1500"/>
          </a:p>
        </p:txBody>
      </p:sp>
      <p:sp>
        <p:nvSpPr>
          <p:cNvPr id="359442" name="矩形 359441"/>
          <p:cNvSpPr/>
          <p:nvPr/>
        </p:nvSpPr>
        <p:spPr>
          <a:xfrm>
            <a:off x="5614670" y="2483697"/>
            <a:ext cx="10583" cy="0"/>
          </a:xfrm>
          <a:prstGeom prst="rect">
            <a:avLst/>
          </a:prstGeom>
          <a:blipFill rotWithShape="0">
            <a:blip r:embed="rId1"/>
          </a:blipFill>
          <a:ln w="9525">
            <a:noFill/>
          </a:ln>
        </p:spPr>
        <p:txBody>
          <a:bodyPr/>
          <a:lstStyle/>
          <a:p>
            <a:endParaRPr lang="zh-CN" altLang="en-US" sz="1500"/>
          </a:p>
        </p:txBody>
      </p:sp>
      <p:sp>
        <p:nvSpPr>
          <p:cNvPr id="359443" name="矩形 359442"/>
          <p:cNvSpPr/>
          <p:nvPr/>
        </p:nvSpPr>
        <p:spPr>
          <a:xfrm>
            <a:off x="5848827" y="2515447"/>
            <a:ext cx="10583" cy="0"/>
          </a:xfrm>
          <a:prstGeom prst="rect">
            <a:avLst/>
          </a:prstGeom>
          <a:blipFill rotWithShape="0">
            <a:blip r:embed="rId1"/>
          </a:blipFill>
          <a:ln w="9525">
            <a:noFill/>
          </a:ln>
        </p:spPr>
        <p:txBody>
          <a:bodyPr/>
          <a:lstStyle/>
          <a:p>
            <a:endParaRPr lang="zh-CN" altLang="en-US" sz="1500"/>
          </a:p>
        </p:txBody>
      </p:sp>
      <p:sp>
        <p:nvSpPr>
          <p:cNvPr id="359444" name="矩形 359443"/>
          <p:cNvSpPr/>
          <p:nvPr/>
        </p:nvSpPr>
        <p:spPr>
          <a:xfrm>
            <a:off x="5848827" y="2483697"/>
            <a:ext cx="10583" cy="0"/>
          </a:xfrm>
          <a:prstGeom prst="rect">
            <a:avLst/>
          </a:prstGeom>
          <a:blipFill rotWithShape="0">
            <a:blip r:embed="rId1"/>
          </a:blipFill>
          <a:ln w="9525">
            <a:noFill/>
          </a:ln>
        </p:spPr>
        <p:txBody>
          <a:bodyPr/>
          <a:lstStyle/>
          <a:p>
            <a:endParaRPr lang="zh-CN" altLang="en-US" sz="1500"/>
          </a:p>
        </p:txBody>
      </p:sp>
      <p:sp>
        <p:nvSpPr>
          <p:cNvPr id="359445" name="矩形 359444"/>
          <p:cNvSpPr/>
          <p:nvPr/>
        </p:nvSpPr>
        <p:spPr>
          <a:xfrm>
            <a:off x="5381837" y="2515447"/>
            <a:ext cx="10583" cy="0"/>
          </a:xfrm>
          <a:prstGeom prst="rect">
            <a:avLst/>
          </a:prstGeom>
          <a:blipFill rotWithShape="0">
            <a:blip r:embed="rId1"/>
          </a:blipFill>
          <a:ln w="9525">
            <a:noFill/>
          </a:ln>
        </p:spPr>
        <p:txBody>
          <a:bodyPr/>
          <a:lstStyle/>
          <a:p>
            <a:endParaRPr lang="zh-CN" altLang="en-US" sz="1500"/>
          </a:p>
        </p:txBody>
      </p:sp>
      <p:sp>
        <p:nvSpPr>
          <p:cNvPr id="359446" name="矩形 359445"/>
          <p:cNvSpPr/>
          <p:nvPr/>
        </p:nvSpPr>
        <p:spPr>
          <a:xfrm>
            <a:off x="5381837" y="2483697"/>
            <a:ext cx="10583" cy="0"/>
          </a:xfrm>
          <a:prstGeom prst="rect">
            <a:avLst/>
          </a:prstGeom>
          <a:blipFill rotWithShape="0">
            <a:blip r:embed="rId1"/>
          </a:blipFill>
          <a:ln w="9525">
            <a:noFill/>
          </a:ln>
        </p:spPr>
        <p:txBody>
          <a:bodyPr/>
          <a:lstStyle/>
          <a:p>
            <a:endParaRPr lang="zh-CN" altLang="en-US" sz="1500"/>
          </a:p>
        </p:txBody>
      </p:sp>
      <p:sp>
        <p:nvSpPr>
          <p:cNvPr id="359447" name="矩形 359446"/>
          <p:cNvSpPr/>
          <p:nvPr/>
        </p:nvSpPr>
        <p:spPr>
          <a:xfrm>
            <a:off x="6314493" y="2515447"/>
            <a:ext cx="10583" cy="0"/>
          </a:xfrm>
          <a:prstGeom prst="rect">
            <a:avLst/>
          </a:prstGeom>
          <a:blipFill rotWithShape="0">
            <a:blip r:embed="rId1"/>
          </a:blipFill>
          <a:ln w="9525">
            <a:noFill/>
          </a:ln>
        </p:spPr>
        <p:txBody>
          <a:bodyPr/>
          <a:lstStyle/>
          <a:p>
            <a:endParaRPr lang="zh-CN" altLang="en-US" sz="1500"/>
          </a:p>
        </p:txBody>
      </p:sp>
      <p:sp>
        <p:nvSpPr>
          <p:cNvPr id="359448" name="矩形 359447"/>
          <p:cNvSpPr/>
          <p:nvPr/>
        </p:nvSpPr>
        <p:spPr>
          <a:xfrm>
            <a:off x="6314493" y="2483697"/>
            <a:ext cx="10583" cy="0"/>
          </a:xfrm>
          <a:prstGeom prst="rect">
            <a:avLst/>
          </a:prstGeom>
          <a:blipFill rotWithShape="0">
            <a:blip r:embed="rId1"/>
          </a:blipFill>
          <a:ln w="9525">
            <a:noFill/>
          </a:ln>
        </p:spPr>
        <p:txBody>
          <a:bodyPr/>
          <a:lstStyle/>
          <a:p>
            <a:endParaRPr lang="zh-CN" altLang="en-US" sz="1500"/>
          </a:p>
        </p:txBody>
      </p:sp>
      <p:sp>
        <p:nvSpPr>
          <p:cNvPr id="359449" name="矩形 359448"/>
          <p:cNvSpPr/>
          <p:nvPr/>
        </p:nvSpPr>
        <p:spPr>
          <a:xfrm>
            <a:off x="6547327" y="2515447"/>
            <a:ext cx="10583" cy="0"/>
          </a:xfrm>
          <a:prstGeom prst="rect">
            <a:avLst/>
          </a:prstGeom>
          <a:blipFill rotWithShape="0">
            <a:blip r:embed="rId1"/>
          </a:blipFill>
          <a:ln w="9525">
            <a:noFill/>
          </a:ln>
        </p:spPr>
        <p:txBody>
          <a:bodyPr/>
          <a:lstStyle/>
          <a:p>
            <a:endParaRPr lang="zh-CN" altLang="en-US" sz="1500"/>
          </a:p>
        </p:txBody>
      </p:sp>
      <p:sp>
        <p:nvSpPr>
          <p:cNvPr id="359450" name="矩形 359449"/>
          <p:cNvSpPr/>
          <p:nvPr/>
        </p:nvSpPr>
        <p:spPr>
          <a:xfrm>
            <a:off x="6547327" y="2483697"/>
            <a:ext cx="10583" cy="0"/>
          </a:xfrm>
          <a:prstGeom prst="rect">
            <a:avLst/>
          </a:prstGeom>
          <a:blipFill rotWithShape="0">
            <a:blip r:embed="rId1"/>
          </a:blipFill>
          <a:ln w="9525">
            <a:noFill/>
          </a:ln>
        </p:spPr>
        <p:txBody>
          <a:bodyPr/>
          <a:lstStyle/>
          <a:p>
            <a:endParaRPr lang="zh-CN" altLang="en-US" sz="1500"/>
          </a:p>
        </p:txBody>
      </p:sp>
      <p:sp>
        <p:nvSpPr>
          <p:cNvPr id="359451" name="矩形 359450"/>
          <p:cNvSpPr/>
          <p:nvPr/>
        </p:nvSpPr>
        <p:spPr>
          <a:xfrm>
            <a:off x="5508837" y="2642447"/>
            <a:ext cx="10583" cy="0"/>
          </a:xfrm>
          <a:prstGeom prst="rect">
            <a:avLst/>
          </a:prstGeom>
          <a:blipFill rotWithShape="0">
            <a:blip r:embed="rId1"/>
          </a:blipFill>
          <a:ln w="9525">
            <a:noFill/>
          </a:ln>
        </p:spPr>
        <p:txBody>
          <a:bodyPr/>
          <a:lstStyle/>
          <a:p>
            <a:endParaRPr lang="zh-CN" altLang="en-US" sz="1500"/>
          </a:p>
        </p:txBody>
      </p:sp>
      <p:sp>
        <p:nvSpPr>
          <p:cNvPr id="359452" name="矩形 359451"/>
          <p:cNvSpPr/>
          <p:nvPr/>
        </p:nvSpPr>
        <p:spPr>
          <a:xfrm>
            <a:off x="5381837" y="1203113"/>
            <a:ext cx="10583" cy="0"/>
          </a:xfrm>
          <a:prstGeom prst="rect">
            <a:avLst/>
          </a:prstGeom>
          <a:blipFill rotWithShape="0">
            <a:blip r:embed="rId1"/>
          </a:blipFill>
          <a:ln w="9525">
            <a:noFill/>
          </a:ln>
        </p:spPr>
        <p:txBody>
          <a:bodyPr/>
          <a:lstStyle/>
          <a:p>
            <a:endParaRPr lang="zh-CN" altLang="en-US" sz="1500"/>
          </a:p>
        </p:txBody>
      </p:sp>
      <p:sp>
        <p:nvSpPr>
          <p:cNvPr id="359453" name="矩形 359452"/>
          <p:cNvSpPr/>
          <p:nvPr/>
        </p:nvSpPr>
        <p:spPr>
          <a:xfrm>
            <a:off x="5392420" y="2515447"/>
            <a:ext cx="0" cy="10583"/>
          </a:xfrm>
          <a:prstGeom prst="rect">
            <a:avLst/>
          </a:prstGeom>
          <a:blipFill rotWithShape="0">
            <a:blip r:embed="rId1"/>
          </a:blipFill>
          <a:ln w="9525">
            <a:noFill/>
          </a:ln>
        </p:spPr>
        <p:txBody>
          <a:bodyPr/>
          <a:lstStyle/>
          <a:p>
            <a:endParaRPr lang="zh-CN" altLang="en-US" sz="1500"/>
          </a:p>
        </p:txBody>
      </p:sp>
      <p:sp>
        <p:nvSpPr>
          <p:cNvPr id="359454" name="矩形 359453"/>
          <p:cNvSpPr/>
          <p:nvPr/>
        </p:nvSpPr>
        <p:spPr>
          <a:xfrm>
            <a:off x="6716660" y="2515447"/>
            <a:ext cx="0" cy="10583"/>
          </a:xfrm>
          <a:prstGeom prst="rect">
            <a:avLst/>
          </a:prstGeom>
          <a:blipFill rotWithShape="0">
            <a:blip r:embed="rId1"/>
          </a:blipFill>
          <a:ln w="9525">
            <a:noFill/>
          </a:ln>
        </p:spPr>
        <p:txBody>
          <a:bodyPr/>
          <a:lstStyle/>
          <a:p>
            <a:endParaRPr lang="zh-CN" altLang="en-US" sz="1500"/>
          </a:p>
        </p:txBody>
      </p:sp>
      <p:sp>
        <p:nvSpPr>
          <p:cNvPr id="359455" name="矩形 359454"/>
          <p:cNvSpPr/>
          <p:nvPr/>
        </p:nvSpPr>
        <p:spPr>
          <a:xfrm>
            <a:off x="5392420" y="1372447"/>
            <a:ext cx="0" cy="10583"/>
          </a:xfrm>
          <a:prstGeom prst="rect">
            <a:avLst/>
          </a:prstGeom>
          <a:blipFill rotWithShape="0">
            <a:blip r:embed="rId1"/>
          </a:blipFill>
          <a:ln w="9525">
            <a:noFill/>
          </a:ln>
        </p:spPr>
        <p:txBody>
          <a:bodyPr/>
          <a:lstStyle/>
          <a:p>
            <a:endParaRPr lang="zh-CN" altLang="en-US" sz="1500"/>
          </a:p>
        </p:txBody>
      </p:sp>
      <p:grpSp>
        <p:nvGrpSpPr>
          <p:cNvPr id="361489" name="组合 361488"/>
          <p:cNvGrpSpPr/>
          <p:nvPr/>
        </p:nvGrpSpPr>
        <p:grpSpPr>
          <a:xfrm>
            <a:off x="850477" y="1125485"/>
            <a:ext cx="3575844" cy="3377406"/>
            <a:chOff x="550" y="1262"/>
            <a:chExt cx="2703" cy="2553"/>
          </a:xfrm>
        </p:grpSpPr>
        <p:sp>
          <p:nvSpPr>
            <p:cNvPr id="361490" name="矩形 361489"/>
            <p:cNvSpPr/>
            <p:nvPr/>
          </p:nvSpPr>
          <p:spPr>
            <a:xfrm>
              <a:off x="1626" y="1849"/>
              <a:ext cx="17" cy="1723"/>
            </a:xfrm>
            <a:prstGeom prst="rect">
              <a:avLst/>
            </a:prstGeom>
            <a:blipFill rotWithShape="0">
              <a:blip r:embed="rId2"/>
            </a:blipFill>
            <a:ln w="9525">
              <a:noFill/>
            </a:ln>
          </p:spPr>
          <p:txBody>
            <a:bodyPr/>
            <a:lstStyle/>
            <a:p>
              <a:endParaRPr lang="zh-CN" altLang="en-US" sz="1500"/>
            </a:p>
          </p:txBody>
        </p:sp>
        <p:sp>
          <p:nvSpPr>
            <p:cNvPr id="361491" name="矩形 361490"/>
            <p:cNvSpPr/>
            <p:nvPr/>
          </p:nvSpPr>
          <p:spPr>
            <a:xfrm>
              <a:off x="903" y="3572"/>
              <a:ext cx="0" cy="20"/>
            </a:xfrm>
            <a:prstGeom prst="rect">
              <a:avLst/>
            </a:prstGeom>
            <a:blipFill rotWithShape="0">
              <a:blip r:embed="rId1"/>
            </a:blipFill>
            <a:ln w="9525">
              <a:noFill/>
            </a:ln>
          </p:spPr>
          <p:txBody>
            <a:bodyPr/>
            <a:lstStyle/>
            <a:p>
              <a:endParaRPr lang="zh-CN" altLang="en-US" sz="1500"/>
            </a:p>
          </p:txBody>
        </p:sp>
        <p:sp>
          <p:nvSpPr>
            <p:cNvPr id="361492" name="矩形 361491"/>
            <p:cNvSpPr/>
            <p:nvPr/>
          </p:nvSpPr>
          <p:spPr>
            <a:xfrm>
              <a:off x="903" y="3572"/>
              <a:ext cx="1939" cy="20"/>
            </a:xfrm>
            <a:prstGeom prst="rect">
              <a:avLst/>
            </a:prstGeom>
            <a:blipFill rotWithShape="0">
              <a:blip r:embed="rId1"/>
            </a:blipFill>
            <a:ln w="9525">
              <a:noFill/>
            </a:ln>
          </p:spPr>
          <p:txBody>
            <a:bodyPr/>
            <a:lstStyle/>
            <a:p>
              <a:endParaRPr lang="zh-CN" altLang="en-US" sz="1500"/>
            </a:p>
          </p:txBody>
        </p:sp>
        <p:sp>
          <p:nvSpPr>
            <p:cNvPr id="361493" name="矩形 361492"/>
            <p:cNvSpPr/>
            <p:nvPr/>
          </p:nvSpPr>
          <p:spPr>
            <a:xfrm>
              <a:off x="903" y="1673"/>
              <a:ext cx="17" cy="1899"/>
            </a:xfrm>
            <a:prstGeom prst="rect">
              <a:avLst/>
            </a:prstGeom>
            <a:blipFill rotWithShape="0">
              <a:blip r:embed="rId1"/>
            </a:blipFill>
            <a:ln w="9525">
              <a:noFill/>
            </a:ln>
          </p:spPr>
          <p:txBody>
            <a:bodyPr/>
            <a:lstStyle/>
            <a:p>
              <a:endParaRPr lang="zh-CN" altLang="en-US" sz="1500"/>
            </a:p>
          </p:txBody>
        </p:sp>
        <p:sp>
          <p:nvSpPr>
            <p:cNvPr id="361494" name="矩形 361493"/>
            <p:cNvSpPr/>
            <p:nvPr/>
          </p:nvSpPr>
          <p:spPr>
            <a:xfrm>
              <a:off x="903" y="1849"/>
              <a:ext cx="0" cy="20"/>
            </a:xfrm>
            <a:prstGeom prst="rect">
              <a:avLst/>
            </a:prstGeom>
            <a:blipFill rotWithShape="0">
              <a:blip r:embed="rId1"/>
            </a:blipFill>
            <a:ln w="9525">
              <a:noFill/>
            </a:ln>
          </p:spPr>
          <p:txBody>
            <a:bodyPr/>
            <a:lstStyle/>
            <a:p>
              <a:endParaRPr lang="zh-CN" altLang="en-US" sz="1500"/>
            </a:p>
          </p:txBody>
        </p:sp>
        <p:sp>
          <p:nvSpPr>
            <p:cNvPr id="361495" name="矩形 361494"/>
            <p:cNvSpPr/>
            <p:nvPr/>
          </p:nvSpPr>
          <p:spPr>
            <a:xfrm>
              <a:off x="903" y="1849"/>
              <a:ext cx="723" cy="20"/>
            </a:xfrm>
            <a:prstGeom prst="rect">
              <a:avLst/>
            </a:prstGeom>
            <a:blipFill rotWithShape="0">
              <a:blip r:embed="rId1"/>
            </a:blipFill>
            <a:ln w="9525">
              <a:noFill/>
            </a:ln>
          </p:spPr>
          <p:txBody>
            <a:bodyPr/>
            <a:lstStyle/>
            <a:p>
              <a:endParaRPr lang="zh-CN" altLang="en-US" sz="1500"/>
            </a:p>
          </p:txBody>
        </p:sp>
        <p:sp>
          <p:nvSpPr>
            <p:cNvPr id="361496" name="任意多边形 361495"/>
            <p:cNvSpPr/>
            <p:nvPr/>
          </p:nvSpPr>
          <p:spPr>
            <a:xfrm>
              <a:off x="1626" y="1849"/>
              <a:ext cx="493" cy="1723"/>
            </a:xfrm>
            <a:custGeom>
              <a:avLst/>
              <a:gdLst/>
              <a:ahLst/>
              <a:cxnLst/>
              <a:rect l="0" t="0" r="0" b="0"/>
              <a:pathLst>
                <a:path w="493" h="1723">
                  <a:moveTo>
                    <a:pt x="17" y="0"/>
                  </a:moveTo>
                  <a:lnTo>
                    <a:pt x="0" y="0"/>
                  </a:lnTo>
                  <a:lnTo>
                    <a:pt x="476" y="1723"/>
                  </a:lnTo>
                  <a:lnTo>
                    <a:pt x="493" y="1723"/>
                  </a:lnTo>
                  <a:lnTo>
                    <a:pt x="17" y="0"/>
                  </a:lnTo>
                  <a:close/>
                </a:path>
              </a:pathLst>
            </a:custGeom>
            <a:blipFill rotWithShape="0">
              <a:blip r:embed="rId1"/>
            </a:blipFill>
            <a:ln w="9525">
              <a:noFill/>
            </a:ln>
          </p:spPr>
          <p:txBody>
            <a:bodyPr/>
            <a:lstStyle/>
            <a:p>
              <a:endParaRPr lang="zh-CN" altLang="en-US" sz="1500"/>
            </a:p>
          </p:txBody>
        </p:sp>
        <p:sp>
          <p:nvSpPr>
            <p:cNvPr id="361497" name="矩形 361496"/>
            <p:cNvSpPr/>
            <p:nvPr/>
          </p:nvSpPr>
          <p:spPr>
            <a:xfrm>
              <a:off x="550" y="1732"/>
              <a:ext cx="98" cy="165"/>
            </a:xfrm>
            <a:prstGeom prst="rect">
              <a:avLst/>
            </a:prstGeom>
            <a:noFill/>
            <a:ln w="9525">
              <a:noFill/>
            </a:ln>
          </p:spPr>
          <p:txBody>
            <a:bodyPr wrap="none" lIns="0" tIns="0" rIns="0" bIns="0">
              <a:spAutoFit/>
            </a:bodyPr>
            <a:lstStyle/>
            <a:p>
              <a:r>
                <a:rPr lang="en-US" altLang="zh-CN" sz="1415">
                  <a:solidFill>
                    <a:srgbClr val="000000"/>
                  </a:solidFill>
                  <a:latin typeface="Times New Roman" panose="02020603050405020304" pitchFamily="18" charset="0"/>
                </a:rPr>
                <a:t>V</a:t>
              </a:r>
              <a:endParaRPr lang="en-US" altLang="zh-CN" sz="1500" i="0">
                <a:solidFill>
                  <a:schemeClr val="tx2"/>
                </a:solidFill>
                <a:latin typeface="Book Antiqua" panose="02040602050305030304" pitchFamily="18" charset="0"/>
              </a:endParaRPr>
            </a:p>
          </p:txBody>
        </p:sp>
        <p:sp>
          <p:nvSpPr>
            <p:cNvPr id="361498" name="矩形 361497"/>
            <p:cNvSpPr/>
            <p:nvPr/>
          </p:nvSpPr>
          <p:spPr>
            <a:xfrm>
              <a:off x="638" y="1791"/>
              <a:ext cx="174" cy="145"/>
            </a:xfrm>
            <a:prstGeom prst="rect">
              <a:avLst/>
            </a:prstGeom>
            <a:noFill/>
            <a:ln w="9525">
              <a:noFill/>
            </a:ln>
          </p:spPr>
          <p:txBody>
            <a:bodyPr wrap="none" lIns="0" tIns="0" rIns="0" bIns="0">
              <a:spAutoFit/>
            </a:bodyPr>
            <a:lstStyle/>
            <a:p>
              <a:r>
                <a:rPr lang="en-US" altLang="zh-CN" sz="1250">
                  <a:solidFill>
                    <a:srgbClr val="000000"/>
                  </a:solidFill>
                  <a:latin typeface="Times New Roman" panose="02020603050405020304" pitchFamily="18" charset="0"/>
                </a:rPr>
                <a:t>OH</a:t>
              </a:r>
              <a:endParaRPr lang="en-US" altLang="zh-CN" sz="1500" i="0">
                <a:solidFill>
                  <a:schemeClr val="tx2"/>
                </a:solidFill>
                <a:latin typeface="Book Antiqua" panose="02040602050305030304" pitchFamily="18" charset="0"/>
              </a:endParaRPr>
            </a:p>
          </p:txBody>
        </p:sp>
        <p:sp>
          <p:nvSpPr>
            <p:cNvPr id="361499" name="任意多边形 361498"/>
            <p:cNvSpPr/>
            <p:nvPr/>
          </p:nvSpPr>
          <p:spPr>
            <a:xfrm>
              <a:off x="1749" y="1849"/>
              <a:ext cx="18" cy="1"/>
            </a:xfrm>
            <a:custGeom>
              <a:avLst/>
              <a:gdLst/>
              <a:ahLst/>
              <a:cxnLst/>
              <a:rect l="0" t="0" r="0" b="0"/>
              <a:pathLst>
                <a:path w="18">
                  <a:moveTo>
                    <a:pt x="0" y="0"/>
                  </a:moveTo>
                  <a:lnTo>
                    <a:pt x="0" y="0"/>
                  </a:lnTo>
                  <a:lnTo>
                    <a:pt x="0" y="0"/>
                  </a:lnTo>
                  <a:lnTo>
                    <a:pt x="18" y="0"/>
                  </a:lnTo>
                  <a:lnTo>
                    <a:pt x="18" y="0"/>
                  </a:lnTo>
                  <a:lnTo>
                    <a:pt x="18" y="0"/>
                  </a:lnTo>
                  <a:lnTo>
                    <a:pt x="0" y="0"/>
                  </a:lnTo>
                  <a:close/>
                </a:path>
              </a:pathLst>
            </a:custGeom>
            <a:blipFill rotWithShape="0">
              <a:blip r:embed="rId1"/>
            </a:blipFill>
            <a:ln w="9525">
              <a:noFill/>
            </a:ln>
          </p:spPr>
          <p:txBody>
            <a:bodyPr/>
            <a:lstStyle/>
            <a:p>
              <a:endParaRPr lang="zh-CN" altLang="en-US" sz="1500"/>
            </a:p>
          </p:txBody>
        </p:sp>
        <p:sp>
          <p:nvSpPr>
            <p:cNvPr id="361500" name="矩形 361499"/>
            <p:cNvSpPr/>
            <p:nvPr/>
          </p:nvSpPr>
          <p:spPr>
            <a:xfrm>
              <a:off x="550" y="3513"/>
              <a:ext cx="98" cy="165"/>
            </a:xfrm>
            <a:prstGeom prst="rect">
              <a:avLst/>
            </a:prstGeom>
            <a:noFill/>
            <a:ln w="9525">
              <a:noFill/>
            </a:ln>
          </p:spPr>
          <p:txBody>
            <a:bodyPr wrap="none" lIns="0" tIns="0" rIns="0" bIns="0">
              <a:spAutoFit/>
            </a:bodyPr>
            <a:lstStyle/>
            <a:p>
              <a:r>
                <a:rPr lang="en-US" altLang="zh-CN" sz="1415">
                  <a:solidFill>
                    <a:srgbClr val="000000"/>
                  </a:solidFill>
                  <a:latin typeface="Times New Roman" panose="02020603050405020304" pitchFamily="18" charset="0"/>
                </a:rPr>
                <a:t>V</a:t>
              </a:r>
              <a:endParaRPr lang="en-US" altLang="zh-CN" sz="1500" i="0">
                <a:solidFill>
                  <a:schemeClr val="tx2"/>
                </a:solidFill>
                <a:latin typeface="Book Antiqua" panose="02040602050305030304" pitchFamily="18" charset="0"/>
              </a:endParaRPr>
            </a:p>
          </p:txBody>
        </p:sp>
        <p:sp>
          <p:nvSpPr>
            <p:cNvPr id="361501" name="矩形 361500"/>
            <p:cNvSpPr/>
            <p:nvPr/>
          </p:nvSpPr>
          <p:spPr>
            <a:xfrm>
              <a:off x="638" y="3572"/>
              <a:ext cx="160" cy="145"/>
            </a:xfrm>
            <a:prstGeom prst="rect">
              <a:avLst/>
            </a:prstGeom>
            <a:noFill/>
            <a:ln w="9525">
              <a:noFill/>
            </a:ln>
          </p:spPr>
          <p:txBody>
            <a:bodyPr wrap="none" lIns="0" tIns="0" rIns="0" bIns="0">
              <a:spAutoFit/>
            </a:bodyPr>
            <a:lstStyle/>
            <a:p>
              <a:r>
                <a:rPr lang="en-US" altLang="zh-CN" sz="1250">
                  <a:solidFill>
                    <a:srgbClr val="000000"/>
                  </a:solidFill>
                  <a:latin typeface="Times New Roman" panose="02020603050405020304" pitchFamily="18" charset="0"/>
                </a:rPr>
                <a:t>OL</a:t>
              </a:r>
              <a:endParaRPr lang="en-US" altLang="zh-CN" sz="1500" i="0">
                <a:solidFill>
                  <a:schemeClr val="tx2"/>
                </a:solidFill>
                <a:latin typeface="Book Antiqua" panose="02040602050305030304" pitchFamily="18" charset="0"/>
              </a:endParaRPr>
            </a:p>
          </p:txBody>
        </p:sp>
        <p:grpSp>
          <p:nvGrpSpPr>
            <p:cNvPr id="361502" name="组合 361501"/>
            <p:cNvGrpSpPr/>
            <p:nvPr/>
          </p:nvGrpSpPr>
          <p:grpSpPr>
            <a:xfrm>
              <a:off x="2860" y="3318"/>
              <a:ext cx="393" cy="332"/>
              <a:chOff x="2860" y="3318"/>
              <a:chExt cx="393" cy="332"/>
            </a:xfrm>
          </p:grpSpPr>
          <p:sp>
            <p:nvSpPr>
              <p:cNvPr id="361503" name="任意多边形 361502"/>
              <p:cNvSpPr/>
              <p:nvPr/>
            </p:nvSpPr>
            <p:spPr>
              <a:xfrm>
                <a:off x="2860" y="3513"/>
                <a:ext cx="211" cy="137"/>
              </a:xfrm>
              <a:custGeom>
                <a:avLst/>
                <a:gdLst/>
                <a:ahLst/>
                <a:cxnLst/>
                <a:rect l="0" t="0" r="0" b="0"/>
                <a:pathLst>
                  <a:path w="211" h="137">
                    <a:moveTo>
                      <a:pt x="0" y="59"/>
                    </a:moveTo>
                    <a:lnTo>
                      <a:pt x="0" y="0"/>
                    </a:lnTo>
                    <a:lnTo>
                      <a:pt x="0" y="0"/>
                    </a:lnTo>
                    <a:lnTo>
                      <a:pt x="0" y="0"/>
                    </a:lnTo>
                    <a:lnTo>
                      <a:pt x="159" y="59"/>
                    </a:lnTo>
                    <a:lnTo>
                      <a:pt x="211" y="59"/>
                    </a:lnTo>
                    <a:lnTo>
                      <a:pt x="159" y="79"/>
                    </a:lnTo>
                    <a:lnTo>
                      <a:pt x="0" y="137"/>
                    </a:lnTo>
                    <a:lnTo>
                      <a:pt x="0" y="137"/>
                    </a:lnTo>
                    <a:lnTo>
                      <a:pt x="0" y="118"/>
                    </a:lnTo>
                    <a:lnTo>
                      <a:pt x="0" y="118"/>
                    </a:lnTo>
                    <a:lnTo>
                      <a:pt x="159" y="59"/>
                    </a:lnTo>
                    <a:lnTo>
                      <a:pt x="159" y="79"/>
                    </a:lnTo>
                    <a:lnTo>
                      <a:pt x="159" y="79"/>
                    </a:lnTo>
                    <a:lnTo>
                      <a:pt x="0" y="20"/>
                    </a:lnTo>
                    <a:lnTo>
                      <a:pt x="0" y="0"/>
                    </a:lnTo>
                    <a:lnTo>
                      <a:pt x="17" y="0"/>
                    </a:lnTo>
                    <a:lnTo>
                      <a:pt x="17" y="59"/>
                    </a:lnTo>
                    <a:lnTo>
                      <a:pt x="0" y="59"/>
                    </a:lnTo>
                    <a:close/>
                  </a:path>
                </a:pathLst>
              </a:custGeom>
              <a:blipFill rotWithShape="0">
                <a:blip r:embed="rId1"/>
              </a:blipFill>
              <a:ln w="9525">
                <a:noFill/>
              </a:ln>
            </p:spPr>
            <p:txBody>
              <a:bodyPr/>
              <a:lstStyle/>
              <a:p>
                <a:endParaRPr lang="zh-CN" altLang="en-US" sz="1500"/>
              </a:p>
            </p:txBody>
          </p:sp>
          <p:sp>
            <p:nvSpPr>
              <p:cNvPr id="361504" name="任意多边形 361503"/>
              <p:cNvSpPr/>
              <p:nvPr/>
            </p:nvSpPr>
            <p:spPr>
              <a:xfrm>
                <a:off x="2860" y="3572"/>
                <a:ext cx="17" cy="59"/>
              </a:xfrm>
              <a:custGeom>
                <a:avLst/>
                <a:gdLst/>
                <a:ahLst/>
                <a:cxnLst/>
                <a:rect l="0" t="0" r="0" b="0"/>
                <a:pathLst>
                  <a:path w="17" h="59">
                    <a:moveTo>
                      <a:pt x="0" y="59"/>
                    </a:moveTo>
                    <a:lnTo>
                      <a:pt x="0" y="0"/>
                    </a:lnTo>
                    <a:lnTo>
                      <a:pt x="17" y="0"/>
                    </a:lnTo>
                    <a:lnTo>
                      <a:pt x="17" y="0"/>
                    </a:lnTo>
                    <a:lnTo>
                      <a:pt x="17" y="0"/>
                    </a:lnTo>
                    <a:lnTo>
                      <a:pt x="17" y="59"/>
                    </a:lnTo>
                    <a:lnTo>
                      <a:pt x="0" y="59"/>
                    </a:lnTo>
                    <a:close/>
                  </a:path>
                </a:pathLst>
              </a:custGeom>
              <a:blipFill rotWithShape="0">
                <a:blip r:embed="rId1"/>
              </a:blipFill>
              <a:ln w="9525">
                <a:noFill/>
              </a:ln>
            </p:spPr>
            <p:txBody>
              <a:bodyPr/>
              <a:lstStyle/>
              <a:p>
                <a:endParaRPr lang="zh-CN" altLang="en-US" sz="1500"/>
              </a:p>
            </p:txBody>
          </p:sp>
          <p:sp>
            <p:nvSpPr>
              <p:cNvPr id="361505" name="任意多边形 361504"/>
              <p:cNvSpPr/>
              <p:nvPr/>
            </p:nvSpPr>
            <p:spPr>
              <a:xfrm>
                <a:off x="2860" y="3513"/>
                <a:ext cx="159" cy="118"/>
              </a:xfrm>
              <a:custGeom>
                <a:avLst/>
                <a:gdLst/>
                <a:ahLst/>
                <a:cxnLst/>
                <a:rect l="0" t="0" r="0" b="0"/>
                <a:pathLst>
                  <a:path w="159" h="118">
                    <a:moveTo>
                      <a:pt x="0" y="59"/>
                    </a:moveTo>
                    <a:lnTo>
                      <a:pt x="0" y="0"/>
                    </a:lnTo>
                    <a:lnTo>
                      <a:pt x="159" y="59"/>
                    </a:lnTo>
                    <a:lnTo>
                      <a:pt x="0" y="118"/>
                    </a:lnTo>
                    <a:lnTo>
                      <a:pt x="0" y="59"/>
                    </a:lnTo>
                    <a:close/>
                  </a:path>
                </a:pathLst>
              </a:custGeom>
              <a:blipFill rotWithShape="0">
                <a:blip r:embed="rId1"/>
              </a:blipFill>
              <a:ln w="9525">
                <a:noFill/>
              </a:ln>
            </p:spPr>
            <p:txBody>
              <a:bodyPr/>
              <a:lstStyle/>
              <a:p>
                <a:endParaRPr lang="zh-CN" altLang="en-US" sz="1500"/>
              </a:p>
            </p:txBody>
          </p:sp>
          <p:sp>
            <p:nvSpPr>
              <p:cNvPr id="361506" name="矩形 361505"/>
              <p:cNvSpPr/>
              <p:nvPr/>
            </p:nvSpPr>
            <p:spPr>
              <a:xfrm>
                <a:off x="3071" y="3318"/>
                <a:ext cx="98" cy="165"/>
              </a:xfrm>
              <a:prstGeom prst="rect">
                <a:avLst/>
              </a:prstGeom>
              <a:noFill/>
              <a:ln w="9525">
                <a:noFill/>
              </a:ln>
            </p:spPr>
            <p:txBody>
              <a:bodyPr wrap="none" lIns="0" tIns="0" rIns="0" bIns="0">
                <a:spAutoFit/>
              </a:bodyPr>
              <a:lstStyle/>
              <a:p>
                <a:r>
                  <a:rPr lang="en-US" altLang="zh-CN" sz="1415">
                    <a:solidFill>
                      <a:srgbClr val="000000"/>
                    </a:solidFill>
                    <a:latin typeface="Times New Roman" panose="02020603050405020304" pitchFamily="18" charset="0"/>
                  </a:rPr>
                  <a:t>V</a:t>
                </a:r>
                <a:endParaRPr lang="en-US" altLang="zh-CN" sz="1500" i="0">
                  <a:solidFill>
                    <a:schemeClr val="tx2"/>
                  </a:solidFill>
                  <a:latin typeface="Book Antiqua" panose="02040602050305030304" pitchFamily="18" charset="0"/>
                </a:endParaRPr>
              </a:p>
            </p:txBody>
          </p:sp>
          <p:sp>
            <p:nvSpPr>
              <p:cNvPr id="361507" name="矩形 361506"/>
              <p:cNvSpPr/>
              <p:nvPr/>
            </p:nvSpPr>
            <p:spPr>
              <a:xfrm>
                <a:off x="3160" y="3376"/>
                <a:ext cx="93" cy="145"/>
              </a:xfrm>
              <a:prstGeom prst="rect">
                <a:avLst/>
              </a:prstGeom>
              <a:noFill/>
              <a:ln w="9525">
                <a:noFill/>
              </a:ln>
            </p:spPr>
            <p:txBody>
              <a:bodyPr wrap="none" lIns="0" tIns="0" rIns="0" bIns="0">
                <a:spAutoFit/>
              </a:bodyPr>
              <a:lstStyle/>
              <a:p>
                <a:r>
                  <a:rPr lang="en-US" altLang="zh-CN" sz="1250">
                    <a:solidFill>
                      <a:srgbClr val="000000"/>
                    </a:solidFill>
                    <a:latin typeface="Times New Roman" panose="02020603050405020304" pitchFamily="18" charset="0"/>
                  </a:rPr>
                  <a:t>in</a:t>
                </a:r>
                <a:endParaRPr lang="en-US" altLang="zh-CN" sz="1500" i="0">
                  <a:solidFill>
                    <a:schemeClr val="tx2"/>
                  </a:solidFill>
                  <a:latin typeface="Book Antiqua" panose="02040602050305030304" pitchFamily="18" charset="0"/>
                </a:endParaRPr>
              </a:p>
            </p:txBody>
          </p:sp>
        </p:grpSp>
        <p:grpSp>
          <p:nvGrpSpPr>
            <p:cNvPr id="361508" name="组合 361507"/>
            <p:cNvGrpSpPr/>
            <p:nvPr/>
          </p:nvGrpSpPr>
          <p:grpSpPr>
            <a:xfrm>
              <a:off x="603" y="1262"/>
              <a:ext cx="370" cy="411"/>
              <a:chOff x="603" y="1262"/>
              <a:chExt cx="370" cy="411"/>
            </a:xfrm>
          </p:grpSpPr>
          <p:sp>
            <p:nvSpPr>
              <p:cNvPr id="361509" name="任意多边形 361508"/>
              <p:cNvSpPr/>
              <p:nvPr/>
            </p:nvSpPr>
            <p:spPr>
              <a:xfrm>
                <a:off x="867" y="1438"/>
                <a:ext cx="106" cy="235"/>
              </a:xfrm>
              <a:custGeom>
                <a:avLst/>
                <a:gdLst/>
                <a:ahLst/>
                <a:cxnLst/>
                <a:rect l="0" t="0" r="0" b="0"/>
                <a:pathLst>
                  <a:path w="106" h="235">
                    <a:moveTo>
                      <a:pt x="36" y="235"/>
                    </a:moveTo>
                    <a:lnTo>
                      <a:pt x="0" y="235"/>
                    </a:lnTo>
                    <a:lnTo>
                      <a:pt x="0" y="235"/>
                    </a:lnTo>
                    <a:lnTo>
                      <a:pt x="0" y="235"/>
                    </a:lnTo>
                    <a:lnTo>
                      <a:pt x="36" y="59"/>
                    </a:lnTo>
                    <a:lnTo>
                      <a:pt x="36" y="0"/>
                    </a:lnTo>
                    <a:lnTo>
                      <a:pt x="53" y="59"/>
                    </a:lnTo>
                    <a:lnTo>
                      <a:pt x="106" y="235"/>
                    </a:lnTo>
                    <a:lnTo>
                      <a:pt x="106" y="235"/>
                    </a:lnTo>
                    <a:lnTo>
                      <a:pt x="89" y="235"/>
                    </a:lnTo>
                    <a:lnTo>
                      <a:pt x="89" y="235"/>
                    </a:lnTo>
                    <a:lnTo>
                      <a:pt x="36" y="59"/>
                    </a:lnTo>
                    <a:lnTo>
                      <a:pt x="53" y="59"/>
                    </a:lnTo>
                    <a:lnTo>
                      <a:pt x="53" y="59"/>
                    </a:lnTo>
                    <a:lnTo>
                      <a:pt x="18" y="235"/>
                    </a:lnTo>
                    <a:lnTo>
                      <a:pt x="0" y="235"/>
                    </a:lnTo>
                    <a:lnTo>
                      <a:pt x="0" y="216"/>
                    </a:lnTo>
                    <a:lnTo>
                      <a:pt x="36" y="216"/>
                    </a:lnTo>
                    <a:lnTo>
                      <a:pt x="36" y="235"/>
                    </a:lnTo>
                    <a:close/>
                  </a:path>
                </a:pathLst>
              </a:custGeom>
              <a:blipFill rotWithShape="0">
                <a:blip r:embed="rId1"/>
              </a:blipFill>
              <a:ln w="9525">
                <a:noFill/>
              </a:ln>
            </p:spPr>
            <p:txBody>
              <a:bodyPr/>
              <a:lstStyle/>
              <a:p>
                <a:endParaRPr lang="zh-CN" altLang="en-US" sz="1500"/>
              </a:p>
            </p:txBody>
          </p:sp>
          <p:sp>
            <p:nvSpPr>
              <p:cNvPr id="361510" name="任意多边形 361509"/>
              <p:cNvSpPr/>
              <p:nvPr/>
            </p:nvSpPr>
            <p:spPr>
              <a:xfrm>
                <a:off x="903" y="1654"/>
                <a:ext cx="53" cy="19"/>
              </a:xfrm>
              <a:custGeom>
                <a:avLst/>
                <a:gdLst/>
                <a:ahLst/>
                <a:cxnLst/>
                <a:rect l="0" t="0" r="0" b="0"/>
                <a:pathLst>
                  <a:path w="53" h="19">
                    <a:moveTo>
                      <a:pt x="53" y="19"/>
                    </a:moveTo>
                    <a:lnTo>
                      <a:pt x="0" y="19"/>
                    </a:lnTo>
                    <a:lnTo>
                      <a:pt x="0" y="0"/>
                    </a:lnTo>
                    <a:lnTo>
                      <a:pt x="0" y="0"/>
                    </a:lnTo>
                    <a:lnTo>
                      <a:pt x="0" y="0"/>
                    </a:lnTo>
                    <a:lnTo>
                      <a:pt x="53" y="0"/>
                    </a:lnTo>
                    <a:lnTo>
                      <a:pt x="53" y="19"/>
                    </a:lnTo>
                    <a:close/>
                  </a:path>
                </a:pathLst>
              </a:custGeom>
              <a:blipFill rotWithShape="0">
                <a:blip r:embed="rId1"/>
              </a:blipFill>
              <a:ln w="9525">
                <a:noFill/>
              </a:ln>
            </p:spPr>
            <p:txBody>
              <a:bodyPr/>
              <a:lstStyle/>
              <a:p>
                <a:endParaRPr lang="zh-CN" altLang="en-US" sz="1500"/>
              </a:p>
            </p:txBody>
          </p:sp>
          <p:sp>
            <p:nvSpPr>
              <p:cNvPr id="361511" name="任意多边形 361510"/>
              <p:cNvSpPr/>
              <p:nvPr/>
            </p:nvSpPr>
            <p:spPr>
              <a:xfrm>
                <a:off x="867" y="1497"/>
                <a:ext cx="89" cy="176"/>
              </a:xfrm>
              <a:custGeom>
                <a:avLst/>
                <a:gdLst/>
                <a:ahLst/>
                <a:cxnLst/>
                <a:rect l="0" t="0" r="0" b="0"/>
                <a:pathLst>
                  <a:path w="89" h="176">
                    <a:moveTo>
                      <a:pt x="36" y="176"/>
                    </a:moveTo>
                    <a:lnTo>
                      <a:pt x="0" y="176"/>
                    </a:lnTo>
                    <a:lnTo>
                      <a:pt x="36" y="0"/>
                    </a:lnTo>
                    <a:lnTo>
                      <a:pt x="89" y="176"/>
                    </a:lnTo>
                    <a:lnTo>
                      <a:pt x="36" y="176"/>
                    </a:lnTo>
                    <a:close/>
                  </a:path>
                </a:pathLst>
              </a:custGeom>
              <a:blipFill rotWithShape="0">
                <a:blip r:embed="rId1"/>
              </a:blipFill>
              <a:ln w="9525">
                <a:noFill/>
              </a:ln>
            </p:spPr>
            <p:txBody>
              <a:bodyPr/>
              <a:lstStyle/>
              <a:p>
                <a:endParaRPr lang="zh-CN" altLang="en-US" sz="1500"/>
              </a:p>
            </p:txBody>
          </p:sp>
          <p:sp>
            <p:nvSpPr>
              <p:cNvPr id="361512" name="矩形 361511"/>
              <p:cNvSpPr/>
              <p:nvPr/>
            </p:nvSpPr>
            <p:spPr>
              <a:xfrm>
                <a:off x="603" y="1262"/>
                <a:ext cx="98" cy="165"/>
              </a:xfrm>
              <a:prstGeom prst="rect">
                <a:avLst/>
              </a:prstGeom>
              <a:noFill/>
              <a:ln w="9525">
                <a:noFill/>
              </a:ln>
            </p:spPr>
            <p:txBody>
              <a:bodyPr wrap="none" lIns="0" tIns="0" rIns="0" bIns="0">
                <a:spAutoFit/>
              </a:bodyPr>
              <a:lstStyle/>
              <a:p>
                <a:r>
                  <a:rPr lang="en-US" altLang="zh-CN" sz="1415">
                    <a:solidFill>
                      <a:srgbClr val="000000"/>
                    </a:solidFill>
                    <a:latin typeface="Times New Roman" panose="02020603050405020304" pitchFamily="18" charset="0"/>
                  </a:rPr>
                  <a:t>V</a:t>
                </a:r>
                <a:endParaRPr lang="en-US" altLang="zh-CN" sz="1500" i="0">
                  <a:solidFill>
                    <a:schemeClr val="tx2"/>
                  </a:solidFill>
                  <a:latin typeface="Book Antiqua" panose="02040602050305030304" pitchFamily="18" charset="0"/>
                </a:endParaRPr>
              </a:p>
            </p:txBody>
          </p:sp>
          <p:sp>
            <p:nvSpPr>
              <p:cNvPr id="361513" name="矩形 361512"/>
              <p:cNvSpPr/>
              <p:nvPr/>
            </p:nvSpPr>
            <p:spPr>
              <a:xfrm>
                <a:off x="673" y="1321"/>
                <a:ext cx="153" cy="145"/>
              </a:xfrm>
              <a:prstGeom prst="rect">
                <a:avLst/>
              </a:prstGeom>
              <a:noFill/>
              <a:ln w="9525">
                <a:noFill/>
              </a:ln>
            </p:spPr>
            <p:txBody>
              <a:bodyPr wrap="none" lIns="0" tIns="0" rIns="0" bIns="0">
                <a:spAutoFit/>
              </a:bodyPr>
              <a:lstStyle/>
              <a:p>
                <a:r>
                  <a:rPr lang="en-US" altLang="zh-CN" sz="1250">
                    <a:solidFill>
                      <a:srgbClr val="000000"/>
                    </a:solidFill>
                    <a:latin typeface="Times New Roman" panose="02020603050405020304" pitchFamily="18" charset="0"/>
                  </a:rPr>
                  <a:t>out</a:t>
                </a:r>
                <a:endParaRPr lang="en-US" altLang="zh-CN" sz="1500" i="0">
                  <a:solidFill>
                    <a:schemeClr val="tx2"/>
                  </a:solidFill>
                  <a:latin typeface="Book Antiqua" panose="02040602050305030304" pitchFamily="18" charset="0"/>
                </a:endParaRPr>
              </a:p>
            </p:txBody>
          </p:sp>
        </p:grpSp>
        <p:sp>
          <p:nvSpPr>
            <p:cNvPr id="361514" name="矩形 361513"/>
            <p:cNvSpPr/>
            <p:nvPr/>
          </p:nvSpPr>
          <p:spPr>
            <a:xfrm>
              <a:off x="2102" y="3572"/>
              <a:ext cx="705" cy="20"/>
            </a:xfrm>
            <a:prstGeom prst="rect">
              <a:avLst/>
            </a:prstGeom>
            <a:blipFill rotWithShape="0">
              <a:blip r:embed="rId1"/>
            </a:blipFill>
            <a:ln w="9525">
              <a:noFill/>
            </a:ln>
          </p:spPr>
          <p:txBody>
            <a:bodyPr/>
            <a:lstStyle/>
            <a:p>
              <a:endParaRPr lang="zh-CN" altLang="en-US" sz="1500"/>
            </a:p>
          </p:txBody>
        </p:sp>
        <p:sp>
          <p:nvSpPr>
            <p:cNvPr id="361515" name="任意多边形 361514"/>
            <p:cNvSpPr/>
            <p:nvPr/>
          </p:nvSpPr>
          <p:spPr>
            <a:xfrm>
              <a:off x="1837" y="2711"/>
              <a:ext cx="53" cy="58"/>
            </a:xfrm>
            <a:custGeom>
              <a:avLst/>
              <a:gdLst/>
              <a:ahLst/>
              <a:cxnLst/>
              <a:rect l="0" t="0" r="0" b="0"/>
              <a:pathLst>
                <a:path w="53" h="58">
                  <a:moveTo>
                    <a:pt x="53" y="19"/>
                  </a:moveTo>
                  <a:lnTo>
                    <a:pt x="35" y="0"/>
                  </a:lnTo>
                  <a:lnTo>
                    <a:pt x="35" y="0"/>
                  </a:lnTo>
                  <a:lnTo>
                    <a:pt x="18" y="0"/>
                  </a:lnTo>
                  <a:lnTo>
                    <a:pt x="0" y="19"/>
                  </a:lnTo>
                  <a:lnTo>
                    <a:pt x="18" y="39"/>
                  </a:lnTo>
                  <a:lnTo>
                    <a:pt x="35" y="58"/>
                  </a:lnTo>
                  <a:lnTo>
                    <a:pt x="35" y="39"/>
                  </a:lnTo>
                  <a:lnTo>
                    <a:pt x="53" y="19"/>
                  </a:lnTo>
                  <a:close/>
                </a:path>
              </a:pathLst>
            </a:custGeom>
            <a:blipFill rotWithShape="0">
              <a:blip r:embed="rId1"/>
            </a:blipFill>
            <a:ln w="9525">
              <a:noFill/>
            </a:ln>
          </p:spPr>
          <p:txBody>
            <a:bodyPr/>
            <a:lstStyle/>
            <a:p>
              <a:endParaRPr lang="zh-CN" altLang="en-US" sz="1500"/>
            </a:p>
          </p:txBody>
        </p:sp>
        <p:sp>
          <p:nvSpPr>
            <p:cNvPr id="361516" name="任意多边形 361515"/>
            <p:cNvSpPr/>
            <p:nvPr/>
          </p:nvSpPr>
          <p:spPr>
            <a:xfrm>
              <a:off x="1837" y="2711"/>
              <a:ext cx="71" cy="78"/>
            </a:xfrm>
            <a:custGeom>
              <a:avLst/>
              <a:gdLst/>
              <a:ahLst/>
              <a:cxnLst/>
              <a:rect l="0" t="0" r="0" b="0"/>
              <a:pathLst>
                <a:path w="71" h="78">
                  <a:moveTo>
                    <a:pt x="53" y="39"/>
                  </a:moveTo>
                  <a:lnTo>
                    <a:pt x="35" y="19"/>
                  </a:lnTo>
                  <a:lnTo>
                    <a:pt x="35" y="19"/>
                  </a:lnTo>
                  <a:lnTo>
                    <a:pt x="35" y="19"/>
                  </a:lnTo>
                  <a:lnTo>
                    <a:pt x="35" y="19"/>
                  </a:lnTo>
                  <a:lnTo>
                    <a:pt x="35" y="19"/>
                  </a:lnTo>
                  <a:lnTo>
                    <a:pt x="35" y="19"/>
                  </a:lnTo>
                  <a:lnTo>
                    <a:pt x="18" y="19"/>
                  </a:lnTo>
                  <a:lnTo>
                    <a:pt x="35" y="19"/>
                  </a:lnTo>
                  <a:lnTo>
                    <a:pt x="35" y="19"/>
                  </a:lnTo>
                  <a:lnTo>
                    <a:pt x="18" y="39"/>
                  </a:lnTo>
                  <a:lnTo>
                    <a:pt x="18" y="19"/>
                  </a:lnTo>
                  <a:lnTo>
                    <a:pt x="18" y="19"/>
                  </a:lnTo>
                  <a:lnTo>
                    <a:pt x="35" y="39"/>
                  </a:lnTo>
                  <a:lnTo>
                    <a:pt x="35" y="39"/>
                  </a:lnTo>
                  <a:lnTo>
                    <a:pt x="35" y="39"/>
                  </a:lnTo>
                  <a:lnTo>
                    <a:pt x="53" y="58"/>
                  </a:lnTo>
                  <a:lnTo>
                    <a:pt x="35" y="58"/>
                  </a:lnTo>
                  <a:lnTo>
                    <a:pt x="35" y="58"/>
                  </a:lnTo>
                  <a:lnTo>
                    <a:pt x="35" y="39"/>
                  </a:lnTo>
                  <a:lnTo>
                    <a:pt x="35" y="39"/>
                  </a:lnTo>
                  <a:lnTo>
                    <a:pt x="35" y="39"/>
                  </a:lnTo>
                  <a:lnTo>
                    <a:pt x="53" y="19"/>
                  </a:lnTo>
                  <a:lnTo>
                    <a:pt x="53" y="19"/>
                  </a:lnTo>
                  <a:lnTo>
                    <a:pt x="71" y="39"/>
                  </a:lnTo>
                  <a:lnTo>
                    <a:pt x="71" y="39"/>
                  </a:lnTo>
                  <a:lnTo>
                    <a:pt x="53" y="58"/>
                  </a:lnTo>
                  <a:lnTo>
                    <a:pt x="53" y="58"/>
                  </a:lnTo>
                  <a:lnTo>
                    <a:pt x="53" y="39"/>
                  </a:lnTo>
                  <a:lnTo>
                    <a:pt x="53" y="58"/>
                  </a:lnTo>
                  <a:lnTo>
                    <a:pt x="53" y="58"/>
                  </a:lnTo>
                  <a:lnTo>
                    <a:pt x="35" y="78"/>
                  </a:lnTo>
                  <a:lnTo>
                    <a:pt x="18" y="58"/>
                  </a:lnTo>
                  <a:lnTo>
                    <a:pt x="18" y="58"/>
                  </a:lnTo>
                  <a:lnTo>
                    <a:pt x="18" y="58"/>
                  </a:lnTo>
                  <a:lnTo>
                    <a:pt x="0" y="39"/>
                  </a:lnTo>
                  <a:lnTo>
                    <a:pt x="0" y="39"/>
                  </a:lnTo>
                  <a:lnTo>
                    <a:pt x="0" y="19"/>
                  </a:lnTo>
                  <a:lnTo>
                    <a:pt x="18" y="0"/>
                  </a:lnTo>
                  <a:lnTo>
                    <a:pt x="18" y="0"/>
                  </a:lnTo>
                  <a:lnTo>
                    <a:pt x="18" y="0"/>
                  </a:lnTo>
                  <a:lnTo>
                    <a:pt x="35" y="0"/>
                  </a:lnTo>
                  <a:lnTo>
                    <a:pt x="35" y="0"/>
                  </a:lnTo>
                  <a:lnTo>
                    <a:pt x="53" y="0"/>
                  </a:lnTo>
                  <a:lnTo>
                    <a:pt x="53" y="0"/>
                  </a:lnTo>
                  <a:lnTo>
                    <a:pt x="53" y="0"/>
                  </a:lnTo>
                  <a:lnTo>
                    <a:pt x="53" y="0"/>
                  </a:lnTo>
                  <a:lnTo>
                    <a:pt x="71" y="19"/>
                  </a:lnTo>
                  <a:lnTo>
                    <a:pt x="53" y="39"/>
                  </a:lnTo>
                  <a:close/>
                </a:path>
              </a:pathLst>
            </a:custGeom>
            <a:blipFill rotWithShape="0">
              <a:blip r:embed="rId1"/>
            </a:blipFill>
            <a:ln w="9525">
              <a:noFill/>
            </a:ln>
          </p:spPr>
          <p:txBody>
            <a:bodyPr/>
            <a:lstStyle/>
            <a:p>
              <a:endParaRPr lang="zh-CN" altLang="en-US" sz="1500"/>
            </a:p>
          </p:txBody>
        </p:sp>
        <p:sp>
          <p:nvSpPr>
            <p:cNvPr id="361517" name="任意多边形 361516"/>
            <p:cNvSpPr/>
            <p:nvPr/>
          </p:nvSpPr>
          <p:spPr>
            <a:xfrm>
              <a:off x="1890" y="2730"/>
              <a:ext cx="18" cy="20"/>
            </a:xfrm>
            <a:custGeom>
              <a:avLst/>
              <a:gdLst/>
              <a:ahLst/>
              <a:cxnLst/>
              <a:rect l="0" t="0" r="0" b="0"/>
              <a:pathLst>
                <a:path w="18" h="20">
                  <a:moveTo>
                    <a:pt x="0" y="0"/>
                  </a:moveTo>
                  <a:lnTo>
                    <a:pt x="0" y="0"/>
                  </a:lnTo>
                  <a:lnTo>
                    <a:pt x="0" y="20"/>
                  </a:lnTo>
                  <a:lnTo>
                    <a:pt x="18" y="0"/>
                  </a:lnTo>
                  <a:lnTo>
                    <a:pt x="18" y="20"/>
                  </a:lnTo>
                  <a:lnTo>
                    <a:pt x="18" y="20"/>
                  </a:lnTo>
                  <a:lnTo>
                    <a:pt x="0" y="0"/>
                  </a:lnTo>
                  <a:close/>
                </a:path>
              </a:pathLst>
            </a:custGeom>
            <a:blipFill rotWithShape="0">
              <a:blip r:embed="rId1"/>
            </a:blipFill>
            <a:ln w="9525">
              <a:noFill/>
            </a:ln>
          </p:spPr>
          <p:txBody>
            <a:bodyPr/>
            <a:lstStyle/>
            <a:p>
              <a:endParaRPr lang="zh-CN" altLang="en-US" sz="1500"/>
            </a:p>
          </p:txBody>
        </p:sp>
        <p:sp>
          <p:nvSpPr>
            <p:cNvPr id="361518" name="矩形 361517"/>
            <p:cNvSpPr/>
            <p:nvPr/>
          </p:nvSpPr>
          <p:spPr>
            <a:xfrm>
              <a:off x="1855" y="2730"/>
              <a:ext cx="17" cy="157"/>
            </a:xfrm>
            <a:prstGeom prst="rect">
              <a:avLst/>
            </a:prstGeom>
            <a:blipFill rotWithShape="0">
              <a:blip r:embed="rId1"/>
            </a:blipFill>
            <a:ln w="9525">
              <a:noFill/>
            </a:ln>
          </p:spPr>
          <p:txBody>
            <a:bodyPr/>
            <a:lstStyle/>
            <a:p>
              <a:endParaRPr lang="zh-CN" altLang="en-US" sz="1500"/>
            </a:p>
          </p:txBody>
        </p:sp>
        <p:sp>
          <p:nvSpPr>
            <p:cNvPr id="361519" name="矩形 361518"/>
            <p:cNvSpPr/>
            <p:nvPr/>
          </p:nvSpPr>
          <p:spPr>
            <a:xfrm>
              <a:off x="1925" y="2574"/>
              <a:ext cx="98" cy="165"/>
            </a:xfrm>
            <a:prstGeom prst="rect">
              <a:avLst/>
            </a:prstGeom>
            <a:noFill/>
            <a:ln w="9525">
              <a:noFill/>
            </a:ln>
          </p:spPr>
          <p:txBody>
            <a:bodyPr wrap="none" lIns="0" tIns="0" rIns="0" bIns="0">
              <a:spAutoFit/>
            </a:bodyPr>
            <a:lstStyle/>
            <a:p>
              <a:r>
                <a:rPr lang="en-US" altLang="zh-CN" sz="1415">
                  <a:solidFill>
                    <a:srgbClr val="000000"/>
                  </a:solidFill>
                  <a:latin typeface="Times New Roman" panose="02020603050405020304" pitchFamily="18" charset="0"/>
                </a:rPr>
                <a:t>V</a:t>
              </a:r>
              <a:endParaRPr lang="en-US" altLang="zh-CN" sz="1500" i="0">
                <a:solidFill>
                  <a:schemeClr val="tx2"/>
                </a:solidFill>
                <a:latin typeface="Book Antiqua" panose="02040602050305030304" pitchFamily="18" charset="0"/>
              </a:endParaRPr>
            </a:p>
          </p:txBody>
        </p:sp>
        <p:sp>
          <p:nvSpPr>
            <p:cNvPr id="361520" name="矩形 361519"/>
            <p:cNvSpPr/>
            <p:nvPr/>
          </p:nvSpPr>
          <p:spPr>
            <a:xfrm>
              <a:off x="2013" y="2632"/>
              <a:ext cx="107" cy="145"/>
            </a:xfrm>
            <a:prstGeom prst="rect">
              <a:avLst/>
            </a:prstGeom>
            <a:noFill/>
            <a:ln w="9525">
              <a:noFill/>
            </a:ln>
          </p:spPr>
          <p:txBody>
            <a:bodyPr wrap="none" lIns="0" tIns="0" rIns="0" bIns="0">
              <a:spAutoFit/>
            </a:bodyPr>
            <a:lstStyle/>
            <a:p>
              <a:r>
                <a:rPr lang="en-US" altLang="zh-CN" sz="1250">
                  <a:solidFill>
                    <a:srgbClr val="000000"/>
                  </a:solidFill>
                  <a:latin typeface="Times New Roman" panose="02020603050405020304" pitchFamily="18" charset="0"/>
                </a:rPr>
                <a:t>M</a:t>
              </a:r>
              <a:endParaRPr lang="en-US" altLang="zh-CN" sz="1500" i="0">
                <a:solidFill>
                  <a:schemeClr val="tx2"/>
                </a:solidFill>
                <a:latin typeface="Book Antiqua" panose="02040602050305030304" pitchFamily="18" charset="0"/>
              </a:endParaRPr>
            </a:p>
          </p:txBody>
        </p:sp>
        <p:sp>
          <p:nvSpPr>
            <p:cNvPr id="361521" name="矩形 361520"/>
            <p:cNvSpPr/>
            <p:nvPr/>
          </p:nvSpPr>
          <p:spPr>
            <a:xfrm>
              <a:off x="1537" y="3611"/>
              <a:ext cx="98" cy="165"/>
            </a:xfrm>
            <a:prstGeom prst="rect">
              <a:avLst/>
            </a:prstGeom>
            <a:noFill/>
            <a:ln w="9525">
              <a:noFill/>
            </a:ln>
          </p:spPr>
          <p:txBody>
            <a:bodyPr wrap="none" lIns="0" tIns="0" rIns="0" bIns="0">
              <a:spAutoFit/>
            </a:bodyPr>
            <a:lstStyle/>
            <a:p>
              <a:r>
                <a:rPr lang="en-US" altLang="zh-CN" sz="1415">
                  <a:solidFill>
                    <a:srgbClr val="000000"/>
                  </a:solidFill>
                  <a:latin typeface="Times New Roman" panose="02020603050405020304" pitchFamily="18" charset="0"/>
                </a:rPr>
                <a:t>V</a:t>
              </a:r>
              <a:endParaRPr lang="en-US" altLang="zh-CN" sz="1500" i="0">
                <a:solidFill>
                  <a:schemeClr val="tx2"/>
                </a:solidFill>
                <a:latin typeface="Book Antiqua" panose="02040602050305030304" pitchFamily="18" charset="0"/>
              </a:endParaRPr>
            </a:p>
          </p:txBody>
        </p:sp>
        <p:sp>
          <p:nvSpPr>
            <p:cNvPr id="361522" name="矩形 361521"/>
            <p:cNvSpPr/>
            <p:nvPr/>
          </p:nvSpPr>
          <p:spPr>
            <a:xfrm>
              <a:off x="1626" y="3670"/>
              <a:ext cx="113" cy="145"/>
            </a:xfrm>
            <a:prstGeom prst="rect">
              <a:avLst/>
            </a:prstGeom>
            <a:noFill/>
            <a:ln w="9525">
              <a:noFill/>
            </a:ln>
          </p:spPr>
          <p:txBody>
            <a:bodyPr wrap="none" lIns="0" tIns="0" rIns="0" bIns="0">
              <a:spAutoFit/>
            </a:bodyPr>
            <a:lstStyle/>
            <a:p>
              <a:r>
                <a:rPr lang="en-US" altLang="zh-CN" sz="1250">
                  <a:solidFill>
                    <a:srgbClr val="000000"/>
                  </a:solidFill>
                  <a:latin typeface="Times New Roman" panose="02020603050405020304" pitchFamily="18" charset="0"/>
                </a:rPr>
                <a:t>IL</a:t>
              </a:r>
              <a:endParaRPr lang="en-US" altLang="zh-CN" sz="1500" i="0">
                <a:solidFill>
                  <a:schemeClr val="tx2"/>
                </a:solidFill>
                <a:latin typeface="Book Antiqua" panose="02040602050305030304" pitchFamily="18" charset="0"/>
              </a:endParaRPr>
            </a:p>
          </p:txBody>
        </p:sp>
        <p:grpSp>
          <p:nvGrpSpPr>
            <p:cNvPr id="361523" name="组合 361522"/>
            <p:cNvGrpSpPr/>
            <p:nvPr/>
          </p:nvGrpSpPr>
          <p:grpSpPr>
            <a:xfrm>
              <a:off x="2171" y="3572"/>
              <a:ext cx="233" cy="243"/>
              <a:chOff x="2225" y="3572"/>
              <a:chExt cx="233" cy="243"/>
            </a:xfrm>
          </p:grpSpPr>
          <p:sp>
            <p:nvSpPr>
              <p:cNvPr id="361524" name="任意多边形 361523"/>
              <p:cNvSpPr/>
              <p:nvPr/>
            </p:nvSpPr>
            <p:spPr>
              <a:xfrm>
                <a:off x="2225" y="3572"/>
                <a:ext cx="18" cy="1"/>
              </a:xfrm>
              <a:custGeom>
                <a:avLst/>
                <a:gdLst/>
                <a:ahLst/>
                <a:cxnLst/>
                <a:rect l="0" t="0" r="0" b="0"/>
                <a:pathLst>
                  <a:path w="18">
                    <a:moveTo>
                      <a:pt x="0" y="0"/>
                    </a:moveTo>
                    <a:lnTo>
                      <a:pt x="0" y="0"/>
                    </a:lnTo>
                    <a:lnTo>
                      <a:pt x="0" y="0"/>
                    </a:lnTo>
                    <a:lnTo>
                      <a:pt x="18" y="0"/>
                    </a:lnTo>
                    <a:lnTo>
                      <a:pt x="18" y="0"/>
                    </a:lnTo>
                    <a:lnTo>
                      <a:pt x="18" y="0"/>
                    </a:lnTo>
                    <a:lnTo>
                      <a:pt x="0" y="0"/>
                    </a:lnTo>
                    <a:close/>
                  </a:path>
                </a:pathLst>
              </a:custGeom>
              <a:blipFill rotWithShape="0">
                <a:blip r:embed="rId1"/>
              </a:blipFill>
              <a:ln w="9525">
                <a:noFill/>
              </a:ln>
            </p:spPr>
            <p:txBody>
              <a:bodyPr/>
              <a:lstStyle/>
              <a:p>
                <a:endParaRPr lang="zh-CN" altLang="en-US" sz="1500"/>
              </a:p>
            </p:txBody>
          </p:sp>
          <p:sp>
            <p:nvSpPr>
              <p:cNvPr id="361525" name="矩形 361524"/>
              <p:cNvSpPr/>
              <p:nvPr/>
            </p:nvSpPr>
            <p:spPr>
              <a:xfrm>
                <a:off x="2243" y="3611"/>
                <a:ext cx="98" cy="165"/>
              </a:xfrm>
              <a:prstGeom prst="rect">
                <a:avLst/>
              </a:prstGeom>
              <a:noFill/>
              <a:ln w="9525">
                <a:noFill/>
              </a:ln>
            </p:spPr>
            <p:txBody>
              <a:bodyPr wrap="none" lIns="0" tIns="0" rIns="0" bIns="0">
                <a:spAutoFit/>
              </a:bodyPr>
              <a:lstStyle/>
              <a:p>
                <a:r>
                  <a:rPr lang="en-US" altLang="zh-CN" sz="1415">
                    <a:solidFill>
                      <a:srgbClr val="000000"/>
                    </a:solidFill>
                    <a:latin typeface="Times New Roman" panose="02020603050405020304" pitchFamily="18" charset="0"/>
                  </a:rPr>
                  <a:t>V</a:t>
                </a:r>
                <a:endParaRPr lang="en-US" altLang="zh-CN" sz="1500" i="0">
                  <a:solidFill>
                    <a:schemeClr val="tx2"/>
                  </a:solidFill>
                  <a:latin typeface="Book Antiqua" panose="02040602050305030304" pitchFamily="18" charset="0"/>
                </a:endParaRPr>
              </a:p>
            </p:txBody>
          </p:sp>
          <p:sp>
            <p:nvSpPr>
              <p:cNvPr id="361526" name="矩形 361525"/>
              <p:cNvSpPr/>
              <p:nvPr/>
            </p:nvSpPr>
            <p:spPr>
              <a:xfrm>
                <a:off x="2331" y="3670"/>
                <a:ext cx="127" cy="145"/>
              </a:xfrm>
              <a:prstGeom prst="rect">
                <a:avLst/>
              </a:prstGeom>
              <a:noFill/>
              <a:ln w="9525">
                <a:noFill/>
              </a:ln>
            </p:spPr>
            <p:txBody>
              <a:bodyPr wrap="none" lIns="0" tIns="0" rIns="0" bIns="0">
                <a:spAutoFit/>
              </a:bodyPr>
              <a:lstStyle/>
              <a:p>
                <a:r>
                  <a:rPr lang="en-US" altLang="zh-CN" sz="1250">
                    <a:solidFill>
                      <a:srgbClr val="000000"/>
                    </a:solidFill>
                    <a:latin typeface="Times New Roman" panose="02020603050405020304" pitchFamily="18" charset="0"/>
                  </a:rPr>
                  <a:t>IH</a:t>
                </a:r>
                <a:endParaRPr lang="en-US" altLang="zh-CN" sz="1500" i="0">
                  <a:solidFill>
                    <a:schemeClr val="tx2"/>
                  </a:solidFill>
                  <a:latin typeface="Book Antiqua" panose="02040602050305030304" pitchFamily="18" charset="0"/>
                </a:endParaRPr>
              </a:p>
            </p:txBody>
          </p:sp>
        </p:grpSp>
        <p:sp>
          <p:nvSpPr>
            <p:cNvPr id="361527" name="矩形 361526"/>
            <p:cNvSpPr/>
            <p:nvPr/>
          </p:nvSpPr>
          <p:spPr>
            <a:xfrm>
              <a:off x="1872" y="2887"/>
              <a:ext cx="36" cy="20"/>
            </a:xfrm>
            <a:prstGeom prst="rect">
              <a:avLst/>
            </a:prstGeom>
            <a:blipFill rotWithShape="0">
              <a:blip r:embed="rId1"/>
            </a:blipFill>
            <a:ln w="9525">
              <a:noFill/>
            </a:ln>
          </p:spPr>
          <p:txBody>
            <a:bodyPr/>
            <a:lstStyle/>
            <a:p>
              <a:endParaRPr lang="zh-CN" altLang="en-US" sz="1500"/>
            </a:p>
          </p:txBody>
        </p:sp>
        <p:sp>
          <p:nvSpPr>
            <p:cNvPr id="361528" name="椭圆 361527"/>
            <p:cNvSpPr/>
            <p:nvPr/>
          </p:nvSpPr>
          <p:spPr>
            <a:xfrm>
              <a:off x="1566" y="1788"/>
              <a:ext cx="132" cy="132"/>
            </a:xfrm>
            <a:prstGeom prst="ellipse">
              <a:avLst/>
            </a:prstGeom>
            <a:noFill/>
            <a:ln w="19050" cap="flat" cmpd="sng">
              <a:solidFill>
                <a:schemeClr val="accent1"/>
              </a:solidFill>
              <a:prstDash val="solid"/>
              <a:headEnd type="none" w="med" len="med"/>
              <a:tailEnd type="none" w="med" len="med"/>
            </a:ln>
          </p:spPr>
          <p:txBody>
            <a:bodyPr/>
            <a:lstStyle/>
            <a:p>
              <a:endParaRPr lang="zh-CN" altLang="en-US" sz="1500"/>
            </a:p>
          </p:txBody>
        </p:sp>
        <p:sp>
          <p:nvSpPr>
            <p:cNvPr id="361529" name="椭圆 361528"/>
            <p:cNvSpPr/>
            <p:nvPr/>
          </p:nvSpPr>
          <p:spPr>
            <a:xfrm>
              <a:off x="2040" y="3504"/>
              <a:ext cx="132" cy="132"/>
            </a:xfrm>
            <a:prstGeom prst="ellipse">
              <a:avLst/>
            </a:prstGeom>
            <a:noFill/>
            <a:ln w="19050" cap="flat" cmpd="sng">
              <a:solidFill>
                <a:schemeClr val="accent1"/>
              </a:solidFill>
              <a:prstDash val="solid"/>
              <a:headEnd type="none" w="med" len="med"/>
              <a:tailEnd type="none" w="med" len="med"/>
            </a:ln>
          </p:spPr>
          <p:txBody>
            <a:bodyPr/>
            <a:lstStyle/>
            <a:p>
              <a:endParaRPr lang="zh-CN" altLang="en-US" sz="1500"/>
            </a:p>
          </p:txBody>
        </p:sp>
      </p:grpSp>
      <p:pic>
        <p:nvPicPr>
          <p:cNvPr id="361531" name="图片 361530"/>
          <p:cNvPicPr>
            <a:picLocks noChangeAspect="1"/>
          </p:cNvPicPr>
          <p:nvPr/>
        </p:nvPicPr>
        <p:blipFill>
          <a:blip r:embed="rId3"/>
          <a:srcRect l="26482" t="22559" r="32886" b="55859"/>
          <a:stretch>
            <a:fillRect/>
          </a:stretch>
        </p:blipFill>
        <p:spPr>
          <a:xfrm>
            <a:off x="4303078" y="1747362"/>
            <a:ext cx="4079875" cy="1754188"/>
          </a:xfrm>
          <a:prstGeom prst="rect">
            <a:avLst/>
          </a:prstGeom>
          <a:noFill/>
          <a:ln w="12700">
            <a:noFill/>
          </a:ln>
        </p:spPr>
      </p:pic>
      <p:sp>
        <p:nvSpPr>
          <p:cNvPr id="6" name="矩形 5"/>
          <p:cNvSpPr/>
          <p:nvPr/>
        </p:nvSpPr>
        <p:spPr>
          <a:xfrm>
            <a:off x="2017660" y="4683972"/>
            <a:ext cx="1419860" cy="243840"/>
          </a:xfrm>
          <a:prstGeom prst="rect">
            <a:avLst/>
          </a:prstGeom>
          <a:noFill/>
          <a:ln w="9525">
            <a:noFill/>
          </a:ln>
        </p:spPr>
        <p:txBody>
          <a:bodyPr wrap="none" lIns="0" tIns="0" rIns="0" bIns="0">
            <a:spAutoFit/>
          </a:bodyPr>
          <a:lstStyle/>
          <a:p>
            <a:r>
              <a:rPr lang="zh-CN" altLang="en-US" sz="1585" i="0">
                <a:solidFill>
                  <a:srgbClr val="000000"/>
                </a:solidFill>
                <a:latin typeface="微软雅黑" panose="020B0503020204020204" pitchFamily="34" charset="-122"/>
                <a:ea typeface="微软雅黑" panose="020B0503020204020204" pitchFamily="34" charset="-122"/>
              </a:rPr>
              <a:t>斜率为</a:t>
            </a:r>
            <a:r>
              <a:rPr lang="en-US" altLang="zh-CN" sz="1585" i="0">
                <a:solidFill>
                  <a:srgbClr val="000000"/>
                </a:solidFill>
                <a:latin typeface="微软雅黑" panose="020B0503020204020204" pitchFamily="34" charset="-122"/>
                <a:ea typeface="微软雅黑" panose="020B0503020204020204" pitchFamily="34" charset="-122"/>
              </a:rPr>
              <a:t>1/-1</a:t>
            </a:r>
            <a:r>
              <a:rPr lang="zh-CN" altLang="en-US" sz="1585" i="0">
                <a:solidFill>
                  <a:srgbClr val="000000"/>
                </a:solidFill>
                <a:latin typeface="微软雅黑" panose="020B0503020204020204" pitchFamily="34" charset="-122"/>
                <a:ea typeface="微软雅黑" panose="020B0503020204020204" pitchFamily="34" charset="-122"/>
              </a:rPr>
              <a:t>的点</a:t>
            </a:r>
            <a:endParaRPr lang="zh-CN" altLang="en-US" sz="1585" i="0">
              <a:solidFill>
                <a:srgbClr val="0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噪声容限</a:t>
            </a:r>
            <a:endParaRPr lang="zh-CN" altLang="en-US">
              <a:sym typeface="+mn-ea"/>
            </a:endParaRPr>
          </a:p>
        </p:txBody>
      </p:sp>
      <p:sp>
        <p:nvSpPr>
          <p:cNvPr id="359427" name="矩形 359426"/>
          <p:cNvSpPr/>
          <p:nvPr/>
        </p:nvSpPr>
        <p:spPr>
          <a:xfrm>
            <a:off x="5424170" y="1838113"/>
            <a:ext cx="0" cy="10583"/>
          </a:xfrm>
          <a:prstGeom prst="rect">
            <a:avLst/>
          </a:prstGeom>
          <a:blipFill rotWithShape="0">
            <a:blip r:embed="rId1"/>
          </a:blipFill>
          <a:ln w="9525">
            <a:noFill/>
          </a:ln>
        </p:spPr>
        <p:txBody>
          <a:bodyPr/>
          <a:lstStyle/>
          <a:p>
            <a:endParaRPr lang="zh-CN" altLang="en-US" sz="1500"/>
          </a:p>
        </p:txBody>
      </p:sp>
      <p:sp>
        <p:nvSpPr>
          <p:cNvPr id="359428" name="矩形 359427"/>
          <p:cNvSpPr/>
          <p:nvPr/>
        </p:nvSpPr>
        <p:spPr>
          <a:xfrm>
            <a:off x="5381837" y="1838113"/>
            <a:ext cx="0" cy="10583"/>
          </a:xfrm>
          <a:prstGeom prst="rect">
            <a:avLst/>
          </a:prstGeom>
          <a:blipFill rotWithShape="0">
            <a:blip r:embed="rId1"/>
          </a:blipFill>
          <a:ln w="9525">
            <a:noFill/>
          </a:ln>
        </p:spPr>
        <p:txBody>
          <a:bodyPr/>
          <a:lstStyle/>
          <a:p>
            <a:endParaRPr lang="zh-CN" altLang="en-US" sz="1500"/>
          </a:p>
        </p:txBody>
      </p:sp>
      <p:sp>
        <p:nvSpPr>
          <p:cNvPr id="359429" name="矩形 359428"/>
          <p:cNvSpPr/>
          <p:nvPr/>
        </p:nvSpPr>
        <p:spPr>
          <a:xfrm>
            <a:off x="5424170" y="2293197"/>
            <a:ext cx="0" cy="10583"/>
          </a:xfrm>
          <a:prstGeom prst="rect">
            <a:avLst/>
          </a:prstGeom>
          <a:blipFill rotWithShape="0">
            <a:blip r:embed="rId1"/>
          </a:blipFill>
          <a:ln w="9525">
            <a:noFill/>
          </a:ln>
        </p:spPr>
        <p:txBody>
          <a:bodyPr/>
          <a:lstStyle/>
          <a:p>
            <a:endParaRPr lang="zh-CN" altLang="en-US" sz="1500"/>
          </a:p>
        </p:txBody>
      </p:sp>
      <p:sp>
        <p:nvSpPr>
          <p:cNvPr id="359430" name="矩形 359429"/>
          <p:cNvSpPr/>
          <p:nvPr/>
        </p:nvSpPr>
        <p:spPr>
          <a:xfrm>
            <a:off x="5381837" y="2293197"/>
            <a:ext cx="0" cy="10583"/>
          </a:xfrm>
          <a:prstGeom prst="rect">
            <a:avLst/>
          </a:prstGeom>
          <a:blipFill rotWithShape="0">
            <a:blip r:embed="rId1"/>
          </a:blipFill>
          <a:ln w="9525">
            <a:noFill/>
          </a:ln>
        </p:spPr>
        <p:txBody>
          <a:bodyPr/>
          <a:lstStyle/>
          <a:p>
            <a:endParaRPr lang="zh-CN" altLang="en-US" sz="1500"/>
          </a:p>
        </p:txBody>
      </p:sp>
      <p:sp>
        <p:nvSpPr>
          <p:cNvPr id="359431" name="矩形 359430"/>
          <p:cNvSpPr/>
          <p:nvPr/>
        </p:nvSpPr>
        <p:spPr>
          <a:xfrm>
            <a:off x="5424170" y="2060363"/>
            <a:ext cx="0" cy="10583"/>
          </a:xfrm>
          <a:prstGeom prst="rect">
            <a:avLst/>
          </a:prstGeom>
          <a:blipFill rotWithShape="0">
            <a:blip r:embed="rId1"/>
          </a:blipFill>
          <a:ln w="9525">
            <a:noFill/>
          </a:ln>
        </p:spPr>
        <p:txBody>
          <a:bodyPr/>
          <a:lstStyle/>
          <a:p>
            <a:endParaRPr lang="zh-CN" altLang="en-US" sz="1500"/>
          </a:p>
        </p:txBody>
      </p:sp>
      <p:sp>
        <p:nvSpPr>
          <p:cNvPr id="359432" name="矩形 359431"/>
          <p:cNvSpPr/>
          <p:nvPr/>
        </p:nvSpPr>
        <p:spPr>
          <a:xfrm>
            <a:off x="5381837" y="2060363"/>
            <a:ext cx="0" cy="10583"/>
          </a:xfrm>
          <a:prstGeom prst="rect">
            <a:avLst/>
          </a:prstGeom>
          <a:blipFill rotWithShape="0">
            <a:blip r:embed="rId1"/>
          </a:blipFill>
          <a:ln w="9525">
            <a:noFill/>
          </a:ln>
        </p:spPr>
        <p:txBody>
          <a:bodyPr/>
          <a:lstStyle/>
          <a:p>
            <a:endParaRPr lang="zh-CN" altLang="en-US" sz="1500"/>
          </a:p>
        </p:txBody>
      </p:sp>
      <p:sp>
        <p:nvSpPr>
          <p:cNvPr id="359433" name="矩形 359432"/>
          <p:cNvSpPr/>
          <p:nvPr/>
        </p:nvSpPr>
        <p:spPr>
          <a:xfrm>
            <a:off x="5424170" y="2526030"/>
            <a:ext cx="0" cy="10583"/>
          </a:xfrm>
          <a:prstGeom prst="rect">
            <a:avLst/>
          </a:prstGeom>
          <a:blipFill rotWithShape="0">
            <a:blip r:embed="rId1"/>
          </a:blipFill>
          <a:ln w="9525">
            <a:noFill/>
          </a:ln>
        </p:spPr>
        <p:txBody>
          <a:bodyPr/>
          <a:lstStyle/>
          <a:p>
            <a:endParaRPr lang="zh-CN" altLang="en-US" sz="1500"/>
          </a:p>
        </p:txBody>
      </p:sp>
      <p:sp>
        <p:nvSpPr>
          <p:cNvPr id="359434" name="矩形 359433"/>
          <p:cNvSpPr/>
          <p:nvPr/>
        </p:nvSpPr>
        <p:spPr>
          <a:xfrm>
            <a:off x="5381837" y="2526030"/>
            <a:ext cx="0" cy="10583"/>
          </a:xfrm>
          <a:prstGeom prst="rect">
            <a:avLst/>
          </a:prstGeom>
          <a:blipFill rotWithShape="0">
            <a:blip r:embed="rId1"/>
          </a:blipFill>
          <a:ln w="9525">
            <a:noFill/>
          </a:ln>
        </p:spPr>
        <p:txBody>
          <a:bodyPr/>
          <a:lstStyle/>
          <a:p>
            <a:endParaRPr lang="zh-CN" altLang="en-US" sz="1500"/>
          </a:p>
        </p:txBody>
      </p:sp>
      <p:sp>
        <p:nvSpPr>
          <p:cNvPr id="359435" name="矩形 359434"/>
          <p:cNvSpPr/>
          <p:nvPr/>
        </p:nvSpPr>
        <p:spPr>
          <a:xfrm>
            <a:off x="5424170" y="1605280"/>
            <a:ext cx="0" cy="10583"/>
          </a:xfrm>
          <a:prstGeom prst="rect">
            <a:avLst/>
          </a:prstGeom>
          <a:blipFill rotWithShape="0">
            <a:blip r:embed="rId1"/>
          </a:blipFill>
          <a:ln w="9525">
            <a:noFill/>
          </a:ln>
        </p:spPr>
        <p:txBody>
          <a:bodyPr/>
          <a:lstStyle/>
          <a:p>
            <a:endParaRPr lang="zh-CN" altLang="en-US" sz="1500"/>
          </a:p>
        </p:txBody>
      </p:sp>
      <p:sp>
        <p:nvSpPr>
          <p:cNvPr id="359436" name="矩形 359435"/>
          <p:cNvSpPr/>
          <p:nvPr/>
        </p:nvSpPr>
        <p:spPr>
          <a:xfrm>
            <a:off x="5381837" y="1605280"/>
            <a:ext cx="0" cy="10583"/>
          </a:xfrm>
          <a:prstGeom prst="rect">
            <a:avLst/>
          </a:prstGeom>
          <a:blipFill rotWithShape="0">
            <a:blip r:embed="rId1"/>
          </a:blipFill>
          <a:ln w="9525">
            <a:noFill/>
          </a:ln>
        </p:spPr>
        <p:txBody>
          <a:bodyPr/>
          <a:lstStyle/>
          <a:p>
            <a:endParaRPr lang="zh-CN" altLang="en-US" sz="1500"/>
          </a:p>
        </p:txBody>
      </p:sp>
      <p:sp>
        <p:nvSpPr>
          <p:cNvPr id="359437" name="矩形 359436"/>
          <p:cNvSpPr/>
          <p:nvPr/>
        </p:nvSpPr>
        <p:spPr>
          <a:xfrm>
            <a:off x="5424170" y="1383030"/>
            <a:ext cx="0" cy="10583"/>
          </a:xfrm>
          <a:prstGeom prst="rect">
            <a:avLst/>
          </a:prstGeom>
          <a:blipFill rotWithShape="0">
            <a:blip r:embed="rId1"/>
          </a:blipFill>
          <a:ln w="9525">
            <a:noFill/>
          </a:ln>
        </p:spPr>
        <p:txBody>
          <a:bodyPr/>
          <a:lstStyle/>
          <a:p>
            <a:endParaRPr lang="zh-CN" altLang="en-US" sz="1500"/>
          </a:p>
        </p:txBody>
      </p:sp>
      <p:sp>
        <p:nvSpPr>
          <p:cNvPr id="359438" name="矩形 359437"/>
          <p:cNvSpPr/>
          <p:nvPr/>
        </p:nvSpPr>
        <p:spPr>
          <a:xfrm>
            <a:off x="5381837" y="1383030"/>
            <a:ext cx="0" cy="10583"/>
          </a:xfrm>
          <a:prstGeom prst="rect">
            <a:avLst/>
          </a:prstGeom>
          <a:blipFill rotWithShape="0">
            <a:blip r:embed="rId1"/>
          </a:blipFill>
          <a:ln w="9525">
            <a:noFill/>
          </a:ln>
        </p:spPr>
        <p:txBody>
          <a:bodyPr/>
          <a:lstStyle/>
          <a:p>
            <a:endParaRPr lang="zh-CN" altLang="en-US" sz="1500"/>
          </a:p>
        </p:txBody>
      </p:sp>
      <p:sp>
        <p:nvSpPr>
          <p:cNvPr id="359439" name="矩形 359438"/>
          <p:cNvSpPr/>
          <p:nvPr/>
        </p:nvSpPr>
        <p:spPr>
          <a:xfrm>
            <a:off x="6081660" y="2515447"/>
            <a:ext cx="10583" cy="0"/>
          </a:xfrm>
          <a:prstGeom prst="rect">
            <a:avLst/>
          </a:prstGeom>
          <a:blipFill rotWithShape="0">
            <a:blip r:embed="rId1"/>
          </a:blipFill>
          <a:ln w="9525">
            <a:noFill/>
          </a:ln>
        </p:spPr>
        <p:txBody>
          <a:bodyPr/>
          <a:lstStyle/>
          <a:p>
            <a:endParaRPr lang="zh-CN" altLang="en-US" sz="1500"/>
          </a:p>
        </p:txBody>
      </p:sp>
      <p:sp>
        <p:nvSpPr>
          <p:cNvPr id="359440" name="矩形 359439"/>
          <p:cNvSpPr/>
          <p:nvPr/>
        </p:nvSpPr>
        <p:spPr>
          <a:xfrm>
            <a:off x="6081660" y="2483697"/>
            <a:ext cx="10583" cy="0"/>
          </a:xfrm>
          <a:prstGeom prst="rect">
            <a:avLst/>
          </a:prstGeom>
          <a:blipFill rotWithShape="0">
            <a:blip r:embed="rId1"/>
          </a:blipFill>
          <a:ln w="9525">
            <a:noFill/>
          </a:ln>
        </p:spPr>
        <p:txBody>
          <a:bodyPr/>
          <a:lstStyle/>
          <a:p>
            <a:endParaRPr lang="zh-CN" altLang="en-US" sz="1500"/>
          </a:p>
        </p:txBody>
      </p:sp>
      <p:sp>
        <p:nvSpPr>
          <p:cNvPr id="359441" name="矩形 359440"/>
          <p:cNvSpPr/>
          <p:nvPr/>
        </p:nvSpPr>
        <p:spPr>
          <a:xfrm>
            <a:off x="5614670" y="2515447"/>
            <a:ext cx="10583" cy="0"/>
          </a:xfrm>
          <a:prstGeom prst="rect">
            <a:avLst/>
          </a:prstGeom>
          <a:blipFill rotWithShape="0">
            <a:blip r:embed="rId1"/>
          </a:blipFill>
          <a:ln w="9525">
            <a:noFill/>
          </a:ln>
        </p:spPr>
        <p:txBody>
          <a:bodyPr/>
          <a:lstStyle/>
          <a:p>
            <a:endParaRPr lang="zh-CN" altLang="en-US" sz="1500"/>
          </a:p>
        </p:txBody>
      </p:sp>
      <p:sp>
        <p:nvSpPr>
          <p:cNvPr id="359442" name="矩形 359441"/>
          <p:cNvSpPr/>
          <p:nvPr/>
        </p:nvSpPr>
        <p:spPr>
          <a:xfrm>
            <a:off x="5614670" y="2483697"/>
            <a:ext cx="10583" cy="0"/>
          </a:xfrm>
          <a:prstGeom prst="rect">
            <a:avLst/>
          </a:prstGeom>
          <a:blipFill rotWithShape="0">
            <a:blip r:embed="rId1"/>
          </a:blipFill>
          <a:ln w="9525">
            <a:noFill/>
          </a:ln>
        </p:spPr>
        <p:txBody>
          <a:bodyPr/>
          <a:lstStyle/>
          <a:p>
            <a:endParaRPr lang="zh-CN" altLang="en-US" sz="1500"/>
          </a:p>
        </p:txBody>
      </p:sp>
      <p:sp>
        <p:nvSpPr>
          <p:cNvPr id="359443" name="矩形 359442"/>
          <p:cNvSpPr/>
          <p:nvPr/>
        </p:nvSpPr>
        <p:spPr>
          <a:xfrm>
            <a:off x="5848827" y="2515447"/>
            <a:ext cx="10583" cy="0"/>
          </a:xfrm>
          <a:prstGeom prst="rect">
            <a:avLst/>
          </a:prstGeom>
          <a:blipFill rotWithShape="0">
            <a:blip r:embed="rId1"/>
          </a:blipFill>
          <a:ln w="9525">
            <a:noFill/>
          </a:ln>
        </p:spPr>
        <p:txBody>
          <a:bodyPr/>
          <a:lstStyle/>
          <a:p>
            <a:endParaRPr lang="zh-CN" altLang="en-US" sz="1500"/>
          </a:p>
        </p:txBody>
      </p:sp>
      <p:sp>
        <p:nvSpPr>
          <p:cNvPr id="359444" name="矩形 359443"/>
          <p:cNvSpPr/>
          <p:nvPr/>
        </p:nvSpPr>
        <p:spPr>
          <a:xfrm>
            <a:off x="5848827" y="2483697"/>
            <a:ext cx="10583" cy="0"/>
          </a:xfrm>
          <a:prstGeom prst="rect">
            <a:avLst/>
          </a:prstGeom>
          <a:blipFill rotWithShape="0">
            <a:blip r:embed="rId1"/>
          </a:blipFill>
          <a:ln w="9525">
            <a:noFill/>
          </a:ln>
        </p:spPr>
        <p:txBody>
          <a:bodyPr/>
          <a:lstStyle/>
          <a:p>
            <a:endParaRPr lang="zh-CN" altLang="en-US" sz="1500"/>
          </a:p>
        </p:txBody>
      </p:sp>
      <p:sp>
        <p:nvSpPr>
          <p:cNvPr id="359445" name="矩形 359444"/>
          <p:cNvSpPr/>
          <p:nvPr/>
        </p:nvSpPr>
        <p:spPr>
          <a:xfrm>
            <a:off x="5381837" y="2515447"/>
            <a:ext cx="10583" cy="0"/>
          </a:xfrm>
          <a:prstGeom prst="rect">
            <a:avLst/>
          </a:prstGeom>
          <a:blipFill rotWithShape="0">
            <a:blip r:embed="rId1"/>
          </a:blipFill>
          <a:ln w="9525">
            <a:noFill/>
          </a:ln>
        </p:spPr>
        <p:txBody>
          <a:bodyPr/>
          <a:lstStyle/>
          <a:p>
            <a:endParaRPr lang="zh-CN" altLang="en-US" sz="1500"/>
          </a:p>
        </p:txBody>
      </p:sp>
      <p:sp>
        <p:nvSpPr>
          <p:cNvPr id="359446" name="矩形 359445"/>
          <p:cNvSpPr/>
          <p:nvPr/>
        </p:nvSpPr>
        <p:spPr>
          <a:xfrm>
            <a:off x="5381837" y="2483697"/>
            <a:ext cx="10583" cy="0"/>
          </a:xfrm>
          <a:prstGeom prst="rect">
            <a:avLst/>
          </a:prstGeom>
          <a:blipFill rotWithShape="0">
            <a:blip r:embed="rId1"/>
          </a:blipFill>
          <a:ln w="9525">
            <a:noFill/>
          </a:ln>
        </p:spPr>
        <p:txBody>
          <a:bodyPr/>
          <a:lstStyle/>
          <a:p>
            <a:endParaRPr lang="zh-CN" altLang="en-US" sz="1500"/>
          </a:p>
        </p:txBody>
      </p:sp>
      <p:sp>
        <p:nvSpPr>
          <p:cNvPr id="359447" name="矩形 359446"/>
          <p:cNvSpPr/>
          <p:nvPr/>
        </p:nvSpPr>
        <p:spPr>
          <a:xfrm>
            <a:off x="6314493" y="2515447"/>
            <a:ext cx="10583" cy="0"/>
          </a:xfrm>
          <a:prstGeom prst="rect">
            <a:avLst/>
          </a:prstGeom>
          <a:blipFill rotWithShape="0">
            <a:blip r:embed="rId1"/>
          </a:blipFill>
          <a:ln w="9525">
            <a:noFill/>
          </a:ln>
        </p:spPr>
        <p:txBody>
          <a:bodyPr/>
          <a:lstStyle/>
          <a:p>
            <a:endParaRPr lang="zh-CN" altLang="en-US" sz="1500"/>
          </a:p>
        </p:txBody>
      </p:sp>
      <p:sp>
        <p:nvSpPr>
          <p:cNvPr id="359448" name="矩形 359447"/>
          <p:cNvSpPr/>
          <p:nvPr/>
        </p:nvSpPr>
        <p:spPr>
          <a:xfrm>
            <a:off x="6314493" y="2483697"/>
            <a:ext cx="10583" cy="0"/>
          </a:xfrm>
          <a:prstGeom prst="rect">
            <a:avLst/>
          </a:prstGeom>
          <a:blipFill rotWithShape="0">
            <a:blip r:embed="rId1"/>
          </a:blipFill>
          <a:ln w="9525">
            <a:noFill/>
          </a:ln>
        </p:spPr>
        <p:txBody>
          <a:bodyPr/>
          <a:lstStyle/>
          <a:p>
            <a:endParaRPr lang="zh-CN" altLang="en-US" sz="1500"/>
          </a:p>
        </p:txBody>
      </p:sp>
      <p:sp>
        <p:nvSpPr>
          <p:cNvPr id="359449" name="矩形 359448"/>
          <p:cNvSpPr/>
          <p:nvPr/>
        </p:nvSpPr>
        <p:spPr>
          <a:xfrm>
            <a:off x="6547327" y="2515447"/>
            <a:ext cx="10583" cy="0"/>
          </a:xfrm>
          <a:prstGeom prst="rect">
            <a:avLst/>
          </a:prstGeom>
          <a:blipFill rotWithShape="0">
            <a:blip r:embed="rId1"/>
          </a:blipFill>
          <a:ln w="9525">
            <a:noFill/>
          </a:ln>
        </p:spPr>
        <p:txBody>
          <a:bodyPr/>
          <a:lstStyle/>
          <a:p>
            <a:endParaRPr lang="zh-CN" altLang="en-US" sz="1500"/>
          </a:p>
        </p:txBody>
      </p:sp>
      <p:sp>
        <p:nvSpPr>
          <p:cNvPr id="359450" name="矩形 359449"/>
          <p:cNvSpPr/>
          <p:nvPr/>
        </p:nvSpPr>
        <p:spPr>
          <a:xfrm>
            <a:off x="6547327" y="2483697"/>
            <a:ext cx="10583" cy="0"/>
          </a:xfrm>
          <a:prstGeom prst="rect">
            <a:avLst/>
          </a:prstGeom>
          <a:blipFill rotWithShape="0">
            <a:blip r:embed="rId1"/>
          </a:blipFill>
          <a:ln w="9525">
            <a:noFill/>
          </a:ln>
        </p:spPr>
        <p:txBody>
          <a:bodyPr/>
          <a:lstStyle/>
          <a:p>
            <a:endParaRPr lang="zh-CN" altLang="en-US" sz="1500"/>
          </a:p>
        </p:txBody>
      </p:sp>
      <p:sp>
        <p:nvSpPr>
          <p:cNvPr id="359451" name="矩形 359450"/>
          <p:cNvSpPr/>
          <p:nvPr/>
        </p:nvSpPr>
        <p:spPr>
          <a:xfrm>
            <a:off x="5508837" y="2642447"/>
            <a:ext cx="10583" cy="0"/>
          </a:xfrm>
          <a:prstGeom prst="rect">
            <a:avLst/>
          </a:prstGeom>
          <a:blipFill rotWithShape="0">
            <a:blip r:embed="rId1"/>
          </a:blipFill>
          <a:ln w="9525">
            <a:noFill/>
          </a:ln>
        </p:spPr>
        <p:txBody>
          <a:bodyPr/>
          <a:lstStyle/>
          <a:p>
            <a:endParaRPr lang="zh-CN" altLang="en-US" sz="1500"/>
          </a:p>
        </p:txBody>
      </p:sp>
      <p:sp>
        <p:nvSpPr>
          <p:cNvPr id="359452" name="矩形 359451"/>
          <p:cNvSpPr/>
          <p:nvPr/>
        </p:nvSpPr>
        <p:spPr>
          <a:xfrm>
            <a:off x="5381837" y="1203113"/>
            <a:ext cx="10583" cy="0"/>
          </a:xfrm>
          <a:prstGeom prst="rect">
            <a:avLst/>
          </a:prstGeom>
          <a:blipFill rotWithShape="0">
            <a:blip r:embed="rId1"/>
          </a:blipFill>
          <a:ln w="9525">
            <a:noFill/>
          </a:ln>
        </p:spPr>
        <p:txBody>
          <a:bodyPr/>
          <a:lstStyle/>
          <a:p>
            <a:endParaRPr lang="zh-CN" altLang="en-US" sz="1500"/>
          </a:p>
        </p:txBody>
      </p:sp>
      <p:sp>
        <p:nvSpPr>
          <p:cNvPr id="359453" name="矩形 359452"/>
          <p:cNvSpPr/>
          <p:nvPr/>
        </p:nvSpPr>
        <p:spPr>
          <a:xfrm>
            <a:off x="5392420" y="2515447"/>
            <a:ext cx="0" cy="10583"/>
          </a:xfrm>
          <a:prstGeom prst="rect">
            <a:avLst/>
          </a:prstGeom>
          <a:blipFill rotWithShape="0">
            <a:blip r:embed="rId1"/>
          </a:blipFill>
          <a:ln w="9525">
            <a:noFill/>
          </a:ln>
        </p:spPr>
        <p:txBody>
          <a:bodyPr/>
          <a:lstStyle/>
          <a:p>
            <a:endParaRPr lang="zh-CN" altLang="en-US" sz="1500"/>
          </a:p>
        </p:txBody>
      </p:sp>
      <p:sp>
        <p:nvSpPr>
          <p:cNvPr id="359454" name="矩形 359453"/>
          <p:cNvSpPr/>
          <p:nvPr/>
        </p:nvSpPr>
        <p:spPr>
          <a:xfrm>
            <a:off x="6716660" y="2515447"/>
            <a:ext cx="0" cy="10583"/>
          </a:xfrm>
          <a:prstGeom prst="rect">
            <a:avLst/>
          </a:prstGeom>
          <a:blipFill rotWithShape="0">
            <a:blip r:embed="rId1"/>
          </a:blipFill>
          <a:ln w="9525">
            <a:noFill/>
          </a:ln>
        </p:spPr>
        <p:txBody>
          <a:bodyPr/>
          <a:lstStyle/>
          <a:p>
            <a:endParaRPr lang="zh-CN" altLang="en-US" sz="1500"/>
          </a:p>
        </p:txBody>
      </p:sp>
      <p:sp>
        <p:nvSpPr>
          <p:cNvPr id="359455" name="矩形 359454"/>
          <p:cNvSpPr/>
          <p:nvPr/>
        </p:nvSpPr>
        <p:spPr>
          <a:xfrm>
            <a:off x="5392420" y="1372447"/>
            <a:ext cx="0" cy="10583"/>
          </a:xfrm>
          <a:prstGeom prst="rect">
            <a:avLst/>
          </a:prstGeom>
          <a:blipFill rotWithShape="0">
            <a:blip r:embed="rId1"/>
          </a:blipFill>
          <a:ln w="9525">
            <a:noFill/>
          </a:ln>
        </p:spPr>
        <p:txBody>
          <a:bodyPr/>
          <a:lstStyle/>
          <a:p>
            <a:endParaRPr lang="zh-CN" altLang="en-US" sz="1500"/>
          </a:p>
        </p:txBody>
      </p:sp>
      <p:pic>
        <p:nvPicPr>
          <p:cNvPr id="362499" name="图片 362498"/>
          <p:cNvPicPr>
            <a:picLocks noChangeAspect="1"/>
          </p:cNvPicPr>
          <p:nvPr/>
        </p:nvPicPr>
        <p:blipFill>
          <a:blip r:embed="rId2"/>
          <a:stretch>
            <a:fillRect/>
          </a:stretch>
        </p:blipFill>
        <p:spPr>
          <a:xfrm>
            <a:off x="639127" y="1102360"/>
            <a:ext cx="4454261" cy="4001823"/>
          </a:xfrm>
          <a:prstGeom prst="rect">
            <a:avLst/>
          </a:prstGeom>
          <a:noFill/>
          <a:ln w="12700">
            <a:noFill/>
          </a:ln>
        </p:spPr>
      </p:pic>
      <p:grpSp>
        <p:nvGrpSpPr>
          <p:cNvPr id="362500" name="组合 362499"/>
          <p:cNvGrpSpPr/>
          <p:nvPr/>
        </p:nvGrpSpPr>
        <p:grpSpPr>
          <a:xfrm>
            <a:off x="5424170" y="1605016"/>
            <a:ext cx="2873375" cy="1117864"/>
            <a:chOff x="3432" y="2071"/>
            <a:chExt cx="2172" cy="845"/>
          </a:xfrm>
        </p:grpSpPr>
        <p:pic>
          <p:nvPicPr>
            <p:cNvPr id="362501" name="图片 362500"/>
            <p:cNvPicPr>
              <a:picLocks noChangeAspect="1"/>
            </p:cNvPicPr>
            <p:nvPr/>
          </p:nvPicPr>
          <p:blipFill>
            <a:blip r:embed="rId3"/>
            <a:srcRect l="18498" t="32910" r="29091" b="41895"/>
            <a:stretch>
              <a:fillRect/>
            </a:stretch>
          </p:blipFill>
          <p:spPr>
            <a:xfrm>
              <a:off x="3432" y="2071"/>
              <a:ext cx="2172" cy="845"/>
            </a:xfrm>
            <a:prstGeom prst="rect">
              <a:avLst/>
            </a:prstGeom>
            <a:noFill/>
            <a:ln w="12700">
              <a:noFill/>
            </a:ln>
          </p:spPr>
        </p:pic>
        <p:sp>
          <p:nvSpPr>
            <p:cNvPr id="362502" name="矩形 362501"/>
            <p:cNvSpPr/>
            <p:nvPr/>
          </p:nvSpPr>
          <p:spPr>
            <a:xfrm>
              <a:off x="3492" y="2580"/>
              <a:ext cx="186" cy="246"/>
            </a:xfrm>
            <a:prstGeom prst="rect">
              <a:avLst/>
            </a:prstGeom>
            <a:solidFill>
              <a:schemeClr val="bg1"/>
            </a:solidFill>
            <a:ln w="12700">
              <a:noFill/>
            </a:ln>
          </p:spPr>
          <p:txBody>
            <a:bodyPr/>
            <a:lstStyle/>
            <a:p>
              <a:endParaRPr lang="zh-CN" altLang="en-US" sz="1500"/>
            </a:p>
          </p:txBody>
        </p:sp>
      </p:grpSp>
      <p:sp>
        <p:nvSpPr>
          <p:cNvPr id="10" name="文本框 9"/>
          <p:cNvSpPr txBox="1"/>
          <p:nvPr/>
        </p:nvSpPr>
        <p:spPr>
          <a:xfrm>
            <a:off x="5392420" y="3350895"/>
            <a:ext cx="2901950" cy="1198880"/>
          </a:xfrm>
          <a:prstGeom prst="rect">
            <a:avLst/>
          </a:prstGeom>
          <a:noFill/>
        </p:spPr>
        <p:txBody>
          <a:bodyPr wrap="square" rtlCol="0" anchor="t">
            <a:spAutoFit/>
          </a:bodyPr>
          <a:lstStyle/>
          <a:p>
            <a:pPr algn="l"/>
            <a:r>
              <a:rPr lang="en-US" altLang="zh-CN">
                <a:solidFill>
                  <a:schemeClr val="tx1"/>
                </a:solidFill>
                <a:latin typeface="微软雅黑" panose="020B0503020204020204" pitchFamily="34" charset="-122"/>
                <a:ea typeface="微软雅黑" panose="020B0503020204020204" pitchFamily="34" charset="-122"/>
                <a:sym typeface="+mn-ea"/>
              </a:rPr>
              <a:t>CMOS</a:t>
            </a:r>
            <a:r>
              <a:rPr lang="zh-CN" altLang="en-US">
                <a:solidFill>
                  <a:schemeClr val="tx1"/>
                </a:solidFill>
                <a:latin typeface="微软雅黑" panose="020B0503020204020204" pitchFamily="34" charset="-122"/>
                <a:ea typeface="微软雅黑" panose="020B0503020204020204" pitchFamily="34" charset="-122"/>
                <a:sym typeface="+mn-ea"/>
              </a:rPr>
              <a:t>可以视为一个模拟放大器，但是其放大区间极窄，符合数字电路对窄过渡区的要求。</a:t>
            </a:r>
            <a:endParaRPr lang="zh-CN" altLang="en-US">
              <a:solidFill>
                <a:schemeClr val="tx1"/>
              </a:solidFill>
              <a:latin typeface="微软雅黑" panose="020B0503020204020204" pitchFamily="34" charset="-122"/>
              <a:ea typeface="微软雅黑" panose="020B0503020204020204" pitchFamily="34" charset="-122"/>
              <a:sym typeface="+mn-ea"/>
            </a:endParaRPr>
          </a:p>
        </p:txBody>
      </p:sp>
      <p:sp>
        <p:nvSpPr>
          <p:cNvPr id="2" name="文本框 1"/>
          <p:cNvSpPr txBox="1"/>
          <p:nvPr/>
        </p:nvSpPr>
        <p:spPr>
          <a:xfrm>
            <a:off x="5381625" y="1098550"/>
            <a:ext cx="1097280" cy="368300"/>
          </a:xfrm>
          <a:prstGeom prst="rect">
            <a:avLst/>
          </a:prstGeom>
          <a:noFill/>
        </p:spPr>
        <p:txBody>
          <a:bodyPr wrap="none" rtlCol="0">
            <a:spAutoFit/>
          </a:bodyPr>
          <a:p>
            <a:pPr algn="l"/>
            <a:r>
              <a:rPr lang="zh-CN" altLang="en-US" dirty="0">
                <a:solidFill>
                  <a:srgbClr val="C00000"/>
                </a:solidFill>
                <a:latin typeface="微软雅黑" panose="020B0503020204020204" pitchFamily="34" charset="-122"/>
                <a:ea typeface="微软雅黑" panose="020B0503020204020204" pitchFamily="34" charset="-122"/>
              </a:rPr>
              <a:t>重要公式</a:t>
            </a:r>
            <a:endParaRPr lang="zh-CN" altLang="en-US" dirty="0">
              <a:solidFill>
                <a:srgbClr val="C0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稳定性</a:t>
            </a:r>
            <a:endParaRPr lang="zh-CN" altLang="en-US">
              <a:sym typeface="+mn-ea"/>
            </a:endParaRPr>
          </a:p>
        </p:txBody>
      </p:sp>
      <p:grpSp>
        <p:nvGrpSpPr>
          <p:cNvPr id="2" name="组合 1"/>
          <p:cNvGrpSpPr/>
          <p:nvPr/>
        </p:nvGrpSpPr>
        <p:grpSpPr>
          <a:xfrm>
            <a:off x="792321" y="1195970"/>
            <a:ext cx="4139406" cy="3865562"/>
            <a:chOff x="1117" y="1208"/>
            <a:chExt cx="3129" cy="2922"/>
          </a:xfrm>
        </p:grpSpPr>
        <p:sp>
          <p:nvSpPr>
            <p:cNvPr id="3" name="矩形 2"/>
            <p:cNvSpPr/>
            <p:nvPr/>
          </p:nvSpPr>
          <p:spPr>
            <a:xfrm>
              <a:off x="1417" y="1267"/>
              <a:ext cx="2747" cy="2505"/>
            </a:xfrm>
            <a:prstGeom prst="rect">
              <a:avLst/>
            </a:prstGeom>
            <a:solidFill>
              <a:srgbClr val="FFFFFF"/>
            </a:solidFill>
            <a:ln w="9525">
              <a:noFill/>
            </a:ln>
          </p:spPr>
          <p:txBody>
            <a:bodyPr/>
            <a:lstStyle/>
            <a:p>
              <a:endParaRPr sz="1500" i="0">
                <a:solidFill>
                  <a:schemeClr val="tx2"/>
                </a:solidFill>
                <a:latin typeface="Book Antiqua" panose="02040602050305030304" pitchFamily="18" charset="0"/>
              </a:endParaRPr>
            </a:p>
          </p:txBody>
        </p:sp>
        <p:sp>
          <p:nvSpPr>
            <p:cNvPr id="4" name="矩形 3"/>
            <p:cNvSpPr/>
            <p:nvPr/>
          </p:nvSpPr>
          <p:spPr>
            <a:xfrm>
              <a:off x="1417" y="1267"/>
              <a:ext cx="2747" cy="2505"/>
            </a:xfrm>
            <a:prstGeom prst="rect">
              <a:avLst/>
            </a:prstGeom>
            <a:noFill/>
            <a:ln w="0" cap="sq" cmpd="sng">
              <a:solidFill>
                <a:srgbClr val="FFFFFF"/>
              </a:solidFill>
              <a:prstDash val="solid"/>
              <a:miter/>
              <a:headEnd type="none" w="med" len="med"/>
              <a:tailEnd type="none" w="med" len="med"/>
            </a:ln>
          </p:spPr>
          <p:txBody>
            <a:bodyPr/>
            <a:lstStyle/>
            <a:p>
              <a:endParaRPr lang="zh-CN" altLang="en-US" sz="1500"/>
            </a:p>
          </p:txBody>
        </p:sp>
        <p:sp>
          <p:nvSpPr>
            <p:cNvPr id="5" name="直接连接符 4"/>
            <p:cNvSpPr/>
            <p:nvPr/>
          </p:nvSpPr>
          <p:spPr>
            <a:xfrm>
              <a:off x="1417" y="1267"/>
              <a:ext cx="2747" cy="1"/>
            </a:xfrm>
            <a:prstGeom prst="line">
              <a:avLst/>
            </a:prstGeom>
            <a:ln w="0" cap="sq" cmpd="sng">
              <a:solidFill>
                <a:srgbClr val="000000"/>
              </a:solidFill>
              <a:prstDash val="solid"/>
              <a:miter/>
              <a:headEnd type="none" w="med" len="med"/>
              <a:tailEnd type="none" w="med" len="med"/>
            </a:ln>
          </p:spPr>
        </p:sp>
        <p:sp>
          <p:nvSpPr>
            <p:cNvPr id="6" name="任意多边形 5"/>
            <p:cNvSpPr/>
            <p:nvPr/>
          </p:nvSpPr>
          <p:spPr>
            <a:xfrm>
              <a:off x="1417" y="1267"/>
              <a:ext cx="2747" cy="2505"/>
            </a:xfrm>
            <a:custGeom>
              <a:avLst/>
              <a:gdLst/>
              <a:ahLst/>
              <a:cxnLst/>
              <a:rect l="0" t="0" r="0" b="0"/>
              <a:pathLst>
                <a:path w="433" h="341">
                  <a:moveTo>
                    <a:pt x="0" y="341"/>
                  </a:moveTo>
                  <a:lnTo>
                    <a:pt x="433" y="341"/>
                  </a:lnTo>
                  <a:lnTo>
                    <a:pt x="433" y="0"/>
                  </a:lnTo>
                </a:path>
              </a:pathLst>
            </a:custGeom>
            <a:noFill/>
            <a:ln w="0" cap="sq" cmpd="sng">
              <a:solidFill>
                <a:srgbClr val="000000"/>
              </a:solidFill>
              <a:prstDash val="solid"/>
              <a:miter/>
              <a:headEnd type="none" w="med" len="med"/>
              <a:tailEnd type="none" w="med" len="med"/>
            </a:ln>
          </p:spPr>
          <p:txBody>
            <a:bodyPr/>
            <a:lstStyle/>
            <a:p>
              <a:endParaRPr lang="zh-CN" altLang="en-US" sz="1500"/>
            </a:p>
          </p:txBody>
        </p:sp>
        <p:sp>
          <p:nvSpPr>
            <p:cNvPr id="7" name="直接连接符 6"/>
            <p:cNvSpPr/>
            <p:nvPr/>
          </p:nvSpPr>
          <p:spPr>
            <a:xfrm flipV="1">
              <a:off x="1417" y="1267"/>
              <a:ext cx="1" cy="2505"/>
            </a:xfrm>
            <a:prstGeom prst="line">
              <a:avLst/>
            </a:prstGeom>
            <a:ln w="0" cap="sq" cmpd="sng">
              <a:solidFill>
                <a:srgbClr val="000000"/>
              </a:solidFill>
              <a:prstDash val="solid"/>
              <a:miter/>
              <a:headEnd type="none" w="med" len="med"/>
              <a:tailEnd type="none" w="med" len="med"/>
            </a:ln>
          </p:spPr>
        </p:sp>
        <p:sp>
          <p:nvSpPr>
            <p:cNvPr id="8" name="直接连接符 7"/>
            <p:cNvSpPr/>
            <p:nvPr/>
          </p:nvSpPr>
          <p:spPr>
            <a:xfrm>
              <a:off x="1417" y="3772"/>
              <a:ext cx="2747" cy="1"/>
            </a:xfrm>
            <a:prstGeom prst="line">
              <a:avLst/>
            </a:prstGeom>
            <a:ln w="0" cap="sq" cmpd="sng">
              <a:solidFill>
                <a:srgbClr val="000000"/>
              </a:solidFill>
              <a:prstDash val="solid"/>
              <a:miter/>
              <a:headEnd type="none" w="med" len="med"/>
              <a:tailEnd type="none" w="med" len="med"/>
            </a:ln>
          </p:spPr>
        </p:sp>
        <p:sp>
          <p:nvSpPr>
            <p:cNvPr id="9" name="直接连接符 8"/>
            <p:cNvSpPr/>
            <p:nvPr/>
          </p:nvSpPr>
          <p:spPr>
            <a:xfrm flipV="1">
              <a:off x="1417" y="1267"/>
              <a:ext cx="1" cy="2505"/>
            </a:xfrm>
            <a:prstGeom prst="line">
              <a:avLst/>
            </a:prstGeom>
            <a:ln w="0" cap="sq" cmpd="sng">
              <a:solidFill>
                <a:srgbClr val="000000"/>
              </a:solidFill>
              <a:prstDash val="solid"/>
              <a:miter/>
              <a:headEnd type="none" w="med" len="med"/>
              <a:tailEnd type="none" w="med" len="med"/>
            </a:ln>
          </p:spPr>
        </p:sp>
        <p:sp>
          <p:nvSpPr>
            <p:cNvPr id="10" name="直接连接符 9"/>
            <p:cNvSpPr/>
            <p:nvPr/>
          </p:nvSpPr>
          <p:spPr>
            <a:xfrm flipV="1">
              <a:off x="1417" y="3742"/>
              <a:ext cx="1" cy="30"/>
            </a:xfrm>
            <a:prstGeom prst="line">
              <a:avLst/>
            </a:prstGeom>
            <a:ln w="0" cap="sq" cmpd="sng">
              <a:solidFill>
                <a:srgbClr val="000000"/>
              </a:solidFill>
              <a:prstDash val="solid"/>
              <a:miter/>
              <a:headEnd type="none" w="med" len="med"/>
              <a:tailEnd type="none" w="med" len="med"/>
            </a:ln>
          </p:spPr>
        </p:sp>
        <p:sp>
          <p:nvSpPr>
            <p:cNvPr id="11" name="直接连接符 10"/>
            <p:cNvSpPr/>
            <p:nvPr/>
          </p:nvSpPr>
          <p:spPr>
            <a:xfrm>
              <a:off x="1417" y="1267"/>
              <a:ext cx="1" cy="29"/>
            </a:xfrm>
            <a:prstGeom prst="line">
              <a:avLst/>
            </a:prstGeom>
            <a:ln w="0" cap="sq" cmpd="sng">
              <a:solidFill>
                <a:srgbClr val="000000"/>
              </a:solidFill>
              <a:prstDash val="solid"/>
              <a:miter/>
              <a:headEnd type="none" w="med" len="med"/>
              <a:tailEnd type="none" w="med" len="med"/>
            </a:ln>
          </p:spPr>
        </p:sp>
        <p:sp>
          <p:nvSpPr>
            <p:cNvPr id="12" name="矩形 11"/>
            <p:cNvSpPr/>
            <p:nvPr/>
          </p:nvSpPr>
          <p:spPr>
            <a:xfrm>
              <a:off x="1392" y="3801"/>
              <a:ext cx="58" cy="126"/>
            </a:xfrm>
            <a:prstGeom prst="rect">
              <a:avLst/>
            </a:prstGeom>
            <a:noFill/>
            <a:ln w="9525">
              <a:noFill/>
            </a:ln>
          </p:spPr>
          <p:txBody>
            <a:bodyPr wrap="none" lIns="0" tIns="0" rIns="0" bIns="0">
              <a:spAutoFit/>
            </a:bodyPr>
            <a:lstStyle/>
            <a:p>
              <a:r>
                <a:rPr lang="en-US" altLang="zh-CN" sz="1085" i="0">
                  <a:solidFill>
                    <a:srgbClr val="000000"/>
                  </a:solidFill>
                  <a:latin typeface="Helvetica" panose="020B0604020202020204" pitchFamily="34" charset="0"/>
                </a:rPr>
                <a:t>0</a:t>
              </a:r>
              <a:endParaRPr lang="en-US" altLang="zh-CN" sz="1500" i="0">
                <a:solidFill>
                  <a:schemeClr val="tx2"/>
                </a:solidFill>
                <a:latin typeface="Book Antiqua" panose="02040602050305030304" pitchFamily="18" charset="0"/>
              </a:endParaRPr>
            </a:p>
          </p:txBody>
        </p:sp>
        <p:sp>
          <p:nvSpPr>
            <p:cNvPr id="13" name="直接连接符 12"/>
            <p:cNvSpPr/>
            <p:nvPr/>
          </p:nvSpPr>
          <p:spPr>
            <a:xfrm flipV="1">
              <a:off x="1969" y="3742"/>
              <a:ext cx="1" cy="30"/>
            </a:xfrm>
            <a:prstGeom prst="line">
              <a:avLst/>
            </a:prstGeom>
            <a:ln w="0" cap="sq" cmpd="sng">
              <a:solidFill>
                <a:srgbClr val="000000"/>
              </a:solidFill>
              <a:prstDash val="solid"/>
              <a:miter/>
              <a:headEnd type="none" w="med" len="med"/>
              <a:tailEnd type="none" w="med" len="med"/>
            </a:ln>
          </p:spPr>
        </p:sp>
        <p:sp>
          <p:nvSpPr>
            <p:cNvPr id="14" name="直接连接符 13"/>
            <p:cNvSpPr/>
            <p:nvPr/>
          </p:nvSpPr>
          <p:spPr>
            <a:xfrm>
              <a:off x="1969" y="1267"/>
              <a:ext cx="1" cy="29"/>
            </a:xfrm>
            <a:prstGeom prst="line">
              <a:avLst/>
            </a:prstGeom>
            <a:ln w="0" cap="sq" cmpd="sng">
              <a:solidFill>
                <a:srgbClr val="000000"/>
              </a:solidFill>
              <a:prstDash val="solid"/>
              <a:miter/>
              <a:headEnd type="none" w="med" len="med"/>
              <a:tailEnd type="none" w="med" len="med"/>
            </a:ln>
          </p:spPr>
        </p:sp>
        <p:sp>
          <p:nvSpPr>
            <p:cNvPr id="15" name="矩形 14"/>
            <p:cNvSpPr/>
            <p:nvPr/>
          </p:nvSpPr>
          <p:spPr>
            <a:xfrm>
              <a:off x="1906" y="3801"/>
              <a:ext cx="145" cy="126"/>
            </a:xfrm>
            <a:prstGeom prst="rect">
              <a:avLst/>
            </a:prstGeom>
            <a:noFill/>
            <a:ln w="9525">
              <a:noFill/>
            </a:ln>
          </p:spPr>
          <p:txBody>
            <a:bodyPr wrap="none" lIns="0" tIns="0" rIns="0" bIns="0">
              <a:spAutoFit/>
            </a:bodyPr>
            <a:lstStyle/>
            <a:p>
              <a:r>
                <a:rPr lang="en-US" altLang="zh-CN" sz="1085" i="0">
                  <a:solidFill>
                    <a:srgbClr val="000000"/>
                  </a:solidFill>
                  <a:latin typeface="Helvetica" panose="020B0604020202020204" pitchFamily="34" charset="0"/>
                </a:rPr>
                <a:t>0.5</a:t>
              </a:r>
              <a:endParaRPr lang="en-US" altLang="zh-CN" sz="1500" i="0">
                <a:solidFill>
                  <a:schemeClr val="tx2"/>
                </a:solidFill>
                <a:latin typeface="Book Antiqua" panose="02040602050305030304" pitchFamily="18" charset="0"/>
              </a:endParaRPr>
            </a:p>
          </p:txBody>
        </p:sp>
        <p:sp>
          <p:nvSpPr>
            <p:cNvPr id="16" name="直接连接符 15"/>
            <p:cNvSpPr/>
            <p:nvPr/>
          </p:nvSpPr>
          <p:spPr>
            <a:xfrm flipV="1">
              <a:off x="2515" y="3742"/>
              <a:ext cx="1" cy="30"/>
            </a:xfrm>
            <a:prstGeom prst="line">
              <a:avLst/>
            </a:prstGeom>
            <a:ln w="0" cap="sq" cmpd="sng">
              <a:solidFill>
                <a:srgbClr val="000000"/>
              </a:solidFill>
              <a:prstDash val="solid"/>
              <a:miter/>
              <a:headEnd type="none" w="med" len="med"/>
              <a:tailEnd type="none" w="med" len="med"/>
            </a:ln>
          </p:spPr>
        </p:sp>
        <p:sp>
          <p:nvSpPr>
            <p:cNvPr id="17" name="直接连接符 16"/>
            <p:cNvSpPr/>
            <p:nvPr/>
          </p:nvSpPr>
          <p:spPr>
            <a:xfrm>
              <a:off x="2515" y="1267"/>
              <a:ext cx="1" cy="29"/>
            </a:xfrm>
            <a:prstGeom prst="line">
              <a:avLst/>
            </a:prstGeom>
            <a:ln w="0" cap="sq" cmpd="sng">
              <a:solidFill>
                <a:srgbClr val="000000"/>
              </a:solidFill>
              <a:prstDash val="solid"/>
              <a:miter/>
              <a:headEnd type="none" w="med" len="med"/>
              <a:tailEnd type="none" w="med" len="med"/>
            </a:ln>
          </p:spPr>
        </p:sp>
        <p:sp>
          <p:nvSpPr>
            <p:cNvPr id="18" name="矩形 17"/>
            <p:cNvSpPr/>
            <p:nvPr/>
          </p:nvSpPr>
          <p:spPr>
            <a:xfrm>
              <a:off x="2489" y="3801"/>
              <a:ext cx="58" cy="126"/>
            </a:xfrm>
            <a:prstGeom prst="rect">
              <a:avLst/>
            </a:prstGeom>
            <a:noFill/>
            <a:ln w="9525">
              <a:noFill/>
            </a:ln>
          </p:spPr>
          <p:txBody>
            <a:bodyPr wrap="none" lIns="0" tIns="0" rIns="0" bIns="0">
              <a:spAutoFit/>
            </a:bodyPr>
            <a:lstStyle/>
            <a:p>
              <a:r>
                <a:rPr lang="en-US" altLang="zh-CN" sz="1085" i="0">
                  <a:solidFill>
                    <a:srgbClr val="000000"/>
                  </a:solidFill>
                  <a:latin typeface="Helvetica" panose="020B0604020202020204" pitchFamily="34" charset="0"/>
                </a:rPr>
                <a:t>1</a:t>
              </a:r>
              <a:endParaRPr lang="en-US" altLang="zh-CN" sz="1500" i="0">
                <a:solidFill>
                  <a:schemeClr val="tx2"/>
                </a:solidFill>
                <a:latin typeface="Book Antiqua" panose="02040602050305030304" pitchFamily="18" charset="0"/>
              </a:endParaRPr>
            </a:p>
          </p:txBody>
        </p:sp>
        <p:sp>
          <p:nvSpPr>
            <p:cNvPr id="19" name="直接连接符 18"/>
            <p:cNvSpPr/>
            <p:nvPr/>
          </p:nvSpPr>
          <p:spPr>
            <a:xfrm flipV="1">
              <a:off x="3067" y="3742"/>
              <a:ext cx="1" cy="30"/>
            </a:xfrm>
            <a:prstGeom prst="line">
              <a:avLst/>
            </a:prstGeom>
            <a:ln w="0" cap="sq" cmpd="sng">
              <a:solidFill>
                <a:srgbClr val="000000"/>
              </a:solidFill>
              <a:prstDash val="solid"/>
              <a:miter/>
              <a:headEnd type="none" w="med" len="med"/>
              <a:tailEnd type="none" w="med" len="med"/>
            </a:ln>
          </p:spPr>
        </p:sp>
        <p:sp>
          <p:nvSpPr>
            <p:cNvPr id="20" name="直接连接符 19"/>
            <p:cNvSpPr/>
            <p:nvPr/>
          </p:nvSpPr>
          <p:spPr>
            <a:xfrm>
              <a:off x="3067" y="1267"/>
              <a:ext cx="1" cy="29"/>
            </a:xfrm>
            <a:prstGeom prst="line">
              <a:avLst/>
            </a:prstGeom>
            <a:ln w="0" cap="sq" cmpd="sng">
              <a:solidFill>
                <a:srgbClr val="000000"/>
              </a:solidFill>
              <a:prstDash val="solid"/>
              <a:miter/>
              <a:headEnd type="none" w="med" len="med"/>
              <a:tailEnd type="none" w="med" len="med"/>
            </a:ln>
          </p:spPr>
        </p:sp>
        <p:sp>
          <p:nvSpPr>
            <p:cNvPr id="21" name="矩形 20"/>
            <p:cNvSpPr/>
            <p:nvPr/>
          </p:nvSpPr>
          <p:spPr>
            <a:xfrm>
              <a:off x="3003" y="3801"/>
              <a:ext cx="145" cy="126"/>
            </a:xfrm>
            <a:prstGeom prst="rect">
              <a:avLst/>
            </a:prstGeom>
            <a:noFill/>
            <a:ln w="9525">
              <a:noFill/>
            </a:ln>
          </p:spPr>
          <p:txBody>
            <a:bodyPr wrap="none" lIns="0" tIns="0" rIns="0" bIns="0">
              <a:spAutoFit/>
            </a:bodyPr>
            <a:lstStyle/>
            <a:p>
              <a:r>
                <a:rPr lang="en-US" altLang="zh-CN" sz="1085" i="0">
                  <a:solidFill>
                    <a:srgbClr val="000000"/>
                  </a:solidFill>
                  <a:latin typeface="Helvetica" panose="020B0604020202020204" pitchFamily="34" charset="0"/>
                </a:rPr>
                <a:t>1.5</a:t>
              </a:r>
              <a:endParaRPr lang="en-US" altLang="zh-CN" sz="1500" i="0">
                <a:solidFill>
                  <a:schemeClr val="tx2"/>
                </a:solidFill>
                <a:latin typeface="Book Antiqua" panose="02040602050305030304" pitchFamily="18" charset="0"/>
              </a:endParaRPr>
            </a:p>
          </p:txBody>
        </p:sp>
        <p:sp>
          <p:nvSpPr>
            <p:cNvPr id="22" name="直接连接符 21"/>
            <p:cNvSpPr/>
            <p:nvPr/>
          </p:nvSpPr>
          <p:spPr>
            <a:xfrm flipV="1">
              <a:off x="3612" y="3742"/>
              <a:ext cx="1" cy="30"/>
            </a:xfrm>
            <a:prstGeom prst="line">
              <a:avLst/>
            </a:prstGeom>
            <a:ln w="0" cap="sq" cmpd="sng">
              <a:solidFill>
                <a:srgbClr val="000000"/>
              </a:solidFill>
              <a:prstDash val="solid"/>
              <a:miter/>
              <a:headEnd type="none" w="med" len="med"/>
              <a:tailEnd type="none" w="med" len="med"/>
            </a:ln>
          </p:spPr>
        </p:sp>
        <p:sp>
          <p:nvSpPr>
            <p:cNvPr id="23" name="直接连接符 22"/>
            <p:cNvSpPr/>
            <p:nvPr/>
          </p:nvSpPr>
          <p:spPr>
            <a:xfrm>
              <a:off x="3612" y="1267"/>
              <a:ext cx="1" cy="29"/>
            </a:xfrm>
            <a:prstGeom prst="line">
              <a:avLst/>
            </a:prstGeom>
            <a:ln w="0" cap="sq" cmpd="sng">
              <a:solidFill>
                <a:srgbClr val="000000"/>
              </a:solidFill>
              <a:prstDash val="solid"/>
              <a:miter/>
              <a:headEnd type="none" w="med" len="med"/>
              <a:tailEnd type="none" w="med" len="med"/>
            </a:ln>
          </p:spPr>
        </p:sp>
        <p:sp>
          <p:nvSpPr>
            <p:cNvPr id="24" name="矩形 23"/>
            <p:cNvSpPr/>
            <p:nvPr/>
          </p:nvSpPr>
          <p:spPr>
            <a:xfrm>
              <a:off x="3587" y="3801"/>
              <a:ext cx="58" cy="126"/>
            </a:xfrm>
            <a:prstGeom prst="rect">
              <a:avLst/>
            </a:prstGeom>
            <a:noFill/>
            <a:ln w="9525">
              <a:noFill/>
            </a:ln>
          </p:spPr>
          <p:txBody>
            <a:bodyPr wrap="none" lIns="0" tIns="0" rIns="0" bIns="0">
              <a:spAutoFit/>
            </a:bodyPr>
            <a:lstStyle/>
            <a:p>
              <a:r>
                <a:rPr lang="en-US" altLang="zh-CN" sz="1085" i="0">
                  <a:solidFill>
                    <a:srgbClr val="000000"/>
                  </a:solidFill>
                  <a:latin typeface="Helvetica" panose="020B0604020202020204" pitchFamily="34" charset="0"/>
                </a:rPr>
                <a:t>2</a:t>
              </a:r>
              <a:endParaRPr lang="en-US" altLang="zh-CN" sz="1500" i="0">
                <a:solidFill>
                  <a:schemeClr val="tx2"/>
                </a:solidFill>
                <a:latin typeface="Book Antiqua" panose="02040602050305030304" pitchFamily="18" charset="0"/>
              </a:endParaRPr>
            </a:p>
          </p:txBody>
        </p:sp>
        <p:sp>
          <p:nvSpPr>
            <p:cNvPr id="25" name="直接连接符 24"/>
            <p:cNvSpPr/>
            <p:nvPr/>
          </p:nvSpPr>
          <p:spPr>
            <a:xfrm flipV="1">
              <a:off x="4164" y="3742"/>
              <a:ext cx="1" cy="30"/>
            </a:xfrm>
            <a:prstGeom prst="line">
              <a:avLst/>
            </a:prstGeom>
            <a:ln w="0" cap="sq" cmpd="sng">
              <a:solidFill>
                <a:srgbClr val="000000"/>
              </a:solidFill>
              <a:prstDash val="solid"/>
              <a:miter/>
              <a:headEnd type="none" w="med" len="med"/>
              <a:tailEnd type="none" w="med" len="med"/>
            </a:ln>
          </p:spPr>
        </p:sp>
        <p:sp>
          <p:nvSpPr>
            <p:cNvPr id="26" name="直接连接符 25"/>
            <p:cNvSpPr/>
            <p:nvPr/>
          </p:nvSpPr>
          <p:spPr>
            <a:xfrm>
              <a:off x="4164" y="1267"/>
              <a:ext cx="1" cy="29"/>
            </a:xfrm>
            <a:prstGeom prst="line">
              <a:avLst/>
            </a:prstGeom>
            <a:ln w="0" cap="sq" cmpd="sng">
              <a:solidFill>
                <a:srgbClr val="000000"/>
              </a:solidFill>
              <a:prstDash val="solid"/>
              <a:miter/>
              <a:headEnd type="none" w="med" len="med"/>
              <a:tailEnd type="none" w="med" len="med"/>
            </a:ln>
          </p:spPr>
        </p:sp>
        <p:sp>
          <p:nvSpPr>
            <p:cNvPr id="27" name="矩形 26"/>
            <p:cNvSpPr/>
            <p:nvPr/>
          </p:nvSpPr>
          <p:spPr>
            <a:xfrm>
              <a:off x="4101" y="3801"/>
              <a:ext cx="145" cy="126"/>
            </a:xfrm>
            <a:prstGeom prst="rect">
              <a:avLst/>
            </a:prstGeom>
            <a:noFill/>
            <a:ln w="9525">
              <a:noFill/>
            </a:ln>
          </p:spPr>
          <p:txBody>
            <a:bodyPr wrap="none" lIns="0" tIns="0" rIns="0" bIns="0">
              <a:spAutoFit/>
            </a:bodyPr>
            <a:lstStyle/>
            <a:p>
              <a:r>
                <a:rPr lang="en-US" altLang="zh-CN" sz="1085" i="0">
                  <a:solidFill>
                    <a:srgbClr val="000000"/>
                  </a:solidFill>
                  <a:latin typeface="Helvetica" panose="020B0604020202020204" pitchFamily="34" charset="0"/>
                </a:rPr>
                <a:t>2.5</a:t>
              </a:r>
              <a:endParaRPr lang="en-US" altLang="zh-CN" sz="1500" i="0">
                <a:solidFill>
                  <a:schemeClr val="tx2"/>
                </a:solidFill>
                <a:latin typeface="Book Antiqua" panose="02040602050305030304" pitchFamily="18" charset="0"/>
              </a:endParaRPr>
            </a:p>
          </p:txBody>
        </p:sp>
        <p:sp>
          <p:nvSpPr>
            <p:cNvPr id="28" name="直接连接符 27"/>
            <p:cNvSpPr/>
            <p:nvPr/>
          </p:nvSpPr>
          <p:spPr>
            <a:xfrm>
              <a:off x="1417" y="3772"/>
              <a:ext cx="26" cy="1"/>
            </a:xfrm>
            <a:prstGeom prst="line">
              <a:avLst/>
            </a:prstGeom>
            <a:ln w="0" cap="sq" cmpd="sng">
              <a:solidFill>
                <a:srgbClr val="000000"/>
              </a:solidFill>
              <a:prstDash val="solid"/>
              <a:miter/>
              <a:headEnd type="none" w="med" len="med"/>
              <a:tailEnd type="none" w="med" len="med"/>
            </a:ln>
          </p:spPr>
        </p:sp>
        <p:sp>
          <p:nvSpPr>
            <p:cNvPr id="29" name="直接连接符 28"/>
            <p:cNvSpPr/>
            <p:nvPr/>
          </p:nvSpPr>
          <p:spPr>
            <a:xfrm flipH="1">
              <a:off x="4139" y="3772"/>
              <a:ext cx="25" cy="1"/>
            </a:xfrm>
            <a:prstGeom prst="line">
              <a:avLst/>
            </a:prstGeom>
            <a:ln w="0" cap="sq" cmpd="sng">
              <a:solidFill>
                <a:srgbClr val="000000"/>
              </a:solidFill>
              <a:prstDash val="solid"/>
              <a:miter/>
              <a:headEnd type="none" w="med" len="med"/>
              <a:tailEnd type="none" w="med" len="med"/>
            </a:ln>
          </p:spPr>
        </p:sp>
        <p:sp>
          <p:nvSpPr>
            <p:cNvPr id="30" name="矩形 29"/>
            <p:cNvSpPr/>
            <p:nvPr/>
          </p:nvSpPr>
          <p:spPr>
            <a:xfrm>
              <a:off x="1341" y="3713"/>
              <a:ext cx="58" cy="126"/>
            </a:xfrm>
            <a:prstGeom prst="rect">
              <a:avLst/>
            </a:prstGeom>
            <a:noFill/>
            <a:ln w="9525">
              <a:noFill/>
            </a:ln>
          </p:spPr>
          <p:txBody>
            <a:bodyPr wrap="none" lIns="0" tIns="0" rIns="0" bIns="0">
              <a:spAutoFit/>
            </a:bodyPr>
            <a:lstStyle/>
            <a:p>
              <a:r>
                <a:rPr lang="en-US" altLang="zh-CN" sz="1085" i="0">
                  <a:solidFill>
                    <a:srgbClr val="000000"/>
                  </a:solidFill>
                  <a:latin typeface="Helvetica" panose="020B0604020202020204" pitchFamily="34" charset="0"/>
                </a:rPr>
                <a:t>0</a:t>
              </a:r>
              <a:endParaRPr lang="en-US" altLang="zh-CN" sz="1500" i="0">
                <a:solidFill>
                  <a:schemeClr val="tx2"/>
                </a:solidFill>
                <a:latin typeface="Book Antiqua" panose="02040602050305030304" pitchFamily="18" charset="0"/>
              </a:endParaRPr>
            </a:p>
          </p:txBody>
        </p:sp>
        <p:sp>
          <p:nvSpPr>
            <p:cNvPr id="31" name="直接连接符 30"/>
            <p:cNvSpPr/>
            <p:nvPr/>
          </p:nvSpPr>
          <p:spPr>
            <a:xfrm>
              <a:off x="1417" y="3272"/>
              <a:ext cx="26" cy="1"/>
            </a:xfrm>
            <a:prstGeom prst="line">
              <a:avLst/>
            </a:prstGeom>
            <a:ln w="0" cap="sq" cmpd="sng">
              <a:solidFill>
                <a:srgbClr val="000000"/>
              </a:solidFill>
              <a:prstDash val="solid"/>
              <a:miter/>
              <a:headEnd type="none" w="med" len="med"/>
              <a:tailEnd type="none" w="med" len="med"/>
            </a:ln>
          </p:spPr>
        </p:sp>
        <p:sp>
          <p:nvSpPr>
            <p:cNvPr id="32" name="直接连接符 31"/>
            <p:cNvSpPr/>
            <p:nvPr/>
          </p:nvSpPr>
          <p:spPr>
            <a:xfrm flipH="1">
              <a:off x="4139" y="3272"/>
              <a:ext cx="25" cy="1"/>
            </a:xfrm>
            <a:prstGeom prst="line">
              <a:avLst/>
            </a:prstGeom>
            <a:ln w="0" cap="sq" cmpd="sng">
              <a:solidFill>
                <a:srgbClr val="000000"/>
              </a:solidFill>
              <a:prstDash val="solid"/>
              <a:miter/>
              <a:headEnd type="none" w="med" len="med"/>
              <a:tailEnd type="none" w="med" len="med"/>
            </a:ln>
          </p:spPr>
        </p:sp>
        <p:sp>
          <p:nvSpPr>
            <p:cNvPr id="33" name="矩形 32"/>
            <p:cNvSpPr/>
            <p:nvPr/>
          </p:nvSpPr>
          <p:spPr>
            <a:xfrm>
              <a:off x="1265" y="3214"/>
              <a:ext cx="145" cy="126"/>
            </a:xfrm>
            <a:prstGeom prst="rect">
              <a:avLst/>
            </a:prstGeom>
            <a:noFill/>
            <a:ln w="9525">
              <a:noFill/>
            </a:ln>
          </p:spPr>
          <p:txBody>
            <a:bodyPr wrap="none" lIns="0" tIns="0" rIns="0" bIns="0">
              <a:spAutoFit/>
            </a:bodyPr>
            <a:lstStyle/>
            <a:p>
              <a:r>
                <a:rPr lang="en-US" altLang="zh-CN" sz="1085" i="0">
                  <a:solidFill>
                    <a:srgbClr val="000000"/>
                  </a:solidFill>
                  <a:latin typeface="Helvetica" panose="020B0604020202020204" pitchFamily="34" charset="0"/>
                </a:rPr>
                <a:t>0.5</a:t>
              </a:r>
              <a:endParaRPr lang="en-US" altLang="zh-CN" sz="1500" i="0">
                <a:solidFill>
                  <a:schemeClr val="tx2"/>
                </a:solidFill>
                <a:latin typeface="Book Antiqua" panose="02040602050305030304" pitchFamily="18" charset="0"/>
              </a:endParaRPr>
            </a:p>
          </p:txBody>
        </p:sp>
        <p:sp>
          <p:nvSpPr>
            <p:cNvPr id="34" name="直接连接符 33"/>
            <p:cNvSpPr/>
            <p:nvPr/>
          </p:nvSpPr>
          <p:spPr>
            <a:xfrm>
              <a:off x="1417" y="2773"/>
              <a:ext cx="26" cy="1"/>
            </a:xfrm>
            <a:prstGeom prst="line">
              <a:avLst/>
            </a:prstGeom>
            <a:ln w="0" cap="sq" cmpd="sng">
              <a:solidFill>
                <a:srgbClr val="000000"/>
              </a:solidFill>
              <a:prstDash val="solid"/>
              <a:miter/>
              <a:headEnd type="none" w="med" len="med"/>
              <a:tailEnd type="none" w="med" len="med"/>
            </a:ln>
          </p:spPr>
        </p:sp>
        <p:sp>
          <p:nvSpPr>
            <p:cNvPr id="35" name="直接连接符 34"/>
            <p:cNvSpPr/>
            <p:nvPr/>
          </p:nvSpPr>
          <p:spPr>
            <a:xfrm flipH="1">
              <a:off x="4139" y="2773"/>
              <a:ext cx="25" cy="1"/>
            </a:xfrm>
            <a:prstGeom prst="line">
              <a:avLst/>
            </a:prstGeom>
            <a:ln w="0" cap="sq" cmpd="sng">
              <a:solidFill>
                <a:srgbClr val="000000"/>
              </a:solidFill>
              <a:prstDash val="solid"/>
              <a:miter/>
              <a:headEnd type="none" w="med" len="med"/>
              <a:tailEnd type="none" w="med" len="med"/>
            </a:ln>
          </p:spPr>
        </p:sp>
        <p:sp>
          <p:nvSpPr>
            <p:cNvPr id="36" name="矩形 35"/>
            <p:cNvSpPr/>
            <p:nvPr/>
          </p:nvSpPr>
          <p:spPr>
            <a:xfrm>
              <a:off x="1341" y="2714"/>
              <a:ext cx="58" cy="126"/>
            </a:xfrm>
            <a:prstGeom prst="rect">
              <a:avLst/>
            </a:prstGeom>
            <a:noFill/>
            <a:ln w="9525">
              <a:noFill/>
            </a:ln>
          </p:spPr>
          <p:txBody>
            <a:bodyPr wrap="none" lIns="0" tIns="0" rIns="0" bIns="0">
              <a:spAutoFit/>
            </a:bodyPr>
            <a:lstStyle/>
            <a:p>
              <a:r>
                <a:rPr lang="en-US" altLang="zh-CN" sz="1085" i="0">
                  <a:solidFill>
                    <a:srgbClr val="000000"/>
                  </a:solidFill>
                  <a:latin typeface="Helvetica" panose="020B0604020202020204" pitchFamily="34" charset="0"/>
                </a:rPr>
                <a:t>1</a:t>
              </a:r>
              <a:endParaRPr lang="en-US" altLang="zh-CN" sz="1500" i="0">
                <a:solidFill>
                  <a:schemeClr val="tx2"/>
                </a:solidFill>
                <a:latin typeface="Book Antiqua" panose="02040602050305030304" pitchFamily="18" charset="0"/>
              </a:endParaRPr>
            </a:p>
          </p:txBody>
        </p:sp>
        <p:sp>
          <p:nvSpPr>
            <p:cNvPr id="37" name="直接连接符 36"/>
            <p:cNvSpPr/>
            <p:nvPr/>
          </p:nvSpPr>
          <p:spPr>
            <a:xfrm>
              <a:off x="1417" y="2266"/>
              <a:ext cx="26" cy="1"/>
            </a:xfrm>
            <a:prstGeom prst="line">
              <a:avLst/>
            </a:prstGeom>
            <a:ln w="0" cap="sq" cmpd="sng">
              <a:solidFill>
                <a:srgbClr val="000000"/>
              </a:solidFill>
              <a:prstDash val="solid"/>
              <a:miter/>
              <a:headEnd type="none" w="med" len="med"/>
              <a:tailEnd type="none" w="med" len="med"/>
            </a:ln>
          </p:spPr>
        </p:sp>
        <p:sp>
          <p:nvSpPr>
            <p:cNvPr id="38" name="直接连接符 37"/>
            <p:cNvSpPr/>
            <p:nvPr/>
          </p:nvSpPr>
          <p:spPr>
            <a:xfrm flipH="1">
              <a:off x="4139" y="2266"/>
              <a:ext cx="25" cy="1"/>
            </a:xfrm>
            <a:prstGeom prst="line">
              <a:avLst/>
            </a:prstGeom>
            <a:ln w="0" cap="sq" cmpd="sng">
              <a:solidFill>
                <a:srgbClr val="000000"/>
              </a:solidFill>
              <a:prstDash val="solid"/>
              <a:miter/>
              <a:headEnd type="none" w="med" len="med"/>
              <a:tailEnd type="none" w="med" len="med"/>
            </a:ln>
          </p:spPr>
        </p:sp>
        <p:sp>
          <p:nvSpPr>
            <p:cNvPr id="39" name="矩形 38"/>
            <p:cNvSpPr/>
            <p:nvPr/>
          </p:nvSpPr>
          <p:spPr>
            <a:xfrm>
              <a:off x="1265" y="2207"/>
              <a:ext cx="145" cy="126"/>
            </a:xfrm>
            <a:prstGeom prst="rect">
              <a:avLst/>
            </a:prstGeom>
            <a:noFill/>
            <a:ln w="9525">
              <a:noFill/>
            </a:ln>
          </p:spPr>
          <p:txBody>
            <a:bodyPr wrap="none" lIns="0" tIns="0" rIns="0" bIns="0">
              <a:spAutoFit/>
            </a:bodyPr>
            <a:lstStyle/>
            <a:p>
              <a:r>
                <a:rPr lang="en-US" altLang="zh-CN" sz="1085" i="0">
                  <a:solidFill>
                    <a:srgbClr val="000000"/>
                  </a:solidFill>
                  <a:latin typeface="Helvetica" panose="020B0604020202020204" pitchFamily="34" charset="0"/>
                </a:rPr>
                <a:t>1.5</a:t>
              </a:r>
              <a:endParaRPr lang="en-US" altLang="zh-CN" sz="1500" i="0">
                <a:solidFill>
                  <a:schemeClr val="tx2"/>
                </a:solidFill>
                <a:latin typeface="Book Antiqua" panose="02040602050305030304" pitchFamily="18" charset="0"/>
              </a:endParaRPr>
            </a:p>
          </p:txBody>
        </p:sp>
        <p:sp>
          <p:nvSpPr>
            <p:cNvPr id="40" name="直接连接符 39"/>
            <p:cNvSpPr/>
            <p:nvPr/>
          </p:nvSpPr>
          <p:spPr>
            <a:xfrm>
              <a:off x="1417" y="1767"/>
              <a:ext cx="26" cy="1"/>
            </a:xfrm>
            <a:prstGeom prst="line">
              <a:avLst/>
            </a:prstGeom>
            <a:ln w="0" cap="sq" cmpd="sng">
              <a:solidFill>
                <a:srgbClr val="000000"/>
              </a:solidFill>
              <a:prstDash val="solid"/>
              <a:miter/>
              <a:headEnd type="none" w="med" len="med"/>
              <a:tailEnd type="none" w="med" len="med"/>
            </a:ln>
          </p:spPr>
        </p:sp>
        <p:sp>
          <p:nvSpPr>
            <p:cNvPr id="41" name="直接连接符 40"/>
            <p:cNvSpPr/>
            <p:nvPr/>
          </p:nvSpPr>
          <p:spPr>
            <a:xfrm flipH="1">
              <a:off x="4139" y="1767"/>
              <a:ext cx="25" cy="1"/>
            </a:xfrm>
            <a:prstGeom prst="line">
              <a:avLst/>
            </a:prstGeom>
            <a:ln w="0" cap="sq" cmpd="sng">
              <a:solidFill>
                <a:srgbClr val="000000"/>
              </a:solidFill>
              <a:prstDash val="solid"/>
              <a:miter/>
              <a:headEnd type="none" w="med" len="med"/>
              <a:tailEnd type="none" w="med" len="med"/>
            </a:ln>
          </p:spPr>
        </p:sp>
        <p:sp>
          <p:nvSpPr>
            <p:cNvPr id="42" name="矩形 41"/>
            <p:cNvSpPr/>
            <p:nvPr/>
          </p:nvSpPr>
          <p:spPr>
            <a:xfrm>
              <a:off x="1341" y="1708"/>
              <a:ext cx="58" cy="126"/>
            </a:xfrm>
            <a:prstGeom prst="rect">
              <a:avLst/>
            </a:prstGeom>
            <a:noFill/>
            <a:ln w="9525">
              <a:noFill/>
            </a:ln>
          </p:spPr>
          <p:txBody>
            <a:bodyPr wrap="none" lIns="0" tIns="0" rIns="0" bIns="0">
              <a:spAutoFit/>
            </a:bodyPr>
            <a:lstStyle/>
            <a:p>
              <a:r>
                <a:rPr lang="en-US" altLang="zh-CN" sz="1085" i="0">
                  <a:solidFill>
                    <a:srgbClr val="000000"/>
                  </a:solidFill>
                  <a:latin typeface="Helvetica" panose="020B0604020202020204" pitchFamily="34" charset="0"/>
                </a:rPr>
                <a:t>2</a:t>
              </a:r>
              <a:endParaRPr lang="en-US" altLang="zh-CN" sz="1500" i="0">
                <a:solidFill>
                  <a:schemeClr val="tx2"/>
                </a:solidFill>
                <a:latin typeface="Book Antiqua" panose="02040602050305030304" pitchFamily="18" charset="0"/>
              </a:endParaRPr>
            </a:p>
          </p:txBody>
        </p:sp>
        <p:sp>
          <p:nvSpPr>
            <p:cNvPr id="43" name="直接连接符 42"/>
            <p:cNvSpPr/>
            <p:nvPr/>
          </p:nvSpPr>
          <p:spPr>
            <a:xfrm>
              <a:off x="1417" y="1267"/>
              <a:ext cx="26" cy="1"/>
            </a:xfrm>
            <a:prstGeom prst="line">
              <a:avLst/>
            </a:prstGeom>
            <a:ln w="0" cap="sq" cmpd="sng">
              <a:solidFill>
                <a:srgbClr val="000000"/>
              </a:solidFill>
              <a:prstDash val="solid"/>
              <a:miter/>
              <a:headEnd type="none" w="med" len="med"/>
              <a:tailEnd type="none" w="med" len="med"/>
            </a:ln>
          </p:spPr>
        </p:sp>
        <p:sp>
          <p:nvSpPr>
            <p:cNvPr id="44" name="直接连接符 43"/>
            <p:cNvSpPr/>
            <p:nvPr/>
          </p:nvSpPr>
          <p:spPr>
            <a:xfrm flipH="1">
              <a:off x="4139" y="1267"/>
              <a:ext cx="25" cy="1"/>
            </a:xfrm>
            <a:prstGeom prst="line">
              <a:avLst/>
            </a:prstGeom>
            <a:ln w="0" cap="sq" cmpd="sng">
              <a:solidFill>
                <a:srgbClr val="000000"/>
              </a:solidFill>
              <a:prstDash val="solid"/>
              <a:miter/>
              <a:headEnd type="none" w="med" len="med"/>
              <a:tailEnd type="none" w="med" len="med"/>
            </a:ln>
          </p:spPr>
        </p:sp>
        <p:sp>
          <p:nvSpPr>
            <p:cNvPr id="45" name="矩形 44"/>
            <p:cNvSpPr/>
            <p:nvPr/>
          </p:nvSpPr>
          <p:spPr>
            <a:xfrm>
              <a:off x="1265" y="1208"/>
              <a:ext cx="145" cy="126"/>
            </a:xfrm>
            <a:prstGeom prst="rect">
              <a:avLst/>
            </a:prstGeom>
            <a:noFill/>
            <a:ln w="9525">
              <a:noFill/>
            </a:ln>
          </p:spPr>
          <p:txBody>
            <a:bodyPr wrap="none" lIns="0" tIns="0" rIns="0" bIns="0">
              <a:spAutoFit/>
            </a:bodyPr>
            <a:lstStyle/>
            <a:p>
              <a:r>
                <a:rPr lang="en-US" altLang="zh-CN" sz="1085" i="0">
                  <a:solidFill>
                    <a:srgbClr val="000000"/>
                  </a:solidFill>
                  <a:latin typeface="Helvetica" panose="020B0604020202020204" pitchFamily="34" charset="0"/>
                </a:rPr>
                <a:t>2.5</a:t>
              </a:r>
              <a:endParaRPr lang="en-US" altLang="zh-CN" sz="1500" i="0">
                <a:solidFill>
                  <a:schemeClr val="tx2"/>
                </a:solidFill>
                <a:latin typeface="Book Antiqua" panose="02040602050305030304" pitchFamily="18" charset="0"/>
              </a:endParaRPr>
            </a:p>
          </p:txBody>
        </p:sp>
        <p:sp>
          <p:nvSpPr>
            <p:cNvPr id="46" name="直接连接符 45"/>
            <p:cNvSpPr/>
            <p:nvPr/>
          </p:nvSpPr>
          <p:spPr>
            <a:xfrm>
              <a:off x="1417" y="1267"/>
              <a:ext cx="2747" cy="1"/>
            </a:xfrm>
            <a:prstGeom prst="line">
              <a:avLst/>
            </a:prstGeom>
            <a:ln w="0" cap="sq" cmpd="sng">
              <a:solidFill>
                <a:srgbClr val="000000"/>
              </a:solidFill>
              <a:prstDash val="solid"/>
              <a:miter/>
              <a:headEnd type="none" w="med" len="med"/>
              <a:tailEnd type="none" w="med" len="med"/>
            </a:ln>
          </p:spPr>
        </p:sp>
        <p:sp>
          <p:nvSpPr>
            <p:cNvPr id="47" name="任意多边形 46"/>
            <p:cNvSpPr/>
            <p:nvPr/>
          </p:nvSpPr>
          <p:spPr>
            <a:xfrm>
              <a:off x="1417" y="1267"/>
              <a:ext cx="2747" cy="2505"/>
            </a:xfrm>
            <a:custGeom>
              <a:avLst/>
              <a:gdLst/>
              <a:ahLst/>
              <a:cxnLst/>
              <a:rect l="0" t="0" r="0" b="0"/>
              <a:pathLst>
                <a:path w="433" h="341">
                  <a:moveTo>
                    <a:pt x="0" y="341"/>
                  </a:moveTo>
                  <a:lnTo>
                    <a:pt x="433" y="341"/>
                  </a:lnTo>
                  <a:lnTo>
                    <a:pt x="433" y="0"/>
                  </a:lnTo>
                </a:path>
              </a:pathLst>
            </a:custGeom>
            <a:noFill/>
            <a:ln w="0" cap="sq" cmpd="sng">
              <a:solidFill>
                <a:srgbClr val="000000"/>
              </a:solidFill>
              <a:prstDash val="solid"/>
              <a:miter/>
              <a:headEnd type="none" w="med" len="med"/>
              <a:tailEnd type="none" w="med" len="med"/>
            </a:ln>
          </p:spPr>
          <p:txBody>
            <a:bodyPr/>
            <a:lstStyle/>
            <a:p>
              <a:endParaRPr lang="zh-CN" altLang="en-US" sz="1500"/>
            </a:p>
          </p:txBody>
        </p:sp>
        <p:sp>
          <p:nvSpPr>
            <p:cNvPr id="48" name="直接连接符 47"/>
            <p:cNvSpPr/>
            <p:nvPr/>
          </p:nvSpPr>
          <p:spPr>
            <a:xfrm flipV="1">
              <a:off x="1417" y="1267"/>
              <a:ext cx="1" cy="2505"/>
            </a:xfrm>
            <a:prstGeom prst="line">
              <a:avLst/>
            </a:prstGeom>
            <a:ln w="0" cap="sq" cmpd="sng">
              <a:solidFill>
                <a:srgbClr val="000000"/>
              </a:solidFill>
              <a:prstDash val="solid"/>
              <a:miter/>
              <a:headEnd type="none" w="med" len="med"/>
              <a:tailEnd type="none" w="med" len="med"/>
            </a:ln>
          </p:spPr>
        </p:sp>
        <p:sp>
          <p:nvSpPr>
            <p:cNvPr id="49" name="任意多边形 48"/>
            <p:cNvSpPr/>
            <p:nvPr/>
          </p:nvSpPr>
          <p:spPr>
            <a:xfrm>
              <a:off x="1417" y="1267"/>
              <a:ext cx="2747" cy="2505"/>
            </a:xfrm>
            <a:custGeom>
              <a:avLst/>
              <a:gdLst/>
              <a:ahLst/>
              <a:cxnLst/>
              <a:rect l="0" t="0" r="0" b="0"/>
              <a:pathLst>
                <a:path w="2747" h="2505">
                  <a:moveTo>
                    <a:pt x="0" y="0"/>
                  </a:moveTo>
                  <a:lnTo>
                    <a:pt x="26" y="0"/>
                  </a:lnTo>
                  <a:lnTo>
                    <a:pt x="57" y="0"/>
                  </a:lnTo>
                  <a:lnTo>
                    <a:pt x="83" y="0"/>
                  </a:lnTo>
                  <a:lnTo>
                    <a:pt x="108" y="0"/>
                  </a:lnTo>
                  <a:lnTo>
                    <a:pt x="140" y="0"/>
                  </a:lnTo>
                  <a:lnTo>
                    <a:pt x="165" y="0"/>
                  </a:lnTo>
                  <a:lnTo>
                    <a:pt x="190" y="0"/>
                  </a:lnTo>
                  <a:lnTo>
                    <a:pt x="222" y="0"/>
                  </a:lnTo>
                  <a:lnTo>
                    <a:pt x="248" y="0"/>
                  </a:lnTo>
                  <a:lnTo>
                    <a:pt x="273" y="0"/>
                  </a:lnTo>
                  <a:lnTo>
                    <a:pt x="305" y="0"/>
                  </a:lnTo>
                  <a:lnTo>
                    <a:pt x="330" y="0"/>
                  </a:lnTo>
                  <a:lnTo>
                    <a:pt x="355" y="0"/>
                  </a:lnTo>
                  <a:lnTo>
                    <a:pt x="387" y="0"/>
                  </a:lnTo>
                  <a:lnTo>
                    <a:pt x="413" y="0"/>
                  </a:lnTo>
                  <a:lnTo>
                    <a:pt x="438" y="0"/>
                  </a:lnTo>
                  <a:lnTo>
                    <a:pt x="470" y="0"/>
                  </a:lnTo>
                  <a:lnTo>
                    <a:pt x="495" y="0"/>
                  </a:lnTo>
                  <a:lnTo>
                    <a:pt x="520" y="0"/>
                  </a:lnTo>
                  <a:lnTo>
                    <a:pt x="552" y="7"/>
                  </a:lnTo>
                  <a:lnTo>
                    <a:pt x="578" y="7"/>
                  </a:lnTo>
                  <a:lnTo>
                    <a:pt x="603" y="7"/>
                  </a:lnTo>
                  <a:lnTo>
                    <a:pt x="635" y="15"/>
                  </a:lnTo>
                  <a:lnTo>
                    <a:pt x="660" y="15"/>
                  </a:lnTo>
                  <a:lnTo>
                    <a:pt x="685" y="22"/>
                  </a:lnTo>
                  <a:lnTo>
                    <a:pt x="717" y="29"/>
                  </a:lnTo>
                  <a:lnTo>
                    <a:pt x="742" y="37"/>
                  </a:lnTo>
                  <a:lnTo>
                    <a:pt x="768" y="44"/>
                  </a:lnTo>
                  <a:lnTo>
                    <a:pt x="800" y="51"/>
                  </a:lnTo>
                  <a:lnTo>
                    <a:pt x="825" y="66"/>
                  </a:lnTo>
                  <a:lnTo>
                    <a:pt x="850" y="74"/>
                  </a:lnTo>
                  <a:lnTo>
                    <a:pt x="882" y="88"/>
                  </a:lnTo>
                  <a:lnTo>
                    <a:pt x="907" y="96"/>
                  </a:lnTo>
                  <a:lnTo>
                    <a:pt x="933" y="110"/>
                  </a:lnTo>
                  <a:lnTo>
                    <a:pt x="965" y="125"/>
                  </a:lnTo>
                  <a:lnTo>
                    <a:pt x="990" y="140"/>
                  </a:lnTo>
                  <a:lnTo>
                    <a:pt x="1015" y="154"/>
                  </a:lnTo>
                  <a:lnTo>
                    <a:pt x="1047" y="176"/>
                  </a:lnTo>
                  <a:lnTo>
                    <a:pt x="1072" y="198"/>
                  </a:lnTo>
                  <a:lnTo>
                    <a:pt x="1098" y="220"/>
                  </a:lnTo>
                  <a:lnTo>
                    <a:pt x="1130" y="242"/>
                  </a:lnTo>
                  <a:lnTo>
                    <a:pt x="1155" y="272"/>
                  </a:lnTo>
                  <a:lnTo>
                    <a:pt x="1180" y="301"/>
                  </a:lnTo>
                  <a:lnTo>
                    <a:pt x="1212" y="338"/>
                  </a:lnTo>
                  <a:lnTo>
                    <a:pt x="1237" y="382"/>
                  </a:lnTo>
                  <a:lnTo>
                    <a:pt x="1263" y="433"/>
                  </a:lnTo>
                  <a:lnTo>
                    <a:pt x="1294" y="522"/>
                  </a:lnTo>
                  <a:lnTo>
                    <a:pt x="1320" y="661"/>
                  </a:lnTo>
                  <a:lnTo>
                    <a:pt x="1345" y="904"/>
                  </a:lnTo>
                  <a:lnTo>
                    <a:pt x="1377" y="1256"/>
                  </a:lnTo>
                  <a:lnTo>
                    <a:pt x="1402" y="1675"/>
                  </a:lnTo>
                  <a:lnTo>
                    <a:pt x="1428" y="1947"/>
                  </a:lnTo>
                  <a:lnTo>
                    <a:pt x="1453" y="2079"/>
                  </a:lnTo>
                  <a:lnTo>
                    <a:pt x="1485" y="2160"/>
                  </a:lnTo>
                  <a:lnTo>
                    <a:pt x="1510" y="2211"/>
                  </a:lnTo>
                  <a:lnTo>
                    <a:pt x="1536" y="2248"/>
                  </a:lnTo>
                  <a:lnTo>
                    <a:pt x="1567" y="2284"/>
                  </a:lnTo>
                  <a:lnTo>
                    <a:pt x="1593" y="2306"/>
                  </a:lnTo>
                  <a:lnTo>
                    <a:pt x="1618" y="2328"/>
                  </a:lnTo>
                  <a:lnTo>
                    <a:pt x="1650" y="2351"/>
                  </a:lnTo>
                  <a:lnTo>
                    <a:pt x="1675" y="2373"/>
                  </a:lnTo>
                  <a:lnTo>
                    <a:pt x="1701" y="2387"/>
                  </a:lnTo>
                  <a:lnTo>
                    <a:pt x="1732" y="2402"/>
                  </a:lnTo>
                  <a:lnTo>
                    <a:pt x="1758" y="2409"/>
                  </a:lnTo>
                  <a:lnTo>
                    <a:pt x="1783" y="2424"/>
                  </a:lnTo>
                  <a:lnTo>
                    <a:pt x="1815" y="2431"/>
                  </a:lnTo>
                  <a:lnTo>
                    <a:pt x="1840" y="2446"/>
                  </a:lnTo>
                  <a:lnTo>
                    <a:pt x="1865" y="2453"/>
                  </a:lnTo>
                  <a:lnTo>
                    <a:pt x="1897" y="2461"/>
                  </a:lnTo>
                  <a:lnTo>
                    <a:pt x="1923" y="2468"/>
                  </a:lnTo>
                  <a:lnTo>
                    <a:pt x="1948" y="2475"/>
                  </a:lnTo>
                  <a:lnTo>
                    <a:pt x="1980" y="2475"/>
                  </a:lnTo>
                  <a:lnTo>
                    <a:pt x="2005" y="2483"/>
                  </a:lnTo>
                  <a:lnTo>
                    <a:pt x="2030" y="2490"/>
                  </a:lnTo>
                  <a:lnTo>
                    <a:pt x="2062" y="2490"/>
                  </a:lnTo>
                  <a:lnTo>
                    <a:pt x="2088" y="2497"/>
                  </a:lnTo>
                  <a:lnTo>
                    <a:pt x="2113" y="2497"/>
                  </a:lnTo>
                  <a:lnTo>
                    <a:pt x="2145" y="2497"/>
                  </a:lnTo>
                  <a:lnTo>
                    <a:pt x="2170" y="2505"/>
                  </a:lnTo>
                  <a:lnTo>
                    <a:pt x="2195" y="2505"/>
                  </a:lnTo>
                  <a:lnTo>
                    <a:pt x="2227" y="2505"/>
                  </a:lnTo>
                  <a:lnTo>
                    <a:pt x="2253" y="2505"/>
                  </a:lnTo>
                  <a:lnTo>
                    <a:pt x="2278" y="2505"/>
                  </a:lnTo>
                  <a:lnTo>
                    <a:pt x="2310" y="2505"/>
                  </a:lnTo>
                  <a:lnTo>
                    <a:pt x="2335" y="2505"/>
                  </a:lnTo>
                  <a:lnTo>
                    <a:pt x="2360" y="2505"/>
                  </a:lnTo>
                  <a:lnTo>
                    <a:pt x="2392" y="2505"/>
                  </a:lnTo>
                  <a:lnTo>
                    <a:pt x="2417" y="2505"/>
                  </a:lnTo>
                  <a:lnTo>
                    <a:pt x="2443" y="2505"/>
                  </a:lnTo>
                  <a:lnTo>
                    <a:pt x="2475" y="2505"/>
                  </a:lnTo>
                  <a:lnTo>
                    <a:pt x="2500" y="2505"/>
                  </a:lnTo>
                  <a:lnTo>
                    <a:pt x="2525" y="2505"/>
                  </a:lnTo>
                  <a:lnTo>
                    <a:pt x="2557" y="2505"/>
                  </a:lnTo>
                  <a:lnTo>
                    <a:pt x="2582" y="2505"/>
                  </a:lnTo>
                  <a:lnTo>
                    <a:pt x="2608" y="2505"/>
                  </a:lnTo>
                  <a:lnTo>
                    <a:pt x="2640" y="2505"/>
                  </a:lnTo>
                  <a:lnTo>
                    <a:pt x="2665" y="2505"/>
                  </a:lnTo>
                  <a:lnTo>
                    <a:pt x="2690" y="2505"/>
                  </a:lnTo>
                  <a:lnTo>
                    <a:pt x="2722" y="2505"/>
                  </a:lnTo>
                  <a:lnTo>
                    <a:pt x="2747" y="2505"/>
                  </a:lnTo>
                </a:path>
              </a:pathLst>
            </a:custGeom>
            <a:noFill/>
            <a:ln w="20638" cap="flat" cmpd="sng">
              <a:solidFill>
                <a:srgbClr val="000000"/>
              </a:solidFill>
              <a:prstDash val="solid"/>
              <a:headEnd type="none" w="med" len="med"/>
              <a:tailEnd type="none" w="med" len="med"/>
            </a:ln>
          </p:spPr>
          <p:txBody>
            <a:bodyPr/>
            <a:lstStyle/>
            <a:p>
              <a:endParaRPr lang="zh-CN" altLang="en-US" sz="1500"/>
            </a:p>
          </p:txBody>
        </p:sp>
        <p:sp>
          <p:nvSpPr>
            <p:cNvPr id="50" name="任意多边形 49"/>
            <p:cNvSpPr/>
            <p:nvPr/>
          </p:nvSpPr>
          <p:spPr>
            <a:xfrm>
              <a:off x="1417" y="1267"/>
              <a:ext cx="2747" cy="2505"/>
            </a:xfrm>
            <a:custGeom>
              <a:avLst/>
              <a:gdLst/>
              <a:ahLst/>
              <a:cxnLst/>
              <a:rect l="0" t="0" r="0" b="0"/>
              <a:pathLst>
                <a:path w="2747" h="2505">
                  <a:moveTo>
                    <a:pt x="0" y="0"/>
                  </a:moveTo>
                  <a:lnTo>
                    <a:pt x="26" y="0"/>
                  </a:lnTo>
                  <a:lnTo>
                    <a:pt x="57" y="0"/>
                  </a:lnTo>
                  <a:lnTo>
                    <a:pt x="83" y="0"/>
                  </a:lnTo>
                  <a:lnTo>
                    <a:pt x="108" y="0"/>
                  </a:lnTo>
                  <a:lnTo>
                    <a:pt x="140" y="0"/>
                  </a:lnTo>
                  <a:lnTo>
                    <a:pt x="165" y="0"/>
                  </a:lnTo>
                  <a:lnTo>
                    <a:pt x="190" y="0"/>
                  </a:lnTo>
                  <a:lnTo>
                    <a:pt x="222" y="0"/>
                  </a:lnTo>
                  <a:lnTo>
                    <a:pt x="248" y="0"/>
                  </a:lnTo>
                  <a:lnTo>
                    <a:pt x="273" y="0"/>
                  </a:lnTo>
                  <a:lnTo>
                    <a:pt x="305" y="0"/>
                  </a:lnTo>
                  <a:lnTo>
                    <a:pt x="330" y="0"/>
                  </a:lnTo>
                  <a:lnTo>
                    <a:pt x="355" y="0"/>
                  </a:lnTo>
                  <a:lnTo>
                    <a:pt x="387" y="0"/>
                  </a:lnTo>
                  <a:lnTo>
                    <a:pt x="413" y="0"/>
                  </a:lnTo>
                  <a:lnTo>
                    <a:pt x="438" y="0"/>
                  </a:lnTo>
                  <a:lnTo>
                    <a:pt x="470" y="0"/>
                  </a:lnTo>
                  <a:lnTo>
                    <a:pt x="495" y="7"/>
                  </a:lnTo>
                  <a:lnTo>
                    <a:pt x="520" y="7"/>
                  </a:lnTo>
                  <a:lnTo>
                    <a:pt x="552" y="15"/>
                  </a:lnTo>
                  <a:lnTo>
                    <a:pt x="578" y="15"/>
                  </a:lnTo>
                  <a:lnTo>
                    <a:pt x="603" y="22"/>
                  </a:lnTo>
                  <a:lnTo>
                    <a:pt x="635" y="29"/>
                  </a:lnTo>
                  <a:lnTo>
                    <a:pt x="660" y="37"/>
                  </a:lnTo>
                  <a:lnTo>
                    <a:pt x="685" y="44"/>
                  </a:lnTo>
                  <a:lnTo>
                    <a:pt x="717" y="51"/>
                  </a:lnTo>
                  <a:lnTo>
                    <a:pt x="742" y="59"/>
                  </a:lnTo>
                  <a:lnTo>
                    <a:pt x="768" y="66"/>
                  </a:lnTo>
                  <a:lnTo>
                    <a:pt x="800" y="81"/>
                  </a:lnTo>
                  <a:lnTo>
                    <a:pt x="825" y="96"/>
                  </a:lnTo>
                  <a:lnTo>
                    <a:pt x="850" y="103"/>
                  </a:lnTo>
                  <a:lnTo>
                    <a:pt x="882" y="118"/>
                  </a:lnTo>
                  <a:lnTo>
                    <a:pt x="907" y="132"/>
                  </a:lnTo>
                  <a:lnTo>
                    <a:pt x="933" y="147"/>
                  </a:lnTo>
                  <a:lnTo>
                    <a:pt x="965" y="169"/>
                  </a:lnTo>
                  <a:lnTo>
                    <a:pt x="990" y="184"/>
                  </a:lnTo>
                  <a:lnTo>
                    <a:pt x="1015" y="206"/>
                  </a:lnTo>
                  <a:lnTo>
                    <a:pt x="1047" y="228"/>
                  </a:lnTo>
                  <a:lnTo>
                    <a:pt x="1072" y="257"/>
                  </a:lnTo>
                  <a:lnTo>
                    <a:pt x="1098" y="287"/>
                  </a:lnTo>
                  <a:lnTo>
                    <a:pt x="1130" y="316"/>
                  </a:lnTo>
                  <a:lnTo>
                    <a:pt x="1155" y="360"/>
                  </a:lnTo>
                  <a:lnTo>
                    <a:pt x="1180" y="411"/>
                  </a:lnTo>
                  <a:lnTo>
                    <a:pt x="1212" y="477"/>
                  </a:lnTo>
                  <a:lnTo>
                    <a:pt x="1237" y="588"/>
                  </a:lnTo>
                  <a:lnTo>
                    <a:pt x="1263" y="779"/>
                  </a:lnTo>
                  <a:lnTo>
                    <a:pt x="1294" y="1080"/>
                  </a:lnTo>
                  <a:lnTo>
                    <a:pt x="1320" y="1484"/>
                  </a:lnTo>
                  <a:lnTo>
                    <a:pt x="1345" y="1844"/>
                  </a:lnTo>
                  <a:lnTo>
                    <a:pt x="1377" y="2035"/>
                  </a:lnTo>
                  <a:lnTo>
                    <a:pt x="1402" y="2123"/>
                  </a:lnTo>
                  <a:lnTo>
                    <a:pt x="1428" y="2189"/>
                  </a:lnTo>
                  <a:lnTo>
                    <a:pt x="1453" y="2233"/>
                  </a:lnTo>
                  <a:lnTo>
                    <a:pt x="1485" y="2270"/>
                  </a:lnTo>
                  <a:lnTo>
                    <a:pt x="1510" y="2299"/>
                  </a:lnTo>
                  <a:lnTo>
                    <a:pt x="1536" y="2321"/>
                  </a:lnTo>
                  <a:lnTo>
                    <a:pt x="1567" y="2343"/>
                  </a:lnTo>
                  <a:lnTo>
                    <a:pt x="1593" y="2365"/>
                  </a:lnTo>
                  <a:lnTo>
                    <a:pt x="1618" y="2380"/>
                  </a:lnTo>
                  <a:lnTo>
                    <a:pt x="1650" y="2395"/>
                  </a:lnTo>
                  <a:lnTo>
                    <a:pt x="1675" y="2409"/>
                  </a:lnTo>
                  <a:lnTo>
                    <a:pt x="1701" y="2417"/>
                  </a:lnTo>
                  <a:lnTo>
                    <a:pt x="1732" y="2431"/>
                  </a:lnTo>
                  <a:lnTo>
                    <a:pt x="1758" y="2439"/>
                  </a:lnTo>
                  <a:lnTo>
                    <a:pt x="1783" y="2446"/>
                  </a:lnTo>
                  <a:lnTo>
                    <a:pt x="1815" y="2453"/>
                  </a:lnTo>
                  <a:lnTo>
                    <a:pt x="1840" y="2461"/>
                  </a:lnTo>
                  <a:lnTo>
                    <a:pt x="1865" y="2468"/>
                  </a:lnTo>
                  <a:lnTo>
                    <a:pt x="1897" y="2475"/>
                  </a:lnTo>
                  <a:lnTo>
                    <a:pt x="1923" y="2483"/>
                  </a:lnTo>
                  <a:lnTo>
                    <a:pt x="1948" y="2483"/>
                  </a:lnTo>
                  <a:lnTo>
                    <a:pt x="1980" y="2490"/>
                  </a:lnTo>
                  <a:lnTo>
                    <a:pt x="2005" y="2490"/>
                  </a:lnTo>
                  <a:lnTo>
                    <a:pt x="2030" y="2497"/>
                  </a:lnTo>
                  <a:lnTo>
                    <a:pt x="2062" y="2497"/>
                  </a:lnTo>
                  <a:lnTo>
                    <a:pt x="2088" y="2497"/>
                  </a:lnTo>
                  <a:lnTo>
                    <a:pt x="2113" y="2505"/>
                  </a:lnTo>
                  <a:lnTo>
                    <a:pt x="2145" y="2505"/>
                  </a:lnTo>
                  <a:lnTo>
                    <a:pt x="2170" y="2505"/>
                  </a:lnTo>
                  <a:lnTo>
                    <a:pt x="2195" y="2505"/>
                  </a:lnTo>
                  <a:lnTo>
                    <a:pt x="2227" y="2505"/>
                  </a:lnTo>
                  <a:lnTo>
                    <a:pt x="2253" y="2505"/>
                  </a:lnTo>
                  <a:lnTo>
                    <a:pt x="2278" y="2505"/>
                  </a:lnTo>
                  <a:lnTo>
                    <a:pt x="2310" y="2505"/>
                  </a:lnTo>
                  <a:lnTo>
                    <a:pt x="2335" y="2505"/>
                  </a:lnTo>
                  <a:lnTo>
                    <a:pt x="2360" y="2505"/>
                  </a:lnTo>
                  <a:lnTo>
                    <a:pt x="2392" y="2505"/>
                  </a:lnTo>
                  <a:lnTo>
                    <a:pt x="2417" y="2505"/>
                  </a:lnTo>
                  <a:lnTo>
                    <a:pt x="2443" y="2505"/>
                  </a:lnTo>
                  <a:lnTo>
                    <a:pt x="2475" y="2505"/>
                  </a:lnTo>
                  <a:lnTo>
                    <a:pt x="2500" y="2505"/>
                  </a:lnTo>
                  <a:lnTo>
                    <a:pt x="2525" y="2505"/>
                  </a:lnTo>
                  <a:lnTo>
                    <a:pt x="2557" y="2505"/>
                  </a:lnTo>
                  <a:lnTo>
                    <a:pt x="2582" y="2505"/>
                  </a:lnTo>
                  <a:lnTo>
                    <a:pt x="2608" y="2505"/>
                  </a:lnTo>
                  <a:lnTo>
                    <a:pt x="2640" y="2505"/>
                  </a:lnTo>
                  <a:lnTo>
                    <a:pt x="2665" y="2505"/>
                  </a:lnTo>
                  <a:lnTo>
                    <a:pt x="2690" y="2505"/>
                  </a:lnTo>
                  <a:lnTo>
                    <a:pt x="2722" y="2505"/>
                  </a:lnTo>
                  <a:lnTo>
                    <a:pt x="2747" y="2505"/>
                  </a:lnTo>
                </a:path>
              </a:pathLst>
            </a:custGeom>
            <a:noFill/>
            <a:ln w="20638" cap="flat" cmpd="sng">
              <a:solidFill>
                <a:srgbClr val="0000FF"/>
              </a:solidFill>
              <a:prstDash val="solid"/>
              <a:headEnd type="none" w="med" len="med"/>
              <a:tailEnd type="none" w="med" len="med"/>
            </a:ln>
          </p:spPr>
          <p:txBody>
            <a:bodyPr/>
            <a:lstStyle/>
            <a:p>
              <a:endParaRPr lang="zh-CN" altLang="en-US" sz="1500"/>
            </a:p>
          </p:txBody>
        </p:sp>
        <p:sp>
          <p:nvSpPr>
            <p:cNvPr id="51" name="任意多边形 50"/>
            <p:cNvSpPr/>
            <p:nvPr/>
          </p:nvSpPr>
          <p:spPr>
            <a:xfrm>
              <a:off x="1417" y="1267"/>
              <a:ext cx="2747" cy="2505"/>
            </a:xfrm>
            <a:custGeom>
              <a:avLst/>
              <a:gdLst/>
              <a:ahLst/>
              <a:cxnLst/>
              <a:rect l="0" t="0" r="0" b="0"/>
              <a:pathLst>
                <a:path w="2747" h="2505">
                  <a:moveTo>
                    <a:pt x="0" y="0"/>
                  </a:moveTo>
                  <a:lnTo>
                    <a:pt x="26" y="0"/>
                  </a:lnTo>
                  <a:lnTo>
                    <a:pt x="57" y="0"/>
                  </a:lnTo>
                  <a:lnTo>
                    <a:pt x="83" y="0"/>
                  </a:lnTo>
                  <a:lnTo>
                    <a:pt x="108" y="0"/>
                  </a:lnTo>
                  <a:lnTo>
                    <a:pt x="140" y="0"/>
                  </a:lnTo>
                  <a:lnTo>
                    <a:pt x="165" y="0"/>
                  </a:lnTo>
                  <a:lnTo>
                    <a:pt x="190" y="0"/>
                  </a:lnTo>
                  <a:lnTo>
                    <a:pt x="222" y="0"/>
                  </a:lnTo>
                  <a:lnTo>
                    <a:pt x="248" y="0"/>
                  </a:lnTo>
                  <a:lnTo>
                    <a:pt x="273" y="0"/>
                  </a:lnTo>
                  <a:lnTo>
                    <a:pt x="305" y="0"/>
                  </a:lnTo>
                  <a:lnTo>
                    <a:pt x="330" y="0"/>
                  </a:lnTo>
                  <a:lnTo>
                    <a:pt x="355" y="0"/>
                  </a:lnTo>
                  <a:lnTo>
                    <a:pt x="387" y="0"/>
                  </a:lnTo>
                  <a:lnTo>
                    <a:pt x="413" y="0"/>
                  </a:lnTo>
                  <a:lnTo>
                    <a:pt x="438" y="0"/>
                  </a:lnTo>
                  <a:lnTo>
                    <a:pt x="470" y="0"/>
                  </a:lnTo>
                  <a:lnTo>
                    <a:pt x="495" y="0"/>
                  </a:lnTo>
                  <a:lnTo>
                    <a:pt x="520" y="0"/>
                  </a:lnTo>
                  <a:lnTo>
                    <a:pt x="552" y="0"/>
                  </a:lnTo>
                  <a:lnTo>
                    <a:pt x="578" y="0"/>
                  </a:lnTo>
                  <a:lnTo>
                    <a:pt x="603" y="0"/>
                  </a:lnTo>
                  <a:lnTo>
                    <a:pt x="635" y="7"/>
                  </a:lnTo>
                  <a:lnTo>
                    <a:pt x="660" y="7"/>
                  </a:lnTo>
                  <a:lnTo>
                    <a:pt x="685" y="15"/>
                  </a:lnTo>
                  <a:lnTo>
                    <a:pt x="717" y="15"/>
                  </a:lnTo>
                  <a:lnTo>
                    <a:pt x="742" y="22"/>
                  </a:lnTo>
                  <a:lnTo>
                    <a:pt x="768" y="29"/>
                  </a:lnTo>
                  <a:lnTo>
                    <a:pt x="800" y="37"/>
                  </a:lnTo>
                  <a:lnTo>
                    <a:pt x="825" y="44"/>
                  </a:lnTo>
                  <a:lnTo>
                    <a:pt x="850" y="51"/>
                  </a:lnTo>
                  <a:lnTo>
                    <a:pt x="882" y="59"/>
                  </a:lnTo>
                  <a:lnTo>
                    <a:pt x="907" y="66"/>
                  </a:lnTo>
                  <a:lnTo>
                    <a:pt x="933" y="81"/>
                  </a:lnTo>
                  <a:lnTo>
                    <a:pt x="965" y="96"/>
                  </a:lnTo>
                  <a:lnTo>
                    <a:pt x="990" y="103"/>
                  </a:lnTo>
                  <a:lnTo>
                    <a:pt x="1015" y="118"/>
                  </a:lnTo>
                  <a:lnTo>
                    <a:pt x="1047" y="132"/>
                  </a:lnTo>
                  <a:lnTo>
                    <a:pt x="1072" y="147"/>
                  </a:lnTo>
                  <a:lnTo>
                    <a:pt x="1098" y="169"/>
                  </a:lnTo>
                  <a:lnTo>
                    <a:pt x="1130" y="184"/>
                  </a:lnTo>
                  <a:lnTo>
                    <a:pt x="1155" y="206"/>
                  </a:lnTo>
                  <a:lnTo>
                    <a:pt x="1180" y="228"/>
                  </a:lnTo>
                  <a:lnTo>
                    <a:pt x="1212" y="250"/>
                  </a:lnTo>
                  <a:lnTo>
                    <a:pt x="1237" y="279"/>
                  </a:lnTo>
                  <a:lnTo>
                    <a:pt x="1263" y="316"/>
                  </a:lnTo>
                  <a:lnTo>
                    <a:pt x="1294" y="353"/>
                  </a:lnTo>
                  <a:lnTo>
                    <a:pt x="1320" y="404"/>
                  </a:lnTo>
                  <a:lnTo>
                    <a:pt x="1345" y="470"/>
                  </a:lnTo>
                  <a:lnTo>
                    <a:pt x="1377" y="573"/>
                  </a:lnTo>
                  <a:lnTo>
                    <a:pt x="1402" y="757"/>
                  </a:lnTo>
                  <a:lnTo>
                    <a:pt x="1428" y="1050"/>
                  </a:lnTo>
                  <a:lnTo>
                    <a:pt x="1453" y="1454"/>
                  </a:lnTo>
                  <a:lnTo>
                    <a:pt x="1485" y="1822"/>
                  </a:lnTo>
                  <a:lnTo>
                    <a:pt x="1510" y="2020"/>
                  </a:lnTo>
                  <a:lnTo>
                    <a:pt x="1536" y="2123"/>
                  </a:lnTo>
                  <a:lnTo>
                    <a:pt x="1567" y="2182"/>
                  </a:lnTo>
                  <a:lnTo>
                    <a:pt x="1593" y="2226"/>
                  </a:lnTo>
                  <a:lnTo>
                    <a:pt x="1618" y="2262"/>
                  </a:lnTo>
                  <a:lnTo>
                    <a:pt x="1650" y="2292"/>
                  </a:lnTo>
                  <a:lnTo>
                    <a:pt x="1675" y="2321"/>
                  </a:lnTo>
                  <a:lnTo>
                    <a:pt x="1701" y="2343"/>
                  </a:lnTo>
                  <a:lnTo>
                    <a:pt x="1732" y="2358"/>
                  </a:lnTo>
                  <a:lnTo>
                    <a:pt x="1758" y="2380"/>
                  </a:lnTo>
                  <a:lnTo>
                    <a:pt x="1783" y="2395"/>
                  </a:lnTo>
                  <a:lnTo>
                    <a:pt x="1815" y="2409"/>
                  </a:lnTo>
                  <a:lnTo>
                    <a:pt x="1840" y="2417"/>
                  </a:lnTo>
                  <a:lnTo>
                    <a:pt x="1865" y="2431"/>
                  </a:lnTo>
                  <a:lnTo>
                    <a:pt x="1897" y="2439"/>
                  </a:lnTo>
                  <a:lnTo>
                    <a:pt x="1923" y="2446"/>
                  </a:lnTo>
                  <a:lnTo>
                    <a:pt x="1948" y="2453"/>
                  </a:lnTo>
                  <a:lnTo>
                    <a:pt x="1980" y="2461"/>
                  </a:lnTo>
                  <a:lnTo>
                    <a:pt x="2005" y="2468"/>
                  </a:lnTo>
                  <a:lnTo>
                    <a:pt x="2030" y="2475"/>
                  </a:lnTo>
                  <a:lnTo>
                    <a:pt x="2062" y="2483"/>
                  </a:lnTo>
                  <a:lnTo>
                    <a:pt x="2088" y="2483"/>
                  </a:lnTo>
                  <a:lnTo>
                    <a:pt x="2113" y="2490"/>
                  </a:lnTo>
                  <a:lnTo>
                    <a:pt x="2145" y="2490"/>
                  </a:lnTo>
                  <a:lnTo>
                    <a:pt x="2170" y="2497"/>
                  </a:lnTo>
                  <a:lnTo>
                    <a:pt x="2195" y="2497"/>
                  </a:lnTo>
                  <a:lnTo>
                    <a:pt x="2227" y="2497"/>
                  </a:lnTo>
                  <a:lnTo>
                    <a:pt x="2253" y="2505"/>
                  </a:lnTo>
                  <a:lnTo>
                    <a:pt x="2278" y="2505"/>
                  </a:lnTo>
                  <a:lnTo>
                    <a:pt x="2310" y="2505"/>
                  </a:lnTo>
                  <a:lnTo>
                    <a:pt x="2335" y="2505"/>
                  </a:lnTo>
                  <a:lnTo>
                    <a:pt x="2360" y="2505"/>
                  </a:lnTo>
                  <a:lnTo>
                    <a:pt x="2392" y="2505"/>
                  </a:lnTo>
                  <a:lnTo>
                    <a:pt x="2417" y="2505"/>
                  </a:lnTo>
                  <a:lnTo>
                    <a:pt x="2443" y="2505"/>
                  </a:lnTo>
                  <a:lnTo>
                    <a:pt x="2475" y="2505"/>
                  </a:lnTo>
                  <a:lnTo>
                    <a:pt x="2500" y="2505"/>
                  </a:lnTo>
                  <a:lnTo>
                    <a:pt x="2525" y="2505"/>
                  </a:lnTo>
                  <a:lnTo>
                    <a:pt x="2557" y="2505"/>
                  </a:lnTo>
                  <a:lnTo>
                    <a:pt x="2582" y="2505"/>
                  </a:lnTo>
                  <a:lnTo>
                    <a:pt x="2608" y="2505"/>
                  </a:lnTo>
                  <a:lnTo>
                    <a:pt x="2640" y="2505"/>
                  </a:lnTo>
                  <a:lnTo>
                    <a:pt x="2665" y="2505"/>
                  </a:lnTo>
                  <a:lnTo>
                    <a:pt x="2690" y="2505"/>
                  </a:lnTo>
                  <a:lnTo>
                    <a:pt x="2722" y="2505"/>
                  </a:lnTo>
                  <a:lnTo>
                    <a:pt x="2747" y="2505"/>
                  </a:lnTo>
                </a:path>
              </a:pathLst>
            </a:custGeom>
            <a:noFill/>
            <a:ln w="20638" cap="flat" cmpd="sng">
              <a:solidFill>
                <a:srgbClr val="FF0000"/>
              </a:solidFill>
              <a:prstDash val="solid"/>
              <a:headEnd type="none" w="med" len="med"/>
              <a:tailEnd type="none" w="med" len="med"/>
            </a:ln>
          </p:spPr>
          <p:txBody>
            <a:bodyPr/>
            <a:lstStyle/>
            <a:p>
              <a:endParaRPr lang="zh-CN" altLang="en-US" sz="1500"/>
            </a:p>
          </p:txBody>
        </p:sp>
        <p:sp>
          <p:nvSpPr>
            <p:cNvPr id="52" name="矩形 51"/>
            <p:cNvSpPr/>
            <p:nvPr/>
          </p:nvSpPr>
          <p:spPr>
            <a:xfrm>
              <a:off x="2635" y="3926"/>
              <a:ext cx="86" cy="156"/>
            </a:xfrm>
            <a:prstGeom prst="rect">
              <a:avLst/>
            </a:prstGeom>
            <a:noFill/>
            <a:ln w="9525">
              <a:noFill/>
            </a:ln>
          </p:spPr>
          <p:txBody>
            <a:bodyPr wrap="none" lIns="0" tIns="0" rIns="0" bIns="0">
              <a:spAutoFit/>
            </a:bodyPr>
            <a:lstStyle/>
            <a:p>
              <a:r>
                <a:rPr lang="en-US" altLang="zh-CN" sz="1335" i="0">
                  <a:solidFill>
                    <a:srgbClr val="000000"/>
                  </a:solidFill>
                  <a:latin typeface="Helvetica" panose="020B0604020202020204" pitchFamily="34" charset="0"/>
                </a:rPr>
                <a:t>V</a:t>
              </a:r>
              <a:endParaRPr lang="en-US" altLang="zh-CN" sz="1500" i="0">
                <a:solidFill>
                  <a:schemeClr val="tx2"/>
                </a:solidFill>
                <a:latin typeface="Book Antiqua" panose="02040602050305030304" pitchFamily="18" charset="0"/>
              </a:endParaRPr>
            </a:p>
          </p:txBody>
        </p:sp>
        <p:sp>
          <p:nvSpPr>
            <p:cNvPr id="53" name="矩形 52"/>
            <p:cNvSpPr/>
            <p:nvPr/>
          </p:nvSpPr>
          <p:spPr>
            <a:xfrm>
              <a:off x="2705" y="4014"/>
              <a:ext cx="74" cy="116"/>
            </a:xfrm>
            <a:prstGeom prst="rect">
              <a:avLst/>
            </a:prstGeom>
            <a:noFill/>
            <a:ln w="9525">
              <a:noFill/>
            </a:ln>
          </p:spPr>
          <p:txBody>
            <a:bodyPr wrap="none" lIns="0" tIns="0" rIns="0" bIns="0">
              <a:spAutoFit/>
            </a:bodyPr>
            <a:lstStyle/>
            <a:p>
              <a:r>
                <a:rPr lang="en-US" altLang="zh-CN" sz="1000" i="0">
                  <a:solidFill>
                    <a:srgbClr val="000000"/>
                  </a:solidFill>
                  <a:latin typeface="Helvetica" panose="020B0604020202020204" pitchFamily="34" charset="0"/>
                </a:rPr>
                <a:t>in</a:t>
              </a:r>
              <a:endParaRPr lang="en-US" altLang="zh-CN" sz="1500" i="0">
                <a:solidFill>
                  <a:schemeClr val="tx2"/>
                </a:solidFill>
                <a:latin typeface="Book Antiqua" panose="02040602050305030304" pitchFamily="18" charset="0"/>
              </a:endParaRPr>
            </a:p>
          </p:txBody>
        </p:sp>
        <p:sp>
          <p:nvSpPr>
            <p:cNvPr id="54" name="矩形 53"/>
            <p:cNvSpPr/>
            <p:nvPr/>
          </p:nvSpPr>
          <p:spPr>
            <a:xfrm>
              <a:off x="2769" y="3926"/>
              <a:ext cx="207" cy="156"/>
            </a:xfrm>
            <a:prstGeom prst="rect">
              <a:avLst/>
            </a:prstGeom>
            <a:noFill/>
            <a:ln w="9525">
              <a:noFill/>
            </a:ln>
          </p:spPr>
          <p:txBody>
            <a:bodyPr wrap="none" lIns="0" tIns="0" rIns="0" bIns="0">
              <a:spAutoFit/>
            </a:bodyPr>
            <a:lstStyle/>
            <a:p>
              <a:r>
                <a:rPr lang="en-US" altLang="zh-CN" sz="1335" i="0">
                  <a:solidFill>
                    <a:srgbClr val="000000"/>
                  </a:solidFill>
                  <a:latin typeface="Helvetica" panose="020B0604020202020204" pitchFamily="34" charset="0"/>
                </a:rPr>
                <a:t> (V)</a:t>
              </a:r>
              <a:endParaRPr lang="en-US" altLang="zh-CN" sz="1500" i="0">
                <a:solidFill>
                  <a:schemeClr val="tx2"/>
                </a:solidFill>
                <a:latin typeface="Book Antiqua" panose="02040602050305030304" pitchFamily="18" charset="0"/>
              </a:endParaRPr>
            </a:p>
          </p:txBody>
        </p:sp>
        <p:sp>
          <p:nvSpPr>
            <p:cNvPr id="55" name="矩形 54"/>
            <p:cNvSpPr/>
            <p:nvPr/>
          </p:nvSpPr>
          <p:spPr>
            <a:xfrm rot="16200000">
              <a:off x="1152" y="2592"/>
              <a:ext cx="86" cy="156"/>
            </a:xfrm>
            <a:prstGeom prst="rect">
              <a:avLst/>
            </a:prstGeom>
            <a:noFill/>
            <a:ln w="9525">
              <a:noFill/>
            </a:ln>
          </p:spPr>
          <p:txBody>
            <a:bodyPr wrap="none" lIns="0" tIns="0" rIns="0" bIns="0">
              <a:spAutoFit/>
            </a:bodyPr>
            <a:lstStyle/>
            <a:p>
              <a:r>
                <a:rPr lang="en-US" altLang="zh-CN" sz="1335" i="0">
                  <a:solidFill>
                    <a:srgbClr val="000000"/>
                  </a:solidFill>
                  <a:latin typeface="Helvetica" panose="020B0604020202020204" pitchFamily="34" charset="0"/>
                </a:rPr>
                <a:t>V</a:t>
              </a:r>
              <a:endParaRPr lang="en-US" altLang="zh-CN" sz="1500" i="0">
                <a:solidFill>
                  <a:schemeClr val="tx2"/>
                </a:solidFill>
                <a:latin typeface="Book Antiqua" panose="02040602050305030304" pitchFamily="18" charset="0"/>
              </a:endParaRPr>
            </a:p>
          </p:txBody>
        </p:sp>
        <p:sp>
          <p:nvSpPr>
            <p:cNvPr id="56" name="矩形 55"/>
            <p:cNvSpPr/>
            <p:nvPr/>
          </p:nvSpPr>
          <p:spPr>
            <a:xfrm rot="16200000">
              <a:off x="1185" y="2508"/>
              <a:ext cx="133" cy="116"/>
            </a:xfrm>
            <a:prstGeom prst="rect">
              <a:avLst/>
            </a:prstGeom>
            <a:noFill/>
            <a:ln w="9525">
              <a:noFill/>
            </a:ln>
          </p:spPr>
          <p:txBody>
            <a:bodyPr wrap="none" lIns="0" tIns="0" rIns="0" bIns="0">
              <a:spAutoFit/>
            </a:bodyPr>
            <a:lstStyle/>
            <a:p>
              <a:r>
                <a:rPr lang="en-US" altLang="zh-CN" sz="1000" i="0">
                  <a:solidFill>
                    <a:srgbClr val="000000"/>
                  </a:solidFill>
                  <a:latin typeface="Helvetica" panose="020B0604020202020204" pitchFamily="34" charset="0"/>
                </a:rPr>
                <a:t>out</a:t>
              </a:r>
              <a:endParaRPr lang="en-US" altLang="zh-CN" sz="1500" i="0">
                <a:solidFill>
                  <a:schemeClr val="tx2"/>
                </a:solidFill>
                <a:latin typeface="Book Antiqua" panose="02040602050305030304" pitchFamily="18" charset="0"/>
              </a:endParaRPr>
            </a:p>
          </p:txBody>
        </p:sp>
        <p:sp>
          <p:nvSpPr>
            <p:cNvPr id="57" name="矩形 56"/>
            <p:cNvSpPr/>
            <p:nvPr/>
          </p:nvSpPr>
          <p:spPr>
            <a:xfrm rot="16200000">
              <a:off x="1110" y="2336"/>
              <a:ext cx="171" cy="156"/>
            </a:xfrm>
            <a:prstGeom prst="rect">
              <a:avLst/>
            </a:prstGeom>
            <a:noFill/>
            <a:ln w="9525">
              <a:noFill/>
            </a:ln>
          </p:spPr>
          <p:txBody>
            <a:bodyPr wrap="none" lIns="0" tIns="0" rIns="0" bIns="0">
              <a:spAutoFit/>
            </a:bodyPr>
            <a:lstStyle/>
            <a:p>
              <a:r>
                <a:rPr lang="en-US" altLang="zh-CN" sz="1335" i="0">
                  <a:solidFill>
                    <a:srgbClr val="000000"/>
                  </a:solidFill>
                  <a:latin typeface="Helvetica" panose="020B0604020202020204" pitchFamily="34" charset="0"/>
                </a:rPr>
                <a:t>(V)</a:t>
              </a:r>
              <a:endParaRPr lang="en-US" altLang="zh-CN" sz="1500" i="0">
                <a:solidFill>
                  <a:schemeClr val="tx2"/>
                </a:solidFill>
                <a:latin typeface="Book Antiqua" panose="02040602050305030304" pitchFamily="18" charset="0"/>
              </a:endParaRPr>
            </a:p>
          </p:txBody>
        </p:sp>
        <p:sp>
          <p:nvSpPr>
            <p:cNvPr id="58" name="直接连接符 57"/>
            <p:cNvSpPr/>
            <p:nvPr/>
          </p:nvSpPr>
          <p:spPr>
            <a:xfrm>
              <a:off x="2868" y="2064"/>
              <a:ext cx="324" cy="0"/>
            </a:xfrm>
            <a:prstGeom prst="line">
              <a:avLst/>
            </a:prstGeom>
            <a:ln w="12700" cap="flat" cmpd="sng">
              <a:solidFill>
                <a:schemeClr val="accent1"/>
              </a:solidFill>
              <a:prstDash val="solid"/>
              <a:headEnd type="none" w="med" len="med"/>
              <a:tailEnd type="triangle" w="med" len="med"/>
            </a:ln>
          </p:spPr>
        </p:sp>
        <p:sp>
          <p:nvSpPr>
            <p:cNvPr id="59" name="直接连接符 58"/>
            <p:cNvSpPr/>
            <p:nvPr/>
          </p:nvSpPr>
          <p:spPr>
            <a:xfrm flipH="1">
              <a:off x="2328" y="2736"/>
              <a:ext cx="336" cy="0"/>
            </a:xfrm>
            <a:prstGeom prst="line">
              <a:avLst/>
            </a:prstGeom>
            <a:ln w="12700" cap="flat" cmpd="sng">
              <a:solidFill>
                <a:srgbClr val="3366CC"/>
              </a:solidFill>
              <a:prstDash val="solid"/>
              <a:headEnd type="none" w="med" len="med"/>
              <a:tailEnd type="triangle" w="med" len="med"/>
            </a:ln>
          </p:spPr>
        </p:sp>
        <p:sp>
          <p:nvSpPr>
            <p:cNvPr id="60" name="文本框 59"/>
            <p:cNvSpPr txBox="1"/>
            <p:nvPr/>
          </p:nvSpPr>
          <p:spPr>
            <a:xfrm>
              <a:off x="3212" y="1794"/>
              <a:ext cx="941" cy="418"/>
            </a:xfrm>
            <a:prstGeom prst="rect">
              <a:avLst/>
            </a:prstGeom>
            <a:noFill/>
            <a:ln w="12700">
              <a:noFill/>
            </a:ln>
          </p:spPr>
          <p:txBody>
            <a:bodyPr wrap="none" anchor="t" anchorCtr="0">
              <a:spAutoFit/>
            </a:bodyPr>
            <a:lstStyle/>
            <a:p>
              <a:r>
                <a:rPr lang="en-US" altLang="zh-CN" sz="1500" i="0">
                  <a:solidFill>
                    <a:schemeClr val="accent1"/>
                  </a:solidFill>
                  <a:latin typeface="Book Antiqua" panose="02040602050305030304" pitchFamily="18" charset="0"/>
                </a:rPr>
                <a:t>Good PMOS</a:t>
              </a:r>
              <a:endParaRPr lang="en-US" altLang="zh-CN" sz="1500" i="0">
                <a:solidFill>
                  <a:schemeClr val="tx2"/>
                </a:solidFill>
                <a:latin typeface="Book Antiqua" panose="02040602050305030304" pitchFamily="18" charset="0"/>
              </a:endParaRPr>
            </a:p>
            <a:p>
              <a:r>
                <a:rPr lang="en-US" altLang="zh-CN" sz="1500" i="0">
                  <a:solidFill>
                    <a:schemeClr val="accent1"/>
                  </a:solidFill>
                  <a:latin typeface="Book Antiqua" panose="02040602050305030304" pitchFamily="18" charset="0"/>
                </a:rPr>
                <a:t>Bad NMOS</a:t>
              </a:r>
              <a:endParaRPr lang="en-US" altLang="zh-CN" sz="1500" i="0">
                <a:solidFill>
                  <a:schemeClr val="tx2"/>
                </a:solidFill>
                <a:latin typeface="Book Antiqua" panose="02040602050305030304" pitchFamily="18" charset="0"/>
              </a:endParaRPr>
            </a:p>
          </p:txBody>
        </p:sp>
        <p:sp>
          <p:nvSpPr>
            <p:cNvPr id="61" name="文本框 60"/>
            <p:cNvSpPr txBox="1"/>
            <p:nvPr/>
          </p:nvSpPr>
          <p:spPr>
            <a:xfrm>
              <a:off x="1406" y="2592"/>
              <a:ext cx="974" cy="418"/>
            </a:xfrm>
            <a:prstGeom prst="rect">
              <a:avLst/>
            </a:prstGeom>
            <a:noFill/>
            <a:ln w="12700">
              <a:noFill/>
            </a:ln>
          </p:spPr>
          <p:txBody>
            <a:bodyPr wrap="none" anchor="t" anchorCtr="0">
              <a:spAutoFit/>
            </a:bodyPr>
            <a:lstStyle/>
            <a:p>
              <a:r>
                <a:rPr lang="en-US" altLang="zh-CN" sz="1500" i="0">
                  <a:solidFill>
                    <a:srgbClr val="3366CC"/>
                  </a:solidFill>
                  <a:latin typeface="Book Antiqua" panose="02040602050305030304" pitchFamily="18" charset="0"/>
                </a:rPr>
                <a:t>Good NMOS</a:t>
              </a:r>
              <a:endParaRPr lang="en-US" altLang="zh-CN" sz="1500" i="0">
                <a:solidFill>
                  <a:srgbClr val="3366CC"/>
                </a:solidFill>
                <a:latin typeface="Book Antiqua" panose="02040602050305030304" pitchFamily="18" charset="0"/>
              </a:endParaRPr>
            </a:p>
            <a:p>
              <a:r>
                <a:rPr lang="en-US" altLang="zh-CN" sz="1500" i="0">
                  <a:solidFill>
                    <a:srgbClr val="3366CC"/>
                  </a:solidFill>
                  <a:latin typeface="Book Antiqua" panose="02040602050305030304" pitchFamily="18" charset="0"/>
                </a:rPr>
                <a:t>Bad PMOS</a:t>
              </a:r>
              <a:endParaRPr lang="en-US" altLang="zh-CN" sz="1500" i="0">
                <a:solidFill>
                  <a:srgbClr val="3366CC"/>
                </a:solidFill>
                <a:latin typeface="Book Antiqua" panose="02040602050305030304" pitchFamily="18" charset="0"/>
              </a:endParaRPr>
            </a:p>
          </p:txBody>
        </p:sp>
        <p:sp>
          <p:nvSpPr>
            <p:cNvPr id="62" name="文本框 61"/>
            <p:cNvSpPr txBox="1"/>
            <p:nvPr/>
          </p:nvSpPr>
          <p:spPr>
            <a:xfrm>
              <a:off x="2780" y="2310"/>
              <a:ext cx="703" cy="243"/>
            </a:xfrm>
            <a:prstGeom prst="rect">
              <a:avLst/>
            </a:prstGeom>
            <a:noFill/>
            <a:ln w="12700">
              <a:noFill/>
            </a:ln>
          </p:spPr>
          <p:txBody>
            <a:bodyPr wrap="none" anchor="t" anchorCtr="0">
              <a:spAutoFit/>
            </a:bodyPr>
            <a:lstStyle/>
            <a:p>
              <a:r>
                <a:rPr lang="en-US" altLang="zh-CN" sz="1500" i="0">
                  <a:latin typeface="Book Antiqua" panose="02040602050305030304" pitchFamily="18" charset="0"/>
                </a:rPr>
                <a:t>Nominal</a:t>
              </a:r>
              <a:endParaRPr lang="en-US" altLang="zh-CN" sz="1500" i="0">
                <a:solidFill>
                  <a:schemeClr val="tx2"/>
                </a:solidFill>
                <a:latin typeface="Book Antiqua" panose="02040602050305030304" pitchFamily="18" charset="0"/>
              </a:endParaRPr>
            </a:p>
          </p:txBody>
        </p:sp>
      </p:grpSp>
      <p:sp>
        <p:nvSpPr>
          <p:cNvPr id="63" name="文本框 62"/>
          <p:cNvSpPr txBox="1"/>
          <p:nvPr/>
        </p:nvSpPr>
        <p:spPr>
          <a:xfrm>
            <a:off x="5298440" y="1586865"/>
            <a:ext cx="2901950" cy="1476375"/>
          </a:xfrm>
          <a:prstGeom prst="rect">
            <a:avLst/>
          </a:prstGeom>
          <a:noFill/>
        </p:spPr>
        <p:txBody>
          <a:bodyPr wrap="square" rtlCol="0" anchor="t">
            <a:spAutoFit/>
          </a:bodyPr>
          <a:lstStyle/>
          <a:p>
            <a:pPr algn="l"/>
            <a:r>
              <a:rPr lang="zh-CN" altLang="en-US">
                <a:solidFill>
                  <a:schemeClr val="tx1"/>
                </a:solidFill>
                <a:latin typeface="微软雅黑" panose="020B0503020204020204" pitchFamily="34" charset="-122"/>
                <a:ea typeface="微软雅黑" panose="020B0503020204020204" pitchFamily="34" charset="-122"/>
                <a:sym typeface="+mn-ea"/>
              </a:rPr>
              <a:t>器件的工艺尺寸偏差对器件开关阈值影响较小，仅存在较小的漂移。</a:t>
            </a:r>
            <a:endParaRPr lang="zh-CN" altLang="en-US">
              <a:solidFill>
                <a:schemeClr val="tx1"/>
              </a:solidFill>
              <a:latin typeface="微软雅黑" panose="020B0503020204020204" pitchFamily="34" charset="-122"/>
              <a:ea typeface="微软雅黑" panose="020B0503020204020204" pitchFamily="34" charset="-122"/>
              <a:sym typeface="+mn-ea"/>
            </a:endParaRPr>
          </a:p>
          <a:p>
            <a:pPr algn="l"/>
            <a:r>
              <a:rPr lang="zh-CN" altLang="en-US">
                <a:solidFill>
                  <a:schemeClr val="tx1"/>
                </a:solidFill>
                <a:latin typeface="微软雅黑" panose="020B0503020204020204" pitchFamily="34" charset="-122"/>
                <a:ea typeface="微软雅黑" panose="020B0503020204020204" pitchFamily="34" charset="-122"/>
                <a:sym typeface="+mn-ea"/>
              </a:rPr>
              <a:t>相较于噪声容限而言，器件工艺偏差影响较小。</a:t>
            </a:r>
            <a:endParaRPr lang="zh-CN" altLang="en-US">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稳定性</a:t>
            </a:r>
            <a:endParaRPr lang="zh-CN" altLang="en-US">
              <a:sym typeface="+mn-ea"/>
            </a:endParaRPr>
          </a:p>
        </p:txBody>
      </p:sp>
      <p:sp>
        <p:nvSpPr>
          <p:cNvPr id="63" name="文本框 62"/>
          <p:cNvSpPr txBox="1"/>
          <p:nvPr/>
        </p:nvSpPr>
        <p:spPr>
          <a:xfrm>
            <a:off x="1670685" y="4589780"/>
            <a:ext cx="2079625" cy="368300"/>
          </a:xfrm>
          <a:prstGeom prst="rect">
            <a:avLst/>
          </a:prstGeom>
          <a:noFill/>
        </p:spPr>
        <p:txBody>
          <a:bodyPr wrap="square" rtlCol="0" anchor="t">
            <a:spAutoFit/>
          </a:bodyPr>
          <a:lstStyle/>
          <a:p>
            <a:pPr algn="l"/>
            <a:r>
              <a:rPr lang="zh-CN" altLang="en-US">
                <a:solidFill>
                  <a:schemeClr val="tx1"/>
                </a:solidFill>
                <a:latin typeface="微软雅黑" panose="020B0503020204020204" pitchFamily="34" charset="-122"/>
                <a:ea typeface="微软雅黑" panose="020B0503020204020204" pitchFamily="34" charset="-122"/>
                <a:sym typeface="+mn-ea"/>
              </a:rPr>
              <a:t>减低</a:t>
            </a:r>
            <a:r>
              <a:rPr lang="en-US" altLang="zh-CN">
                <a:solidFill>
                  <a:schemeClr val="tx1"/>
                </a:solidFill>
                <a:latin typeface="微软雅黑" panose="020B0503020204020204" pitchFamily="34" charset="-122"/>
                <a:ea typeface="微软雅黑" panose="020B0503020204020204" pitchFamily="34" charset="-122"/>
                <a:sym typeface="+mn-ea"/>
              </a:rPr>
              <a:t>V</a:t>
            </a:r>
            <a:r>
              <a:rPr lang="en-US" altLang="zh-CN" baseline="-25000">
                <a:solidFill>
                  <a:schemeClr val="tx1"/>
                </a:solidFill>
                <a:latin typeface="微软雅黑" panose="020B0503020204020204" pitchFamily="34" charset="-122"/>
                <a:ea typeface="微软雅黑" panose="020B0503020204020204" pitchFamily="34" charset="-122"/>
                <a:sym typeface="+mn-ea"/>
              </a:rPr>
              <a:t>DD</a:t>
            </a:r>
            <a:r>
              <a:rPr lang="zh-CN" altLang="en-US">
                <a:solidFill>
                  <a:schemeClr val="tx1"/>
                </a:solidFill>
                <a:latin typeface="微软雅黑" panose="020B0503020204020204" pitchFamily="34" charset="-122"/>
                <a:ea typeface="微软雅黑" panose="020B0503020204020204" pitchFamily="34" charset="-122"/>
                <a:sym typeface="+mn-ea"/>
              </a:rPr>
              <a:t>改善增益</a:t>
            </a:r>
            <a:endParaRPr lang="zh-CN" altLang="en-US">
              <a:solidFill>
                <a:schemeClr val="tx1"/>
              </a:solidFill>
              <a:latin typeface="微软雅黑" panose="020B0503020204020204" pitchFamily="34" charset="-122"/>
              <a:ea typeface="微软雅黑" panose="020B0503020204020204" pitchFamily="34" charset="-122"/>
              <a:sym typeface="+mn-ea"/>
            </a:endParaRPr>
          </a:p>
        </p:txBody>
      </p:sp>
      <p:grpSp>
        <p:nvGrpSpPr>
          <p:cNvPr id="363524" name="组合 363523"/>
          <p:cNvGrpSpPr/>
          <p:nvPr/>
        </p:nvGrpSpPr>
        <p:grpSpPr>
          <a:xfrm>
            <a:off x="1167448" y="1051878"/>
            <a:ext cx="3705490" cy="3263636"/>
            <a:chOff x="186" y="1074"/>
            <a:chExt cx="2801" cy="2467"/>
          </a:xfrm>
        </p:grpSpPr>
        <p:pic>
          <p:nvPicPr>
            <p:cNvPr id="363525" name="图片 363524"/>
            <p:cNvPicPr>
              <a:picLocks noChangeAspect="1"/>
            </p:cNvPicPr>
            <p:nvPr/>
          </p:nvPicPr>
          <p:blipFill>
            <a:blip r:embed="rId1"/>
            <a:stretch>
              <a:fillRect/>
            </a:stretch>
          </p:blipFill>
          <p:spPr>
            <a:xfrm>
              <a:off x="186" y="1074"/>
              <a:ext cx="2467" cy="2467"/>
            </a:xfrm>
            <a:prstGeom prst="rect">
              <a:avLst/>
            </a:prstGeom>
            <a:noFill/>
            <a:ln w="12700">
              <a:noFill/>
            </a:ln>
          </p:spPr>
        </p:pic>
        <p:sp>
          <p:nvSpPr>
            <p:cNvPr id="363526" name="文本框 363525"/>
            <p:cNvSpPr txBox="1"/>
            <p:nvPr/>
          </p:nvSpPr>
          <p:spPr>
            <a:xfrm>
              <a:off x="2753" y="2948"/>
              <a:ext cx="234" cy="243"/>
            </a:xfrm>
            <a:prstGeom prst="rect">
              <a:avLst/>
            </a:prstGeom>
            <a:noFill/>
            <a:ln w="12700">
              <a:noFill/>
            </a:ln>
          </p:spPr>
          <p:txBody>
            <a:bodyPr wrap="none" anchor="t" anchorCtr="0">
              <a:spAutoFit/>
            </a:bodyPr>
            <a:lstStyle/>
            <a:p>
              <a:endParaRPr lang="en-US" altLang="zh-CN" sz="1500" i="0">
                <a:solidFill>
                  <a:schemeClr val="accent1"/>
                </a:solidFill>
                <a:latin typeface="Book Antiqua" panose="02040602050305030304" pitchFamily="18" charset="0"/>
              </a:endParaRPr>
            </a:p>
          </p:txBody>
        </p:sp>
      </p:grpSp>
      <p:pic>
        <p:nvPicPr>
          <p:cNvPr id="363523" name="图片 363522"/>
          <p:cNvPicPr>
            <a:picLocks noChangeAspect="1"/>
          </p:cNvPicPr>
          <p:nvPr/>
        </p:nvPicPr>
        <p:blipFill>
          <a:blip r:embed="rId2"/>
          <a:stretch>
            <a:fillRect/>
          </a:stretch>
        </p:blipFill>
        <p:spPr>
          <a:xfrm>
            <a:off x="4521200" y="1051560"/>
            <a:ext cx="3436620" cy="3264535"/>
          </a:xfrm>
          <a:prstGeom prst="rect">
            <a:avLst/>
          </a:prstGeom>
          <a:noFill/>
          <a:ln w="12700">
            <a:noFill/>
          </a:ln>
        </p:spPr>
      </p:pic>
      <p:sp>
        <p:nvSpPr>
          <p:cNvPr id="64" name="文本框 63"/>
          <p:cNvSpPr txBox="1"/>
          <p:nvPr/>
        </p:nvSpPr>
        <p:spPr>
          <a:xfrm>
            <a:off x="5081905" y="4589780"/>
            <a:ext cx="2580640" cy="368300"/>
          </a:xfrm>
          <a:prstGeom prst="rect">
            <a:avLst/>
          </a:prstGeom>
          <a:noFill/>
        </p:spPr>
        <p:txBody>
          <a:bodyPr wrap="square" rtlCol="0" anchor="t">
            <a:spAutoFit/>
          </a:bodyPr>
          <a:lstStyle/>
          <a:p>
            <a:pPr algn="l"/>
            <a:r>
              <a:rPr lang="zh-CN" altLang="en-US">
                <a:solidFill>
                  <a:schemeClr val="tx1"/>
                </a:solidFill>
                <a:latin typeface="微软雅黑" panose="020B0503020204020204" pitchFamily="34" charset="-122"/>
                <a:ea typeface="微软雅黑" panose="020B0503020204020204" pitchFamily="34" charset="-122"/>
                <a:sym typeface="+mn-ea"/>
              </a:rPr>
              <a:t>极低</a:t>
            </a:r>
            <a:r>
              <a:rPr lang="en-US" altLang="zh-CN">
                <a:solidFill>
                  <a:schemeClr val="tx1"/>
                </a:solidFill>
                <a:latin typeface="微软雅黑" panose="020B0503020204020204" pitchFamily="34" charset="-122"/>
                <a:ea typeface="微软雅黑" panose="020B0503020204020204" pitchFamily="34" charset="-122"/>
                <a:sym typeface="+mn-ea"/>
              </a:rPr>
              <a:t>V</a:t>
            </a:r>
            <a:r>
              <a:rPr lang="en-US" altLang="zh-CN" baseline="-25000">
                <a:solidFill>
                  <a:schemeClr val="tx1"/>
                </a:solidFill>
                <a:latin typeface="微软雅黑" panose="020B0503020204020204" pitchFamily="34" charset="-122"/>
                <a:ea typeface="微软雅黑" panose="020B0503020204020204" pitchFamily="34" charset="-122"/>
                <a:sym typeface="+mn-ea"/>
              </a:rPr>
              <a:t>DD</a:t>
            </a:r>
            <a:r>
              <a:rPr lang="zh-CN" altLang="en-US">
                <a:solidFill>
                  <a:schemeClr val="tx1"/>
                </a:solidFill>
                <a:latin typeface="微软雅黑" panose="020B0503020204020204" pitchFamily="34" charset="-122"/>
                <a:ea typeface="微软雅黑" panose="020B0503020204020204" pitchFamily="34" charset="-122"/>
                <a:sym typeface="+mn-ea"/>
              </a:rPr>
              <a:t>劣化</a:t>
            </a:r>
            <a:r>
              <a:rPr lang="en-US" altLang="zh-CN">
                <a:solidFill>
                  <a:schemeClr val="tx1"/>
                </a:solidFill>
                <a:latin typeface="微软雅黑" panose="020B0503020204020204" pitchFamily="34" charset="-122"/>
                <a:ea typeface="微软雅黑" panose="020B0503020204020204" pitchFamily="34" charset="-122"/>
                <a:sym typeface="+mn-ea"/>
              </a:rPr>
              <a:t>VTC</a:t>
            </a:r>
            <a:r>
              <a:rPr lang="zh-CN" altLang="en-US">
                <a:solidFill>
                  <a:schemeClr val="tx1"/>
                </a:solidFill>
                <a:latin typeface="微软雅黑" panose="020B0503020204020204" pitchFamily="34" charset="-122"/>
                <a:ea typeface="微软雅黑" panose="020B0503020204020204" pitchFamily="34" charset="-122"/>
                <a:sym typeface="+mn-ea"/>
              </a:rPr>
              <a:t>曲线</a:t>
            </a:r>
            <a:endParaRPr lang="zh-CN" altLang="en-US">
              <a:solidFill>
                <a:schemeClr val="tx1"/>
              </a:solidFill>
              <a:latin typeface="微软雅黑" panose="020B0503020204020204" pitchFamily="34" charset="-122"/>
              <a:ea typeface="微软雅黑" panose="020B0503020204020204" pitchFamily="34" charset="-122"/>
              <a:sym typeface="+mn-ea"/>
            </a:endParaRPr>
          </a:p>
        </p:txBody>
      </p:sp>
      <p:sp>
        <p:nvSpPr>
          <p:cNvPr id="65" name="文本框 64"/>
          <p:cNvSpPr txBox="1"/>
          <p:nvPr/>
        </p:nvSpPr>
        <p:spPr>
          <a:xfrm>
            <a:off x="943610" y="5172075"/>
            <a:ext cx="7974330" cy="368300"/>
          </a:xfrm>
          <a:prstGeom prst="rect">
            <a:avLst/>
          </a:prstGeom>
          <a:noFill/>
        </p:spPr>
        <p:txBody>
          <a:bodyPr wrap="square" rtlCol="0" anchor="t">
            <a:spAutoFit/>
          </a:bodyPr>
          <a:lstStyle/>
          <a:p>
            <a:pPr algn="l"/>
            <a:r>
              <a:rPr lang="zh-CN" altLang="en-US">
                <a:solidFill>
                  <a:schemeClr val="tx1"/>
                </a:solidFill>
                <a:latin typeface="微软雅黑" panose="020B0503020204020204" pitchFamily="34" charset="-122"/>
                <a:ea typeface="微软雅黑" panose="020B0503020204020204" pitchFamily="34" charset="-122"/>
                <a:sym typeface="+mn-ea"/>
              </a:rPr>
              <a:t>减低</a:t>
            </a:r>
            <a:r>
              <a:rPr lang="en-US" altLang="zh-CN">
                <a:solidFill>
                  <a:schemeClr val="tx1"/>
                </a:solidFill>
                <a:latin typeface="微软雅黑" panose="020B0503020204020204" pitchFamily="34" charset="-122"/>
                <a:ea typeface="微软雅黑" panose="020B0503020204020204" pitchFamily="34" charset="-122"/>
                <a:sym typeface="+mn-ea"/>
              </a:rPr>
              <a:t>V</a:t>
            </a:r>
            <a:r>
              <a:rPr lang="en-US" altLang="zh-CN" baseline="-25000">
                <a:solidFill>
                  <a:schemeClr val="tx1"/>
                </a:solidFill>
                <a:latin typeface="微软雅黑" panose="020B0503020204020204" pitchFamily="34" charset="-122"/>
                <a:ea typeface="微软雅黑" panose="020B0503020204020204" pitchFamily="34" charset="-122"/>
                <a:sym typeface="+mn-ea"/>
              </a:rPr>
              <a:t>DD</a:t>
            </a:r>
            <a:r>
              <a:rPr lang="zh-CN" altLang="en-US">
                <a:solidFill>
                  <a:schemeClr val="tx1"/>
                </a:solidFill>
                <a:latin typeface="微软雅黑" panose="020B0503020204020204" pitchFamily="34" charset="-122"/>
                <a:ea typeface="微软雅黑" panose="020B0503020204020204" pitchFamily="34" charset="-122"/>
                <a:sym typeface="+mn-ea"/>
              </a:rPr>
              <a:t>减少功耗，但延时增加，噪声敏感性增加，摆幅减少</a:t>
            </a:r>
            <a:endParaRPr lang="zh-CN" altLang="en-US">
              <a:solidFill>
                <a:schemeClr val="tx1"/>
              </a:solidFill>
              <a:latin typeface="微软雅黑" panose="020B0503020204020204" pitchFamily="34" charset="-122"/>
              <a:ea typeface="微软雅黑" panose="020B0503020204020204" pitchFamily="34" charset="-122"/>
              <a:sym typeface="+mn-ea"/>
            </a:endParaRPr>
          </a:p>
        </p:txBody>
      </p:sp>
      <p:sp>
        <p:nvSpPr>
          <p:cNvPr id="66" name="文本框 65"/>
          <p:cNvSpPr txBox="1"/>
          <p:nvPr/>
        </p:nvSpPr>
        <p:spPr>
          <a:xfrm>
            <a:off x="-5080" y="2733675"/>
            <a:ext cx="1103630" cy="922020"/>
          </a:xfrm>
          <a:prstGeom prst="rect">
            <a:avLst/>
          </a:prstGeom>
          <a:noFill/>
        </p:spPr>
        <p:txBody>
          <a:bodyPr wrap="square" rtlCol="0" anchor="t">
            <a:spAutoFit/>
          </a:bodyPr>
          <a:lstStyle/>
          <a:p>
            <a:pPr algn="l"/>
            <a:r>
              <a:rPr lang="zh-CN" altLang="en-US">
                <a:solidFill>
                  <a:schemeClr val="tx1"/>
                </a:solidFill>
                <a:latin typeface="微软雅黑" panose="020B0503020204020204" pitchFamily="34" charset="-122"/>
                <a:ea typeface="微软雅黑" panose="020B0503020204020204" pitchFamily="34" charset="-122"/>
                <a:sym typeface="+mn-ea"/>
              </a:rPr>
              <a:t>减低</a:t>
            </a:r>
            <a:r>
              <a:rPr lang="en-US" altLang="zh-CN">
                <a:solidFill>
                  <a:schemeClr val="tx1"/>
                </a:solidFill>
                <a:latin typeface="微软雅黑" panose="020B0503020204020204" pitchFamily="34" charset="-122"/>
                <a:ea typeface="微软雅黑" panose="020B0503020204020204" pitchFamily="34" charset="-122"/>
                <a:sym typeface="+mn-ea"/>
              </a:rPr>
              <a:t>V</a:t>
            </a:r>
            <a:r>
              <a:rPr lang="en-US" altLang="zh-CN" baseline="-25000">
                <a:solidFill>
                  <a:schemeClr val="tx1"/>
                </a:solidFill>
                <a:latin typeface="微软雅黑" panose="020B0503020204020204" pitchFamily="34" charset="-122"/>
                <a:ea typeface="微软雅黑" panose="020B0503020204020204" pitchFamily="34" charset="-122"/>
                <a:sym typeface="+mn-ea"/>
              </a:rPr>
              <a:t>DD</a:t>
            </a:r>
            <a:r>
              <a:rPr lang="zh-CN" altLang="en-US">
                <a:solidFill>
                  <a:schemeClr val="tx1"/>
                </a:solidFill>
                <a:latin typeface="微软雅黑" panose="020B0503020204020204" pitchFamily="34" charset="-122"/>
                <a:ea typeface="微软雅黑" panose="020B0503020204020204" pitchFamily="34" charset="-122"/>
                <a:sym typeface="+mn-ea"/>
              </a:rPr>
              <a:t>后过渡期增益加大</a:t>
            </a:r>
            <a:endParaRPr lang="zh-CN" altLang="en-US">
              <a:solidFill>
                <a:schemeClr val="tx1"/>
              </a:solidFill>
              <a:latin typeface="微软雅黑" panose="020B0503020204020204" pitchFamily="34" charset="-122"/>
              <a:ea typeface="微软雅黑" panose="020B0503020204020204" pitchFamily="34" charset="-122"/>
              <a:sym typeface="+mn-ea"/>
            </a:endParaRPr>
          </a:p>
        </p:txBody>
      </p:sp>
      <p:cxnSp>
        <p:nvCxnSpPr>
          <p:cNvPr id="67" name="直接箭头连接符 66"/>
          <p:cNvCxnSpPr>
            <a:stCxn id="66" idx="3"/>
          </p:cNvCxnSpPr>
          <p:nvPr/>
        </p:nvCxnSpPr>
        <p:spPr>
          <a:xfrm>
            <a:off x="1098550" y="3194685"/>
            <a:ext cx="702945" cy="47371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zh-CN" altLang="en-US">
                <a:sym typeface="+mn-ea"/>
              </a:rPr>
              <a:t>回顾：</a:t>
            </a:r>
            <a:r>
              <a:rPr lang="en-US" altLang="zh-CN">
                <a:sym typeface="+mn-ea"/>
              </a:rPr>
              <a:t>CMOS</a:t>
            </a:r>
            <a:r>
              <a:rPr lang="zh-CN" altLang="en-US">
                <a:sym typeface="+mn-ea"/>
              </a:rPr>
              <a:t>反相器静态</a:t>
            </a:r>
            <a:r>
              <a:rPr lang="zh-CN" altLang="en-US">
                <a:sym typeface="+mn-ea"/>
              </a:rPr>
              <a:t>特性</a:t>
            </a:r>
            <a:endParaRPr lang="zh-CN" altLang="en-US">
              <a:sym typeface="+mn-ea"/>
            </a:endParaRPr>
          </a:p>
        </p:txBody>
      </p:sp>
      <p:sp>
        <p:nvSpPr>
          <p:cNvPr id="359427" name="矩形 359426"/>
          <p:cNvSpPr/>
          <p:nvPr/>
        </p:nvSpPr>
        <p:spPr>
          <a:xfrm>
            <a:off x="5424170" y="1838113"/>
            <a:ext cx="0" cy="10583"/>
          </a:xfrm>
          <a:prstGeom prst="rect">
            <a:avLst/>
          </a:prstGeom>
          <a:blipFill rotWithShape="0">
            <a:blip r:embed="rId1"/>
          </a:blipFill>
          <a:ln w="9525">
            <a:noFill/>
          </a:ln>
        </p:spPr>
        <p:txBody>
          <a:bodyPr/>
          <a:p>
            <a:endParaRPr lang="zh-CN" altLang="en-US" sz="1500"/>
          </a:p>
        </p:txBody>
      </p:sp>
      <p:sp>
        <p:nvSpPr>
          <p:cNvPr id="359428" name="矩形 359427"/>
          <p:cNvSpPr/>
          <p:nvPr/>
        </p:nvSpPr>
        <p:spPr>
          <a:xfrm>
            <a:off x="5381837" y="1838113"/>
            <a:ext cx="0" cy="10583"/>
          </a:xfrm>
          <a:prstGeom prst="rect">
            <a:avLst/>
          </a:prstGeom>
          <a:blipFill rotWithShape="0">
            <a:blip r:embed="rId1"/>
          </a:blipFill>
          <a:ln w="9525">
            <a:noFill/>
          </a:ln>
        </p:spPr>
        <p:txBody>
          <a:bodyPr/>
          <a:p>
            <a:endParaRPr lang="zh-CN" altLang="en-US" sz="1500"/>
          </a:p>
        </p:txBody>
      </p:sp>
      <p:sp>
        <p:nvSpPr>
          <p:cNvPr id="359429" name="矩形 359428"/>
          <p:cNvSpPr/>
          <p:nvPr/>
        </p:nvSpPr>
        <p:spPr>
          <a:xfrm>
            <a:off x="5424170" y="2293197"/>
            <a:ext cx="0" cy="10583"/>
          </a:xfrm>
          <a:prstGeom prst="rect">
            <a:avLst/>
          </a:prstGeom>
          <a:blipFill rotWithShape="0">
            <a:blip r:embed="rId1"/>
          </a:blipFill>
          <a:ln w="9525">
            <a:noFill/>
          </a:ln>
        </p:spPr>
        <p:txBody>
          <a:bodyPr/>
          <a:p>
            <a:endParaRPr lang="zh-CN" altLang="en-US" sz="1500"/>
          </a:p>
        </p:txBody>
      </p:sp>
      <p:sp>
        <p:nvSpPr>
          <p:cNvPr id="359430" name="矩形 359429"/>
          <p:cNvSpPr/>
          <p:nvPr/>
        </p:nvSpPr>
        <p:spPr>
          <a:xfrm>
            <a:off x="5381837" y="2293197"/>
            <a:ext cx="0" cy="10583"/>
          </a:xfrm>
          <a:prstGeom prst="rect">
            <a:avLst/>
          </a:prstGeom>
          <a:blipFill rotWithShape="0">
            <a:blip r:embed="rId1"/>
          </a:blipFill>
          <a:ln w="9525">
            <a:noFill/>
          </a:ln>
        </p:spPr>
        <p:txBody>
          <a:bodyPr/>
          <a:p>
            <a:endParaRPr lang="zh-CN" altLang="en-US" sz="1500"/>
          </a:p>
        </p:txBody>
      </p:sp>
      <p:sp>
        <p:nvSpPr>
          <p:cNvPr id="359431" name="矩形 359430"/>
          <p:cNvSpPr/>
          <p:nvPr/>
        </p:nvSpPr>
        <p:spPr>
          <a:xfrm>
            <a:off x="5424170" y="2060363"/>
            <a:ext cx="0" cy="10583"/>
          </a:xfrm>
          <a:prstGeom prst="rect">
            <a:avLst/>
          </a:prstGeom>
          <a:blipFill rotWithShape="0">
            <a:blip r:embed="rId1"/>
          </a:blipFill>
          <a:ln w="9525">
            <a:noFill/>
          </a:ln>
        </p:spPr>
        <p:txBody>
          <a:bodyPr/>
          <a:p>
            <a:endParaRPr lang="zh-CN" altLang="en-US" sz="1500"/>
          </a:p>
        </p:txBody>
      </p:sp>
      <p:sp>
        <p:nvSpPr>
          <p:cNvPr id="359432" name="矩形 359431"/>
          <p:cNvSpPr/>
          <p:nvPr/>
        </p:nvSpPr>
        <p:spPr>
          <a:xfrm>
            <a:off x="5381837" y="2060363"/>
            <a:ext cx="0" cy="10583"/>
          </a:xfrm>
          <a:prstGeom prst="rect">
            <a:avLst/>
          </a:prstGeom>
          <a:blipFill rotWithShape="0">
            <a:blip r:embed="rId1"/>
          </a:blipFill>
          <a:ln w="9525">
            <a:noFill/>
          </a:ln>
        </p:spPr>
        <p:txBody>
          <a:bodyPr/>
          <a:p>
            <a:endParaRPr lang="zh-CN" altLang="en-US" sz="1500"/>
          </a:p>
        </p:txBody>
      </p:sp>
      <p:sp>
        <p:nvSpPr>
          <p:cNvPr id="359433" name="矩形 359432"/>
          <p:cNvSpPr/>
          <p:nvPr/>
        </p:nvSpPr>
        <p:spPr>
          <a:xfrm>
            <a:off x="5424170" y="2526030"/>
            <a:ext cx="0" cy="10583"/>
          </a:xfrm>
          <a:prstGeom prst="rect">
            <a:avLst/>
          </a:prstGeom>
          <a:blipFill rotWithShape="0">
            <a:blip r:embed="rId1"/>
          </a:blipFill>
          <a:ln w="9525">
            <a:noFill/>
          </a:ln>
        </p:spPr>
        <p:txBody>
          <a:bodyPr/>
          <a:p>
            <a:endParaRPr lang="zh-CN" altLang="en-US" sz="1500"/>
          </a:p>
        </p:txBody>
      </p:sp>
      <p:sp>
        <p:nvSpPr>
          <p:cNvPr id="359434" name="矩形 359433"/>
          <p:cNvSpPr/>
          <p:nvPr/>
        </p:nvSpPr>
        <p:spPr>
          <a:xfrm>
            <a:off x="5381837" y="2526030"/>
            <a:ext cx="0" cy="10583"/>
          </a:xfrm>
          <a:prstGeom prst="rect">
            <a:avLst/>
          </a:prstGeom>
          <a:blipFill rotWithShape="0">
            <a:blip r:embed="rId1"/>
          </a:blipFill>
          <a:ln w="9525">
            <a:noFill/>
          </a:ln>
        </p:spPr>
        <p:txBody>
          <a:bodyPr/>
          <a:p>
            <a:endParaRPr lang="zh-CN" altLang="en-US" sz="1500"/>
          </a:p>
        </p:txBody>
      </p:sp>
      <p:sp>
        <p:nvSpPr>
          <p:cNvPr id="359435" name="矩形 359434"/>
          <p:cNvSpPr/>
          <p:nvPr/>
        </p:nvSpPr>
        <p:spPr>
          <a:xfrm>
            <a:off x="5424170" y="1605280"/>
            <a:ext cx="0" cy="10583"/>
          </a:xfrm>
          <a:prstGeom prst="rect">
            <a:avLst/>
          </a:prstGeom>
          <a:blipFill rotWithShape="0">
            <a:blip r:embed="rId1"/>
          </a:blipFill>
          <a:ln w="9525">
            <a:noFill/>
          </a:ln>
        </p:spPr>
        <p:txBody>
          <a:bodyPr/>
          <a:p>
            <a:endParaRPr lang="zh-CN" altLang="en-US" sz="1500"/>
          </a:p>
        </p:txBody>
      </p:sp>
      <p:sp>
        <p:nvSpPr>
          <p:cNvPr id="359436" name="矩形 359435"/>
          <p:cNvSpPr/>
          <p:nvPr/>
        </p:nvSpPr>
        <p:spPr>
          <a:xfrm>
            <a:off x="5381837" y="1605280"/>
            <a:ext cx="0" cy="10583"/>
          </a:xfrm>
          <a:prstGeom prst="rect">
            <a:avLst/>
          </a:prstGeom>
          <a:blipFill rotWithShape="0">
            <a:blip r:embed="rId1"/>
          </a:blipFill>
          <a:ln w="9525">
            <a:noFill/>
          </a:ln>
        </p:spPr>
        <p:txBody>
          <a:bodyPr/>
          <a:p>
            <a:endParaRPr lang="zh-CN" altLang="en-US" sz="1500"/>
          </a:p>
        </p:txBody>
      </p:sp>
      <p:sp>
        <p:nvSpPr>
          <p:cNvPr id="359437" name="矩形 359436"/>
          <p:cNvSpPr/>
          <p:nvPr/>
        </p:nvSpPr>
        <p:spPr>
          <a:xfrm>
            <a:off x="5424170" y="1383030"/>
            <a:ext cx="0" cy="10583"/>
          </a:xfrm>
          <a:prstGeom prst="rect">
            <a:avLst/>
          </a:prstGeom>
          <a:blipFill rotWithShape="0">
            <a:blip r:embed="rId1"/>
          </a:blipFill>
          <a:ln w="9525">
            <a:noFill/>
          </a:ln>
        </p:spPr>
        <p:txBody>
          <a:bodyPr/>
          <a:p>
            <a:endParaRPr lang="zh-CN" altLang="en-US" sz="1500"/>
          </a:p>
        </p:txBody>
      </p:sp>
      <p:sp>
        <p:nvSpPr>
          <p:cNvPr id="359438" name="矩形 359437"/>
          <p:cNvSpPr/>
          <p:nvPr/>
        </p:nvSpPr>
        <p:spPr>
          <a:xfrm>
            <a:off x="5381837" y="1383030"/>
            <a:ext cx="0" cy="10583"/>
          </a:xfrm>
          <a:prstGeom prst="rect">
            <a:avLst/>
          </a:prstGeom>
          <a:blipFill rotWithShape="0">
            <a:blip r:embed="rId1"/>
          </a:blipFill>
          <a:ln w="9525">
            <a:noFill/>
          </a:ln>
        </p:spPr>
        <p:txBody>
          <a:bodyPr/>
          <a:p>
            <a:endParaRPr lang="zh-CN" altLang="en-US" sz="1500"/>
          </a:p>
        </p:txBody>
      </p:sp>
      <p:sp>
        <p:nvSpPr>
          <p:cNvPr id="359439" name="矩形 359438"/>
          <p:cNvSpPr/>
          <p:nvPr/>
        </p:nvSpPr>
        <p:spPr>
          <a:xfrm>
            <a:off x="6081660" y="2515447"/>
            <a:ext cx="10583" cy="0"/>
          </a:xfrm>
          <a:prstGeom prst="rect">
            <a:avLst/>
          </a:prstGeom>
          <a:blipFill rotWithShape="0">
            <a:blip r:embed="rId1"/>
          </a:blipFill>
          <a:ln w="9525">
            <a:noFill/>
          </a:ln>
        </p:spPr>
        <p:txBody>
          <a:bodyPr/>
          <a:p>
            <a:endParaRPr lang="zh-CN" altLang="en-US" sz="1500"/>
          </a:p>
        </p:txBody>
      </p:sp>
      <p:sp>
        <p:nvSpPr>
          <p:cNvPr id="359440" name="矩形 359439"/>
          <p:cNvSpPr/>
          <p:nvPr/>
        </p:nvSpPr>
        <p:spPr>
          <a:xfrm>
            <a:off x="6081660" y="2483697"/>
            <a:ext cx="10583" cy="0"/>
          </a:xfrm>
          <a:prstGeom prst="rect">
            <a:avLst/>
          </a:prstGeom>
          <a:blipFill rotWithShape="0">
            <a:blip r:embed="rId1"/>
          </a:blipFill>
          <a:ln w="9525">
            <a:noFill/>
          </a:ln>
        </p:spPr>
        <p:txBody>
          <a:bodyPr/>
          <a:p>
            <a:endParaRPr lang="zh-CN" altLang="en-US" sz="1500"/>
          </a:p>
        </p:txBody>
      </p:sp>
      <p:sp>
        <p:nvSpPr>
          <p:cNvPr id="359441" name="矩形 359440"/>
          <p:cNvSpPr/>
          <p:nvPr/>
        </p:nvSpPr>
        <p:spPr>
          <a:xfrm>
            <a:off x="5614670" y="2515447"/>
            <a:ext cx="10583" cy="0"/>
          </a:xfrm>
          <a:prstGeom prst="rect">
            <a:avLst/>
          </a:prstGeom>
          <a:blipFill rotWithShape="0">
            <a:blip r:embed="rId1"/>
          </a:blipFill>
          <a:ln w="9525">
            <a:noFill/>
          </a:ln>
        </p:spPr>
        <p:txBody>
          <a:bodyPr/>
          <a:p>
            <a:endParaRPr lang="zh-CN" altLang="en-US" sz="1500"/>
          </a:p>
        </p:txBody>
      </p:sp>
      <p:sp>
        <p:nvSpPr>
          <p:cNvPr id="359442" name="矩形 359441"/>
          <p:cNvSpPr/>
          <p:nvPr/>
        </p:nvSpPr>
        <p:spPr>
          <a:xfrm>
            <a:off x="5614670" y="2483697"/>
            <a:ext cx="10583" cy="0"/>
          </a:xfrm>
          <a:prstGeom prst="rect">
            <a:avLst/>
          </a:prstGeom>
          <a:blipFill rotWithShape="0">
            <a:blip r:embed="rId1"/>
          </a:blipFill>
          <a:ln w="9525">
            <a:noFill/>
          </a:ln>
        </p:spPr>
        <p:txBody>
          <a:bodyPr/>
          <a:p>
            <a:endParaRPr lang="zh-CN" altLang="en-US" sz="1500"/>
          </a:p>
        </p:txBody>
      </p:sp>
      <p:sp>
        <p:nvSpPr>
          <p:cNvPr id="359443" name="矩形 359442"/>
          <p:cNvSpPr/>
          <p:nvPr/>
        </p:nvSpPr>
        <p:spPr>
          <a:xfrm>
            <a:off x="5848827" y="2515447"/>
            <a:ext cx="10583" cy="0"/>
          </a:xfrm>
          <a:prstGeom prst="rect">
            <a:avLst/>
          </a:prstGeom>
          <a:blipFill rotWithShape="0">
            <a:blip r:embed="rId1"/>
          </a:blipFill>
          <a:ln w="9525">
            <a:noFill/>
          </a:ln>
        </p:spPr>
        <p:txBody>
          <a:bodyPr/>
          <a:p>
            <a:endParaRPr lang="zh-CN" altLang="en-US" sz="1500"/>
          </a:p>
        </p:txBody>
      </p:sp>
      <p:sp>
        <p:nvSpPr>
          <p:cNvPr id="359444" name="矩形 359443"/>
          <p:cNvSpPr/>
          <p:nvPr/>
        </p:nvSpPr>
        <p:spPr>
          <a:xfrm>
            <a:off x="5848827" y="2483697"/>
            <a:ext cx="10583" cy="0"/>
          </a:xfrm>
          <a:prstGeom prst="rect">
            <a:avLst/>
          </a:prstGeom>
          <a:blipFill rotWithShape="0">
            <a:blip r:embed="rId1"/>
          </a:blipFill>
          <a:ln w="9525">
            <a:noFill/>
          </a:ln>
        </p:spPr>
        <p:txBody>
          <a:bodyPr/>
          <a:p>
            <a:endParaRPr lang="zh-CN" altLang="en-US" sz="1500"/>
          </a:p>
        </p:txBody>
      </p:sp>
      <p:sp>
        <p:nvSpPr>
          <p:cNvPr id="359445" name="矩形 359444"/>
          <p:cNvSpPr/>
          <p:nvPr/>
        </p:nvSpPr>
        <p:spPr>
          <a:xfrm>
            <a:off x="5381837" y="2515447"/>
            <a:ext cx="10583" cy="0"/>
          </a:xfrm>
          <a:prstGeom prst="rect">
            <a:avLst/>
          </a:prstGeom>
          <a:blipFill rotWithShape="0">
            <a:blip r:embed="rId1"/>
          </a:blipFill>
          <a:ln w="9525">
            <a:noFill/>
          </a:ln>
        </p:spPr>
        <p:txBody>
          <a:bodyPr/>
          <a:p>
            <a:endParaRPr lang="zh-CN" altLang="en-US" sz="1500"/>
          </a:p>
        </p:txBody>
      </p:sp>
      <p:sp>
        <p:nvSpPr>
          <p:cNvPr id="359446" name="矩形 359445"/>
          <p:cNvSpPr/>
          <p:nvPr/>
        </p:nvSpPr>
        <p:spPr>
          <a:xfrm>
            <a:off x="5381837" y="2483697"/>
            <a:ext cx="10583" cy="0"/>
          </a:xfrm>
          <a:prstGeom prst="rect">
            <a:avLst/>
          </a:prstGeom>
          <a:blipFill rotWithShape="0">
            <a:blip r:embed="rId1"/>
          </a:blipFill>
          <a:ln w="9525">
            <a:noFill/>
          </a:ln>
        </p:spPr>
        <p:txBody>
          <a:bodyPr/>
          <a:p>
            <a:endParaRPr lang="zh-CN" altLang="en-US" sz="1500"/>
          </a:p>
        </p:txBody>
      </p:sp>
      <p:sp>
        <p:nvSpPr>
          <p:cNvPr id="359447" name="矩形 359446"/>
          <p:cNvSpPr/>
          <p:nvPr/>
        </p:nvSpPr>
        <p:spPr>
          <a:xfrm>
            <a:off x="6314493" y="2515447"/>
            <a:ext cx="10583" cy="0"/>
          </a:xfrm>
          <a:prstGeom prst="rect">
            <a:avLst/>
          </a:prstGeom>
          <a:blipFill rotWithShape="0">
            <a:blip r:embed="rId1"/>
          </a:blipFill>
          <a:ln w="9525">
            <a:noFill/>
          </a:ln>
        </p:spPr>
        <p:txBody>
          <a:bodyPr/>
          <a:p>
            <a:endParaRPr lang="zh-CN" altLang="en-US" sz="1500"/>
          </a:p>
        </p:txBody>
      </p:sp>
      <p:sp>
        <p:nvSpPr>
          <p:cNvPr id="359448" name="矩形 359447"/>
          <p:cNvSpPr/>
          <p:nvPr/>
        </p:nvSpPr>
        <p:spPr>
          <a:xfrm>
            <a:off x="6314493" y="2483697"/>
            <a:ext cx="10583" cy="0"/>
          </a:xfrm>
          <a:prstGeom prst="rect">
            <a:avLst/>
          </a:prstGeom>
          <a:blipFill rotWithShape="0">
            <a:blip r:embed="rId1"/>
          </a:blipFill>
          <a:ln w="9525">
            <a:noFill/>
          </a:ln>
        </p:spPr>
        <p:txBody>
          <a:bodyPr/>
          <a:p>
            <a:endParaRPr lang="zh-CN" altLang="en-US" sz="1500"/>
          </a:p>
        </p:txBody>
      </p:sp>
      <p:sp>
        <p:nvSpPr>
          <p:cNvPr id="359449" name="矩形 359448"/>
          <p:cNvSpPr/>
          <p:nvPr/>
        </p:nvSpPr>
        <p:spPr>
          <a:xfrm>
            <a:off x="6547327" y="2515447"/>
            <a:ext cx="10583" cy="0"/>
          </a:xfrm>
          <a:prstGeom prst="rect">
            <a:avLst/>
          </a:prstGeom>
          <a:blipFill rotWithShape="0">
            <a:blip r:embed="rId1"/>
          </a:blipFill>
          <a:ln w="9525">
            <a:noFill/>
          </a:ln>
        </p:spPr>
        <p:txBody>
          <a:bodyPr/>
          <a:p>
            <a:endParaRPr lang="zh-CN" altLang="en-US" sz="1500"/>
          </a:p>
        </p:txBody>
      </p:sp>
      <p:sp>
        <p:nvSpPr>
          <p:cNvPr id="359450" name="矩形 359449"/>
          <p:cNvSpPr/>
          <p:nvPr/>
        </p:nvSpPr>
        <p:spPr>
          <a:xfrm>
            <a:off x="6547327" y="2483697"/>
            <a:ext cx="10583" cy="0"/>
          </a:xfrm>
          <a:prstGeom prst="rect">
            <a:avLst/>
          </a:prstGeom>
          <a:blipFill rotWithShape="0">
            <a:blip r:embed="rId1"/>
          </a:blipFill>
          <a:ln w="9525">
            <a:noFill/>
          </a:ln>
        </p:spPr>
        <p:txBody>
          <a:bodyPr/>
          <a:p>
            <a:endParaRPr lang="zh-CN" altLang="en-US" sz="1500"/>
          </a:p>
        </p:txBody>
      </p:sp>
      <p:sp>
        <p:nvSpPr>
          <p:cNvPr id="359451" name="矩形 359450"/>
          <p:cNvSpPr/>
          <p:nvPr/>
        </p:nvSpPr>
        <p:spPr>
          <a:xfrm>
            <a:off x="5508837" y="2642447"/>
            <a:ext cx="10583" cy="0"/>
          </a:xfrm>
          <a:prstGeom prst="rect">
            <a:avLst/>
          </a:prstGeom>
          <a:blipFill rotWithShape="0">
            <a:blip r:embed="rId1"/>
          </a:blipFill>
          <a:ln w="9525">
            <a:noFill/>
          </a:ln>
        </p:spPr>
        <p:txBody>
          <a:bodyPr/>
          <a:p>
            <a:endParaRPr lang="zh-CN" altLang="en-US" sz="1500"/>
          </a:p>
        </p:txBody>
      </p:sp>
      <p:sp>
        <p:nvSpPr>
          <p:cNvPr id="359452" name="矩形 359451"/>
          <p:cNvSpPr/>
          <p:nvPr/>
        </p:nvSpPr>
        <p:spPr>
          <a:xfrm>
            <a:off x="5381837" y="1203113"/>
            <a:ext cx="10583" cy="0"/>
          </a:xfrm>
          <a:prstGeom prst="rect">
            <a:avLst/>
          </a:prstGeom>
          <a:blipFill rotWithShape="0">
            <a:blip r:embed="rId1"/>
          </a:blipFill>
          <a:ln w="9525">
            <a:noFill/>
          </a:ln>
        </p:spPr>
        <p:txBody>
          <a:bodyPr/>
          <a:p>
            <a:endParaRPr lang="zh-CN" altLang="en-US" sz="1500"/>
          </a:p>
        </p:txBody>
      </p:sp>
      <p:sp>
        <p:nvSpPr>
          <p:cNvPr id="359453" name="矩形 359452"/>
          <p:cNvSpPr/>
          <p:nvPr/>
        </p:nvSpPr>
        <p:spPr>
          <a:xfrm>
            <a:off x="5392420" y="2515447"/>
            <a:ext cx="0" cy="10583"/>
          </a:xfrm>
          <a:prstGeom prst="rect">
            <a:avLst/>
          </a:prstGeom>
          <a:blipFill rotWithShape="0">
            <a:blip r:embed="rId1"/>
          </a:blipFill>
          <a:ln w="9525">
            <a:noFill/>
          </a:ln>
        </p:spPr>
        <p:txBody>
          <a:bodyPr/>
          <a:p>
            <a:endParaRPr lang="zh-CN" altLang="en-US" sz="1500"/>
          </a:p>
        </p:txBody>
      </p:sp>
      <p:sp>
        <p:nvSpPr>
          <p:cNvPr id="359454" name="矩形 359453"/>
          <p:cNvSpPr/>
          <p:nvPr/>
        </p:nvSpPr>
        <p:spPr>
          <a:xfrm>
            <a:off x="6716660" y="2515447"/>
            <a:ext cx="0" cy="10583"/>
          </a:xfrm>
          <a:prstGeom prst="rect">
            <a:avLst/>
          </a:prstGeom>
          <a:blipFill rotWithShape="0">
            <a:blip r:embed="rId1"/>
          </a:blipFill>
          <a:ln w="9525">
            <a:noFill/>
          </a:ln>
        </p:spPr>
        <p:txBody>
          <a:bodyPr/>
          <a:p>
            <a:endParaRPr lang="zh-CN" altLang="en-US" sz="1500"/>
          </a:p>
        </p:txBody>
      </p:sp>
      <p:sp>
        <p:nvSpPr>
          <p:cNvPr id="359455" name="矩形 359454"/>
          <p:cNvSpPr/>
          <p:nvPr/>
        </p:nvSpPr>
        <p:spPr>
          <a:xfrm>
            <a:off x="5392420" y="1372447"/>
            <a:ext cx="0" cy="10583"/>
          </a:xfrm>
          <a:prstGeom prst="rect">
            <a:avLst/>
          </a:prstGeom>
          <a:blipFill rotWithShape="0">
            <a:blip r:embed="rId1"/>
          </a:blipFill>
          <a:ln w="9525">
            <a:noFill/>
          </a:ln>
        </p:spPr>
        <p:txBody>
          <a:bodyPr/>
          <a:p>
            <a:endParaRPr lang="zh-CN" altLang="en-US" sz="1500"/>
          </a:p>
        </p:txBody>
      </p:sp>
      <p:pic>
        <p:nvPicPr>
          <p:cNvPr id="359456" name="图片 359455"/>
          <p:cNvPicPr>
            <a:picLocks noChangeAspect="1"/>
          </p:cNvPicPr>
          <p:nvPr/>
        </p:nvPicPr>
        <p:blipFill>
          <a:blip r:embed="rId2"/>
          <a:srcRect l="63676" b="55576"/>
          <a:stretch>
            <a:fillRect/>
          </a:stretch>
        </p:blipFill>
        <p:spPr>
          <a:xfrm>
            <a:off x="3558170" y="1176655"/>
            <a:ext cx="4855104" cy="4198938"/>
          </a:xfrm>
          <a:prstGeom prst="rect">
            <a:avLst/>
          </a:prstGeom>
          <a:noFill/>
          <a:ln w="12700">
            <a:noFill/>
          </a:ln>
        </p:spPr>
      </p:pic>
      <p:graphicFrame>
        <p:nvGraphicFramePr>
          <p:cNvPr id="475177" name="对象 475176"/>
          <p:cNvGraphicFramePr/>
          <p:nvPr/>
        </p:nvGraphicFramePr>
        <p:xfrm>
          <a:off x="201930" y="1302703"/>
          <a:ext cx="2934229" cy="3108854"/>
        </p:xfrm>
        <a:graphic>
          <a:graphicData uri="http://schemas.openxmlformats.org/presentationml/2006/ole">
            <mc:AlternateContent xmlns:mc="http://schemas.openxmlformats.org/markup-compatibility/2006">
              <mc:Choice xmlns:v="urn:schemas-microsoft-com:vml" Requires="v">
                <p:oleObj spid="_x0000_s2" name="" r:id="rId3" imgW="1862455" imgH="1976120" progId="Visio.Drawing.6">
                  <p:embed/>
                </p:oleObj>
              </mc:Choice>
              <mc:Fallback>
                <p:oleObj name="" r:id="rId3" imgW="1862455" imgH="1976120" progId="Visio.Drawing.6">
                  <p:embed/>
                  <p:pic>
                    <p:nvPicPr>
                      <p:cNvPr id="0" name="图片 3075"/>
                      <p:cNvPicPr/>
                      <p:nvPr/>
                    </p:nvPicPr>
                    <p:blipFill>
                      <a:blip r:embed="rId4"/>
                      <a:stretch>
                        <a:fillRect/>
                      </a:stretch>
                    </p:blipFill>
                    <p:spPr>
                      <a:xfrm>
                        <a:off x="201930" y="1302703"/>
                        <a:ext cx="2934229" cy="3108854"/>
                      </a:xfrm>
                      <a:prstGeom prst="rect">
                        <a:avLst/>
                      </a:prstGeom>
                      <a:noFill/>
                      <a:ln w="38100">
                        <a:noFill/>
                        <a:miter/>
                      </a:ln>
                    </p:spPr>
                  </p:pic>
                </p:oleObj>
              </mc:Fallback>
            </mc:AlternateContent>
          </a:graphicData>
        </a:graphic>
      </p:graphicFrame>
      <p:cxnSp>
        <p:nvCxnSpPr>
          <p:cNvPr id="3" name="直接连接符 2"/>
          <p:cNvCxnSpPr/>
          <p:nvPr/>
        </p:nvCxnSpPr>
        <p:spPr>
          <a:xfrm>
            <a:off x="5508625" y="2303780"/>
            <a:ext cx="0" cy="2577465"/>
          </a:xfrm>
          <a:prstGeom prst="line">
            <a:avLst/>
          </a:prstGeom>
          <a:ln w="22225" cmpd="sng">
            <a:solidFill>
              <a:schemeClr val="accent1">
                <a:shade val="50000"/>
              </a:schemeClr>
            </a:solidFill>
            <a:prstDash val="lgDashDot"/>
          </a:ln>
        </p:spPr>
        <p:style>
          <a:lnRef idx="2">
            <a:schemeClr val="accent1"/>
          </a:lnRef>
          <a:fillRef idx="0">
            <a:srgbClr val="FFFFFF"/>
          </a:fillRef>
          <a:effectRef idx="0">
            <a:srgbClr val="FFFFFF"/>
          </a:effectRef>
          <a:fontRef idx="minor">
            <a:schemeClr val="tx1"/>
          </a:fontRef>
        </p:style>
      </p:cxnSp>
      <p:cxnSp>
        <p:nvCxnSpPr>
          <p:cNvPr id="4" name="直接连接符 3"/>
          <p:cNvCxnSpPr/>
          <p:nvPr/>
        </p:nvCxnSpPr>
        <p:spPr>
          <a:xfrm>
            <a:off x="5782945" y="3431540"/>
            <a:ext cx="0" cy="1460500"/>
          </a:xfrm>
          <a:prstGeom prst="line">
            <a:avLst/>
          </a:prstGeom>
          <a:ln w="12700" cmpd="sng">
            <a:solidFill>
              <a:schemeClr val="accent1">
                <a:shade val="50000"/>
              </a:schemeClr>
            </a:solidFill>
            <a:prstDash val="lgDashDot"/>
          </a:ln>
        </p:spPr>
        <p:style>
          <a:lnRef idx="2">
            <a:schemeClr val="accent1"/>
          </a:lnRef>
          <a:fillRef idx="0">
            <a:srgbClr val="FFFFFF"/>
          </a:fillRef>
          <a:effectRef idx="0">
            <a:srgbClr val="FFFFFF"/>
          </a:effectRef>
          <a:fontRef idx="minor">
            <a:schemeClr val="tx1"/>
          </a:fontRef>
        </p:style>
      </p:cxnSp>
      <p:cxnSp>
        <p:nvCxnSpPr>
          <p:cNvPr id="6" name="直接连接符 5"/>
          <p:cNvCxnSpPr/>
          <p:nvPr/>
        </p:nvCxnSpPr>
        <p:spPr>
          <a:xfrm>
            <a:off x="6109335" y="4612005"/>
            <a:ext cx="15240" cy="264160"/>
          </a:xfrm>
          <a:prstGeom prst="line">
            <a:avLst/>
          </a:prstGeom>
          <a:ln w="12700" cmpd="sng">
            <a:solidFill>
              <a:schemeClr val="accent1">
                <a:shade val="50000"/>
              </a:schemeClr>
            </a:solidFill>
            <a:prstDash val="lgDashDot"/>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4700905" y="2273935"/>
            <a:ext cx="411480" cy="368300"/>
          </a:xfrm>
          <a:prstGeom prst="rect">
            <a:avLst/>
          </a:prstGeom>
          <a:noFill/>
        </p:spPr>
        <p:txBody>
          <a:bodyPr wrap="none" rtlCol="0">
            <a:spAutoFit/>
          </a:bodyPr>
          <a:p>
            <a:pPr algn="l"/>
            <a:r>
              <a:rPr lang="en-US" altLang="zh-CN" dirty="0">
                <a:solidFill>
                  <a:srgbClr val="FF0000"/>
                </a:solidFill>
                <a:latin typeface="微软雅黑" panose="020B0503020204020204" pitchFamily="34" charset="-122"/>
                <a:ea typeface="微软雅黑" panose="020B0503020204020204" pitchFamily="34" charset="-122"/>
              </a:rPr>
              <a:t>Ⅰ</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5447665" y="3010535"/>
            <a:ext cx="411480" cy="368300"/>
          </a:xfrm>
          <a:prstGeom prst="rect">
            <a:avLst/>
          </a:prstGeom>
          <a:noFill/>
        </p:spPr>
        <p:txBody>
          <a:bodyPr wrap="none" rtlCol="0">
            <a:spAutoFit/>
          </a:bodyPr>
          <a:p>
            <a:pPr algn="l"/>
            <a:r>
              <a:rPr lang="en-US" altLang="zh-CN" dirty="0">
                <a:solidFill>
                  <a:srgbClr val="FF0000"/>
                </a:solidFill>
                <a:latin typeface="微软雅黑" panose="020B0503020204020204" pitchFamily="34" charset="-122"/>
                <a:ea typeface="微软雅黑" panose="020B0503020204020204" pitchFamily="34" charset="-122"/>
              </a:rPr>
              <a:t>Ⅱ</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5697855" y="4464685"/>
            <a:ext cx="411480" cy="368300"/>
          </a:xfrm>
          <a:prstGeom prst="rect">
            <a:avLst/>
          </a:prstGeom>
          <a:noFill/>
        </p:spPr>
        <p:txBody>
          <a:bodyPr wrap="none" rtlCol="0">
            <a:spAutoFit/>
          </a:bodyPr>
          <a:p>
            <a:pPr algn="l"/>
            <a:r>
              <a:rPr lang="en-US" altLang="zh-CN" dirty="0">
                <a:solidFill>
                  <a:srgbClr val="FF0000"/>
                </a:solidFill>
                <a:latin typeface="微软雅黑" panose="020B0503020204020204" pitchFamily="34" charset="-122"/>
                <a:ea typeface="微软雅黑" panose="020B0503020204020204" pitchFamily="34" charset="-122"/>
              </a:rPr>
              <a:t>Ⅲ</a:t>
            </a:r>
            <a:endParaRPr lang="en-US" altLang="zh-CN" dirty="0">
              <a:solidFill>
                <a:srgbClr val="FF0000"/>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393815" y="4356100"/>
            <a:ext cx="411480" cy="368300"/>
          </a:xfrm>
          <a:prstGeom prst="rect">
            <a:avLst/>
          </a:prstGeom>
          <a:noFill/>
        </p:spPr>
        <p:txBody>
          <a:bodyPr wrap="none" rtlCol="0">
            <a:spAutoFit/>
          </a:bodyPr>
          <a:p>
            <a:pPr algn="l"/>
            <a:r>
              <a:rPr lang="en-US" altLang="zh-CN" dirty="0">
                <a:solidFill>
                  <a:srgbClr val="FF0000"/>
                </a:solidFill>
                <a:latin typeface="微软雅黑" panose="020B0503020204020204" pitchFamily="34" charset="-122"/>
                <a:ea typeface="微软雅黑" panose="020B0503020204020204" pitchFamily="34" charset="-122"/>
              </a:rPr>
              <a:t>Ⅳ</a:t>
            </a:r>
            <a:endParaRPr lang="en-US" altLang="zh-CN"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动态特性</a:t>
            </a:r>
            <a:endParaRPr lang="zh-CN" altLang="en-US">
              <a:sym typeface="+mn-ea"/>
            </a:endParaRPr>
          </a:p>
        </p:txBody>
      </p:sp>
      <p:grpSp>
        <p:nvGrpSpPr>
          <p:cNvPr id="474115" name="组合 474114"/>
          <p:cNvGrpSpPr/>
          <p:nvPr/>
        </p:nvGrpSpPr>
        <p:grpSpPr>
          <a:xfrm>
            <a:off x="6604000" y="1591152"/>
            <a:ext cx="2222500" cy="1225021"/>
            <a:chOff x="3936" y="1090"/>
            <a:chExt cx="1680" cy="926"/>
          </a:xfrm>
          <a:noFill/>
        </p:grpSpPr>
        <p:sp>
          <p:nvSpPr>
            <p:cNvPr id="474116" name="矩形 474115"/>
            <p:cNvSpPr/>
            <p:nvPr/>
          </p:nvSpPr>
          <p:spPr>
            <a:xfrm>
              <a:off x="3936" y="1090"/>
              <a:ext cx="1680" cy="926"/>
            </a:xfrm>
            <a:prstGeom prst="rect">
              <a:avLst/>
            </a:prstGeom>
            <a:grpFill/>
            <a:ln w="12700" cap="flat" cmpd="sng">
              <a:solidFill>
                <a:schemeClr val="tx1"/>
              </a:solidFill>
              <a:prstDash val="solid"/>
              <a:miter/>
              <a:headEnd type="none" w="med" len="med"/>
              <a:tailEnd type="none" w="med" len="med"/>
            </a:ln>
          </p:spPr>
          <p:txBody>
            <a:bodyPr wrap="none" anchor="ctr" anchorCtr="0"/>
            <a:lstStyle/>
            <a:p>
              <a:pPr algn="ctr"/>
              <a:endParaRPr sz="1500" b="1">
                <a:solidFill>
                  <a:srgbClr val="FF0000"/>
                </a:solidFill>
                <a:latin typeface="微软雅黑" panose="020B0503020204020204" pitchFamily="34" charset="-122"/>
                <a:ea typeface="微软雅黑" panose="020B0503020204020204" pitchFamily="34" charset="-122"/>
              </a:endParaRPr>
            </a:p>
          </p:txBody>
        </p:sp>
        <p:sp>
          <p:nvSpPr>
            <p:cNvPr id="474117" name="矩形 474116"/>
            <p:cNvSpPr/>
            <p:nvPr/>
          </p:nvSpPr>
          <p:spPr>
            <a:xfrm>
              <a:off x="4058" y="1322"/>
              <a:ext cx="73" cy="214"/>
            </a:xfrm>
            <a:prstGeom prst="rect">
              <a:avLst/>
            </a:prstGeom>
            <a:grpFill/>
            <a:ln w="9525">
              <a:noFill/>
            </a:ln>
          </p:spPr>
          <p:txBody>
            <a:bodyPr wrap="none" lIns="0" tIns="0" rIns="0" bIns="0">
              <a:spAutoFit/>
            </a:bodyPr>
            <a:lstStyle/>
            <a:p>
              <a:r>
                <a:rPr lang="en-US" altLang="zh-CN" sz="1835" b="1" i="0">
                  <a:solidFill>
                    <a:srgbClr val="FF0000"/>
                  </a:solidFill>
                  <a:latin typeface="微软雅黑" panose="020B0503020204020204" pitchFamily="34" charset="-122"/>
                  <a:ea typeface="微软雅黑" panose="020B0503020204020204" pitchFamily="34" charset="-122"/>
                </a:rPr>
                <a:t>t</a:t>
              </a:r>
              <a:endParaRPr lang="en-US" altLang="zh-CN" sz="1835" b="1" i="0">
                <a:solidFill>
                  <a:srgbClr val="FF0000"/>
                </a:solidFill>
                <a:latin typeface="微软雅黑" panose="020B0503020204020204" pitchFamily="34" charset="-122"/>
                <a:ea typeface="微软雅黑" panose="020B0503020204020204" pitchFamily="34" charset="-122"/>
              </a:endParaRPr>
            </a:p>
          </p:txBody>
        </p:sp>
        <p:sp>
          <p:nvSpPr>
            <p:cNvPr id="474118" name="矩形 474117"/>
            <p:cNvSpPr/>
            <p:nvPr/>
          </p:nvSpPr>
          <p:spPr>
            <a:xfrm>
              <a:off x="4117" y="1403"/>
              <a:ext cx="293" cy="174"/>
            </a:xfrm>
            <a:prstGeom prst="rect">
              <a:avLst/>
            </a:prstGeom>
            <a:grpFill/>
            <a:ln w="9525">
              <a:noFill/>
            </a:ln>
          </p:spPr>
          <p:txBody>
            <a:bodyPr wrap="none" lIns="0" tIns="0" rIns="0" bIns="0">
              <a:spAutoFit/>
            </a:bodyPr>
            <a:lstStyle/>
            <a:p>
              <a:r>
                <a:rPr lang="en-US" altLang="zh-CN" sz="1500" b="1" i="0" err="1">
                  <a:solidFill>
                    <a:srgbClr val="FF0000"/>
                  </a:solidFill>
                  <a:latin typeface="微软雅黑" panose="020B0503020204020204" pitchFamily="34" charset="-122"/>
                  <a:ea typeface="微软雅黑" panose="020B0503020204020204" pitchFamily="34" charset="-122"/>
                </a:rPr>
                <a:t>pHL</a:t>
              </a:r>
              <a:endParaRPr lang="en-US" altLang="zh-CN" sz="1500" b="1" i="0" err="1">
                <a:solidFill>
                  <a:srgbClr val="FF0000"/>
                </a:solidFill>
                <a:latin typeface="微软雅黑" panose="020B0503020204020204" pitchFamily="34" charset="-122"/>
                <a:ea typeface="微软雅黑" panose="020B0503020204020204" pitchFamily="34" charset="-122"/>
              </a:endParaRPr>
            </a:p>
          </p:txBody>
        </p:sp>
        <p:sp>
          <p:nvSpPr>
            <p:cNvPr id="474119" name="矩形 474118"/>
            <p:cNvSpPr/>
            <p:nvPr/>
          </p:nvSpPr>
          <p:spPr>
            <a:xfrm>
              <a:off x="4391" y="1322"/>
              <a:ext cx="504" cy="214"/>
            </a:xfrm>
            <a:prstGeom prst="rect">
              <a:avLst/>
            </a:prstGeom>
            <a:grpFill/>
            <a:ln w="9525">
              <a:noFill/>
            </a:ln>
          </p:spPr>
          <p:txBody>
            <a:bodyPr wrap="none" lIns="0" tIns="0" rIns="0" bIns="0">
              <a:spAutoFit/>
            </a:bodyPr>
            <a:lstStyle/>
            <a:p>
              <a:r>
                <a:rPr lang="en-US" altLang="zh-CN" sz="1835" b="1" i="0" err="1">
                  <a:solidFill>
                    <a:srgbClr val="FF0000"/>
                  </a:solidFill>
                  <a:latin typeface="微软雅黑" panose="020B0503020204020204" pitchFamily="34" charset="-122"/>
                  <a:ea typeface="微软雅黑" panose="020B0503020204020204" pitchFamily="34" charset="-122"/>
                </a:rPr>
                <a:t> = f(R</a:t>
              </a:r>
              <a:endParaRPr lang="en-US" altLang="zh-CN" sz="1835" b="1" i="0" err="1">
                <a:solidFill>
                  <a:srgbClr val="FF0000"/>
                </a:solidFill>
                <a:latin typeface="微软雅黑" panose="020B0503020204020204" pitchFamily="34" charset="-122"/>
                <a:ea typeface="微软雅黑" panose="020B0503020204020204" pitchFamily="34" charset="-122"/>
              </a:endParaRPr>
            </a:p>
          </p:txBody>
        </p:sp>
        <p:sp>
          <p:nvSpPr>
            <p:cNvPr id="474120" name="矩形 474119"/>
            <p:cNvSpPr/>
            <p:nvPr/>
          </p:nvSpPr>
          <p:spPr>
            <a:xfrm>
              <a:off x="4873" y="1403"/>
              <a:ext cx="188" cy="174"/>
            </a:xfrm>
            <a:prstGeom prst="rect">
              <a:avLst/>
            </a:prstGeom>
            <a:grpFill/>
            <a:ln w="9525">
              <a:noFill/>
            </a:ln>
          </p:spPr>
          <p:txBody>
            <a:bodyPr wrap="none" lIns="0" tIns="0" rIns="0" bIns="0">
              <a:spAutoFit/>
            </a:bodyPr>
            <a:lstStyle/>
            <a:p>
              <a:r>
                <a:rPr lang="en-US" altLang="zh-CN" sz="1500" b="1" i="0">
                  <a:solidFill>
                    <a:srgbClr val="FF0000"/>
                  </a:solidFill>
                  <a:latin typeface="微软雅黑" panose="020B0503020204020204" pitchFamily="34" charset="-122"/>
                  <a:ea typeface="微软雅黑" panose="020B0503020204020204" pitchFamily="34" charset="-122"/>
                </a:rPr>
                <a:t>on</a:t>
              </a:r>
              <a:endParaRPr lang="en-US" altLang="zh-CN" sz="1500" b="1" i="0">
                <a:solidFill>
                  <a:srgbClr val="FF0000"/>
                </a:solidFill>
                <a:latin typeface="微软雅黑" panose="020B0503020204020204" pitchFamily="34" charset="-122"/>
                <a:ea typeface="微软雅黑" panose="020B0503020204020204" pitchFamily="34" charset="-122"/>
              </a:endParaRPr>
            </a:p>
          </p:txBody>
        </p:sp>
        <p:sp>
          <p:nvSpPr>
            <p:cNvPr id="474121" name="矩形 474120"/>
            <p:cNvSpPr/>
            <p:nvPr/>
          </p:nvSpPr>
          <p:spPr>
            <a:xfrm>
              <a:off x="5011" y="1322"/>
              <a:ext cx="169" cy="214"/>
            </a:xfrm>
            <a:prstGeom prst="rect">
              <a:avLst/>
            </a:prstGeom>
            <a:grpFill/>
            <a:ln w="9525">
              <a:noFill/>
            </a:ln>
          </p:spPr>
          <p:txBody>
            <a:bodyPr wrap="none" lIns="0" tIns="0" rIns="0" bIns="0">
              <a:spAutoFit/>
            </a:bodyPr>
            <a:lstStyle/>
            <a:p>
              <a:r>
                <a:rPr lang="en-US" altLang="zh-CN" sz="1835" b="1" i="0">
                  <a:solidFill>
                    <a:srgbClr val="FF0000"/>
                  </a:solidFill>
                  <a:latin typeface="微软雅黑" panose="020B0503020204020204" pitchFamily="34" charset="-122"/>
                  <a:ea typeface="微软雅黑" panose="020B0503020204020204" pitchFamily="34" charset="-122"/>
                </a:rPr>
                <a:t>.C</a:t>
              </a:r>
              <a:endParaRPr lang="en-US" altLang="zh-CN" sz="1835" b="1" i="0">
                <a:solidFill>
                  <a:srgbClr val="FF0000"/>
                </a:solidFill>
                <a:latin typeface="微软雅黑" panose="020B0503020204020204" pitchFamily="34" charset="-122"/>
                <a:ea typeface="微软雅黑" panose="020B0503020204020204" pitchFamily="34" charset="-122"/>
              </a:endParaRPr>
            </a:p>
          </p:txBody>
        </p:sp>
        <p:sp>
          <p:nvSpPr>
            <p:cNvPr id="474122" name="矩形 474121"/>
            <p:cNvSpPr/>
            <p:nvPr/>
          </p:nvSpPr>
          <p:spPr>
            <a:xfrm>
              <a:off x="5188" y="1403"/>
              <a:ext cx="79" cy="174"/>
            </a:xfrm>
            <a:prstGeom prst="rect">
              <a:avLst/>
            </a:prstGeom>
            <a:grpFill/>
            <a:ln w="9525">
              <a:noFill/>
            </a:ln>
          </p:spPr>
          <p:txBody>
            <a:bodyPr wrap="none" lIns="0" tIns="0" rIns="0" bIns="0">
              <a:spAutoFit/>
            </a:bodyPr>
            <a:lstStyle/>
            <a:p>
              <a:r>
                <a:rPr lang="en-US" altLang="zh-CN" sz="1500" b="1" i="0">
                  <a:solidFill>
                    <a:srgbClr val="FF0000"/>
                  </a:solidFill>
                  <a:latin typeface="微软雅黑" panose="020B0503020204020204" pitchFamily="34" charset="-122"/>
                  <a:ea typeface="微软雅黑" panose="020B0503020204020204" pitchFamily="34" charset="-122"/>
                </a:rPr>
                <a:t>L</a:t>
              </a:r>
              <a:endParaRPr lang="en-US" altLang="zh-CN" sz="1500" b="1" i="0">
                <a:solidFill>
                  <a:srgbClr val="FF0000"/>
                </a:solidFill>
                <a:latin typeface="微软雅黑" panose="020B0503020204020204" pitchFamily="34" charset="-122"/>
                <a:ea typeface="微软雅黑" panose="020B0503020204020204" pitchFamily="34" charset="-122"/>
              </a:endParaRPr>
            </a:p>
          </p:txBody>
        </p:sp>
        <p:sp>
          <p:nvSpPr>
            <p:cNvPr id="474123" name="矩形 474122"/>
            <p:cNvSpPr/>
            <p:nvPr/>
          </p:nvSpPr>
          <p:spPr>
            <a:xfrm>
              <a:off x="5277" y="1322"/>
              <a:ext cx="69" cy="214"/>
            </a:xfrm>
            <a:prstGeom prst="rect">
              <a:avLst/>
            </a:prstGeom>
            <a:grpFill/>
            <a:ln w="9525">
              <a:noFill/>
            </a:ln>
          </p:spPr>
          <p:txBody>
            <a:bodyPr wrap="none" lIns="0" tIns="0" rIns="0" bIns="0">
              <a:spAutoFit/>
            </a:bodyPr>
            <a:lstStyle/>
            <a:p>
              <a:r>
                <a:rPr lang="en-US" altLang="zh-CN" sz="1835" b="1" i="0">
                  <a:solidFill>
                    <a:srgbClr val="FF0000"/>
                  </a:solidFill>
                  <a:latin typeface="微软雅黑" panose="020B0503020204020204" pitchFamily="34" charset="-122"/>
                  <a:ea typeface="微软雅黑" panose="020B0503020204020204" pitchFamily="34" charset="-122"/>
                </a:rPr>
                <a:t>)</a:t>
              </a:r>
              <a:endParaRPr lang="en-US" altLang="zh-CN" sz="1835" b="1" i="0">
                <a:solidFill>
                  <a:srgbClr val="FF0000"/>
                </a:solidFill>
                <a:latin typeface="微软雅黑" panose="020B0503020204020204" pitchFamily="34" charset="-122"/>
                <a:ea typeface="微软雅黑" panose="020B0503020204020204" pitchFamily="34" charset="-122"/>
              </a:endParaRPr>
            </a:p>
          </p:txBody>
        </p:sp>
        <p:sp>
          <p:nvSpPr>
            <p:cNvPr id="474124" name="矩形 474123"/>
            <p:cNvSpPr/>
            <p:nvPr/>
          </p:nvSpPr>
          <p:spPr>
            <a:xfrm>
              <a:off x="4435" y="1618"/>
              <a:ext cx="741" cy="214"/>
            </a:xfrm>
            <a:prstGeom prst="rect">
              <a:avLst/>
            </a:prstGeom>
            <a:grpFill/>
            <a:ln w="9525">
              <a:noFill/>
            </a:ln>
          </p:spPr>
          <p:txBody>
            <a:bodyPr wrap="none" lIns="0" tIns="0" rIns="0" bIns="0">
              <a:spAutoFit/>
            </a:bodyPr>
            <a:lstStyle/>
            <a:p>
              <a:r>
                <a:rPr lang="en-US" altLang="zh-CN" sz="1835" b="1" i="0">
                  <a:solidFill>
                    <a:srgbClr val="FF0000"/>
                  </a:solidFill>
                  <a:latin typeface="微软雅黑" panose="020B0503020204020204" pitchFamily="34" charset="-122"/>
                  <a:ea typeface="微软雅黑" panose="020B0503020204020204" pitchFamily="34" charset="-122"/>
                </a:rPr>
                <a:t>= 0.69 R</a:t>
              </a:r>
              <a:endParaRPr lang="en-US" altLang="zh-CN" sz="1835" b="1" i="0">
                <a:solidFill>
                  <a:srgbClr val="FF0000"/>
                </a:solidFill>
                <a:latin typeface="微软雅黑" panose="020B0503020204020204" pitchFamily="34" charset="-122"/>
                <a:ea typeface="微软雅黑" panose="020B0503020204020204" pitchFamily="34" charset="-122"/>
              </a:endParaRPr>
            </a:p>
          </p:txBody>
        </p:sp>
        <p:sp>
          <p:nvSpPr>
            <p:cNvPr id="474125" name="矩形 474124"/>
            <p:cNvSpPr/>
            <p:nvPr/>
          </p:nvSpPr>
          <p:spPr>
            <a:xfrm>
              <a:off x="5131" y="1699"/>
              <a:ext cx="188" cy="174"/>
            </a:xfrm>
            <a:prstGeom prst="rect">
              <a:avLst/>
            </a:prstGeom>
            <a:grpFill/>
            <a:ln w="9525">
              <a:noFill/>
            </a:ln>
          </p:spPr>
          <p:txBody>
            <a:bodyPr wrap="none" lIns="0" tIns="0" rIns="0" bIns="0">
              <a:spAutoFit/>
            </a:bodyPr>
            <a:lstStyle/>
            <a:p>
              <a:r>
                <a:rPr lang="en-US" altLang="zh-CN" sz="1500" b="1" i="0">
                  <a:solidFill>
                    <a:srgbClr val="FF0000"/>
                  </a:solidFill>
                  <a:latin typeface="微软雅黑" panose="020B0503020204020204" pitchFamily="34" charset="-122"/>
                  <a:ea typeface="微软雅黑" panose="020B0503020204020204" pitchFamily="34" charset="-122"/>
                </a:rPr>
                <a:t>on</a:t>
              </a:r>
              <a:endParaRPr lang="en-US" altLang="zh-CN" sz="1500" b="1" i="0">
                <a:solidFill>
                  <a:srgbClr val="FF0000"/>
                </a:solidFill>
                <a:latin typeface="微软雅黑" panose="020B0503020204020204" pitchFamily="34" charset="-122"/>
                <a:ea typeface="微软雅黑" panose="020B0503020204020204" pitchFamily="34" charset="-122"/>
              </a:endParaRPr>
            </a:p>
          </p:txBody>
        </p:sp>
        <p:sp>
          <p:nvSpPr>
            <p:cNvPr id="474126" name="矩形 474125"/>
            <p:cNvSpPr/>
            <p:nvPr/>
          </p:nvSpPr>
          <p:spPr>
            <a:xfrm>
              <a:off x="5284" y="1618"/>
              <a:ext cx="119" cy="214"/>
            </a:xfrm>
            <a:prstGeom prst="rect">
              <a:avLst/>
            </a:prstGeom>
            <a:grpFill/>
            <a:ln w="9525">
              <a:noFill/>
            </a:ln>
          </p:spPr>
          <p:txBody>
            <a:bodyPr wrap="none" lIns="0" tIns="0" rIns="0" bIns="0">
              <a:spAutoFit/>
            </a:bodyPr>
            <a:lstStyle/>
            <a:p>
              <a:r>
                <a:rPr lang="en-US" altLang="zh-CN" sz="1835" b="1" i="0">
                  <a:solidFill>
                    <a:srgbClr val="FF0000"/>
                  </a:solidFill>
                  <a:latin typeface="微软雅黑" panose="020B0503020204020204" pitchFamily="34" charset="-122"/>
                  <a:ea typeface="微软雅黑" panose="020B0503020204020204" pitchFamily="34" charset="-122"/>
                </a:rPr>
                <a:t>C</a:t>
              </a:r>
              <a:endParaRPr lang="en-US" altLang="zh-CN" sz="1835" b="1" i="0">
                <a:solidFill>
                  <a:srgbClr val="FF0000"/>
                </a:solidFill>
                <a:latin typeface="微软雅黑" panose="020B0503020204020204" pitchFamily="34" charset="-122"/>
                <a:ea typeface="微软雅黑" panose="020B0503020204020204" pitchFamily="34" charset="-122"/>
              </a:endParaRPr>
            </a:p>
          </p:txBody>
        </p:sp>
        <p:sp>
          <p:nvSpPr>
            <p:cNvPr id="474127" name="矩形 474126"/>
            <p:cNvSpPr/>
            <p:nvPr/>
          </p:nvSpPr>
          <p:spPr>
            <a:xfrm>
              <a:off x="5410" y="1699"/>
              <a:ext cx="79" cy="174"/>
            </a:xfrm>
            <a:prstGeom prst="rect">
              <a:avLst/>
            </a:prstGeom>
            <a:grpFill/>
            <a:ln w="9525">
              <a:noFill/>
            </a:ln>
          </p:spPr>
          <p:txBody>
            <a:bodyPr wrap="none" lIns="0" tIns="0" rIns="0" bIns="0">
              <a:spAutoFit/>
            </a:bodyPr>
            <a:lstStyle/>
            <a:p>
              <a:r>
                <a:rPr lang="en-US" altLang="zh-CN" sz="1500" b="1" i="0">
                  <a:solidFill>
                    <a:srgbClr val="FF0000"/>
                  </a:solidFill>
                  <a:latin typeface="微软雅黑" panose="020B0503020204020204" pitchFamily="34" charset="-122"/>
                  <a:ea typeface="微软雅黑" panose="020B0503020204020204" pitchFamily="34" charset="-122"/>
                </a:rPr>
                <a:t>L</a:t>
              </a:r>
              <a:endParaRPr lang="en-US" altLang="zh-CN" sz="1500" b="1" i="0">
                <a:solidFill>
                  <a:srgbClr val="FF0000"/>
                </a:solidFill>
                <a:latin typeface="微软雅黑" panose="020B0503020204020204" pitchFamily="34" charset="-122"/>
                <a:ea typeface="微软雅黑" panose="020B0503020204020204" pitchFamily="34" charset="-122"/>
              </a:endParaRPr>
            </a:p>
          </p:txBody>
        </p:sp>
      </p:grpSp>
      <p:sp>
        <p:nvSpPr>
          <p:cNvPr id="474128" name="矩形 474127"/>
          <p:cNvSpPr/>
          <p:nvPr/>
        </p:nvSpPr>
        <p:spPr>
          <a:xfrm>
            <a:off x="4738688" y="3164417"/>
            <a:ext cx="9261" cy="132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29" name="矩形 474128"/>
          <p:cNvSpPr/>
          <p:nvPr/>
        </p:nvSpPr>
        <p:spPr>
          <a:xfrm>
            <a:off x="4738688" y="4610365"/>
            <a:ext cx="1323" cy="1058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30" name="矩形 474129"/>
          <p:cNvSpPr/>
          <p:nvPr/>
        </p:nvSpPr>
        <p:spPr>
          <a:xfrm>
            <a:off x="7014104" y="4610365"/>
            <a:ext cx="1323" cy="1058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31" name="矩形 474130"/>
          <p:cNvSpPr/>
          <p:nvPr/>
        </p:nvSpPr>
        <p:spPr>
          <a:xfrm>
            <a:off x="5207000" y="4901407"/>
            <a:ext cx="9261" cy="132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32" name="矩形 474131"/>
          <p:cNvSpPr/>
          <p:nvPr/>
        </p:nvSpPr>
        <p:spPr>
          <a:xfrm>
            <a:off x="5334000" y="5028407"/>
            <a:ext cx="9261" cy="132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33" name="矩形 474132"/>
          <p:cNvSpPr/>
          <p:nvPr/>
        </p:nvSpPr>
        <p:spPr>
          <a:xfrm>
            <a:off x="5461000" y="5155407"/>
            <a:ext cx="9261" cy="132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34" name="矩形 474133"/>
          <p:cNvSpPr/>
          <p:nvPr/>
        </p:nvSpPr>
        <p:spPr>
          <a:xfrm>
            <a:off x="5207000" y="4431771"/>
            <a:ext cx="9261" cy="132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35" name="矩形 474134"/>
          <p:cNvSpPr/>
          <p:nvPr/>
        </p:nvSpPr>
        <p:spPr>
          <a:xfrm>
            <a:off x="5207000" y="4422511"/>
            <a:ext cx="9261" cy="132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36" name="矩形 474135"/>
          <p:cNvSpPr/>
          <p:nvPr/>
        </p:nvSpPr>
        <p:spPr>
          <a:xfrm>
            <a:off x="5011208" y="4335198"/>
            <a:ext cx="1323" cy="9260"/>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37" name="矩形 474136"/>
          <p:cNvSpPr/>
          <p:nvPr/>
        </p:nvSpPr>
        <p:spPr>
          <a:xfrm>
            <a:off x="5021792" y="4335198"/>
            <a:ext cx="1323" cy="9260"/>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38" name="矩形 474137"/>
          <p:cNvSpPr/>
          <p:nvPr/>
        </p:nvSpPr>
        <p:spPr>
          <a:xfrm>
            <a:off x="5050896" y="4591844"/>
            <a:ext cx="9261" cy="132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39" name="矩形 474138"/>
          <p:cNvSpPr/>
          <p:nvPr/>
        </p:nvSpPr>
        <p:spPr>
          <a:xfrm>
            <a:off x="5666053" y="2968625"/>
            <a:ext cx="9260" cy="132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40" name="矩形 474139"/>
          <p:cNvSpPr/>
          <p:nvPr/>
        </p:nvSpPr>
        <p:spPr>
          <a:xfrm>
            <a:off x="5519208" y="2692136"/>
            <a:ext cx="10583" cy="132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41" name="矩形 474140"/>
          <p:cNvSpPr/>
          <p:nvPr/>
        </p:nvSpPr>
        <p:spPr>
          <a:xfrm>
            <a:off x="4747948" y="4462198"/>
            <a:ext cx="9260" cy="132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42" name="矩形 474141"/>
          <p:cNvSpPr/>
          <p:nvPr/>
        </p:nvSpPr>
        <p:spPr>
          <a:xfrm>
            <a:off x="4874948" y="4589198"/>
            <a:ext cx="9260" cy="132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43" name="矩形 474142"/>
          <p:cNvSpPr/>
          <p:nvPr/>
        </p:nvSpPr>
        <p:spPr>
          <a:xfrm>
            <a:off x="5001948" y="4716198"/>
            <a:ext cx="9260" cy="1323"/>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44" name="矩形 474143"/>
          <p:cNvSpPr/>
          <p:nvPr/>
        </p:nvSpPr>
        <p:spPr>
          <a:xfrm>
            <a:off x="5207000" y="4462198"/>
            <a:ext cx="1323" cy="9260"/>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45" name="矩形 474144"/>
          <p:cNvSpPr/>
          <p:nvPr/>
        </p:nvSpPr>
        <p:spPr>
          <a:xfrm>
            <a:off x="5216261" y="4191000"/>
            <a:ext cx="1323" cy="9261"/>
          </a:xfrm>
          <a:prstGeom prst="rect">
            <a:avLst/>
          </a:prstGeom>
          <a:blipFill rotWithShape="0">
            <a:blip r:embed="rId1"/>
          </a:blip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46" name="直接连接符 474145"/>
          <p:cNvSpPr/>
          <p:nvPr/>
        </p:nvSpPr>
        <p:spPr>
          <a:xfrm>
            <a:off x="2107407" y="3894667"/>
            <a:ext cx="1323" cy="361157"/>
          </a:xfrm>
          <a:prstGeom prst="line">
            <a:avLst/>
          </a:prstGeom>
          <a:ln w="15875" cap="flat" cmpd="sng">
            <a:solidFill>
              <a:srgbClr val="000000"/>
            </a:solidFill>
            <a:prstDash val="solid"/>
            <a:miter/>
            <a:headEnd type="none" w="med" len="med"/>
            <a:tailEnd type="none" w="med" len="med"/>
          </a:ln>
        </p:spPr>
      </p:sp>
      <p:sp>
        <p:nvSpPr>
          <p:cNvPr id="474147" name="直接连接符 474146"/>
          <p:cNvSpPr/>
          <p:nvPr/>
        </p:nvSpPr>
        <p:spPr>
          <a:xfrm>
            <a:off x="2685521" y="2928938"/>
            <a:ext cx="1323" cy="412750"/>
          </a:xfrm>
          <a:prstGeom prst="line">
            <a:avLst/>
          </a:prstGeom>
          <a:ln w="15875" cap="flat" cmpd="sng">
            <a:solidFill>
              <a:srgbClr val="000000"/>
            </a:solidFill>
            <a:prstDash val="solid"/>
            <a:miter/>
            <a:headEnd type="none" w="med" len="med"/>
            <a:tailEnd type="none" w="med" len="med"/>
          </a:ln>
        </p:spPr>
      </p:sp>
      <p:sp>
        <p:nvSpPr>
          <p:cNvPr id="474148" name="直接连接符 474147"/>
          <p:cNvSpPr/>
          <p:nvPr/>
        </p:nvSpPr>
        <p:spPr>
          <a:xfrm>
            <a:off x="2685521" y="3430323"/>
            <a:ext cx="1323" cy="400843"/>
          </a:xfrm>
          <a:prstGeom prst="line">
            <a:avLst/>
          </a:prstGeom>
          <a:ln w="15875" cap="flat" cmpd="sng">
            <a:solidFill>
              <a:srgbClr val="000000"/>
            </a:solidFill>
            <a:prstDash val="solid"/>
            <a:miter/>
            <a:headEnd type="none" w="med" len="med"/>
            <a:tailEnd type="none" w="med" len="med"/>
          </a:ln>
        </p:spPr>
      </p:sp>
      <p:sp>
        <p:nvSpPr>
          <p:cNvPr id="474149" name="直接连接符 474148"/>
          <p:cNvSpPr/>
          <p:nvPr/>
        </p:nvSpPr>
        <p:spPr>
          <a:xfrm>
            <a:off x="2107407" y="2313782"/>
            <a:ext cx="1323" cy="615156"/>
          </a:xfrm>
          <a:prstGeom prst="line">
            <a:avLst/>
          </a:prstGeom>
          <a:ln w="15875" cap="flat" cmpd="sng">
            <a:solidFill>
              <a:srgbClr val="000000"/>
            </a:solidFill>
            <a:prstDash val="solid"/>
            <a:miter/>
            <a:headEnd type="none" w="med" len="med"/>
            <a:tailEnd type="none" w="med" len="med"/>
          </a:ln>
        </p:spPr>
      </p:sp>
      <p:sp>
        <p:nvSpPr>
          <p:cNvPr id="474150" name="直接连接符 474149"/>
          <p:cNvSpPr/>
          <p:nvPr/>
        </p:nvSpPr>
        <p:spPr>
          <a:xfrm>
            <a:off x="2107407" y="1563688"/>
            <a:ext cx="1323" cy="292365"/>
          </a:xfrm>
          <a:prstGeom prst="line">
            <a:avLst/>
          </a:prstGeom>
          <a:ln w="15875" cap="flat" cmpd="sng">
            <a:solidFill>
              <a:srgbClr val="000000"/>
            </a:solidFill>
            <a:prstDash val="solid"/>
            <a:miter/>
            <a:headEnd type="none" w="med" len="med"/>
            <a:tailEnd type="none" w="med" len="med"/>
          </a:ln>
        </p:spPr>
      </p:sp>
      <p:sp>
        <p:nvSpPr>
          <p:cNvPr id="474151" name="直接连接符 474150"/>
          <p:cNvSpPr/>
          <p:nvPr/>
        </p:nvSpPr>
        <p:spPr>
          <a:xfrm>
            <a:off x="1796521" y="1563688"/>
            <a:ext cx="616479" cy="1323"/>
          </a:xfrm>
          <a:prstGeom prst="line">
            <a:avLst/>
          </a:prstGeom>
          <a:ln w="15875" cap="flat" cmpd="sng">
            <a:solidFill>
              <a:srgbClr val="000000"/>
            </a:solidFill>
            <a:prstDash val="solid"/>
            <a:miter/>
            <a:headEnd type="none" w="med" len="med"/>
            <a:tailEnd type="none" w="med" len="med"/>
          </a:ln>
        </p:spPr>
      </p:sp>
      <p:sp>
        <p:nvSpPr>
          <p:cNvPr id="474152" name="直接连接符 474151"/>
          <p:cNvSpPr/>
          <p:nvPr/>
        </p:nvSpPr>
        <p:spPr>
          <a:xfrm>
            <a:off x="4419865" y="1590146"/>
            <a:ext cx="621771" cy="1323"/>
          </a:xfrm>
          <a:prstGeom prst="line">
            <a:avLst/>
          </a:prstGeom>
          <a:ln w="15875" cap="flat" cmpd="sng">
            <a:solidFill>
              <a:srgbClr val="000000"/>
            </a:solidFill>
            <a:prstDash val="solid"/>
            <a:miter/>
            <a:headEnd type="none" w="med" len="med"/>
            <a:tailEnd type="none" w="med" len="med"/>
          </a:ln>
        </p:spPr>
      </p:sp>
      <p:sp>
        <p:nvSpPr>
          <p:cNvPr id="474153" name="直接连接符 474152"/>
          <p:cNvSpPr/>
          <p:nvPr/>
        </p:nvSpPr>
        <p:spPr>
          <a:xfrm>
            <a:off x="2107407" y="2928938"/>
            <a:ext cx="915458" cy="1323"/>
          </a:xfrm>
          <a:prstGeom prst="line">
            <a:avLst/>
          </a:prstGeom>
          <a:ln w="15875" cap="flat" cmpd="sng">
            <a:solidFill>
              <a:srgbClr val="000000"/>
            </a:solidFill>
            <a:prstDash val="solid"/>
            <a:miter/>
            <a:headEnd type="none" w="med" len="med"/>
            <a:tailEnd type="none" w="med" len="med"/>
          </a:ln>
        </p:spPr>
      </p:sp>
      <p:sp>
        <p:nvSpPr>
          <p:cNvPr id="474154" name="椭圆 474153"/>
          <p:cNvSpPr/>
          <p:nvPr/>
        </p:nvSpPr>
        <p:spPr>
          <a:xfrm>
            <a:off x="2070365" y="2890573"/>
            <a:ext cx="75406" cy="76729"/>
          </a:xfrm>
          <a:prstGeom prst="ellipse">
            <a:avLst/>
          </a:prstGeom>
          <a:solidFill>
            <a:srgbClr val="000000"/>
          </a:solid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55" name="椭圆 474154"/>
          <p:cNvSpPr/>
          <p:nvPr/>
        </p:nvSpPr>
        <p:spPr>
          <a:xfrm>
            <a:off x="2647157" y="2890573"/>
            <a:ext cx="76729" cy="76729"/>
          </a:xfrm>
          <a:prstGeom prst="ellipse">
            <a:avLst/>
          </a:prstGeom>
          <a:solidFill>
            <a:srgbClr val="000000"/>
          </a:solid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56" name="任意多边形 474155"/>
          <p:cNvSpPr/>
          <p:nvPr/>
        </p:nvSpPr>
        <p:spPr>
          <a:xfrm>
            <a:off x="2032000" y="1856053"/>
            <a:ext cx="152136" cy="457729"/>
          </a:xfrm>
          <a:custGeom>
            <a:avLst/>
            <a:gdLst/>
            <a:ahLst/>
            <a:cxnLst/>
            <a:rect l="0" t="0" r="0" b="0"/>
            <a:pathLst>
              <a:path w="115" h="346">
                <a:moveTo>
                  <a:pt x="57" y="346"/>
                </a:moveTo>
                <a:lnTo>
                  <a:pt x="0" y="317"/>
                </a:lnTo>
                <a:lnTo>
                  <a:pt x="115" y="259"/>
                </a:lnTo>
                <a:lnTo>
                  <a:pt x="0" y="202"/>
                </a:lnTo>
                <a:lnTo>
                  <a:pt x="115" y="144"/>
                </a:lnTo>
                <a:lnTo>
                  <a:pt x="0" y="86"/>
                </a:lnTo>
                <a:lnTo>
                  <a:pt x="115" y="29"/>
                </a:lnTo>
                <a:lnTo>
                  <a:pt x="57" y="0"/>
                </a:lnTo>
              </a:path>
            </a:pathLst>
          </a:custGeom>
          <a:noFill/>
          <a:ln w="23813" cap="flat" cmpd="sng">
            <a:solidFill>
              <a:srgbClr val="000000"/>
            </a:solidFill>
            <a:prstDash val="solid"/>
            <a:miter/>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57" name="直接连接符 474156"/>
          <p:cNvSpPr/>
          <p:nvPr/>
        </p:nvSpPr>
        <p:spPr>
          <a:xfrm>
            <a:off x="4730750" y="3995208"/>
            <a:ext cx="1323" cy="260615"/>
          </a:xfrm>
          <a:prstGeom prst="line">
            <a:avLst/>
          </a:prstGeom>
          <a:ln w="15875" cap="flat" cmpd="sng">
            <a:solidFill>
              <a:srgbClr val="000000"/>
            </a:solidFill>
            <a:prstDash val="solid"/>
            <a:miter/>
            <a:headEnd type="none" w="med" len="med"/>
            <a:tailEnd type="none" w="med" len="med"/>
          </a:ln>
        </p:spPr>
      </p:sp>
      <p:sp>
        <p:nvSpPr>
          <p:cNvPr id="474158" name="直接连接符 474157"/>
          <p:cNvSpPr/>
          <p:nvPr/>
        </p:nvSpPr>
        <p:spPr>
          <a:xfrm>
            <a:off x="4730750" y="2903803"/>
            <a:ext cx="1323" cy="635000"/>
          </a:xfrm>
          <a:prstGeom prst="line">
            <a:avLst/>
          </a:prstGeom>
          <a:ln w="15875" cap="flat" cmpd="sng">
            <a:solidFill>
              <a:srgbClr val="000000"/>
            </a:solidFill>
            <a:prstDash val="solid"/>
            <a:miter/>
            <a:headEnd type="none" w="med" len="med"/>
            <a:tailEnd type="none" w="med" len="med"/>
          </a:ln>
        </p:spPr>
      </p:sp>
      <p:sp>
        <p:nvSpPr>
          <p:cNvPr id="474159" name="任意多边形 474158"/>
          <p:cNvSpPr/>
          <p:nvPr/>
        </p:nvSpPr>
        <p:spPr>
          <a:xfrm>
            <a:off x="4654021" y="3538803"/>
            <a:ext cx="152136" cy="456406"/>
          </a:xfrm>
          <a:custGeom>
            <a:avLst/>
            <a:gdLst/>
            <a:ahLst/>
            <a:cxnLst/>
            <a:rect l="0" t="0" r="0" b="0"/>
            <a:pathLst>
              <a:path w="115" h="345">
                <a:moveTo>
                  <a:pt x="58" y="345"/>
                </a:moveTo>
                <a:lnTo>
                  <a:pt x="0" y="317"/>
                </a:lnTo>
                <a:lnTo>
                  <a:pt x="115" y="259"/>
                </a:lnTo>
                <a:lnTo>
                  <a:pt x="0" y="201"/>
                </a:lnTo>
                <a:lnTo>
                  <a:pt x="115" y="144"/>
                </a:lnTo>
                <a:lnTo>
                  <a:pt x="0" y="86"/>
                </a:lnTo>
                <a:lnTo>
                  <a:pt x="115" y="29"/>
                </a:lnTo>
                <a:lnTo>
                  <a:pt x="58" y="0"/>
                </a:lnTo>
              </a:path>
            </a:pathLst>
          </a:custGeom>
          <a:noFill/>
          <a:ln w="23813" cap="flat" cmpd="sng">
            <a:solidFill>
              <a:srgbClr val="000000"/>
            </a:solidFill>
            <a:prstDash val="solid"/>
            <a:miter/>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60" name="直接连接符 474159"/>
          <p:cNvSpPr/>
          <p:nvPr/>
        </p:nvSpPr>
        <p:spPr>
          <a:xfrm flipH="1">
            <a:off x="1961886" y="4255823"/>
            <a:ext cx="285750" cy="1323"/>
          </a:xfrm>
          <a:prstGeom prst="line">
            <a:avLst/>
          </a:prstGeom>
          <a:ln w="23813" cap="flat" cmpd="sng">
            <a:solidFill>
              <a:srgbClr val="000000"/>
            </a:solidFill>
            <a:prstDash val="solid"/>
            <a:miter/>
            <a:headEnd type="none" w="med" len="med"/>
            <a:tailEnd type="none" w="med" len="med"/>
          </a:ln>
        </p:spPr>
      </p:sp>
      <p:sp>
        <p:nvSpPr>
          <p:cNvPr id="474161" name="直接连接符 474160"/>
          <p:cNvSpPr/>
          <p:nvPr/>
        </p:nvSpPr>
        <p:spPr>
          <a:xfrm flipH="1">
            <a:off x="2012157" y="4319323"/>
            <a:ext cx="185208" cy="1323"/>
          </a:xfrm>
          <a:prstGeom prst="line">
            <a:avLst/>
          </a:prstGeom>
          <a:ln w="23813" cap="flat" cmpd="sng">
            <a:solidFill>
              <a:srgbClr val="000000"/>
            </a:solidFill>
            <a:prstDash val="solid"/>
            <a:miter/>
            <a:headEnd type="none" w="med" len="med"/>
            <a:tailEnd type="none" w="med" len="med"/>
          </a:ln>
        </p:spPr>
      </p:sp>
      <p:sp>
        <p:nvSpPr>
          <p:cNvPr id="474162" name="直接连接符 474161"/>
          <p:cNvSpPr/>
          <p:nvPr/>
        </p:nvSpPr>
        <p:spPr>
          <a:xfrm flipH="1">
            <a:off x="2063750" y="4376208"/>
            <a:ext cx="82021" cy="1323"/>
          </a:xfrm>
          <a:prstGeom prst="line">
            <a:avLst/>
          </a:prstGeom>
          <a:ln w="23813" cap="flat" cmpd="sng">
            <a:solidFill>
              <a:srgbClr val="000000"/>
            </a:solidFill>
            <a:prstDash val="solid"/>
            <a:miter/>
            <a:headEnd type="none" w="med" len="med"/>
            <a:tailEnd type="none" w="med" len="med"/>
          </a:ln>
        </p:spPr>
      </p:sp>
      <p:sp>
        <p:nvSpPr>
          <p:cNvPr id="474163" name="直接连接符 474162"/>
          <p:cNvSpPr/>
          <p:nvPr/>
        </p:nvSpPr>
        <p:spPr>
          <a:xfrm flipH="1">
            <a:off x="4583907" y="4255823"/>
            <a:ext cx="292364" cy="1323"/>
          </a:xfrm>
          <a:prstGeom prst="line">
            <a:avLst/>
          </a:prstGeom>
          <a:ln w="23813" cap="flat" cmpd="sng">
            <a:solidFill>
              <a:srgbClr val="000000"/>
            </a:solidFill>
            <a:prstDash val="solid"/>
            <a:miter/>
            <a:headEnd type="none" w="med" len="med"/>
            <a:tailEnd type="none" w="med" len="med"/>
          </a:ln>
        </p:spPr>
      </p:sp>
      <p:sp>
        <p:nvSpPr>
          <p:cNvPr id="474164" name="直接连接符 474163"/>
          <p:cNvSpPr/>
          <p:nvPr/>
        </p:nvSpPr>
        <p:spPr>
          <a:xfrm flipH="1">
            <a:off x="4635500" y="4319323"/>
            <a:ext cx="183886" cy="1323"/>
          </a:xfrm>
          <a:prstGeom prst="line">
            <a:avLst/>
          </a:prstGeom>
          <a:ln w="23813" cap="flat" cmpd="sng">
            <a:solidFill>
              <a:srgbClr val="000000"/>
            </a:solidFill>
            <a:prstDash val="solid"/>
            <a:miter/>
            <a:headEnd type="none" w="med" len="med"/>
            <a:tailEnd type="none" w="med" len="med"/>
          </a:ln>
        </p:spPr>
      </p:sp>
      <p:sp>
        <p:nvSpPr>
          <p:cNvPr id="474165" name="直接连接符 474164"/>
          <p:cNvSpPr/>
          <p:nvPr/>
        </p:nvSpPr>
        <p:spPr>
          <a:xfrm flipH="1">
            <a:off x="4685771" y="4376208"/>
            <a:ext cx="88636" cy="1323"/>
          </a:xfrm>
          <a:prstGeom prst="line">
            <a:avLst/>
          </a:prstGeom>
          <a:ln w="23813" cap="flat" cmpd="sng">
            <a:solidFill>
              <a:srgbClr val="000000"/>
            </a:solidFill>
            <a:prstDash val="solid"/>
            <a:miter/>
            <a:headEnd type="none" w="med" len="med"/>
            <a:tailEnd type="none" w="med" len="med"/>
          </a:ln>
        </p:spPr>
      </p:sp>
      <p:sp>
        <p:nvSpPr>
          <p:cNvPr id="474166" name="直接连接符 474165"/>
          <p:cNvSpPr/>
          <p:nvPr/>
        </p:nvSpPr>
        <p:spPr>
          <a:xfrm flipH="1">
            <a:off x="2546615" y="3831167"/>
            <a:ext cx="285750" cy="1323"/>
          </a:xfrm>
          <a:prstGeom prst="line">
            <a:avLst/>
          </a:prstGeom>
          <a:ln w="23813" cap="flat" cmpd="sng">
            <a:solidFill>
              <a:srgbClr val="000000"/>
            </a:solidFill>
            <a:prstDash val="solid"/>
            <a:miter/>
            <a:headEnd type="none" w="med" len="med"/>
            <a:tailEnd type="none" w="med" len="med"/>
          </a:ln>
        </p:spPr>
      </p:sp>
      <p:sp>
        <p:nvSpPr>
          <p:cNvPr id="474167" name="直接连接符 474166"/>
          <p:cNvSpPr/>
          <p:nvPr/>
        </p:nvSpPr>
        <p:spPr>
          <a:xfrm flipH="1">
            <a:off x="2596886" y="3888053"/>
            <a:ext cx="183885" cy="1323"/>
          </a:xfrm>
          <a:prstGeom prst="line">
            <a:avLst/>
          </a:prstGeom>
          <a:ln w="23813" cap="flat" cmpd="sng">
            <a:solidFill>
              <a:srgbClr val="000000"/>
            </a:solidFill>
            <a:prstDash val="solid"/>
            <a:miter/>
            <a:headEnd type="none" w="med" len="med"/>
            <a:tailEnd type="none" w="med" len="med"/>
          </a:ln>
        </p:spPr>
      </p:sp>
      <p:sp>
        <p:nvSpPr>
          <p:cNvPr id="474168" name="直接连接符 474167"/>
          <p:cNvSpPr/>
          <p:nvPr/>
        </p:nvSpPr>
        <p:spPr>
          <a:xfrm flipH="1">
            <a:off x="2647157" y="3951553"/>
            <a:ext cx="83343" cy="1323"/>
          </a:xfrm>
          <a:prstGeom prst="line">
            <a:avLst/>
          </a:prstGeom>
          <a:ln w="23813" cap="flat" cmpd="sng">
            <a:solidFill>
              <a:srgbClr val="000000"/>
            </a:solidFill>
            <a:prstDash val="solid"/>
            <a:miter/>
            <a:headEnd type="none" w="med" len="med"/>
            <a:tailEnd type="none" w="med" len="med"/>
          </a:ln>
        </p:spPr>
      </p:sp>
      <p:sp>
        <p:nvSpPr>
          <p:cNvPr id="474169" name="直接连接符 474168"/>
          <p:cNvSpPr/>
          <p:nvPr/>
        </p:nvSpPr>
        <p:spPr>
          <a:xfrm>
            <a:off x="2565136" y="3341688"/>
            <a:ext cx="247385" cy="1323"/>
          </a:xfrm>
          <a:prstGeom prst="line">
            <a:avLst/>
          </a:prstGeom>
          <a:ln w="23813" cap="flat" cmpd="sng">
            <a:solidFill>
              <a:srgbClr val="000000"/>
            </a:solidFill>
            <a:prstDash val="solid"/>
            <a:miter/>
            <a:headEnd type="none" w="med" len="med"/>
            <a:tailEnd type="none" w="med" len="med"/>
          </a:ln>
        </p:spPr>
      </p:sp>
      <p:sp>
        <p:nvSpPr>
          <p:cNvPr id="474170" name="直接连接符 474169"/>
          <p:cNvSpPr/>
          <p:nvPr/>
        </p:nvSpPr>
        <p:spPr>
          <a:xfrm>
            <a:off x="2565136" y="3430323"/>
            <a:ext cx="247385" cy="1323"/>
          </a:xfrm>
          <a:prstGeom prst="line">
            <a:avLst/>
          </a:prstGeom>
          <a:ln w="23813" cap="flat" cmpd="sng">
            <a:solidFill>
              <a:srgbClr val="000000"/>
            </a:solidFill>
            <a:prstDash val="solid"/>
            <a:miter/>
            <a:headEnd type="none" w="med" len="med"/>
            <a:tailEnd type="none" w="med" len="med"/>
          </a:ln>
        </p:spPr>
      </p:sp>
      <p:sp>
        <p:nvSpPr>
          <p:cNvPr id="474171" name="椭圆 474170"/>
          <p:cNvSpPr/>
          <p:nvPr/>
        </p:nvSpPr>
        <p:spPr>
          <a:xfrm>
            <a:off x="2063750" y="3804708"/>
            <a:ext cx="88636" cy="89958"/>
          </a:xfrm>
          <a:prstGeom prst="ellipse">
            <a:avLst/>
          </a:prstGeom>
          <a:noFill/>
          <a:ln w="15875" cap="flat" cmpd="sng">
            <a:solidFill>
              <a:srgbClr val="000000"/>
            </a:solidFill>
            <a:prstDash val="solid"/>
            <a:miter/>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72" name="椭圆 474171"/>
          <p:cNvSpPr/>
          <p:nvPr/>
        </p:nvSpPr>
        <p:spPr>
          <a:xfrm>
            <a:off x="3022865" y="2885282"/>
            <a:ext cx="88635" cy="88635"/>
          </a:xfrm>
          <a:prstGeom prst="ellipse">
            <a:avLst/>
          </a:prstGeom>
          <a:noFill/>
          <a:ln w="15875" cap="flat" cmpd="sng">
            <a:solidFill>
              <a:srgbClr val="000000"/>
            </a:solidFill>
            <a:prstDash val="solid"/>
            <a:miter/>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73" name="直接连接符 474172"/>
          <p:cNvSpPr/>
          <p:nvPr/>
        </p:nvSpPr>
        <p:spPr>
          <a:xfrm>
            <a:off x="5898886" y="3030803"/>
            <a:ext cx="1323" cy="412750"/>
          </a:xfrm>
          <a:prstGeom prst="line">
            <a:avLst/>
          </a:prstGeom>
          <a:ln w="15875" cap="flat" cmpd="sng">
            <a:solidFill>
              <a:srgbClr val="000000"/>
            </a:solidFill>
            <a:prstDash val="solid"/>
            <a:miter/>
            <a:headEnd type="none" w="med" len="med"/>
            <a:tailEnd type="none" w="med" len="med"/>
          </a:ln>
        </p:spPr>
      </p:sp>
      <p:sp>
        <p:nvSpPr>
          <p:cNvPr id="474174" name="直接连接符 474173"/>
          <p:cNvSpPr/>
          <p:nvPr/>
        </p:nvSpPr>
        <p:spPr>
          <a:xfrm>
            <a:off x="5898886" y="3532188"/>
            <a:ext cx="1323" cy="399521"/>
          </a:xfrm>
          <a:prstGeom prst="line">
            <a:avLst/>
          </a:prstGeom>
          <a:ln w="15875" cap="flat" cmpd="sng">
            <a:solidFill>
              <a:srgbClr val="000000"/>
            </a:solidFill>
            <a:prstDash val="solid"/>
            <a:miter/>
            <a:headEnd type="none" w="med" len="med"/>
            <a:tailEnd type="none" w="med" len="med"/>
          </a:ln>
        </p:spPr>
      </p:sp>
      <p:sp>
        <p:nvSpPr>
          <p:cNvPr id="474175" name="直接连接符 474174"/>
          <p:cNvSpPr/>
          <p:nvPr/>
        </p:nvSpPr>
        <p:spPr>
          <a:xfrm>
            <a:off x="4730750" y="3030803"/>
            <a:ext cx="1415521" cy="1323"/>
          </a:xfrm>
          <a:prstGeom prst="line">
            <a:avLst/>
          </a:prstGeom>
          <a:ln w="15875" cap="flat" cmpd="sng">
            <a:solidFill>
              <a:srgbClr val="000000"/>
            </a:solidFill>
            <a:prstDash val="solid"/>
            <a:miter/>
            <a:headEnd type="none" w="med" len="med"/>
            <a:tailEnd type="none" w="med" len="med"/>
          </a:ln>
        </p:spPr>
      </p:sp>
      <p:sp>
        <p:nvSpPr>
          <p:cNvPr id="474176" name="椭圆 474175"/>
          <p:cNvSpPr/>
          <p:nvPr/>
        </p:nvSpPr>
        <p:spPr>
          <a:xfrm>
            <a:off x="4692386" y="2992438"/>
            <a:ext cx="76729" cy="76729"/>
          </a:xfrm>
          <a:prstGeom prst="ellipse">
            <a:avLst/>
          </a:prstGeom>
          <a:solidFill>
            <a:srgbClr val="000000"/>
          </a:solid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77" name="椭圆 474176"/>
          <p:cNvSpPr/>
          <p:nvPr/>
        </p:nvSpPr>
        <p:spPr>
          <a:xfrm>
            <a:off x="5860521" y="2992438"/>
            <a:ext cx="76729" cy="76729"/>
          </a:xfrm>
          <a:prstGeom prst="ellipse">
            <a:avLst/>
          </a:prstGeom>
          <a:solidFill>
            <a:srgbClr val="000000"/>
          </a:solid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78" name="直接连接符 474177"/>
          <p:cNvSpPr/>
          <p:nvPr/>
        </p:nvSpPr>
        <p:spPr>
          <a:xfrm flipH="1">
            <a:off x="5753365" y="3931708"/>
            <a:ext cx="291042" cy="1323"/>
          </a:xfrm>
          <a:prstGeom prst="line">
            <a:avLst/>
          </a:prstGeom>
          <a:ln w="23813" cap="flat" cmpd="sng">
            <a:solidFill>
              <a:srgbClr val="000000"/>
            </a:solidFill>
            <a:prstDash val="solid"/>
            <a:miter/>
            <a:headEnd type="none" w="med" len="med"/>
            <a:tailEnd type="none" w="med" len="med"/>
          </a:ln>
        </p:spPr>
      </p:sp>
      <p:sp>
        <p:nvSpPr>
          <p:cNvPr id="474179" name="直接连接符 474178"/>
          <p:cNvSpPr/>
          <p:nvPr/>
        </p:nvSpPr>
        <p:spPr>
          <a:xfrm flipH="1">
            <a:off x="5803636" y="3989917"/>
            <a:ext cx="183885" cy="1323"/>
          </a:xfrm>
          <a:prstGeom prst="line">
            <a:avLst/>
          </a:prstGeom>
          <a:ln w="23813" cap="flat" cmpd="sng">
            <a:solidFill>
              <a:srgbClr val="000000"/>
            </a:solidFill>
            <a:prstDash val="solid"/>
            <a:miter/>
            <a:headEnd type="none" w="med" len="med"/>
            <a:tailEnd type="none" w="med" len="med"/>
          </a:ln>
        </p:spPr>
      </p:sp>
      <p:sp>
        <p:nvSpPr>
          <p:cNvPr id="474180" name="直接连接符 474179"/>
          <p:cNvSpPr/>
          <p:nvPr/>
        </p:nvSpPr>
        <p:spPr>
          <a:xfrm flipH="1">
            <a:off x="5853907" y="4052094"/>
            <a:ext cx="89958" cy="1323"/>
          </a:xfrm>
          <a:prstGeom prst="line">
            <a:avLst/>
          </a:prstGeom>
          <a:ln w="23813" cap="flat" cmpd="sng">
            <a:solidFill>
              <a:srgbClr val="000000"/>
            </a:solidFill>
            <a:prstDash val="solid"/>
            <a:miter/>
            <a:headEnd type="none" w="med" len="med"/>
            <a:tailEnd type="none" w="med" len="med"/>
          </a:ln>
        </p:spPr>
      </p:sp>
      <p:sp>
        <p:nvSpPr>
          <p:cNvPr id="474181" name="直接连接符 474180"/>
          <p:cNvSpPr/>
          <p:nvPr/>
        </p:nvSpPr>
        <p:spPr>
          <a:xfrm>
            <a:off x="5778500" y="3443553"/>
            <a:ext cx="240771" cy="1323"/>
          </a:xfrm>
          <a:prstGeom prst="line">
            <a:avLst/>
          </a:prstGeom>
          <a:ln w="23813" cap="flat" cmpd="sng">
            <a:solidFill>
              <a:srgbClr val="000000"/>
            </a:solidFill>
            <a:prstDash val="solid"/>
            <a:miter/>
            <a:headEnd type="none" w="med" len="med"/>
            <a:tailEnd type="none" w="med" len="med"/>
          </a:ln>
        </p:spPr>
      </p:sp>
      <p:sp>
        <p:nvSpPr>
          <p:cNvPr id="474182" name="直接连接符 474181"/>
          <p:cNvSpPr/>
          <p:nvPr/>
        </p:nvSpPr>
        <p:spPr>
          <a:xfrm>
            <a:off x="5778500" y="3532188"/>
            <a:ext cx="240771" cy="1323"/>
          </a:xfrm>
          <a:prstGeom prst="line">
            <a:avLst/>
          </a:prstGeom>
          <a:ln w="23813" cap="flat" cmpd="sng">
            <a:solidFill>
              <a:srgbClr val="000000"/>
            </a:solidFill>
            <a:prstDash val="solid"/>
            <a:miter/>
            <a:headEnd type="none" w="med" len="med"/>
            <a:tailEnd type="none" w="med" len="med"/>
          </a:ln>
        </p:spPr>
      </p:sp>
      <p:sp>
        <p:nvSpPr>
          <p:cNvPr id="474183" name="椭圆 474182"/>
          <p:cNvSpPr/>
          <p:nvPr/>
        </p:nvSpPr>
        <p:spPr>
          <a:xfrm>
            <a:off x="6146271" y="2985823"/>
            <a:ext cx="88636" cy="88635"/>
          </a:xfrm>
          <a:prstGeom prst="ellipse">
            <a:avLst/>
          </a:prstGeom>
          <a:noFill/>
          <a:ln w="15875" cap="flat" cmpd="sng">
            <a:solidFill>
              <a:srgbClr val="000000"/>
            </a:solidFill>
            <a:prstDash val="solid"/>
            <a:miter/>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84" name="椭圆 474183"/>
          <p:cNvSpPr/>
          <p:nvPr/>
        </p:nvSpPr>
        <p:spPr>
          <a:xfrm>
            <a:off x="4685771" y="2815167"/>
            <a:ext cx="88636" cy="88636"/>
          </a:xfrm>
          <a:prstGeom prst="ellipse">
            <a:avLst/>
          </a:prstGeom>
          <a:noFill/>
          <a:ln w="15875" cap="flat" cmpd="sng">
            <a:solidFill>
              <a:srgbClr val="000000"/>
            </a:solidFill>
            <a:prstDash val="solid"/>
            <a:miter/>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85" name="任意多边形 474184"/>
          <p:cNvSpPr/>
          <p:nvPr/>
        </p:nvSpPr>
        <p:spPr>
          <a:xfrm>
            <a:off x="1905000" y="3563938"/>
            <a:ext cx="170657" cy="101865"/>
          </a:xfrm>
          <a:custGeom>
            <a:avLst/>
            <a:gdLst/>
            <a:ahLst/>
            <a:cxnLst/>
            <a:rect l="0" t="0" r="0" b="0"/>
            <a:pathLst>
              <a:path w="27" h="16">
                <a:moveTo>
                  <a:pt x="27" y="0"/>
                </a:moveTo>
                <a:cubicBezTo>
                  <a:pt x="17" y="3"/>
                  <a:pt x="8" y="9"/>
                  <a:pt x="0" y="16"/>
                </a:cubicBezTo>
              </a:path>
            </a:pathLst>
          </a:custGeom>
          <a:noFill/>
          <a:ln w="15875" cap="flat" cmpd="sng">
            <a:solidFill>
              <a:srgbClr val="000000"/>
            </a:solidFill>
            <a:prstDash val="solid"/>
            <a:miter/>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86" name="任意多边形 474185"/>
          <p:cNvSpPr/>
          <p:nvPr/>
        </p:nvSpPr>
        <p:spPr>
          <a:xfrm>
            <a:off x="1834886" y="3614208"/>
            <a:ext cx="120385" cy="108479"/>
          </a:xfrm>
          <a:custGeom>
            <a:avLst/>
            <a:gdLst/>
            <a:ahLst/>
            <a:cxnLst/>
            <a:rect l="0" t="0" r="0" b="0"/>
            <a:pathLst>
              <a:path w="19" h="17">
                <a:moveTo>
                  <a:pt x="12" y="7"/>
                </a:moveTo>
                <a:cubicBezTo>
                  <a:pt x="19" y="8"/>
                  <a:pt x="19" y="8"/>
                  <a:pt x="19" y="8"/>
                </a:cubicBezTo>
                <a:cubicBezTo>
                  <a:pt x="19" y="9"/>
                  <a:pt x="19" y="9"/>
                  <a:pt x="19" y="9"/>
                </a:cubicBezTo>
                <a:cubicBezTo>
                  <a:pt x="9" y="12"/>
                  <a:pt x="9" y="12"/>
                  <a:pt x="9" y="12"/>
                </a:cubicBezTo>
                <a:cubicBezTo>
                  <a:pt x="6" y="14"/>
                  <a:pt x="3" y="16"/>
                  <a:pt x="0" y="17"/>
                </a:cubicBezTo>
                <a:cubicBezTo>
                  <a:pt x="2" y="15"/>
                  <a:pt x="4" y="12"/>
                  <a:pt x="6" y="9"/>
                </a:cubicBezTo>
                <a:cubicBezTo>
                  <a:pt x="11" y="0"/>
                  <a:pt x="11" y="0"/>
                  <a:pt x="11" y="0"/>
                </a:cubicBezTo>
                <a:cubicBezTo>
                  <a:pt x="11" y="0"/>
                  <a:pt x="11" y="0"/>
                  <a:pt x="11" y="0"/>
                </a:cubicBezTo>
                <a:cubicBezTo>
                  <a:pt x="12" y="7"/>
                  <a:pt x="12" y="7"/>
                  <a:pt x="12" y="7"/>
                </a:cubicBezTo>
              </a:path>
            </a:pathLst>
          </a:custGeom>
          <a:solidFill>
            <a:srgbClr val="000000"/>
          </a:solid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87" name="任意多边形 474186"/>
          <p:cNvSpPr>
            <a:spLocks noEditPoints="1"/>
          </p:cNvSpPr>
          <p:nvPr/>
        </p:nvSpPr>
        <p:spPr>
          <a:xfrm>
            <a:off x="1891771" y="2928938"/>
            <a:ext cx="215636" cy="875771"/>
          </a:xfrm>
          <a:custGeom>
            <a:avLst/>
            <a:gdLst/>
            <a:ahLst/>
            <a:cxnLst/>
            <a:rect l="0" t="0" r="0" b="0"/>
            <a:pathLst>
              <a:path w="163" h="662">
                <a:moveTo>
                  <a:pt x="163" y="662"/>
                </a:moveTo>
                <a:lnTo>
                  <a:pt x="0" y="394"/>
                </a:lnTo>
                <a:moveTo>
                  <a:pt x="163" y="346"/>
                </a:moveTo>
                <a:lnTo>
                  <a:pt x="163" y="0"/>
                </a:lnTo>
              </a:path>
            </a:pathLst>
          </a:custGeom>
          <a:noFill/>
          <a:ln w="15875" cap="flat" cmpd="sng">
            <a:solidFill>
              <a:srgbClr val="000000"/>
            </a:solidFill>
            <a:prstDash val="solid"/>
            <a:miter/>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88" name="任意多边形 474187"/>
          <p:cNvSpPr/>
          <p:nvPr/>
        </p:nvSpPr>
        <p:spPr>
          <a:xfrm>
            <a:off x="4527021" y="2573073"/>
            <a:ext cx="171979" cy="101864"/>
          </a:xfrm>
          <a:custGeom>
            <a:avLst/>
            <a:gdLst/>
            <a:ahLst/>
            <a:cxnLst/>
            <a:rect l="0" t="0" r="0" b="0"/>
            <a:pathLst>
              <a:path w="27" h="16">
                <a:moveTo>
                  <a:pt x="27" y="0"/>
                </a:moveTo>
                <a:cubicBezTo>
                  <a:pt x="17" y="3"/>
                  <a:pt x="8" y="9"/>
                  <a:pt x="0" y="16"/>
                </a:cubicBezTo>
              </a:path>
            </a:pathLst>
          </a:custGeom>
          <a:noFill/>
          <a:ln w="15875" cap="flat" cmpd="sng">
            <a:solidFill>
              <a:srgbClr val="000000"/>
            </a:solidFill>
            <a:prstDash val="solid"/>
            <a:miter/>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89" name="任意多边形 474188"/>
          <p:cNvSpPr/>
          <p:nvPr/>
        </p:nvSpPr>
        <p:spPr>
          <a:xfrm>
            <a:off x="4463521" y="2624667"/>
            <a:ext cx="115094" cy="107157"/>
          </a:xfrm>
          <a:custGeom>
            <a:avLst/>
            <a:gdLst/>
            <a:ahLst/>
            <a:cxnLst/>
            <a:rect l="0" t="0" r="0" b="0"/>
            <a:pathLst>
              <a:path w="18" h="17">
                <a:moveTo>
                  <a:pt x="11" y="7"/>
                </a:moveTo>
                <a:cubicBezTo>
                  <a:pt x="18" y="9"/>
                  <a:pt x="18" y="9"/>
                  <a:pt x="18" y="9"/>
                </a:cubicBezTo>
                <a:cubicBezTo>
                  <a:pt x="18" y="9"/>
                  <a:pt x="18" y="9"/>
                  <a:pt x="18" y="9"/>
                </a:cubicBezTo>
                <a:cubicBezTo>
                  <a:pt x="8" y="12"/>
                  <a:pt x="8" y="12"/>
                  <a:pt x="8" y="12"/>
                </a:cubicBezTo>
                <a:cubicBezTo>
                  <a:pt x="5" y="14"/>
                  <a:pt x="2" y="16"/>
                  <a:pt x="0" y="17"/>
                </a:cubicBezTo>
                <a:cubicBezTo>
                  <a:pt x="1" y="15"/>
                  <a:pt x="3" y="12"/>
                  <a:pt x="5" y="9"/>
                </a:cubicBezTo>
                <a:cubicBezTo>
                  <a:pt x="10" y="0"/>
                  <a:pt x="10" y="0"/>
                  <a:pt x="10" y="0"/>
                </a:cubicBezTo>
                <a:cubicBezTo>
                  <a:pt x="10" y="0"/>
                  <a:pt x="10" y="0"/>
                  <a:pt x="10" y="0"/>
                </a:cubicBezTo>
                <a:cubicBezTo>
                  <a:pt x="11" y="7"/>
                  <a:pt x="11" y="7"/>
                  <a:pt x="11" y="7"/>
                </a:cubicBezTo>
              </a:path>
            </a:pathLst>
          </a:custGeom>
          <a:solidFill>
            <a:srgbClr val="000000"/>
          </a:solid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90" name="任意多边形 474189"/>
          <p:cNvSpPr>
            <a:spLocks noEditPoints="1"/>
          </p:cNvSpPr>
          <p:nvPr/>
        </p:nvSpPr>
        <p:spPr>
          <a:xfrm>
            <a:off x="4515115" y="1590146"/>
            <a:ext cx="215635" cy="1225021"/>
          </a:xfrm>
          <a:custGeom>
            <a:avLst/>
            <a:gdLst/>
            <a:ahLst/>
            <a:cxnLst/>
            <a:rect l="0" t="0" r="0" b="0"/>
            <a:pathLst>
              <a:path w="163" h="926">
                <a:moveTo>
                  <a:pt x="163" y="926"/>
                </a:moveTo>
                <a:lnTo>
                  <a:pt x="0" y="657"/>
                </a:lnTo>
                <a:moveTo>
                  <a:pt x="163" y="609"/>
                </a:moveTo>
                <a:lnTo>
                  <a:pt x="163" y="0"/>
                </a:lnTo>
              </a:path>
            </a:pathLst>
          </a:custGeom>
          <a:noFill/>
          <a:ln w="15875" cap="flat" cmpd="sng">
            <a:solidFill>
              <a:srgbClr val="000000"/>
            </a:solidFill>
            <a:prstDash val="solid"/>
            <a:miter/>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91" name="任意多边形 474190"/>
          <p:cNvSpPr/>
          <p:nvPr/>
        </p:nvSpPr>
        <p:spPr>
          <a:xfrm>
            <a:off x="2419615" y="1799167"/>
            <a:ext cx="183885" cy="748771"/>
          </a:xfrm>
          <a:custGeom>
            <a:avLst/>
            <a:gdLst/>
            <a:ahLst/>
            <a:cxnLst/>
            <a:rect l="0" t="0" r="0" b="0"/>
            <a:pathLst>
              <a:path w="29" h="118">
                <a:moveTo>
                  <a:pt x="0" y="0"/>
                </a:moveTo>
                <a:cubicBezTo>
                  <a:pt x="0" y="7"/>
                  <a:pt x="1" y="57"/>
                  <a:pt x="1" y="60"/>
                </a:cubicBezTo>
                <a:cubicBezTo>
                  <a:pt x="1" y="74"/>
                  <a:pt x="6" y="90"/>
                  <a:pt x="19" y="106"/>
                </a:cubicBezTo>
                <a:cubicBezTo>
                  <a:pt x="29" y="118"/>
                  <a:pt x="29" y="118"/>
                  <a:pt x="29" y="118"/>
                </a:cubicBezTo>
              </a:path>
            </a:pathLst>
          </a:custGeom>
          <a:noFill/>
          <a:ln w="31750" cap="flat" cmpd="sng">
            <a:solidFill>
              <a:schemeClr val="accent1"/>
            </a:solidFill>
            <a:prstDash val="solid"/>
            <a:miter/>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92" name="任意多边形 474191"/>
          <p:cNvSpPr/>
          <p:nvPr/>
        </p:nvSpPr>
        <p:spPr>
          <a:xfrm>
            <a:off x="2533386" y="2477823"/>
            <a:ext cx="145521" cy="165364"/>
          </a:xfrm>
          <a:custGeom>
            <a:avLst/>
            <a:gdLst/>
            <a:ahLst/>
            <a:cxnLst/>
            <a:rect l="0" t="0" r="0" b="0"/>
            <a:pathLst>
              <a:path w="23" h="26">
                <a:moveTo>
                  <a:pt x="9" y="9"/>
                </a:moveTo>
                <a:cubicBezTo>
                  <a:pt x="12" y="0"/>
                  <a:pt x="12" y="0"/>
                  <a:pt x="12" y="0"/>
                </a:cubicBezTo>
                <a:cubicBezTo>
                  <a:pt x="13" y="0"/>
                  <a:pt x="13" y="0"/>
                  <a:pt x="13" y="0"/>
                </a:cubicBezTo>
                <a:cubicBezTo>
                  <a:pt x="17" y="13"/>
                  <a:pt x="17" y="13"/>
                  <a:pt x="17" y="13"/>
                </a:cubicBezTo>
                <a:cubicBezTo>
                  <a:pt x="19" y="17"/>
                  <a:pt x="21" y="22"/>
                  <a:pt x="23" y="26"/>
                </a:cubicBezTo>
                <a:cubicBezTo>
                  <a:pt x="20" y="23"/>
                  <a:pt x="16" y="20"/>
                  <a:pt x="12" y="17"/>
                </a:cubicBezTo>
                <a:cubicBezTo>
                  <a:pt x="0" y="10"/>
                  <a:pt x="0" y="10"/>
                  <a:pt x="0" y="10"/>
                </a:cubicBezTo>
                <a:cubicBezTo>
                  <a:pt x="0" y="10"/>
                  <a:pt x="0" y="10"/>
                  <a:pt x="0" y="10"/>
                </a:cubicBezTo>
                <a:lnTo>
                  <a:pt x="9" y="9"/>
                </a:lnTo>
                <a:close/>
              </a:path>
            </a:pathLst>
          </a:custGeom>
          <a:solidFill>
            <a:schemeClr val="accent1"/>
          </a:solidFill>
          <a:ln w="9525" cap="flat" cmpd="sng">
            <a:solidFill>
              <a:schemeClr val="accent1"/>
            </a:solidFill>
            <a:prstDash val="solid"/>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93" name="任意多边形 474192"/>
          <p:cNvSpPr/>
          <p:nvPr/>
        </p:nvSpPr>
        <p:spPr>
          <a:xfrm>
            <a:off x="5048250" y="3518958"/>
            <a:ext cx="101865" cy="171979"/>
          </a:xfrm>
          <a:custGeom>
            <a:avLst/>
            <a:gdLst/>
            <a:ahLst/>
            <a:cxnLst/>
            <a:rect l="0" t="0" r="0" b="0"/>
            <a:pathLst>
              <a:path w="16" h="27">
                <a:moveTo>
                  <a:pt x="8" y="5"/>
                </a:moveTo>
                <a:cubicBezTo>
                  <a:pt x="16" y="1"/>
                  <a:pt x="16" y="1"/>
                  <a:pt x="16" y="1"/>
                </a:cubicBezTo>
                <a:cubicBezTo>
                  <a:pt x="16" y="1"/>
                  <a:pt x="16" y="1"/>
                  <a:pt x="16" y="1"/>
                </a:cubicBezTo>
                <a:cubicBezTo>
                  <a:pt x="10" y="13"/>
                  <a:pt x="10" y="13"/>
                  <a:pt x="10" y="13"/>
                </a:cubicBezTo>
                <a:cubicBezTo>
                  <a:pt x="9" y="18"/>
                  <a:pt x="8" y="22"/>
                  <a:pt x="7" y="27"/>
                </a:cubicBezTo>
                <a:cubicBezTo>
                  <a:pt x="6" y="22"/>
                  <a:pt x="5" y="18"/>
                  <a:pt x="4" y="13"/>
                </a:cubicBezTo>
                <a:cubicBezTo>
                  <a:pt x="0" y="0"/>
                  <a:pt x="0" y="0"/>
                  <a:pt x="0" y="0"/>
                </a:cubicBezTo>
                <a:cubicBezTo>
                  <a:pt x="0" y="0"/>
                  <a:pt x="0" y="0"/>
                  <a:pt x="0" y="0"/>
                </a:cubicBezTo>
                <a:lnTo>
                  <a:pt x="8" y="5"/>
                </a:lnTo>
                <a:close/>
              </a:path>
            </a:pathLst>
          </a:custGeom>
          <a:solidFill>
            <a:schemeClr val="accent1"/>
          </a:solidFill>
          <a:ln w="9525">
            <a:noFill/>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94" name="任意多边形 474193"/>
          <p:cNvSpPr/>
          <p:nvPr/>
        </p:nvSpPr>
        <p:spPr>
          <a:xfrm>
            <a:off x="5098521" y="3196167"/>
            <a:ext cx="482865" cy="576792"/>
          </a:xfrm>
          <a:custGeom>
            <a:avLst/>
            <a:gdLst/>
            <a:ahLst/>
            <a:cxnLst/>
            <a:rect l="0" t="0" r="0" b="0"/>
            <a:pathLst>
              <a:path w="76" h="91">
                <a:moveTo>
                  <a:pt x="76" y="91"/>
                </a:moveTo>
                <a:cubicBezTo>
                  <a:pt x="74" y="66"/>
                  <a:pt x="67" y="2"/>
                  <a:pt x="37" y="2"/>
                </a:cubicBezTo>
                <a:cubicBezTo>
                  <a:pt x="37" y="2"/>
                  <a:pt x="2" y="0"/>
                  <a:pt x="0" y="61"/>
                </a:cubicBezTo>
              </a:path>
            </a:pathLst>
          </a:custGeom>
          <a:noFill/>
          <a:ln w="31750" cap="flat" cmpd="sng">
            <a:solidFill>
              <a:schemeClr val="accent1"/>
            </a:solidFill>
            <a:prstDash val="solid"/>
            <a:miter/>
            <a:headEnd type="none" w="med" len="med"/>
            <a:tailEnd type="none" w="med" len="med"/>
          </a:ln>
        </p:spPr>
        <p:txBody>
          <a:bodyPr/>
          <a:lstStyle/>
          <a:p>
            <a:endParaRPr lang="zh-CN" altLang="en-US" sz="1500">
              <a:latin typeface="微软雅黑" panose="020B0503020204020204" pitchFamily="34" charset="-122"/>
              <a:ea typeface="微软雅黑" panose="020B0503020204020204" pitchFamily="34" charset="-122"/>
            </a:endParaRPr>
          </a:p>
        </p:txBody>
      </p:sp>
      <p:sp>
        <p:nvSpPr>
          <p:cNvPr id="474195" name="矩形 474194"/>
          <p:cNvSpPr/>
          <p:nvPr/>
        </p:nvSpPr>
        <p:spPr>
          <a:xfrm>
            <a:off x="6314282" y="2883958"/>
            <a:ext cx="144780" cy="243840"/>
          </a:xfrm>
          <a:prstGeom prst="rect">
            <a:avLst/>
          </a:prstGeom>
          <a:noFill/>
          <a:ln w="9525">
            <a:noFill/>
          </a:ln>
        </p:spPr>
        <p:txBody>
          <a:bodyPr wrap="none" lIns="0" tIns="0" rIns="0" bIns="0">
            <a:spAutoFit/>
          </a:bodyPr>
          <a:lstStyle/>
          <a:p>
            <a:r>
              <a:rPr lang="en-US" altLang="zh-CN" sz="1585">
                <a:solidFill>
                  <a:srgbClr val="000000"/>
                </a:solidFill>
                <a:latin typeface="微软雅黑" panose="020B0503020204020204" pitchFamily="34" charset="-122"/>
                <a:ea typeface="微软雅黑" panose="020B0503020204020204" pitchFamily="34" charset="-122"/>
              </a:rPr>
              <a:t>V</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196" name="矩形 474195"/>
          <p:cNvSpPr/>
          <p:nvPr/>
        </p:nvSpPr>
        <p:spPr>
          <a:xfrm>
            <a:off x="6461125" y="2987146"/>
            <a:ext cx="244475" cy="179070"/>
          </a:xfrm>
          <a:prstGeom prst="rect">
            <a:avLst/>
          </a:prstGeom>
          <a:noFill/>
          <a:ln w="9525">
            <a:noFill/>
          </a:ln>
        </p:spPr>
        <p:txBody>
          <a:bodyPr wrap="none" lIns="0" tIns="0" rIns="0" bIns="0">
            <a:spAutoFit/>
          </a:bodyPr>
          <a:lstStyle/>
          <a:p>
            <a:r>
              <a:rPr lang="en-US" altLang="zh-CN" sz="1165">
                <a:solidFill>
                  <a:srgbClr val="000000"/>
                </a:solidFill>
                <a:latin typeface="微软雅黑" panose="020B0503020204020204" pitchFamily="34" charset="-122"/>
                <a:ea typeface="微软雅黑" panose="020B0503020204020204" pitchFamily="34" charset="-122"/>
              </a:rPr>
              <a:t>out</a:t>
            </a:r>
            <a:endParaRPr lang="en-US" altLang="zh-CN" sz="1165" i="0">
              <a:solidFill>
                <a:srgbClr val="000000"/>
              </a:solidFill>
              <a:latin typeface="微软雅黑" panose="020B0503020204020204" pitchFamily="34" charset="-122"/>
              <a:ea typeface="微软雅黑" panose="020B0503020204020204" pitchFamily="34" charset="-122"/>
            </a:endParaRPr>
          </a:p>
        </p:txBody>
      </p:sp>
      <p:sp>
        <p:nvSpPr>
          <p:cNvPr id="474197" name="矩形 474196"/>
          <p:cNvSpPr/>
          <p:nvPr/>
        </p:nvSpPr>
        <p:spPr>
          <a:xfrm>
            <a:off x="3190875" y="2782094"/>
            <a:ext cx="144780" cy="243840"/>
          </a:xfrm>
          <a:prstGeom prst="rect">
            <a:avLst/>
          </a:prstGeom>
          <a:noFill/>
          <a:ln w="9525">
            <a:noFill/>
          </a:ln>
        </p:spPr>
        <p:txBody>
          <a:bodyPr wrap="none" lIns="0" tIns="0" rIns="0" bIns="0">
            <a:spAutoFit/>
          </a:bodyPr>
          <a:lstStyle/>
          <a:p>
            <a:r>
              <a:rPr lang="en-US" altLang="zh-CN" sz="1585">
                <a:solidFill>
                  <a:srgbClr val="000000"/>
                </a:solidFill>
                <a:latin typeface="微软雅黑" panose="020B0503020204020204" pitchFamily="34" charset="-122"/>
                <a:ea typeface="微软雅黑" panose="020B0503020204020204" pitchFamily="34" charset="-122"/>
              </a:rPr>
              <a:t>V</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198" name="矩形 474197"/>
          <p:cNvSpPr/>
          <p:nvPr/>
        </p:nvSpPr>
        <p:spPr>
          <a:xfrm>
            <a:off x="3336396" y="2882636"/>
            <a:ext cx="260350" cy="191770"/>
          </a:xfrm>
          <a:prstGeom prst="rect">
            <a:avLst/>
          </a:prstGeom>
          <a:noFill/>
          <a:ln w="9525">
            <a:noFill/>
          </a:ln>
        </p:spPr>
        <p:txBody>
          <a:bodyPr wrap="none" lIns="0" tIns="0" rIns="0" bIns="0">
            <a:spAutoFit/>
          </a:bodyPr>
          <a:lstStyle/>
          <a:p>
            <a:r>
              <a:rPr lang="en-US" altLang="zh-CN" sz="1250">
                <a:solidFill>
                  <a:srgbClr val="000000"/>
                </a:solidFill>
                <a:latin typeface="微软雅黑" panose="020B0503020204020204" pitchFamily="34" charset="-122"/>
                <a:ea typeface="微软雅黑" panose="020B0503020204020204" pitchFamily="34" charset="-122"/>
              </a:rPr>
              <a:t>out</a:t>
            </a:r>
            <a:endParaRPr lang="en-US" altLang="zh-CN" sz="1250" i="0">
              <a:solidFill>
                <a:srgbClr val="000000"/>
              </a:solidFill>
              <a:latin typeface="微软雅黑" panose="020B0503020204020204" pitchFamily="34" charset="-122"/>
              <a:ea typeface="微软雅黑" panose="020B0503020204020204" pitchFamily="34" charset="-122"/>
            </a:endParaRPr>
          </a:p>
        </p:txBody>
      </p:sp>
      <p:sp>
        <p:nvSpPr>
          <p:cNvPr id="474199" name="矩形 474198"/>
          <p:cNvSpPr/>
          <p:nvPr/>
        </p:nvSpPr>
        <p:spPr>
          <a:xfrm>
            <a:off x="4344458" y="3624792"/>
            <a:ext cx="147320" cy="243840"/>
          </a:xfrm>
          <a:prstGeom prst="rect">
            <a:avLst/>
          </a:prstGeom>
          <a:noFill/>
          <a:ln w="9525">
            <a:noFill/>
          </a:ln>
        </p:spPr>
        <p:txBody>
          <a:bodyPr wrap="none" lIns="0" tIns="0" rIns="0" bIns="0">
            <a:spAutoFit/>
          </a:bodyPr>
          <a:lstStyle/>
          <a:p>
            <a:r>
              <a:rPr lang="en-US" altLang="zh-CN" sz="1585">
                <a:solidFill>
                  <a:srgbClr val="000000"/>
                </a:solidFill>
                <a:latin typeface="微软雅黑" panose="020B0503020204020204" pitchFamily="34" charset="-122"/>
                <a:ea typeface="微软雅黑" panose="020B0503020204020204" pitchFamily="34" charset="-122"/>
              </a:rPr>
              <a:t>R</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200" name="矩形 474199"/>
          <p:cNvSpPr/>
          <p:nvPr/>
        </p:nvSpPr>
        <p:spPr>
          <a:xfrm>
            <a:off x="4491303" y="3725333"/>
            <a:ext cx="98425" cy="179070"/>
          </a:xfrm>
          <a:prstGeom prst="rect">
            <a:avLst/>
          </a:prstGeom>
          <a:noFill/>
          <a:ln w="9525">
            <a:noFill/>
          </a:ln>
        </p:spPr>
        <p:txBody>
          <a:bodyPr wrap="none" lIns="0" tIns="0" rIns="0" bIns="0">
            <a:spAutoFit/>
          </a:bodyPr>
          <a:lstStyle/>
          <a:p>
            <a:r>
              <a:rPr lang="en-US" altLang="zh-CN" sz="1165">
                <a:solidFill>
                  <a:srgbClr val="000000"/>
                </a:solidFill>
                <a:latin typeface="微软雅黑" panose="020B0503020204020204" pitchFamily="34" charset="-122"/>
                <a:ea typeface="微软雅黑" panose="020B0503020204020204" pitchFamily="34" charset="-122"/>
              </a:rPr>
              <a:t>n</a:t>
            </a:r>
            <a:endParaRPr lang="en-US" altLang="zh-CN" sz="1165" i="0">
              <a:solidFill>
                <a:srgbClr val="000000"/>
              </a:solidFill>
              <a:latin typeface="微软雅黑" panose="020B0503020204020204" pitchFamily="34" charset="-122"/>
              <a:ea typeface="微软雅黑" panose="020B0503020204020204" pitchFamily="34" charset="-122"/>
            </a:endParaRPr>
          </a:p>
        </p:txBody>
      </p:sp>
      <p:sp>
        <p:nvSpPr>
          <p:cNvPr id="474201" name="矩形 474200"/>
          <p:cNvSpPr/>
          <p:nvPr/>
        </p:nvSpPr>
        <p:spPr>
          <a:xfrm>
            <a:off x="1721115" y="1938073"/>
            <a:ext cx="147320" cy="243840"/>
          </a:xfrm>
          <a:prstGeom prst="rect">
            <a:avLst/>
          </a:prstGeom>
          <a:noFill/>
          <a:ln w="9525">
            <a:noFill/>
          </a:ln>
        </p:spPr>
        <p:txBody>
          <a:bodyPr wrap="none" lIns="0" tIns="0" rIns="0" bIns="0">
            <a:spAutoFit/>
          </a:bodyPr>
          <a:lstStyle/>
          <a:p>
            <a:r>
              <a:rPr lang="en-US" altLang="zh-CN" sz="1585">
                <a:solidFill>
                  <a:srgbClr val="000000"/>
                </a:solidFill>
                <a:latin typeface="微软雅黑" panose="020B0503020204020204" pitchFamily="34" charset="-122"/>
                <a:ea typeface="微软雅黑" panose="020B0503020204020204" pitchFamily="34" charset="-122"/>
              </a:rPr>
              <a:t>R</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202" name="矩形 474201"/>
          <p:cNvSpPr/>
          <p:nvPr/>
        </p:nvSpPr>
        <p:spPr>
          <a:xfrm>
            <a:off x="1867958" y="2038615"/>
            <a:ext cx="95885" cy="179070"/>
          </a:xfrm>
          <a:prstGeom prst="rect">
            <a:avLst/>
          </a:prstGeom>
          <a:noFill/>
          <a:ln w="9525">
            <a:noFill/>
          </a:ln>
        </p:spPr>
        <p:txBody>
          <a:bodyPr wrap="none" lIns="0" tIns="0" rIns="0" bIns="0">
            <a:spAutoFit/>
          </a:bodyPr>
          <a:lstStyle/>
          <a:p>
            <a:r>
              <a:rPr lang="en-US" altLang="zh-CN" sz="1165">
                <a:solidFill>
                  <a:srgbClr val="000000"/>
                </a:solidFill>
                <a:latin typeface="微软雅黑" panose="020B0503020204020204" pitchFamily="34" charset="-122"/>
                <a:ea typeface="微软雅黑" panose="020B0503020204020204" pitchFamily="34" charset="-122"/>
              </a:rPr>
              <a:t>p</a:t>
            </a:r>
            <a:endParaRPr lang="en-US" altLang="zh-CN" sz="1165" i="0">
              <a:solidFill>
                <a:srgbClr val="000000"/>
              </a:solidFill>
              <a:latin typeface="微软雅黑" panose="020B0503020204020204" pitchFamily="34" charset="-122"/>
              <a:ea typeface="微软雅黑" panose="020B0503020204020204" pitchFamily="34" charset="-122"/>
            </a:endParaRPr>
          </a:p>
        </p:txBody>
      </p:sp>
      <p:sp>
        <p:nvSpPr>
          <p:cNvPr id="474203" name="矩形 474202"/>
          <p:cNvSpPr/>
          <p:nvPr/>
        </p:nvSpPr>
        <p:spPr>
          <a:xfrm>
            <a:off x="4529667" y="1268677"/>
            <a:ext cx="144780" cy="243840"/>
          </a:xfrm>
          <a:prstGeom prst="rect">
            <a:avLst/>
          </a:prstGeom>
          <a:noFill/>
          <a:ln w="9525">
            <a:noFill/>
          </a:ln>
        </p:spPr>
        <p:txBody>
          <a:bodyPr wrap="none" lIns="0" tIns="0" rIns="0" bIns="0">
            <a:spAutoFit/>
          </a:bodyPr>
          <a:lstStyle/>
          <a:p>
            <a:r>
              <a:rPr lang="en-US" altLang="zh-CN" sz="1585">
                <a:solidFill>
                  <a:srgbClr val="000000"/>
                </a:solidFill>
                <a:latin typeface="微软雅黑" panose="020B0503020204020204" pitchFamily="34" charset="-122"/>
                <a:ea typeface="微软雅黑" panose="020B0503020204020204" pitchFamily="34" charset="-122"/>
              </a:rPr>
              <a:t>V</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204" name="矩形 474203"/>
          <p:cNvSpPr/>
          <p:nvPr/>
        </p:nvSpPr>
        <p:spPr>
          <a:xfrm>
            <a:off x="4675188" y="1369219"/>
            <a:ext cx="236220" cy="179070"/>
          </a:xfrm>
          <a:prstGeom prst="rect">
            <a:avLst/>
          </a:prstGeom>
          <a:noFill/>
          <a:ln w="9525">
            <a:noFill/>
          </a:ln>
        </p:spPr>
        <p:txBody>
          <a:bodyPr wrap="none" lIns="0" tIns="0" rIns="0" bIns="0">
            <a:spAutoFit/>
          </a:bodyPr>
          <a:lstStyle/>
          <a:p>
            <a:r>
              <a:rPr lang="en-US" altLang="zh-CN" sz="1165">
                <a:solidFill>
                  <a:srgbClr val="000000"/>
                </a:solidFill>
                <a:latin typeface="微软雅黑" panose="020B0503020204020204" pitchFamily="34" charset="-122"/>
                <a:ea typeface="微软雅黑" panose="020B0503020204020204" pitchFamily="34" charset="-122"/>
              </a:rPr>
              <a:t>DD</a:t>
            </a:r>
            <a:endParaRPr lang="en-US" altLang="zh-CN" sz="1165" i="0">
              <a:solidFill>
                <a:srgbClr val="000000"/>
              </a:solidFill>
              <a:latin typeface="微软雅黑" panose="020B0503020204020204" pitchFamily="34" charset="-122"/>
              <a:ea typeface="微软雅黑" panose="020B0503020204020204" pitchFamily="34" charset="-122"/>
            </a:endParaRPr>
          </a:p>
        </p:txBody>
      </p:sp>
      <p:sp>
        <p:nvSpPr>
          <p:cNvPr id="474205" name="矩形 474204"/>
          <p:cNvSpPr/>
          <p:nvPr/>
        </p:nvSpPr>
        <p:spPr>
          <a:xfrm>
            <a:off x="1905000" y="1242219"/>
            <a:ext cx="144780" cy="243840"/>
          </a:xfrm>
          <a:prstGeom prst="rect">
            <a:avLst/>
          </a:prstGeom>
          <a:noFill/>
          <a:ln w="9525">
            <a:noFill/>
          </a:ln>
        </p:spPr>
        <p:txBody>
          <a:bodyPr wrap="none" lIns="0" tIns="0" rIns="0" bIns="0">
            <a:spAutoFit/>
          </a:bodyPr>
          <a:lstStyle/>
          <a:p>
            <a:r>
              <a:rPr lang="en-US" altLang="zh-CN" sz="1585">
                <a:solidFill>
                  <a:srgbClr val="000000"/>
                </a:solidFill>
                <a:latin typeface="微软雅黑" panose="020B0503020204020204" pitchFamily="34" charset="-122"/>
                <a:ea typeface="微软雅黑" panose="020B0503020204020204" pitchFamily="34" charset="-122"/>
              </a:rPr>
              <a:t>V</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206" name="矩形 474205"/>
          <p:cNvSpPr/>
          <p:nvPr/>
        </p:nvSpPr>
        <p:spPr>
          <a:xfrm>
            <a:off x="2051844" y="1342761"/>
            <a:ext cx="236220" cy="179070"/>
          </a:xfrm>
          <a:prstGeom prst="rect">
            <a:avLst/>
          </a:prstGeom>
          <a:noFill/>
          <a:ln w="9525">
            <a:noFill/>
          </a:ln>
        </p:spPr>
        <p:txBody>
          <a:bodyPr wrap="none" lIns="0" tIns="0" rIns="0" bIns="0">
            <a:spAutoFit/>
          </a:bodyPr>
          <a:lstStyle/>
          <a:p>
            <a:r>
              <a:rPr lang="en-US" altLang="zh-CN" sz="1165">
                <a:solidFill>
                  <a:srgbClr val="000000"/>
                </a:solidFill>
                <a:latin typeface="微软雅黑" panose="020B0503020204020204" pitchFamily="34" charset="-122"/>
                <a:ea typeface="微软雅黑" panose="020B0503020204020204" pitchFamily="34" charset="-122"/>
              </a:rPr>
              <a:t>DD</a:t>
            </a:r>
            <a:endParaRPr lang="en-US" altLang="zh-CN" sz="1165" i="0">
              <a:solidFill>
                <a:srgbClr val="000000"/>
              </a:solidFill>
              <a:latin typeface="微软雅黑" panose="020B0503020204020204" pitchFamily="34" charset="-122"/>
              <a:ea typeface="微软雅黑" panose="020B0503020204020204" pitchFamily="34" charset="-122"/>
            </a:endParaRPr>
          </a:p>
        </p:txBody>
      </p:sp>
      <p:sp>
        <p:nvSpPr>
          <p:cNvPr id="474207" name="矩形 474206"/>
          <p:cNvSpPr/>
          <p:nvPr/>
        </p:nvSpPr>
        <p:spPr>
          <a:xfrm>
            <a:off x="4863042" y="4459553"/>
            <a:ext cx="144780" cy="243840"/>
          </a:xfrm>
          <a:prstGeom prst="rect">
            <a:avLst/>
          </a:prstGeom>
          <a:noFill/>
          <a:ln w="9525">
            <a:noFill/>
          </a:ln>
        </p:spPr>
        <p:txBody>
          <a:bodyPr wrap="none" lIns="0" tIns="0" rIns="0" bIns="0">
            <a:spAutoFit/>
          </a:bodyPr>
          <a:lstStyle/>
          <a:p>
            <a:r>
              <a:rPr lang="en-US" altLang="zh-CN" sz="1585">
                <a:solidFill>
                  <a:srgbClr val="000000"/>
                </a:solidFill>
                <a:latin typeface="微软雅黑" panose="020B0503020204020204" pitchFamily="34" charset="-122"/>
                <a:ea typeface="微软雅黑" panose="020B0503020204020204" pitchFamily="34" charset="-122"/>
              </a:rPr>
              <a:t>V</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208" name="矩形 474207"/>
          <p:cNvSpPr/>
          <p:nvPr/>
        </p:nvSpPr>
        <p:spPr>
          <a:xfrm>
            <a:off x="5009886" y="4560094"/>
            <a:ext cx="151130" cy="191770"/>
          </a:xfrm>
          <a:prstGeom prst="rect">
            <a:avLst/>
          </a:prstGeom>
          <a:noFill/>
          <a:ln w="9525">
            <a:noFill/>
          </a:ln>
        </p:spPr>
        <p:txBody>
          <a:bodyPr wrap="none" lIns="0" tIns="0" rIns="0" bIns="0">
            <a:spAutoFit/>
          </a:bodyPr>
          <a:lstStyle/>
          <a:p>
            <a:r>
              <a:rPr lang="en-US" altLang="zh-CN" sz="1250">
                <a:solidFill>
                  <a:srgbClr val="000000"/>
                </a:solidFill>
                <a:latin typeface="微软雅黑" panose="020B0503020204020204" pitchFamily="34" charset="-122"/>
                <a:ea typeface="微软雅黑" panose="020B0503020204020204" pitchFamily="34" charset="-122"/>
              </a:rPr>
              <a:t>in</a:t>
            </a:r>
            <a:endParaRPr lang="en-US" altLang="zh-CN" sz="1250" i="0">
              <a:solidFill>
                <a:srgbClr val="000000"/>
              </a:solidFill>
              <a:latin typeface="微软雅黑" panose="020B0503020204020204" pitchFamily="34" charset="-122"/>
              <a:ea typeface="微软雅黑" panose="020B0503020204020204" pitchFamily="34" charset="-122"/>
            </a:endParaRPr>
          </a:p>
        </p:txBody>
      </p:sp>
      <p:sp>
        <p:nvSpPr>
          <p:cNvPr id="474209" name="矩形 474208"/>
          <p:cNvSpPr/>
          <p:nvPr/>
        </p:nvSpPr>
        <p:spPr>
          <a:xfrm>
            <a:off x="5175250" y="4491303"/>
            <a:ext cx="149860" cy="243840"/>
          </a:xfrm>
          <a:prstGeom prst="rect">
            <a:avLst/>
          </a:prstGeom>
          <a:noFill/>
          <a:ln w="9525">
            <a:noFill/>
          </a:ln>
        </p:spPr>
        <p:txBody>
          <a:bodyPr wrap="none" lIns="0" tIns="0" rIns="0" bIns="0">
            <a:spAutoFit/>
          </a:bodyPr>
          <a:lstStyle/>
          <a:p>
            <a:r>
              <a:rPr lang="en-US" altLang="zh-CN" sz="1585" i="0">
                <a:solidFill>
                  <a:srgbClr val="000000"/>
                </a:solidFill>
                <a:latin typeface="微软雅黑" panose="020B0503020204020204" pitchFamily="34" charset="-122"/>
                <a:ea typeface="微软雅黑" panose="020B0503020204020204" pitchFamily="34" charset="-122"/>
              </a:rPr>
              <a:t>=</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210" name="矩形 474209"/>
          <p:cNvSpPr/>
          <p:nvPr/>
        </p:nvSpPr>
        <p:spPr>
          <a:xfrm>
            <a:off x="5394854" y="4459553"/>
            <a:ext cx="144780" cy="243840"/>
          </a:xfrm>
          <a:prstGeom prst="rect">
            <a:avLst/>
          </a:prstGeom>
          <a:noFill/>
          <a:ln w="9525">
            <a:noFill/>
          </a:ln>
        </p:spPr>
        <p:txBody>
          <a:bodyPr wrap="none" lIns="0" tIns="0" rIns="0" bIns="0">
            <a:spAutoFit/>
          </a:bodyPr>
          <a:lstStyle/>
          <a:p>
            <a:r>
              <a:rPr lang="en-US" altLang="zh-CN" sz="1585">
                <a:solidFill>
                  <a:srgbClr val="000000"/>
                </a:solidFill>
                <a:latin typeface="微软雅黑" panose="020B0503020204020204" pitchFamily="34" charset="-122"/>
                <a:ea typeface="微软雅黑" panose="020B0503020204020204" pitchFamily="34" charset="-122"/>
              </a:rPr>
              <a:t>V</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211" name="矩形 474210"/>
          <p:cNvSpPr/>
          <p:nvPr/>
        </p:nvSpPr>
        <p:spPr>
          <a:xfrm>
            <a:off x="5541698" y="4560094"/>
            <a:ext cx="252730" cy="191770"/>
          </a:xfrm>
          <a:prstGeom prst="rect">
            <a:avLst/>
          </a:prstGeom>
          <a:noFill/>
          <a:ln w="9525">
            <a:noFill/>
          </a:ln>
        </p:spPr>
        <p:txBody>
          <a:bodyPr wrap="none" lIns="0" tIns="0" rIns="0" bIns="0">
            <a:spAutoFit/>
          </a:bodyPr>
          <a:lstStyle/>
          <a:p>
            <a:r>
              <a:rPr lang="en-US" altLang="zh-CN" sz="1250">
                <a:solidFill>
                  <a:srgbClr val="000000"/>
                </a:solidFill>
                <a:latin typeface="微软雅黑" panose="020B0503020204020204" pitchFamily="34" charset="-122"/>
                <a:ea typeface="微软雅黑" panose="020B0503020204020204" pitchFamily="34" charset="-122"/>
              </a:rPr>
              <a:t>DD</a:t>
            </a:r>
            <a:endParaRPr lang="en-US" altLang="zh-CN" sz="1250" i="0">
              <a:solidFill>
                <a:srgbClr val="000000"/>
              </a:solidFill>
              <a:latin typeface="微软雅黑" panose="020B0503020204020204" pitchFamily="34" charset="-122"/>
              <a:ea typeface="微软雅黑" panose="020B0503020204020204" pitchFamily="34" charset="-122"/>
            </a:endParaRPr>
          </a:p>
        </p:txBody>
      </p:sp>
      <p:sp>
        <p:nvSpPr>
          <p:cNvPr id="474212" name="矩形 474211"/>
          <p:cNvSpPr/>
          <p:nvPr/>
        </p:nvSpPr>
        <p:spPr>
          <a:xfrm>
            <a:off x="2137833" y="4458229"/>
            <a:ext cx="144780" cy="243840"/>
          </a:xfrm>
          <a:prstGeom prst="rect">
            <a:avLst/>
          </a:prstGeom>
          <a:noFill/>
          <a:ln w="9525">
            <a:noFill/>
          </a:ln>
        </p:spPr>
        <p:txBody>
          <a:bodyPr wrap="none" lIns="0" tIns="0" rIns="0" bIns="0">
            <a:spAutoFit/>
          </a:bodyPr>
          <a:lstStyle/>
          <a:p>
            <a:r>
              <a:rPr lang="en-US" altLang="zh-CN" sz="1585">
                <a:solidFill>
                  <a:srgbClr val="000000"/>
                </a:solidFill>
                <a:latin typeface="微软雅黑" panose="020B0503020204020204" pitchFamily="34" charset="-122"/>
                <a:ea typeface="微软雅黑" panose="020B0503020204020204" pitchFamily="34" charset="-122"/>
              </a:rPr>
              <a:t>V</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213" name="矩形 474212"/>
          <p:cNvSpPr/>
          <p:nvPr/>
        </p:nvSpPr>
        <p:spPr>
          <a:xfrm>
            <a:off x="2284678" y="4561417"/>
            <a:ext cx="141605" cy="179070"/>
          </a:xfrm>
          <a:prstGeom prst="rect">
            <a:avLst/>
          </a:prstGeom>
          <a:noFill/>
          <a:ln w="9525">
            <a:noFill/>
          </a:ln>
        </p:spPr>
        <p:txBody>
          <a:bodyPr wrap="none" lIns="0" tIns="0" rIns="0" bIns="0">
            <a:spAutoFit/>
          </a:bodyPr>
          <a:lstStyle/>
          <a:p>
            <a:r>
              <a:rPr lang="en-US" altLang="zh-CN" sz="1165">
                <a:solidFill>
                  <a:srgbClr val="000000"/>
                </a:solidFill>
                <a:latin typeface="微软雅黑" panose="020B0503020204020204" pitchFamily="34" charset="-122"/>
                <a:ea typeface="微软雅黑" panose="020B0503020204020204" pitchFamily="34" charset="-122"/>
              </a:rPr>
              <a:t>in</a:t>
            </a:r>
            <a:endParaRPr lang="en-US" altLang="zh-CN" sz="1165" i="0">
              <a:solidFill>
                <a:srgbClr val="000000"/>
              </a:solidFill>
              <a:latin typeface="微软雅黑" panose="020B0503020204020204" pitchFamily="34" charset="-122"/>
              <a:ea typeface="微软雅黑" panose="020B0503020204020204" pitchFamily="34" charset="-122"/>
            </a:endParaRPr>
          </a:p>
        </p:txBody>
      </p:sp>
      <p:sp>
        <p:nvSpPr>
          <p:cNvPr id="474214" name="矩形 474213"/>
          <p:cNvSpPr/>
          <p:nvPr/>
        </p:nvSpPr>
        <p:spPr>
          <a:xfrm>
            <a:off x="2450042" y="4489979"/>
            <a:ext cx="126365" cy="243840"/>
          </a:xfrm>
          <a:prstGeom prst="rect">
            <a:avLst/>
          </a:prstGeom>
          <a:noFill/>
          <a:ln w="9525">
            <a:noFill/>
          </a:ln>
        </p:spPr>
        <p:txBody>
          <a:bodyPr wrap="none" lIns="0" tIns="0" rIns="0" bIns="0">
            <a:spAutoFit/>
          </a:bodyPr>
          <a:lstStyle/>
          <a:p>
            <a:r>
              <a:rPr lang="en-US" altLang="zh-CN" sz="1585" i="0">
                <a:solidFill>
                  <a:srgbClr val="000000"/>
                </a:solidFill>
                <a:latin typeface="微软雅黑" panose="020B0503020204020204" pitchFamily="34" charset="-122"/>
                <a:ea typeface="微软雅黑" panose="020B0503020204020204" pitchFamily="34" charset="-122"/>
              </a:rPr>
              <a:t>=</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215" name="矩形 474214"/>
          <p:cNvSpPr/>
          <p:nvPr/>
        </p:nvSpPr>
        <p:spPr>
          <a:xfrm>
            <a:off x="2670969" y="4458229"/>
            <a:ext cx="147320" cy="243840"/>
          </a:xfrm>
          <a:prstGeom prst="rect">
            <a:avLst/>
          </a:prstGeom>
          <a:noFill/>
          <a:ln w="9525">
            <a:noFill/>
          </a:ln>
        </p:spPr>
        <p:txBody>
          <a:bodyPr wrap="none" lIns="0" tIns="0" rIns="0" bIns="0">
            <a:spAutoFit/>
          </a:bodyPr>
          <a:lstStyle/>
          <a:p>
            <a:r>
              <a:rPr lang="en-US" altLang="zh-CN" sz="1585" i="0">
                <a:solidFill>
                  <a:srgbClr val="000000"/>
                </a:solidFill>
                <a:latin typeface="微软雅黑" panose="020B0503020204020204" pitchFamily="34" charset="-122"/>
                <a:ea typeface="微软雅黑" panose="020B0503020204020204" pitchFamily="34" charset="-122"/>
              </a:rPr>
              <a:t>0</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216" name="矩形 474215"/>
          <p:cNvSpPr/>
          <p:nvPr/>
        </p:nvSpPr>
        <p:spPr>
          <a:xfrm>
            <a:off x="1752865" y="4815417"/>
            <a:ext cx="1113790" cy="243840"/>
          </a:xfrm>
          <a:prstGeom prst="rect">
            <a:avLst/>
          </a:prstGeom>
          <a:noFill/>
          <a:ln w="9525">
            <a:noFill/>
          </a:ln>
        </p:spPr>
        <p:txBody>
          <a:bodyPr wrap="none" lIns="0" tIns="0" rIns="0" bIns="0">
            <a:spAutoFit/>
          </a:bodyPr>
          <a:lstStyle/>
          <a:p>
            <a:r>
              <a:rPr lang="en-US" altLang="zh-CN" sz="1585" i="0">
                <a:solidFill>
                  <a:srgbClr val="000000"/>
                </a:solidFill>
                <a:latin typeface="微软雅黑" panose="020B0503020204020204" pitchFamily="34" charset="-122"/>
                <a:ea typeface="微软雅黑" panose="020B0503020204020204" pitchFamily="34" charset="-122"/>
              </a:rPr>
              <a:t>(a) </a:t>
            </a:r>
            <a:r>
              <a:rPr lang="zh-CN" altLang="en-US" sz="1585" i="0">
                <a:solidFill>
                  <a:srgbClr val="000000"/>
                </a:solidFill>
                <a:latin typeface="微软雅黑" panose="020B0503020204020204" pitchFamily="34" charset="-122"/>
                <a:ea typeface="微软雅黑" panose="020B0503020204020204" pitchFamily="34" charset="-122"/>
              </a:rPr>
              <a:t>由低到高</a:t>
            </a:r>
            <a:endParaRPr lang="zh-CN" altLang="en-US" sz="1585" i="0">
              <a:solidFill>
                <a:srgbClr val="000000"/>
              </a:solidFill>
              <a:latin typeface="微软雅黑" panose="020B0503020204020204" pitchFamily="34" charset="-122"/>
              <a:ea typeface="微软雅黑" panose="020B0503020204020204" pitchFamily="34" charset="-122"/>
            </a:endParaRPr>
          </a:p>
        </p:txBody>
      </p:sp>
      <p:sp>
        <p:nvSpPr>
          <p:cNvPr id="474217" name="矩形 474216"/>
          <p:cNvSpPr/>
          <p:nvPr/>
        </p:nvSpPr>
        <p:spPr>
          <a:xfrm>
            <a:off x="4631532" y="4815417"/>
            <a:ext cx="1130935" cy="243840"/>
          </a:xfrm>
          <a:prstGeom prst="rect">
            <a:avLst/>
          </a:prstGeom>
          <a:noFill/>
          <a:ln w="9525">
            <a:noFill/>
          </a:ln>
        </p:spPr>
        <p:txBody>
          <a:bodyPr wrap="none" lIns="0" tIns="0" rIns="0" bIns="0">
            <a:spAutoFit/>
          </a:bodyPr>
          <a:lstStyle/>
          <a:p>
            <a:r>
              <a:rPr lang="en-US" altLang="zh-CN" sz="1585" i="0">
                <a:solidFill>
                  <a:srgbClr val="000000"/>
                </a:solidFill>
                <a:latin typeface="微软雅黑" panose="020B0503020204020204" pitchFamily="34" charset="-122"/>
                <a:ea typeface="微软雅黑" panose="020B0503020204020204" pitchFamily="34" charset="-122"/>
              </a:rPr>
              <a:t>(b) </a:t>
            </a:r>
            <a:r>
              <a:rPr lang="zh-CN" altLang="en-US" sz="1585" i="0">
                <a:solidFill>
                  <a:srgbClr val="000000"/>
                </a:solidFill>
                <a:latin typeface="微软雅黑" panose="020B0503020204020204" pitchFamily="34" charset="-122"/>
                <a:ea typeface="微软雅黑" panose="020B0503020204020204" pitchFamily="34" charset="-122"/>
              </a:rPr>
              <a:t>由高到低</a:t>
            </a:r>
            <a:endParaRPr lang="zh-CN" altLang="en-US" sz="1585" i="0">
              <a:solidFill>
                <a:srgbClr val="000000"/>
              </a:solidFill>
              <a:latin typeface="微软雅黑" panose="020B0503020204020204" pitchFamily="34" charset="-122"/>
              <a:ea typeface="微软雅黑" panose="020B0503020204020204" pitchFamily="34" charset="-122"/>
            </a:endParaRPr>
          </a:p>
        </p:txBody>
      </p:sp>
      <p:sp>
        <p:nvSpPr>
          <p:cNvPr id="474218" name="矩形 474217"/>
          <p:cNvSpPr/>
          <p:nvPr/>
        </p:nvSpPr>
        <p:spPr>
          <a:xfrm>
            <a:off x="6096000" y="3343011"/>
            <a:ext cx="140970" cy="243840"/>
          </a:xfrm>
          <a:prstGeom prst="rect">
            <a:avLst/>
          </a:prstGeom>
          <a:noFill/>
          <a:ln w="9525">
            <a:noFill/>
          </a:ln>
        </p:spPr>
        <p:txBody>
          <a:bodyPr wrap="none" lIns="0" tIns="0" rIns="0" bIns="0">
            <a:spAutoFit/>
          </a:bodyPr>
          <a:lstStyle/>
          <a:p>
            <a:r>
              <a:rPr lang="en-US" altLang="zh-CN" sz="1585">
                <a:solidFill>
                  <a:srgbClr val="000000"/>
                </a:solidFill>
                <a:latin typeface="微软雅黑" panose="020B0503020204020204" pitchFamily="34" charset="-122"/>
                <a:ea typeface="微软雅黑" panose="020B0503020204020204" pitchFamily="34" charset="-122"/>
              </a:rPr>
              <a:t>C</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219" name="矩形 474218"/>
          <p:cNvSpPr/>
          <p:nvPr/>
        </p:nvSpPr>
        <p:spPr>
          <a:xfrm>
            <a:off x="6242844" y="3443553"/>
            <a:ext cx="93345" cy="179070"/>
          </a:xfrm>
          <a:prstGeom prst="rect">
            <a:avLst/>
          </a:prstGeom>
          <a:noFill/>
          <a:ln w="9525">
            <a:noFill/>
          </a:ln>
        </p:spPr>
        <p:txBody>
          <a:bodyPr wrap="none" lIns="0" tIns="0" rIns="0" bIns="0">
            <a:spAutoFit/>
          </a:bodyPr>
          <a:lstStyle/>
          <a:p>
            <a:r>
              <a:rPr lang="en-US" altLang="zh-CN" sz="1165">
                <a:solidFill>
                  <a:srgbClr val="000000"/>
                </a:solidFill>
                <a:latin typeface="微软雅黑" panose="020B0503020204020204" pitchFamily="34" charset="-122"/>
                <a:ea typeface="微软雅黑" panose="020B0503020204020204" pitchFamily="34" charset="-122"/>
              </a:rPr>
              <a:t>L</a:t>
            </a:r>
            <a:endParaRPr lang="en-US" altLang="zh-CN" sz="1165" i="0">
              <a:solidFill>
                <a:srgbClr val="000000"/>
              </a:solidFill>
              <a:latin typeface="微软雅黑" panose="020B0503020204020204" pitchFamily="34" charset="-122"/>
              <a:ea typeface="微软雅黑" panose="020B0503020204020204" pitchFamily="34" charset="-122"/>
            </a:endParaRPr>
          </a:p>
        </p:txBody>
      </p:sp>
      <p:sp>
        <p:nvSpPr>
          <p:cNvPr id="474220" name="矩形 474219"/>
          <p:cNvSpPr/>
          <p:nvPr/>
        </p:nvSpPr>
        <p:spPr>
          <a:xfrm>
            <a:off x="2886604" y="3242469"/>
            <a:ext cx="140970" cy="243840"/>
          </a:xfrm>
          <a:prstGeom prst="rect">
            <a:avLst/>
          </a:prstGeom>
          <a:noFill/>
          <a:ln w="9525">
            <a:noFill/>
          </a:ln>
        </p:spPr>
        <p:txBody>
          <a:bodyPr wrap="none" lIns="0" tIns="0" rIns="0" bIns="0">
            <a:spAutoFit/>
          </a:bodyPr>
          <a:lstStyle/>
          <a:p>
            <a:r>
              <a:rPr lang="en-US" altLang="zh-CN" sz="1585">
                <a:solidFill>
                  <a:srgbClr val="000000"/>
                </a:solidFill>
                <a:latin typeface="微软雅黑" panose="020B0503020204020204" pitchFamily="34" charset="-122"/>
                <a:ea typeface="微软雅黑" panose="020B0503020204020204" pitchFamily="34" charset="-122"/>
              </a:rPr>
              <a:t>C</a:t>
            </a:r>
            <a:endParaRPr lang="en-US" altLang="zh-CN" sz="1585" i="0">
              <a:solidFill>
                <a:srgbClr val="000000"/>
              </a:solidFill>
              <a:latin typeface="微软雅黑" panose="020B0503020204020204" pitchFamily="34" charset="-122"/>
              <a:ea typeface="微软雅黑" panose="020B0503020204020204" pitchFamily="34" charset="-122"/>
            </a:endParaRPr>
          </a:p>
        </p:txBody>
      </p:sp>
      <p:sp>
        <p:nvSpPr>
          <p:cNvPr id="474221" name="矩形 474220"/>
          <p:cNvSpPr/>
          <p:nvPr/>
        </p:nvSpPr>
        <p:spPr>
          <a:xfrm>
            <a:off x="3033448" y="3341688"/>
            <a:ext cx="93345" cy="179070"/>
          </a:xfrm>
          <a:prstGeom prst="rect">
            <a:avLst/>
          </a:prstGeom>
          <a:noFill/>
          <a:ln w="9525">
            <a:noFill/>
          </a:ln>
        </p:spPr>
        <p:txBody>
          <a:bodyPr wrap="none" lIns="0" tIns="0" rIns="0" bIns="0">
            <a:spAutoFit/>
          </a:bodyPr>
          <a:lstStyle/>
          <a:p>
            <a:r>
              <a:rPr lang="en-US" altLang="zh-CN" sz="1165">
                <a:solidFill>
                  <a:srgbClr val="000000"/>
                </a:solidFill>
                <a:latin typeface="微软雅黑" panose="020B0503020204020204" pitchFamily="34" charset="-122"/>
                <a:ea typeface="微软雅黑" panose="020B0503020204020204" pitchFamily="34" charset="-122"/>
              </a:rPr>
              <a:t>L</a:t>
            </a:r>
            <a:endParaRPr lang="en-US" altLang="zh-CN" sz="1165" i="0">
              <a:solidFill>
                <a:srgbClr val="0000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6870065" y="3846195"/>
            <a:ext cx="1690370" cy="645160"/>
          </a:xfrm>
          <a:prstGeom prst="rect">
            <a:avLst/>
          </a:prstGeom>
          <a:noFill/>
        </p:spPr>
        <p:txBody>
          <a:bodyPr wrap="square" rtlCol="0" anchor="t">
            <a:spAutoFit/>
          </a:bodyPr>
          <a:lstStyle/>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减少负载电容</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减少自身电阻</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664845" y="791845"/>
            <a:ext cx="868680" cy="368300"/>
          </a:xfrm>
          <a:prstGeom prst="rect">
            <a:avLst/>
          </a:prstGeom>
          <a:noFill/>
        </p:spPr>
        <p:txBody>
          <a:bodyPr wrap="none" rtlCol="0" anchor="t">
            <a:spAutoFit/>
          </a:bodyPr>
          <a:lstStyle/>
          <a:p>
            <a:pPr algn="l"/>
            <a:r>
              <a:rPr lang="zh-CN" altLang="en-US">
                <a:solidFill>
                  <a:srgbClr val="000000"/>
                </a:solidFill>
                <a:latin typeface="微软雅黑" panose="020B0503020204020204" pitchFamily="34" charset="-122"/>
                <a:ea typeface="微软雅黑" panose="020B0503020204020204" pitchFamily="34" charset="-122"/>
                <a:sym typeface="+mn-ea"/>
              </a:rPr>
              <a:t>回顾：</a:t>
            </a:r>
            <a:endParaRPr lang="zh-CN" altLang="en-US">
              <a:solidFill>
                <a:srgbClr val="00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a:t>
            </a:r>
            <a:r>
              <a:rPr lang="zh-CN" altLang="en-US">
                <a:sym typeface="+mn-ea"/>
              </a:rPr>
              <a:t>动态特性</a:t>
            </a:r>
            <a:endParaRPr lang="zh-CN" altLang="en-US">
              <a:sym typeface="+mn-ea"/>
            </a:endParaRPr>
          </a:p>
        </p:txBody>
      </p:sp>
      <p:pic>
        <p:nvPicPr>
          <p:cNvPr id="2" name="图片 1"/>
          <p:cNvPicPr>
            <a:picLocks noChangeAspect="1"/>
          </p:cNvPicPr>
          <p:nvPr/>
        </p:nvPicPr>
        <p:blipFill>
          <a:blip r:embed="rId1"/>
          <a:stretch>
            <a:fillRect/>
          </a:stretch>
        </p:blipFill>
        <p:spPr>
          <a:xfrm>
            <a:off x="572770" y="1170305"/>
            <a:ext cx="4350385" cy="3110865"/>
          </a:xfrm>
          <a:prstGeom prst="rect">
            <a:avLst/>
          </a:prstGeom>
          <a:noFill/>
          <a:ln w="12700">
            <a:noFill/>
          </a:ln>
        </p:spPr>
      </p:pic>
      <p:pic>
        <p:nvPicPr>
          <p:cNvPr id="360452" name="图片 360451"/>
          <p:cNvPicPr>
            <a:picLocks noChangeAspect="1"/>
          </p:cNvPicPr>
          <p:nvPr/>
        </p:nvPicPr>
        <p:blipFill>
          <a:blip r:embed="rId2"/>
          <a:stretch>
            <a:fillRect/>
          </a:stretch>
        </p:blipFill>
        <p:spPr>
          <a:xfrm>
            <a:off x="5309341" y="2062268"/>
            <a:ext cx="3045354" cy="1994958"/>
          </a:xfrm>
          <a:prstGeom prst="rect">
            <a:avLst/>
          </a:prstGeom>
          <a:noFill/>
          <a:ln w="12700">
            <a:noFill/>
          </a:ln>
        </p:spPr>
      </p:pic>
      <p:sp>
        <p:nvSpPr>
          <p:cNvPr id="360453" name="文本框 360452"/>
          <p:cNvSpPr txBox="1"/>
          <p:nvPr/>
        </p:nvSpPr>
        <p:spPr>
          <a:xfrm>
            <a:off x="5028036" y="1643274"/>
            <a:ext cx="3816985" cy="321945"/>
          </a:xfrm>
          <a:prstGeom prst="rect">
            <a:avLst/>
          </a:prstGeom>
          <a:noFill/>
          <a:ln w="12700">
            <a:noFill/>
          </a:ln>
        </p:spPr>
        <p:txBody>
          <a:bodyPr wrap="none" anchor="t" anchorCtr="0">
            <a:spAutoFit/>
          </a:bodyPr>
          <a:lstStyle/>
          <a:p>
            <a:r>
              <a:rPr lang="zh-CN" altLang="en-US" sz="1500" b="1" i="0">
                <a:solidFill>
                  <a:schemeClr val="tx2"/>
                </a:solidFill>
                <a:latin typeface="Book Antiqua" panose="02040602050305030304" pitchFamily="18" charset="0"/>
              </a:rPr>
              <a:t>器件总电容在</a:t>
            </a:r>
            <a:r>
              <a:rPr lang="en-US" altLang="zh-CN" sz="1500" b="1" i="0">
                <a:solidFill>
                  <a:schemeClr val="tx2"/>
                </a:solidFill>
                <a:latin typeface="Book Antiqua" panose="02040602050305030304" pitchFamily="18" charset="0"/>
              </a:rPr>
              <a:t>WLCox</a:t>
            </a:r>
            <a:r>
              <a:rPr lang="zh-CN" altLang="en-US" sz="1500" b="1" i="0">
                <a:solidFill>
                  <a:schemeClr val="tx2"/>
                </a:solidFill>
                <a:latin typeface="Book Antiqua" panose="02040602050305030304" pitchFamily="18" charset="0"/>
              </a:rPr>
              <a:t>和</a:t>
            </a:r>
            <a:r>
              <a:rPr lang="en-US" altLang="zh-CN" sz="1500" b="1" i="0">
                <a:solidFill>
                  <a:schemeClr val="tx2"/>
                </a:solidFill>
                <a:latin typeface="Book Antiqua" panose="02040602050305030304" pitchFamily="18" charset="0"/>
              </a:rPr>
              <a:t>2/3WLCox</a:t>
            </a:r>
            <a:r>
              <a:rPr lang="zh-CN" altLang="en-US" sz="1500" b="1" i="0">
                <a:solidFill>
                  <a:schemeClr val="tx2"/>
                </a:solidFill>
                <a:latin typeface="Book Antiqua" panose="02040602050305030304" pitchFamily="18" charset="0"/>
              </a:rPr>
              <a:t>之间变化</a:t>
            </a:r>
            <a:endParaRPr lang="zh-CN" altLang="en-US" sz="1500" b="1" i="0">
              <a:solidFill>
                <a:schemeClr val="tx2"/>
              </a:solidFill>
              <a:latin typeface="Book Antiqua" panose="02040602050305030304" pitchFamily="18" charset="0"/>
            </a:endParaRPr>
          </a:p>
        </p:txBody>
      </p:sp>
      <p:sp>
        <p:nvSpPr>
          <p:cNvPr id="3" name="文本框 2"/>
          <p:cNvSpPr txBox="1"/>
          <p:nvPr/>
        </p:nvSpPr>
        <p:spPr>
          <a:xfrm>
            <a:off x="657225" y="815340"/>
            <a:ext cx="3090545" cy="398780"/>
          </a:xfrm>
          <a:prstGeom prst="rect">
            <a:avLst/>
          </a:prstGeom>
          <a:noFill/>
        </p:spPr>
        <p:txBody>
          <a:bodyPr wrap="none" rtlCol="0" anchor="t">
            <a:spAutoFit/>
          </a:bodyPr>
          <a:lstStyle/>
          <a:p>
            <a:pPr algn="l"/>
            <a:r>
              <a:rPr lang="zh-CN" altLang="en-US" sz="2000" b="1">
                <a:solidFill>
                  <a:srgbClr val="000000"/>
                </a:solidFill>
                <a:latin typeface="微软雅黑" panose="020B0503020204020204" pitchFamily="34" charset="-122"/>
                <a:ea typeface="微软雅黑" panose="020B0503020204020204" pitchFamily="34" charset="-122"/>
                <a:sym typeface="+mn-ea"/>
              </a:rPr>
              <a:t>回顾：</a:t>
            </a:r>
            <a:r>
              <a:rPr lang="en-US" altLang="zh-CN" sz="2000" b="1">
                <a:solidFill>
                  <a:srgbClr val="000000"/>
                </a:solidFill>
                <a:latin typeface="微软雅黑" panose="020B0503020204020204" pitchFamily="34" charset="-122"/>
                <a:ea typeface="微软雅黑" panose="020B0503020204020204" pitchFamily="34" charset="-122"/>
                <a:sym typeface="+mn-ea"/>
              </a:rPr>
              <a:t>MOS</a:t>
            </a:r>
            <a:r>
              <a:rPr lang="zh-CN" altLang="en-US" sz="2000" b="1">
                <a:solidFill>
                  <a:srgbClr val="000000"/>
                </a:solidFill>
                <a:latin typeface="微软雅黑" panose="020B0503020204020204" pitchFamily="34" charset="-122"/>
                <a:ea typeface="微软雅黑" panose="020B0503020204020204" pitchFamily="34" charset="-122"/>
                <a:sym typeface="+mn-ea"/>
              </a:rPr>
              <a:t>中的寄生电容</a:t>
            </a:r>
            <a:endParaRPr lang="zh-CN" altLang="en-US" sz="2000" b="1">
              <a:solidFill>
                <a:srgbClr val="000000"/>
              </a:solidFill>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3"/>
          <a:stretch>
            <a:fillRect/>
          </a:stretch>
        </p:blipFill>
        <p:spPr>
          <a:xfrm>
            <a:off x="1162050" y="4335145"/>
            <a:ext cx="7280275" cy="129222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a:t>
            </a:r>
            <a:r>
              <a:rPr lang="zh-CN" altLang="en-US">
                <a:sym typeface="+mn-ea"/>
              </a:rPr>
              <a:t>动态特性</a:t>
            </a:r>
            <a:endParaRPr lang="zh-CN" altLang="en-US">
              <a:sym typeface="+mn-ea"/>
            </a:endParaRPr>
          </a:p>
        </p:txBody>
      </p:sp>
      <p:sp>
        <p:nvSpPr>
          <p:cNvPr id="3" name="文本框 2"/>
          <p:cNvSpPr txBox="1"/>
          <p:nvPr/>
        </p:nvSpPr>
        <p:spPr>
          <a:xfrm>
            <a:off x="657225" y="815340"/>
            <a:ext cx="3261360" cy="398780"/>
          </a:xfrm>
          <a:prstGeom prst="rect">
            <a:avLst/>
          </a:prstGeom>
          <a:noFill/>
        </p:spPr>
        <p:txBody>
          <a:bodyPr wrap="none" rtlCol="0" anchor="t">
            <a:spAutoFit/>
          </a:bodyPr>
          <a:lstStyle/>
          <a:p>
            <a:pPr algn="l"/>
            <a:r>
              <a:rPr lang="en-US" altLang="zh-CN" sz="2000" b="1">
                <a:solidFill>
                  <a:srgbClr val="000000"/>
                </a:solidFill>
                <a:latin typeface="微软雅黑" panose="020B0503020204020204" pitchFamily="34" charset="-122"/>
                <a:ea typeface="微软雅黑" panose="020B0503020204020204" pitchFamily="34" charset="-122"/>
                <a:sym typeface="+mn-ea"/>
              </a:rPr>
              <a:t>CMOS</a:t>
            </a:r>
            <a:r>
              <a:rPr lang="zh-CN" altLang="en-US" sz="2000" b="1">
                <a:solidFill>
                  <a:srgbClr val="000000"/>
                </a:solidFill>
                <a:latin typeface="微软雅黑" panose="020B0503020204020204" pitchFamily="34" charset="-122"/>
                <a:ea typeface="微软雅黑" panose="020B0503020204020204" pitchFamily="34" charset="-122"/>
                <a:sym typeface="+mn-ea"/>
              </a:rPr>
              <a:t>反相器寄生电容</a:t>
            </a:r>
            <a:r>
              <a:rPr lang="zh-CN" altLang="en-US" sz="2000" b="1">
                <a:solidFill>
                  <a:srgbClr val="000000"/>
                </a:solidFill>
                <a:latin typeface="微软雅黑" panose="020B0503020204020204" pitchFamily="34" charset="-122"/>
                <a:ea typeface="微软雅黑" panose="020B0503020204020204" pitchFamily="34" charset="-122"/>
                <a:sym typeface="+mn-ea"/>
              </a:rPr>
              <a:t>计算</a:t>
            </a:r>
            <a:endParaRPr lang="zh-CN" altLang="en-US" sz="2000" b="1">
              <a:solidFill>
                <a:srgbClr val="000000"/>
              </a:solidFill>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1"/>
          <a:stretch>
            <a:fillRect/>
          </a:stretch>
        </p:blipFill>
        <p:spPr>
          <a:xfrm>
            <a:off x="279400" y="1302385"/>
            <a:ext cx="6348095" cy="3402965"/>
          </a:xfrm>
          <a:prstGeom prst="rect">
            <a:avLst/>
          </a:prstGeom>
        </p:spPr>
      </p:pic>
      <p:pic>
        <p:nvPicPr>
          <p:cNvPr id="7" name="图片 6"/>
          <p:cNvPicPr>
            <a:picLocks noChangeAspect="1"/>
          </p:cNvPicPr>
          <p:nvPr/>
        </p:nvPicPr>
        <p:blipFill>
          <a:blip r:embed="rId2"/>
          <a:stretch>
            <a:fillRect/>
          </a:stretch>
        </p:blipFill>
        <p:spPr>
          <a:xfrm>
            <a:off x="996315" y="4936490"/>
            <a:ext cx="6830695" cy="582295"/>
          </a:xfrm>
          <a:prstGeom prst="rect">
            <a:avLst/>
          </a:prstGeom>
        </p:spPr>
      </p:pic>
      <p:pic>
        <p:nvPicPr>
          <p:cNvPr id="8" name="图片 7"/>
          <p:cNvPicPr>
            <a:picLocks noChangeAspect="1"/>
          </p:cNvPicPr>
          <p:nvPr/>
        </p:nvPicPr>
        <p:blipFill>
          <a:blip r:embed="rId3"/>
          <a:stretch>
            <a:fillRect/>
          </a:stretch>
        </p:blipFill>
        <p:spPr>
          <a:xfrm>
            <a:off x="6635750" y="1780540"/>
            <a:ext cx="2417445" cy="21031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a:t>
            </a:r>
            <a:r>
              <a:rPr lang="zh-CN" altLang="en-US">
                <a:sym typeface="+mn-ea"/>
              </a:rPr>
              <a:t>动态特性</a:t>
            </a:r>
            <a:endParaRPr lang="zh-CN" altLang="en-US">
              <a:sym typeface="+mn-ea"/>
            </a:endParaRPr>
          </a:p>
        </p:txBody>
      </p:sp>
      <p:sp>
        <p:nvSpPr>
          <p:cNvPr id="3" name="文本框 2"/>
          <p:cNvSpPr txBox="1"/>
          <p:nvPr/>
        </p:nvSpPr>
        <p:spPr>
          <a:xfrm>
            <a:off x="657225" y="815340"/>
            <a:ext cx="5811520" cy="460375"/>
          </a:xfrm>
          <a:prstGeom prst="rect">
            <a:avLst/>
          </a:prstGeom>
          <a:noFill/>
        </p:spPr>
        <p:txBody>
          <a:bodyPr wrap="none" rtlCol="0" anchor="t">
            <a:spAutoFit/>
          </a:bodyPr>
          <a:lstStyle/>
          <a:p>
            <a:pPr algn="l"/>
            <a:r>
              <a:rPr lang="en-US" altLang="zh-CN" sz="2400" b="1">
                <a:solidFill>
                  <a:srgbClr val="000000"/>
                </a:solidFill>
                <a:latin typeface="微软雅黑" panose="020B0503020204020204" pitchFamily="34" charset="-122"/>
                <a:ea typeface="微软雅黑" panose="020B0503020204020204" pitchFamily="34" charset="-122"/>
                <a:sym typeface="+mn-ea"/>
              </a:rPr>
              <a:t>CMOS</a:t>
            </a:r>
            <a:r>
              <a:rPr lang="zh-CN" altLang="en-US" sz="2400" b="1">
                <a:solidFill>
                  <a:srgbClr val="000000"/>
                </a:solidFill>
                <a:latin typeface="微软雅黑" panose="020B0503020204020204" pitchFamily="34" charset="-122"/>
                <a:ea typeface="微软雅黑" panose="020B0503020204020204" pitchFamily="34" charset="-122"/>
                <a:sym typeface="+mn-ea"/>
              </a:rPr>
              <a:t>寄生电容计算：</a:t>
            </a:r>
            <a:r>
              <a:rPr lang="zh-CN" altLang="en-US" sz="2400" b="1">
                <a:solidFill>
                  <a:srgbClr val="C00000"/>
                </a:solidFill>
                <a:latin typeface="微软雅黑" panose="020B0503020204020204" pitchFamily="34" charset="-122"/>
                <a:ea typeface="微软雅黑" panose="020B0503020204020204" pitchFamily="34" charset="-122"/>
                <a:sym typeface="+mn-ea"/>
              </a:rPr>
              <a:t>栅漏电容</a:t>
            </a:r>
            <a:r>
              <a:rPr lang="en-US" altLang="zh-CN" sz="2400" b="1">
                <a:solidFill>
                  <a:srgbClr val="C00000"/>
                </a:solidFill>
                <a:latin typeface="微软雅黑" panose="020B0503020204020204" pitchFamily="34" charset="-122"/>
                <a:ea typeface="微软雅黑" panose="020B0503020204020204" pitchFamily="34" charset="-122"/>
                <a:sym typeface="+mn-ea"/>
              </a:rPr>
              <a:t>C</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gd1</a:t>
            </a:r>
            <a:r>
              <a:rPr lang="en-US" altLang="zh-CN" sz="2400" b="1">
                <a:solidFill>
                  <a:srgbClr val="C00000"/>
                </a:solidFill>
                <a:latin typeface="微软雅黑" panose="020B0503020204020204" pitchFamily="34" charset="-122"/>
                <a:ea typeface="微软雅黑" panose="020B0503020204020204" pitchFamily="34" charset="-122"/>
                <a:sym typeface="+mn-ea"/>
              </a:rPr>
              <a:t>/</a:t>
            </a:r>
            <a:r>
              <a:rPr lang="en-US" altLang="zh-CN" sz="2400" b="1">
                <a:solidFill>
                  <a:srgbClr val="C00000"/>
                </a:solidFill>
                <a:latin typeface="微软雅黑" panose="020B0503020204020204" pitchFamily="34" charset="-122"/>
                <a:ea typeface="微软雅黑" panose="020B0503020204020204" pitchFamily="34" charset="-122"/>
                <a:sym typeface="+mn-ea"/>
              </a:rPr>
              <a:t>C</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gd2</a:t>
            </a:r>
            <a:endParaRPr lang="en-US" altLang="zh-CN" sz="2400" b="1">
              <a:solidFill>
                <a:srgbClr val="C00000"/>
              </a:solidFill>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1"/>
          <a:stretch>
            <a:fillRect/>
          </a:stretch>
        </p:blipFill>
        <p:spPr>
          <a:xfrm>
            <a:off x="318135" y="1501140"/>
            <a:ext cx="8705850" cy="2371725"/>
          </a:xfrm>
          <a:prstGeom prst="rect">
            <a:avLst/>
          </a:prstGeom>
        </p:spPr>
      </p:pic>
      <p:sp>
        <p:nvSpPr>
          <p:cNvPr id="4" name="文本框 3"/>
          <p:cNvSpPr txBox="1"/>
          <p:nvPr/>
        </p:nvSpPr>
        <p:spPr>
          <a:xfrm>
            <a:off x="3398520" y="4004945"/>
            <a:ext cx="3984625" cy="829945"/>
          </a:xfrm>
          <a:prstGeom prst="rect">
            <a:avLst/>
          </a:prstGeom>
          <a:noFill/>
        </p:spPr>
        <p:txBody>
          <a:bodyPr wrap="square" rtlCol="0" anchor="t">
            <a:spAutoFit/>
          </a:bodyPr>
          <a:p>
            <a:pPr algn="l"/>
            <a:r>
              <a:rPr lang="en-US" altLang="zh-CN" sz="2400" b="1">
                <a:solidFill>
                  <a:srgbClr val="C00000"/>
                </a:solidFill>
                <a:latin typeface="微软雅黑" panose="020B0503020204020204" pitchFamily="34" charset="-122"/>
                <a:ea typeface="微软雅黑" panose="020B0503020204020204" pitchFamily="34" charset="-122"/>
                <a:sym typeface="+mn-ea"/>
              </a:rPr>
              <a:t>C</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gd1</a:t>
            </a:r>
            <a:r>
              <a:rPr lang="en-US" altLang="zh-CN" sz="2400" b="1">
                <a:solidFill>
                  <a:srgbClr val="C00000"/>
                </a:solidFill>
                <a:latin typeface="微软雅黑" panose="020B0503020204020204" pitchFamily="34" charset="-122"/>
                <a:ea typeface="微软雅黑" panose="020B0503020204020204" pitchFamily="34" charset="-122"/>
                <a:sym typeface="+mn-ea"/>
              </a:rPr>
              <a:t>=2C</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GDOn</a:t>
            </a:r>
            <a:r>
              <a:rPr lang="en-US" altLang="zh-CN" sz="2400" b="1">
                <a:solidFill>
                  <a:srgbClr val="C00000"/>
                </a:solidFill>
                <a:latin typeface="微软雅黑" panose="020B0503020204020204" pitchFamily="34" charset="-122"/>
                <a:ea typeface="微软雅黑" panose="020B0503020204020204" pitchFamily="34" charset="-122"/>
                <a:sym typeface="+mn-ea"/>
              </a:rPr>
              <a:t>W</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n</a:t>
            </a:r>
            <a:endParaRPr lang="en-US" altLang="zh-CN" sz="2400" b="1" baseline="-25000">
              <a:solidFill>
                <a:srgbClr val="C00000"/>
              </a:solidFill>
              <a:latin typeface="微软雅黑" panose="020B0503020204020204" pitchFamily="34" charset="-122"/>
              <a:ea typeface="微软雅黑" panose="020B0503020204020204" pitchFamily="34" charset="-122"/>
              <a:sym typeface="+mn-ea"/>
            </a:endParaRPr>
          </a:p>
          <a:p>
            <a:pPr algn="l"/>
            <a:r>
              <a:rPr lang="en-US" altLang="zh-CN" sz="2400" b="1">
                <a:solidFill>
                  <a:srgbClr val="C00000"/>
                </a:solidFill>
                <a:latin typeface="微软雅黑" panose="020B0503020204020204" pitchFamily="34" charset="-122"/>
                <a:ea typeface="微软雅黑" panose="020B0503020204020204" pitchFamily="34" charset="-122"/>
                <a:sym typeface="+mn-ea"/>
              </a:rPr>
              <a:t>C</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gd2</a:t>
            </a:r>
            <a:r>
              <a:rPr lang="en-US" altLang="zh-CN" sz="2400" b="1">
                <a:solidFill>
                  <a:srgbClr val="C00000"/>
                </a:solidFill>
                <a:latin typeface="微软雅黑" panose="020B0503020204020204" pitchFamily="34" charset="-122"/>
                <a:ea typeface="微软雅黑" panose="020B0503020204020204" pitchFamily="34" charset="-122"/>
                <a:sym typeface="+mn-ea"/>
              </a:rPr>
              <a:t>=2C</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GDOp</a:t>
            </a:r>
            <a:r>
              <a:rPr lang="en-US" altLang="zh-CN" sz="2400" b="1">
                <a:solidFill>
                  <a:srgbClr val="C00000"/>
                </a:solidFill>
                <a:latin typeface="微软雅黑" panose="020B0503020204020204" pitchFamily="34" charset="-122"/>
                <a:ea typeface="微软雅黑" panose="020B0503020204020204" pitchFamily="34" charset="-122"/>
                <a:sym typeface="+mn-ea"/>
              </a:rPr>
              <a:t>W</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p</a:t>
            </a:r>
            <a:endParaRPr lang="en-US" altLang="zh-CN" sz="2400" b="1" baseline="-25000" dirty="0">
              <a:solidFill>
                <a:srgbClr val="C00000"/>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a:t>
            </a:r>
            <a:r>
              <a:rPr lang="zh-CN" altLang="en-US">
                <a:sym typeface="+mn-ea"/>
              </a:rPr>
              <a:t>动态特性</a:t>
            </a:r>
            <a:endParaRPr lang="zh-CN" altLang="en-US">
              <a:sym typeface="+mn-ea"/>
            </a:endParaRPr>
          </a:p>
        </p:txBody>
      </p:sp>
      <p:sp>
        <p:nvSpPr>
          <p:cNvPr id="3" name="文本框 2"/>
          <p:cNvSpPr txBox="1"/>
          <p:nvPr/>
        </p:nvSpPr>
        <p:spPr>
          <a:xfrm>
            <a:off x="657225" y="815340"/>
            <a:ext cx="5812790" cy="460375"/>
          </a:xfrm>
          <a:prstGeom prst="rect">
            <a:avLst/>
          </a:prstGeom>
          <a:noFill/>
        </p:spPr>
        <p:txBody>
          <a:bodyPr wrap="none" rtlCol="0" anchor="t">
            <a:spAutoFit/>
          </a:bodyPr>
          <a:lstStyle/>
          <a:p>
            <a:pPr algn="l"/>
            <a:r>
              <a:rPr lang="en-US" altLang="zh-CN" sz="2400" b="1">
                <a:solidFill>
                  <a:schemeClr val="tx1"/>
                </a:solidFill>
                <a:latin typeface="微软雅黑" panose="020B0503020204020204" pitchFamily="34" charset="-122"/>
                <a:ea typeface="微软雅黑" panose="020B0503020204020204" pitchFamily="34" charset="-122"/>
                <a:sym typeface="+mn-ea"/>
              </a:rPr>
              <a:t>CMOS</a:t>
            </a:r>
            <a:r>
              <a:rPr lang="zh-CN" altLang="en-US" sz="2400" b="1">
                <a:solidFill>
                  <a:schemeClr val="tx1"/>
                </a:solidFill>
                <a:latin typeface="微软雅黑" panose="020B0503020204020204" pitchFamily="34" charset="-122"/>
                <a:ea typeface="微软雅黑" panose="020B0503020204020204" pitchFamily="34" charset="-122"/>
                <a:sym typeface="+mn-ea"/>
              </a:rPr>
              <a:t>寄生电容计算：</a:t>
            </a:r>
            <a:r>
              <a:rPr lang="zh-CN" altLang="en-US" sz="2400" b="1">
                <a:solidFill>
                  <a:srgbClr val="C00000"/>
                </a:solidFill>
                <a:latin typeface="微软雅黑" panose="020B0503020204020204" pitchFamily="34" charset="-122"/>
                <a:ea typeface="微软雅黑" panose="020B0503020204020204" pitchFamily="34" charset="-122"/>
                <a:sym typeface="+mn-ea"/>
              </a:rPr>
              <a:t>扩散电容</a:t>
            </a:r>
            <a:r>
              <a:rPr lang="en-US" altLang="zh-CN" sz="2400" b="1">
                <a:solidFill>
                  <a:srgbClr val="C00000"/>
                </a:solidFill>
                <a:latin typeface="微软雅黑" panose="020B0503020204020204" pitchFamily="34" charset="-122"/>
                <a:ea typeface="微软雅黑" panose="020B0503020204020204" pitchFamily="34" charset="-122"/>
                <a:sym typeface="+mn-ea"/>
              </a:rPr>
              <a:t>C</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d</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b1</a:t>
            </a:r>
            <a:r>
              <a:rPr lang="en-US" altLang="zh-CN" sz="2400" b="1">
                <a:solidFill>
                  <a:srgbClr val="C00000"/>
                </a:solidFill>
                <a:latin typeface="微软雅黑" panose="020B0503020204020204" pitchFamily="34" charset="-122"/>
                <a:ea typeface="微软雅黑" panose="020B0503020204020204" pitchFamily="34" charset="-122"/>
                <a:sym typeface="+mn-ea"/>
              </a:rPr>
              <a:t>/</a:t>
            </a:r>
            <a:r>
              <a:rPr lang="en-US" altLang="zh-CN" sz="2400" b="1">
                <a:solidFill>
                  <a:srgbClr val="C00000"/>
                </a:solidFill>
                <a:latin typeface="微软雅黑" panose="020B0503020204020204" pitchFamily="34" charset="-122"/>
                <a:ea typeface="微软雅黑" panose="020B0503020204020204" pitchFamily="34" charset="-122"/>
                <a:sym typeface="+mn-ea"/>
              </a:rPr>
              <a:t>C</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db2</a:t>
            </a:r>
            <a:endParaRPr lang="en-US" altLang="zh-CN" sz="2400" b="1">
              <a:solidFill>
                <a:srgbClr val="C00000"/>
              </a:solidFill>
              <a:latin typeface="微软雅黑" panose="020B0503020204020204" pitchFamily="34" charset="-122"/>
              <a:ea typeface="微软雅黑" panose="020B0503020204020204" pitchFamily="34" charset="-122"/>
              <a:sym typeface="+mn-ea"/>
            </a:endParaRPr>
          </a:p>
        </p:txBody>
      </p:sp>
      <p:pic>
        <p:nvPicPr>
          <p:cNvPr id="7" name="图片 6"/>
          <p:cNvPicPr>
            <a:picLocks noChangeAspect="1"/>
          </p:cNvPicPr>
          <p:nvPr/>
        </p:nvPicPr>
        <p:blipFill>
          <a:blip r:embed="rId1"/>
          <a:stretch>
            <a:fillRect/>
          </a:stretch>
        </p:blipFill>
        <p:spPr>
          <a:xfrm>
            <a:off x="2010410" y="4857750"/>
            <a:ext cx="6113780" cy="745490"/>
          </a:xfrm>
          <a:prstGeom prst="rect">
            <a:avLst/>
          </a:prstGeom>
        </p:spPr>
      </p:pic>
      <p:pic>
        <p:nvPicPr>
          <p:cNvPr id="8" name="图片 7"/>
          <p:cNvPicPr>
            <a:picLocks noChangeAspect="1"/>
          </p:cNvPicPr>
          <p:nvPr/>
        </p:nvPicPr>
        <p:blipFill>
          <a:blip r:embed="rId2"/>
          <a:stretch>
            <a:fillRect/>
          </a:stretch>
        </p:blipFill>
        <p:spPr>
          <a:xfrm>
            <a:off x="2268220" y="1275715"/>
            <a:ext cx="4446905" cy="3033395"/>
          </a:xfrm>
          <a:prstGeom prst="rect">
            <a:avLst/>
          </a:prstGeom>
        </p:spPr>
      </p:pic>
      <p:sp>
        <p:nvSpPr>
          <p:cNvPr id="9" name="文本框 8"/>
          <p:cNvSpPr txBox="1"/>
          <p:nvPr/>
        </p:nvSpPr>
        <p:spPr>
          <a:xfrm>
            <a:off x="966470" y="4401820"/>
            <a:ext cx="2926080" cy="460375"/>
          </a:xfrm>
          <a:prstGeom prst="rect">
            <a:avLst/>
          </a:prstGeom>
          <a:noFill/>
        </p:spPr>
        <p:txBody>
          <a:bodyPr wrap="none" rtlCol="0" anchor="t">
            <a:spAutoFit/>
          </a:bodyPr>
          <a:p>
            <a:pPr algn="l"/>
            <a:r>
              <a:rPr lang="zh-CN" altLang="en-US" sz="2400" b="1">
                <a:solidFill>
                  <a:schemeClr val="tx1"/>
                </a:solidFill>
                <a:latin typeface="微软雅黑" panose="020B0503020204020204" pitchFamily="34" charset="-122"/>
                <a:ea typeface="微软雅黑" panose="020B0503020204020204" pitchFamily="34" charset="-122"/>
                <a:sym typeface="+mn-ea"/>
              </a:rPr>
              <a:t>线性化的平均电容值</a:t>
            </a:r>
            <a:endParaRPr lang="zh-CN" altLang="en-US" sz="2400" b="1">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a:t>
            </a:r>
            <a:r>
              <a:rPr lang="zh-CN" altLang="en-US">
                <a:sym typeface="+mn-ea"/>
              </a:rPr>
              <a:t>动态特性</a:t>
            </a:r>
            <a:endParaRPr lang="zh-CN" altLang="en-US">
              <a:sym typeface="+mn-ea"/>
            </a:endParaRPr>
          </a:p>
        </p:txBody>
      </p:sp>
      <p:sp>
        <p:nvSpPr>
          <p:cNvPr id="3" name="文本框 2"/>
          <p:cNvSpPr txBox="1"/>
          <p:nvPr/>
        </p:nvSpPr>
        <p:spPr>
          <a:xfrm>
            <a:off x="657225" y="815340"/>
            <a:ext cx="6158230" cy="460375"/>
          </a:xfrm>
          <a:prstGeom prst="rect">
            <a:avLst/>
          </a:prstGeom>
          <a:noFill/>
        </p:spPr>
        <p:txBody>
          <a:bodyPr wrap="none" rtlCol="0" anchor="t">
            <a:spAutoFit/>
          </a:bodyPr>
          <a:lstStyle/>
          <a:p>
            <a:pPr algn="l"/>
            <a:r>
              <a:rPr lang="en-US" altLang="zh-CN" sz="2400" b="1">
                <a:solidFill>
                  <a:schemeClr val="tx1"/>
                </a:solidFill>
                <a:latin typeface="微软雅黑" panose="020B0503020204020204" pitchFamily="34" charset="-122"/>
                <a:ea typeface="微软雅黑" panose="020B0503020204020204" pitchFamily="34" charset="-122"/>
                <a:sym typeface="+mn-ea"/>
              </a:rPr>
              <a:t>CMOS</a:t>
            </a:r>
            <a:r>
              <a:rPr lang="zh-CN" altLang="en-US" sz="2400" b="1">
                <a:solidFill>
                  <a:schemeClr val="tx1"/>
                </a:solidFill>
                <a:latin typeface="微软雅黑" panose="020B0503020204020204" pitchFamily="34" charset="-122"/>
                <a:ea typeface="微软雅黑" panose="020B0503020204020204" pitchFamily="34" charset="-122"/>
                <a:sym typeface="+mn-ea"/>
              </a:rPr>
              <a:t>寄生电容计算：</a:t>
            </a:r>
            <a:r>
              <a:rPr lang="zh-CN" altLang="en-US" sz="2400" b="1">
                <a:solidFill>
                  <a:srgbClr val="C00000"/>
                </a:solidFill>
                <a:latin typeface="微软雅黑" panose="020B0503020204020204" pitchFamily="34" charset="-122"/>
                <a:ea typeface="微软雅黑" panose="020B0503020204020204" pitchFamily="34" charset="-122"/>
                <a:sym typeface="+mn-ea"/>
              </a:rPr>
              <a:t>扇出的栅电容</a:t>
            </a:r>
            <a:r>
              <a:rPr lang="en-US" altLang="zh-CN" sz="2400" b="1">
                <a:solidFill>
                  <a:srgbClr val="C00000"/>
                </a:solidFill>
                <a:latin typeface="微软雅黑" panose="020B0503020204020204" pitchFamily="34" charset="-122"/>
                <a:ea typeface="微软雅黑" panose="020B0503020204020204" pitchFamily="34" charset="-122"/>
                <a:sym typeface="+mn-ea"/>
              </a:rPr>
              <a:t>C</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g3</a:t>
            </a:r>
            <a:r>
              <a:rPr lang="en-US" altLang="zh-CN" sz="2400" b="1">
                <a:solidFill>
                  <a:srgbClr val="C00000"/>
                </a:solidFill>
                <a:latin typeface="微软雅黑" panose="020B0503020204020204" pitchFamily="34" charset="-122"/>
                <a:ea typeface="微软雅黑" panose="020B0503020204020204" pitchFamily="34" charset="-122"/>
                <a:sym typeface="+mn-ea"/>
              </a:rPr>
              <a:t>/</a:t>
            </a:r>
            <a:r>
              <a:rPr lang="en-US" altLang="zh-CN" sz="2400" b="1">
                <a:solidFill>
                  <a:srgbClr val="C00000"/>
                </a:solidFill>
                <a:latin typeface="微软雅黑" panose="020B0503020204020204" pitchFamily="34" charset="-122"/>
                <a:ea typeface="微软雅黑" panose="020B0503020204020204" pitchFamily="34" charset="-122"/>
                <a:sym typeface="+mn-ea"/>
              </a:rPr>
              <a:t>C</a:t>
            </a:r>
            <a:r>
              <a:rPr lang="en-US" altLang="zh-CN" sz="2400" b="1" baseline="-25000">
                <a:solidFill>
                  <a:srgbClr val="C00000"/>
                </a:solidFill>
                <a:latin typeface="微软雅黑" panose="020B0503020204020204" pitchFamily="34" charset="-122"/>
                <a:ea typeface="微软雅黑" panose="020B0503020204020204" pitchFamily="34" charset="-122"/>
                <a:sym typeface="+mn-ea"/>
              </a:rPr>
              <a:t>g4</a:t>
            </a:r>
            <a:endParaRPr lang="en-US" altLang="zh-CN" sz="2400" b="1">
              <a:solidFill>
                <a:srgbClr val="C00000"/>
              </a:solidFill>
              <a:latin typeface="微软雅黑" panose="020B0503020204020204" pitchFamily="34" charset="-122"/>
              <a:ea typeface="微软雅黑" panose="020B0503020204020204" pitchFamily="34" charset="-122"/>
              <a:sym typeface="+mn-ea"/>
            </a:endParaRPr>
          </a:p>
        </p:txBody>
      </p:sp>
      <p:pic>
        <p:nvPicPr>
          <p:cNvPr id="4" name="图片 3"/>
          <p:cNvPicPr>
            <a:picLocks noChangeAspect="1"/>
          </p:cNvPicPr>
          <p:nvPr/>
        </p:nvPicPr>
        <p:blipFill>
          <a:blip r:embed="rId1"/>
          <a:stretch>
            <a:fillRect/>
          </a:stretch>
        </p:blipFill>
        <p:spPr>
          <a:xfrm>
            <a:off x="902970" y="1418590"/>
            <a:ext cx="7299325" cy="993775"/>
          </a:xfrm>
          <a:prstGeom prst="rect">
            <a:avLst/>
          </a:prstGeom>
        </p:spPr>
      </p:pic>
      <p:pic>
        <p:nvPicPr>
          <p:cNvPr id="5" name="图片 4"/>
          <p:cNvPicPr>
            <a:picLocks noChangeAspect="1"/>
          </p:cNvPicPr>
          <p:nvPr/>
        </p:nvPicPr>
        <p:blipFill>
          <a:blip r:embed="rId2"/>
          <a:stretch>
            <a:fillRect/>
          </a:stretch>
        </p:blipFill>
        <p:spPr>
          <a:xfrm>
            <a:off x="941070" y="3855720"/>
            <a:ext cx="6605905" cy="536575"/>
          </a:xfrm>
          <a:prstGeom prst="rect">
            <a:avLst/>
          </a:prstGeom>
        </p:spPr>
      </p:pic>
      <p:sp>
        <p:nvSpPr>
          <p:cNvPr id="6" name="文本框 5"/>
          <p:cNvSpPr txBox="1"/>
          <p:nvPr/>
        </p:nvSpPr>
        <p:spPr>
          <a:xfrm>
            <a:off x="851535" y="3340735"/>
            <a:ext cx="1097280" cy="460375"/>
          </a:xfrm>
          <a:prstGeom prst="rect">
            <a:avLst/>
          </a:prstGeom>
          <a:noFill/>
        </p:spPr>
        <p:txBody>
          <a:bodyPr wrap="none" rtlCol="0" anchor="t">
            <a:spAutoFit/>
          </a:bodyPr>
          <a:p>
            <a:pPr algn="l"/>
            <a:r>
              <a:rPr lang="zh-CN" altLang="en-US" sz="2400" b="1">
                <a:solidFill>
                  <a:schemeClr val="tx1"/>
                </a:solidFill>
                <a:latin typeface="微软雅黑" panose="020B0503020204020204" pitchFamily="34" charset="-122"/>
                <a:ea typeface="微软雅黑" panose="020B0503020204020204" pitchFamily="34" charset="-122"/>
                <a:sym typeface="+mn-ea"/>
              </a:rPr>
              <a:t>总电容</a:t>
            </a:r>
            <a:endParaRPr lang="zh-CN" altLang="en-US" sz="2400" b="1">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a:t>
            </a:r>
            <a:r>
              <a:rPr lang="zh-CN" altLang="en-US">
                <a:sym typeface="+mn-ea"/>
              </a:rPr>
              <a:t>动态特性</a:t>
            </a:r>
            <a:endParaRPr lang="zh-CN" altLang="en-US">
              <a:sym typeface="+mn-ea"/>
            </a:endParaRPr>
          </a:p>
        </p:txBody>
      </p:sp>
      <p:pic>
        <p:nvPicPr>
          <p:cNvPr id="370690" name="图片 370689"/>
          <p:cNvPicPr>
            <a:picLocks noChangeAspect="1"/>
          </p:cNvPicPr>
          <p:nvPr/>
        </p:nvPicPr>
        <p:blipFill>
          <a:blip r:embed="rId1"/>
          <a:stretch>
            <a:fillRect/>
          </a:stretch>
        </p:blipFill>
        <p:spPr>
          <a:xfrm>
            <a:off x="312420" y="1060450"/>
            <a:ext cx="5125720" cy="3879215"/>
          </a:xfrm>
          <a:prstGeom prst="rect">
            <a:avLst/>
          </a:prstGeom>
          <a:noFill/>
          <a:ln w="12700">
            <a:noFill/>
          </a:ln>
        </p:spPr>
      </p:pic>
      <p:sp>
        <p:nvSpPr>
          <p:cNvPr id="370691" name="直接连接符 370690"/>
          <p:cNvSpPr/>
          <p:nvPr/>
        </p:nvSpPr>
        <p:spPr>
          <a:xfrm>
            <a:off x="2975928" y="2952750"/>
            <a:ext cx="492125" cy="0"/>
          </a:xfrm>
          <a:prstGeom prst="line">
            <a:avLst/>
          </a:prstGeom>
          <a:ln w="12700" cap="flat" cmpd="sng">
            <a:solidFill>
              <a:schemeClr val="accent1"/>
            </a:solidFill>
            <a:prstDash val="solid"/>
            <a:headEnd type="triangle" w="med" len="med"/>
            <a:tailEnd type="triangle" w="med" len="med"/>
          </a:ln>
        </p:spPr>
      </p:sp>
      <p:sp>
        <p:nvSpPr>
          <p:cNvPr id="370693" name="文本框 370692"/>
          <p:cNvSpPr txBox="1"/>
          <p:nvPr/>
        </p:nvSpPr>
        <p:spPr>
          <a:xfrm>
            <a:off x="5680710" y="1816735"/>
            <a:ext cx="3070225" cy="486410"/>
          </a:xfrm>
          <a:prstGeom prst="rect">
            <a:avLst/>
          </a:prstGeom>
          <a:solidFill>
            <a:schemeClr val="bg1"/>
          </a:solidFill>
          <a:ln w="12700" cap="flat" cmpd="sng">
            <a:solidFill>
              <a:srgbClr val="000082"/>
            </a:solidFill>
            <a:prstDash val="solid"/>
            <a:miter/>
            <a:headEnd type="none" w="med" len="med"/>
            <a:tailEnd type="none" w="med" len="med"/>
          </a:ln>
        </p:spPr>
        <p:txBody>
          <a:bodyPr wrap="square">
            <a:noAutofit/>
          </a:bodyPr>
          <a:lstStyle/>
          <a:p>
            <a:r>
              <a:rPr lang="en-US" altLang="zh-CN" sz="2000" b="1" i="0" err="1">
                <a:solidFill>
                  <a:schemeClr val="tx2"/>
                </a:solidFill>
                <a:latin typeface="Book Antiqua" panose="02040602050305030304" pitchFamily="18" charset="0"/>
              </a:rPr>
              <a:t>t</a:t>
            </a:r>
            <a:r>
              <a:rPr lang="en-US" altLang="zh-CN" sz="2000" b="1" i="0" baseline="-25000" err="1">
                <a:solidFill>
                  <a:schemeClr val="tx2"/>
                </a:solidFill>
                <a:latin typeface="Book Antiqua" panose="02040602050305030304" pitchFamily="18" charset="0"/>
              </a:rPr>
              <a:t>p</a:t>
            </a:r>
            <a:r>
              <a:rPr lang="en-US" altLang="zh-CN" sz="2000" b="1" i="0">
                <a:solidFill>
                  <a:schemeClr val="tx2"/>
                </a:solidFill>
                <a:latin typeface="Book Antiqua" panose="02040602050305030304" pitchFamily="18" charset="0"/>
              </a:rPr>
              <a:t> = 0.69 C</a:t>
            </a:r>
            <a:r>
              <a:rPr lang="en-US" altLang="zh-CN" sz="2000" b="1" i="0" baseline="-25000">
                <a:solidFill>
                  <a:schemeClr val="tx2"/>
                </a:solidFill>
                <a:latin typeface="Book Antiqua" panose="02040602050305030304" pitchFamily="18" charset="0"/>
              </a:rPr>
              <a:t>L</a:t>
            </a:r>
            <a:r>
              <a:rPr lang="en-US" altLang="zh-CN" sz="2000" b="1" i="0">
                <a:solidFill>
                  <a:schemeClr val="tx2"/>
                </a:solidFill>
                <a:latin typeface="Book Antiqua" panose="02040602050305030304" pitchFamily="18" charset="0"/>
              </a:rPr>
              <a:t> (R</a:t>
            </a:r>
            <a:r>
              <a:rPr lang="en-US" altLang="zh-CN" sz="2000" b="1" i="0" baseline="-25000">
                <a:solidFill>
                  <a:schemeClr val="tx2"/>
                </a:solidFill>
                <a:latin typeface="Book Antiqua" panose="02040602050305030304" pitchFamily="18" charset="0"/>
              </a:rPr>
              <a:t>eqn</a:t>
            </a:r>
            <a:r>
              <a:rPr lang="en-US" altLang="zh-CN" sz="2000" b="1" i="0">
                <a:solidFill>
                  <a:schemeClr val="tx2"/>
                </a:solidFill>
                <a:latin typeface="Book Antiqua" panose="02040602050305030304" pitchFamily="18" charset="0"/>
              </a:rPr>
              <a:t>+R</a:t>
            </a:r>
            <a:r>
              <a:rPr lang="en-US" altLang="zh-CN" sz="2000" b="1" i="0" baseline="-25000">
                <a:solidFill>
                  <a:schemeClr val="tx2"/>
                </a:solidFill>
                <a:latin typeface="Book Antiqua" panose="02040602050305030304" pitchFamily="18" charset="0"/>
              </a:rPr>
              <a:t>eqp</a:t>
            </a:r>
            <a:r>
              <a:rPr lang="en-US" altLang="zh-CN" sz="2000" b="1" i="0">
                <a:solidFill>
                  <a:schemeClr val="tx2"/>
                </a:solidFill>
                <a:latin typeface="Book Antiqua" panose="02040602050305030304" pitchFamily="18" charset="0"/>
              </a:rPr>
              <a:t>)/2</a:t>
            </a:r>
            <a:endParaRPr lang="en-US" altLang="zh-CN" sz="2000" b="1" i="0">
              <a:solidFill>
                <a:schemeClr val="tx2"/>
              </a:solidFill>
              <a:latin typeface="Book Antiqua" panose="02040602050305030304" pitchFamily="18" charset="0"/>
            </a:endParaRPr>
          </a:p>
        </p:txBody>
      </p:sp>
      <p:grpSp>
        <p:nvGrpSpPr>
          <p:cNvPr id="370694" name="组合 370693"/>
          <p:cNvGrpSpPr/>
          <p:nvPr/>
        </p:nvGrpSpPr>
        <p:grpSpPr>
          <a:xfrm>
            <a:off x="5415915" y="2361565"/>
            <a:ext cx="3654425" cy="2225040"/>
            <a:chOff x="2598" y="2208"/>
            <a:chExt cx="2963" cy="1800"/>
          </a:xfrm>
        </p:grpSpPr>
        <p:sp>
          <p:nvSpPr>
            <p:cNvPr id="370695" name="左箭头 370694"/>
            <p:cNvSpPr/>
            <p:nvPr/>
          </p:nvSpPr>
          <p:spPr>
            <a:xfrm rot="16200000">
              <a:off x="3790" y="2451"/>
              <a:ext cx="672" cy="186"/>
            </a:xfrm>
            <a:prstGeom prst="leftArrow">
              <a:avLst>
                <a:gd name="adj1" fmla="val 50000"/>
                <a:gd name="adj2" fmla="val 158064"/>
              </a:avLst>
            </a:prstGeom>
            <a:solidFill>
              <a:schemeClr val="accent1"/>
            </a:solidFill>
            <a:ln w="12700" cap="flat" cmpd="sng">
              <a:solidFill>
                <a:schemeClr val="tx1"/>
              </a:solidFill>
              <a:prstDash val="solid"/>
              <a:miter/>
              <a:headEnd type="none" w="med" len="med"/>
              <a:tailEnd type="none" w="med" len="med"/>
            </a:ln>
          </p:spPr>
          <p:txBody>
            <a:bodyPr/>
            <a:lstStyle/>
            <a:p>
              <a:endParaRPr lang="zh-CN" altLang="en-US" sz="1500"/>
            </a:p>
          </p:txBody>
        </p:sp>
        <p:pic>
          <p:nvPicPr>
            <p:cNvPr id="370696" name="图片 370695"/>
            <p:cNvPicPr>
              <a:picLocks noChangeAspect="1"/>
            </p:cNvPicPr>
            <p:nvPr/>
          </p:nvPicPr>
          <p:blipFill>
            <a:blip r:embed="rId2"/>
            <a:srcRect l="23750" t="19238" r="37669" b="65039"/>
            <a:stretch>
              <a:fillRect/>
            </a:stretch>
          </p:blipFill>
          <p:spPr>
            <a:xfrm>
              <a:off x="2598" y="3042"/>
              <a:ext cx="2963" cy="966"/>
            </a:xfrm>
            <a:prstGeom prst="rect">
              <a:avLst/>
            </a:prstGeom>
            <a:solidFill>
              <a:schemeClr val="bg1"/>
            </a:solidFill>
            <a:ln w="12700" cap="flat" cmpd="sng">
              <a:solidFill>
                <a:srgbClr val="000082"/>
              </a:solidFill>
              <a:prstDash val="solid"/>
              <a:miter/>
              <a:headEnd type="none" w="med" len="med"/>
              <a:tailEnd type="none" w="med" len="med"/>
            </a:ln>
            <a:effectLst>
              <a:outerShdw dist="107763" dir="2699999" algn="ctr" rotWithShape="0">
                <a:schemeClr val="bg2"/>
              </a:outerShdw>
            </a:effectLst>
          </p:spPr>
        </p:pic>
      </p:grpSp>
      <p:sp>
        <p:nvSpPr>
          <p:cNvPr id="370698" name="直接连接符 370697"/>
          <p:cNvSpPr/>
          <p:nvPr/>
        </p:nvSpPr>
        <p:spPr>
          <a:xfrm>
            <a:off x="1020445" y="2945130"/>
            <a:ext cx="635000" cy="0"/>
          </a:xfrm>
          <a:prstGeom prst="line">
            <a:avLst/>
          </a:prstGeom>
          <a:ln w="12700" cap="flat" cmpd="sng">
            <a:solidFill>
              <a:schemeClr val="accent1"/>
            </a:solidFill>
            <a:prstDash val="solid"/>
            <a:headEnd type="triangle" w="med" len="med"/>
            <a:tailEnd type="triangle" w="med" len="med"/>
          </a:ln>
        </p:spPr>
      </p:sp>
      <p:sp>
        <p:nvSpPr>
          <p:cNvPr id="370699" name="文本框 370698"/>
          <p:cNvSpPr txBox="1"/>
          <p:nvPr/>
        </p:nvSpPr>
        <p:spPr>
          <a:xfrm>
            <a:off x="1094740" y="3000375"/>
            <a:ext cx="656590" cy="321945"/>
          </a:xfrm>
          <a:prstGeom prst="rect">
            <a:avLst/>
          </a:prstGeom>
          <a:noFill/>
          <a:ln w="12700">
            <a:noFill/>
          </a:ln>
        </p:spPr>
        <p:txBody>
          <a:bodyPr wrap="square">
            <a:spAutoFit/>
          </a:bodyPr>
          <a:lstStyle/>
          <a:p>
            <a:r>
              <a:rPr lang="en-US" altLang="zh-CN" sz="1500" i="0" err="1">
                <a:solidFill>
                  <a:schemeClr val="accent1"/>
                </a:solidFill>
                <a:latin typeface="Book Antiqua" panose="02040602050305030304" pitchFamily="18" charset="0"/>
              </a:rPr>
              <a:t>t</a:t>
            </a:r>
            <a:r>
              <a:rPr lang="en-US" altLang="zh-CN" sz="1500" i="0" baseline="-25000" err="1">
                <a:solidFill>
                  <a:schemeClr val="accent1"/>
                </a:solidFill>
                <a:latin typeface="Book Antiqua" panose="02040602050305030304" pitchFamily="18" charset="0"/>
              </a:rPr>
              <a:t>pLH</a:t>
            </a:r>
            <a:endParaRPr lang="en-US" altLang="zh-CN" sz="1500" i="0">
              <a:solidFill>
                <a:schemeClr val="tx2"/>
              </a:solidFill>
              <a:latin typeface="Book Antiqua" panose="02040602050305030304" pitchFamily="18" charset="0"/>
            </a:endParaRPr>
          </a:p>
        </p:txBody>
      </p:sp>
      <p:sp>
        <p:nvSpPr>
          <p:cNvPr id="370700" name="文本框 370699"/>
          <p:cNvSpPr txBox="1"/>
          <p:nvPr/>
        </p:nvSpPr>
        <p:spPr>
          <a:xfrm>
            <a:off x="2968625" y="2945130"/>
            <a:ext cx="586105" cy="321945"/>
          </a:xfrm>
          <a:prstGeom prst="rect">
            <a:avLst/>
          </a:prstGeom>
          <a:noFill/>
          <a:ln w="12700">
            <a:noFill/>
          </a:ln>
        </p:spPr>
        <p:txBody>
          <a:bodyPr wrap="square">
            <a:spAutoFit/>
          </a:bodyPr>
          <a:lstStyle/>
          <a:p>
            <a:r>
              <a:rPr lang="en-US" altLang="zh-CN" sz="1500" i="0" err="1">
                <a:solidFill>
                  <a:schemeClr val="accent1"/>
                </a:solidFill>
                <a:latin typeface="Book Antiqua" panose="02040602050305030304" pitchFamily="18" charset="0"/>
              </a:rPr>
              <a:t>t</a:t>
            </a:r>
            <a:r>
              <a:rPr lang="en-US" altLang="zh-CN" sz="1500" i="0" baseline="-25000" err="1">
                <a:solidFill>
                  <a:schemeClr val="accent1"/>
                </a:solidFill>
                <a:latin typeface="Book Antiqua" panose="02040602050305030304" pitchFamily="18" charset="0"/>
              </a:rPr>
              <a:t>pHL</a:t>
            </a:r>
            <a:endParaRPr lang="en-US" altLang="zh-CN" sz="1500" i="0">
              <a:solidFill>
                <a:schemeClr val="tx2"/>
              </a:solidFill>
              <a:latin typeface="Book Antiqua" panose="02040602050305030304" pitchFamily="18" charset="0"/>
            </a:endParaRPr>
          </a:p>
        </p:txBody>
      </p:sp>
      <p:sp>
        <p:nvSpPr>
          <p:cNvPr id="3" name="文本框 2"/>
          <p:cNvSpPr txBox="1"/>
          <p:nvPr/>
        </p:nvSpPr>
        <p:spPr>
          <a:xfrm>
            <a:off x="1692910" y="4975860"/>
            <a:ext cx="2468880" cy="398780"/>
          </a:xfrm>
          <a:prstGeom prst="rect">
            <a:avLst/>
          </a:prstGeom>
          <a:noFill/>
        </p:spPr>
        <p:txBody>
          <a:bodyPr wrap="none" rtlCol="0" anchor="t">
            <a:spAutoFit/>
          </a:bodyPr>
          <a:p>
            <a:pPr algn="l"/>
            <a:r>
              <a:rPr lang="zh-CN" altLang="en-US" sz="2000" b="1">
                <a:solidFill>
                  <a:schemeClr val="tx1"/>
                </a:solidFill>
                <a:latin typeface="微软雅黑" panose="020B0503020204020204" pitchFamily="34" charset="-122"/>
                <a:ea typeface="微软雅黑" panose="020B0503020204020204" pitchFamily="34" charset="-122"/>
                <a:sym typeface="+mn-ea"/>
              </a:rPr>
              <a:t>模拟得到的瞬态响应</a:t>
            </a:r>
            <a:endParaRPr lang="zh-CN" altLang="en-US" sz="2000" b="1">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动态特性</a:t>
            </a:r>
            <a:endParaRPr lang="zh-CN" altLang="en-US">
              <a:sym typeface="+mn-ea"/>
            </a:endParaRPr>
          </a:p>
        </p:txBody>
      </p:sp>
      <p:pic>
        <p:nvPicPr>
          <p:cNvPr id="372739" name="图片 372738"/>
          <p:cNvPicPr>
            <a:picLocks noChangeAspect="1"/>
          </p:cNvPicPr>
          <p:nvPr/>
        </p:nvPicPr>
        <p:blipFill>
          <a:blip r:embed="rId1"/>
          <a:stretch>
            <a:fillRect/>
          </a:stretch>
        </p:blipFill>
        <p:spPr>
          <a:xfrm>
            <a:off x="2646680" y="1911985"/>
            <a:ext cx="4845050" cy="3634105"/>
          </a:xfrm>
          <a:prstGeom prst="rect">
            <a:avLst/>
          </a:prstGeom>
          <a:noFill/>
          <a:ln w="12700">
            <a:noFill/>
          </a:ln>
        </p:spPr>
      </p:pic>
      <p:pic>
        <p:nvPicPr>
          <p:cNvPr id="372740" name="图片 372739"/>
          <p:cNvPicPr>
            <a:picLocks noChangeAspect="1"/>
          </p:cNvPicPr>
          <p:nvPr/>
        </p:nvPicPr>
        <p:blipFill>
          <a:blip r:embed="rId2"/>
          <a:srcRect l="14766" t="36653" r="19376" b="54395"/>
          <a:stretch>
            <a:fillRect/>
          </a:stretch>
        </p:blipFill>
        <p:spPr>
          <a:xfrm>
            <a:off x="2184400" y="1366943"/>
            <a:ext cx="5675313" cy="616479"/>
          </a:xfrm>
          <a:prstGeom prst="rect">
            <a:avLst/>
          </a:prstGeom>
          <a:solidFill>
            <a:schemeClr val="bg1"/>
          </a:solidFill>
          <a:ln w="12700" cap="flat" cmpd="sng">
            <a:solidFill>
              <a:srgbClr val="000082"/>
            </a:solidFill>
            <a:prstDash val="solid"/>
            <a:miter/>
            <a:headEnd type="none" w="med" len="med"/>
            <a:tailEnd type="none" w="med" len="med"/>
          </a:ln>
        </p:spPr>
      </p:pic>
      <p:sp>
        <p:nvSpPr>
          <p:cNvPr id="3" name="文本框 2"/>
          <p:cNvSpPr txBox="1"/>
          <p:nvPr/>
        </p:nvSpPr>
        <p:spPr>
          <a:xfrm>
            <a:off x="340995" y="1490980"/>
            <a:ext cx="1783080" cy="368300"/>
          </a:xfrm>
          <a:prstGeom prst="rect">
            <a:avLst/>
          </a:prstGeom>
          <a:noFill/>
        </p:spPr>
        <p:txBody>
          <a:bodyPr wrap="none" rtlCol="0" anchor="t">
            <a:spAutoFit/>
          </a:bodyPr>
          <a:lstStyle/>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等效电阻展开：</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矩形 3"/>
          <p:cNvSpPr/>
          <p:nvPr/>
        </p:nvSpPr>
        <p:spPr>
          <a:xfrm>
            <a:off x="4427855" y="4678045"/>
            <a:ext cx="2602230" cy="438785"/>
          </a:xfrm>
          <a:prstGeom prst="rect">
            <a:avLst/>
          </a:prstGeom>
          <a:noFill/>
          <a:extLst>
            <a:ext uri="{909E8E84-426E-40DD-AFC4-6F175D3DCCD1}">
              <a14:hiddenFill xmlns:a14="http://schemas.microsoft.com/office/drawing/2010/main">
                <a:solidFill>
                  <a:srgbClr val="FF0000"/>
                </a:solidFill>
              </a14:hiddenFill>
            </a:ext>
          </a:extLst>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5" name="文本框 4"/>
          <p:cNvSpPr txBox="1"/>
          <p:nvPr/>
        </p:nvSpPr>
        <p:spPr>
          <a:xfrm>
            <a:off x="243840" y="774700"/>
            <a:ext cx="4572000" cy="460375"/>
          </a:xfrm>
          <a:prstGeom prst="rect">
            <a:avLst/>
          </a:prstGeom>
          <a:noFill/>
        </p:spPr>
        <p:txBody>
          <a:bodyPr wrap="square" rtlCol="0" anchor="t">
            <a:spAutoFit/>
          </a:bodyPr>
          <a:p>
            <a:pPr algn="l"/>
            <a:r>
              <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减小传播延时的设计：</a:t>
            </a:r>
            <a:endParaRPr lang="en-US" altLang="zh-CN" sz="24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动态特性</a:t>
            </a:r>
            <a:endParaRPr lang="zh-CN" altLang="en-US">
              <a:sym typeface="+mn-ea"/>
            </a:endParaRPr>
          </a:p>
        </p:txBody>
      </p:sp>
      <p:sp>
        <p:nvSpPr>
          <p:cNvPr id="348163" name="文本占位符 348162"/>
          <p:cNvSpPr>
            <a:spLocks noGrp="1"/>
          </p:cNvSpPr>
          <p:nvPr>
            <p:ph type="body" idx="1"/>
          </p:nvPr>
        </p:nvSpPr>
        <p:spPr>
          <a:xfrm>
            <a:off x="851535" y="935990"/>
            <a:ext cx="6477000" cy="3941445"/>
          </a:xfrm>
        </p:spPr>
        <p:txBody>
          <a:bodyPr lIns="75406" tIns="37041" rIns="75406" bIns="37041"/>
          <a:lstStyle/>
          <a:p>
            <a:pPr marL="0" indent="0">
              <a:lnSpc>
                <a:spcPct val="150000"/>
              </a:lnSpc>
              <a:buNone/>
            </a:pPr>
            <a:r>
              <a:rPr lang="zh-CN" altLang="en-US" sz="28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减小传播延时的设计要求</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1" indent="0">
              <a:lnSpc>
                <a:spcPct val="150000"/>
              </a:lnSpc>
              <a:buNone/>
            </a:pP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减小负载电容</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定制化版图，缩小器件尺寸</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1" indent="0">
              <a:lnSpc>
                <a:spcPct val="150000"/>
              </a:lnSpc>
              <a:buNone/>
            </a:pP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增大晶体管宽长比</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增大驱动能力</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，减小导通电阻</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lvl="1" indent="0">
              <a:lnSpc>
                <a:spcPct val="150000"/>
              </a:lnSpc>
              <a:buNone/>
            </a:pP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3. </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提高电源电压</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V</a:t>
            </a:r>
            <a:r>
              <a:rPr lang="en-US" altLang="zh-CN"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DD</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50000"/>
              </a:lnSpc>
              <a:buNone/>
            </a:pP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70343" name="图片 270342"/>
          <p:cNvPicPr>
            <a:picLocks noChangeAspect="1"/>
          </p:cNvPicPr>
          <p:nvPr/>
        </p:nvPicPr>
        <p:blipFill>
          <a:blip r:embed="rId1"/>
          <a:stretch>
            <a:fillRect/>
          </a:stretch>
        </p:blipFill>
        <p:spPr>
          <a:xfrm>
            <a:off x="2811145" y="2865120"/>
            <a:ext cx="3635375" cy="2738755"/>
          </a:xfrm>
          <a:prstGeom prst="rect">
            <a:avLst/>
          </a:prstGeom>
          <a:noFill/>
          <a:ln w="12700">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a:t>
            </a:r>
            <a:r>
              <a:rPr lang="zh-CN" altLang="en-US">
                <a:sym typeface="+mn-ea"/>
              </a:rPr>
              <a:t>动态特性</a:t>
            </a:r>
            <a:endParaRPr lang="zh-CN" altLang="en-US">
              <a:sym typeface="+mn-ea"/>
            </a:endParaRPr>
          </a:p>
        </p:txBody>
      </p:sp>
      <p:sp>
        <p:nvSpPr>
          <p:cNvPr id="5" name="文本框 4"/>
          <p:cNvSpPr txBox="1"/>
          <p:nvPr/>
        </p:nvSpPr>
        <p:spPr>
          <a:xfrm>
            <a:off x="1093470" y="4933950"/>
            <a:ext cx="3529965" cy="368300"/>
          </a:xfrm>
          <a:prstGeom prst="rect">
            <a:avLst/>
          </a:prstGeom>
          <a:noFill/>
        </p:spPr>
        <p:txBody>
          <a:bodyPr wrap="square" rtlCol="0" anchor="t">
            <a:spAutoFit/>
          </a:bodyPr>
          <a:lstStyle/>
          <a:p>
            <a:pPr algn="l"/>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PMOS</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NMOS</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W/L</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比例</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β</a:t>
            </a:r>
            <a:endPar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74786" name="图片 374785"/>
          <p:cNvPicPr>
            <a:picLocks noChangeAspect="1"/>
          </p:cNvPicPr>
          <p:nvPr/>
        </p:nvPicPr>
        <p:blipFill>
          <a:blip r:embed="rId1"/>
          <a:stretch>
            <a:fillRect/>
          </a:stretch>
        </p:blipFill>
        <p:spPr>
          <a:xfrm>
            <a:off x="306388" y="1033833"/>
            <a:ext cx="5103813" cy="3828521"/>
          </a:xfrm>
          <a:prstGeom prst="rect">
            <a:avLst/>
          </a:prstGeom>
          <a:noFill/>
          <a:ln w="12700">
            <a:noFill/>
          </a:ln>
        </p:spPr>
      </p:pic>
      <p:sp>
        <p:nvSpPr>
          <p:cNvPr id="374788" name="文本框 374787"/>
          <p:cNvSpPr txBox="1"/>
          <p:nvPr/>
        </p:nvSpPr>
        <p:spPr>
          <a:xfrm>
            <a:off x="1536171" y="1631792"/>
            <a:ext cx="634365" cy="321945"/>
          </a:xfrm>
          <a:prstGeom prst="rect">
            <a:avLst/>
          </a:prstGeom>
          <a:noFill/>
          <a:ln w="12700">
            <a:noFill/>
          </a:ln>
        </p:spPr>
        <p:txBody>
          <a:bodyPr wrap="none" anchor="t" anchorCtr="0">
            <a:spAutoFit/>
          </a:bodyPr>
          <a:lstStyle/>
          <a:p>
            <a:r>
              <a:rPr lang="en-US" altLang="zh-CN" sz="1500" i="0" err="1">
                <a:solidFill>
                  <a:schemeClr val="tx2"/>
                </a:solidFill>
                <a:latin typeface="Book Antiqua" panose="02040602050305030304" pitchFamily="18" charset="0"/>
              </a:rPr>
              <a:t>tpLH</a:t>
            </a:r>
            <a:endParaRPr lang="en-US" altLang="zh-CN" sz="1500" i="0">
              <a:solidFill>
                <a:schemeClr val="tx2"/>
              </a:solidFill>
              <a:latin typeface="Book Antiqua" panose="02040602050305030304" pitchFamily="18" charset="0"/>
            </a:endParaRPr>
          </a:p>
        </p:txBody>
      </p:sp>
      <p:sp>
        <p:nvSpPr>
          <p:cNvPr id="374789" name="文本框 374788"/>
          <p:cNvSpPr txBox="1"/>
          <p:nvPr/>
        </p:nvSpPr>
        <p:spPr>
          <a:xfrm>
            <a:off x="3781213" y="1607979"/>
            <a:ext cx="634365" cy="321945"/>
          </a:xfrm>
          <a:prstGeom prst="rect">
            <a:avLst/>
          </a:prstGeom>
          <a:solidFill>
            <a:schemeClr val="bg1"/>
          </a:solidFill>
          <a:ln w="12700">
            <a:noFill/>
          </a:ln>
        </p:spPr>
        <p:txBody>
          <a:bodyPr wrap="none" anchor="t" anchorCtr="0">
            <a:spAutoFit/>
          </a:bodyPr>
          <a:lstStyle/>
          <a:p>
            <a:r>
              <a:rPr lang="en-US" altLang="zh-CN" sz="1500" i="0" err="1">
                <a:solidFill>
                  <a:schemeClr val="tx2"/>
                </a:solidFill>
                <a:latin typeface="Book Antiqua" panose="02040602050305030304" pitchFamily="18" charset="0"/>
              </a:rPr>
              <a:t>tpHL</a:t>
            </a:r>
            <a:endParaRPr lang="en-US" altLang="zh-CN" sz="1500" i="0">
              <a:solidFill>
                <a:schemeClr val="tx2"/>
              </a:solidFill>
              <a:latin typeface="Book Antiqua" panose="02040602050305030304" pitchFamily="18" charset="0"/>
            </a:endParaRPr>
          </a:p>
        </p:txBody>
      </p:sp>
      <p:sp>
        <p:nvSpPr>
          <p:cNvPr id="374790" name="文本框 374789"/>
          <p:cNvSpPr txBox="1"/>
          <p:nvPr/>
        </p:nvSpPr>
        <p:spPr>
          <a:xfrm>
            <a:off x="4725141" y="2417604"/>
            <a:ext cx="359410" cy="321945"/>
          </a:xfrm>
          <a:prstGeom prst="rect">
            <a:avLst/>
          </a:prstGeom>
          <a:solidFill>
            <a:schemeClr val="bg1"/>
          </a:solidFill>
          <a:ln w="12700">
            <a:noFill/>
          </a:ln>
        </p:spPr>
        <p:txBody>
          <a:bodyPr wrap="none" anchor="t" anchorCtr="0">
            <a:spAutoFit/>
          </a:bodyPr>
          <a:lstStyle/>
          <a:p>
            <a:r>
              <a:rPr lang="en-US" altLang="zh-CN" sz="1500" i="0" err="1">
                <a:solidFill>
                  <a:schemeClr val="tx2"/>
                </a:solidFill>
                <a:latin typeface="Book Antiqua" panose="02040602050305030304" pitchFamily="18" charset="0"/>
              </a:rPr>
              <a:t>tp</a:t>
            </a:r>
            <a:endParaRPr lang="en-US" altLang="zh-CN" sz="1500" i="0">
              <a:solidFill>
                <a:schemeClr val="tx2"/>
              </a:solidFill>
              <a:latin typeface="Book Antiqua" panose="02040602050305030304" pitchFamily="18" charset="0"/>
            </a:endParaRPr>
          </a:p>
        </p:txBody>
      </p:sp>
      <p:sp>
        <p:nvSpPr>
          <p:cNvPr id="11" name="文本框 10"/>
          <p:cNvSpPr txBox="1"/>
          <p:nvPr/>
        </p:nvSpPr>
        <p:spPr>
          <a:xfrm>
            <a:off x="5585460" y="3549650"/>
            <a:ext cx="3279140" cy="368300"/>
          </a:xfrm>
          <a:prstGeom prst="rect">
            <a:avLst/>
          </a:prstGeom>
          <a:noFill/>
        </p:spPr>
        <p:txBody>
          <a:bodyPr wrap="square" rtlCol="0" anchor="t">
            <a:spAutoFit/>
          </a:bodyPr>
          <a:lstStyle/>
          <a:p>
            <a:pPr algn="l"/>
            <a:r>
              <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C</a:t>
            </a:r>
            <a:r>
              <a:rPr lang="en-US" altLang="zh-CN"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dn1</a:t>
            </a:r>
            <a:r>
              <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dp1  </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第一级漏扩散电容</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2" name="文本框 11"/>
          <p:cNvSpPr txBox="1"/>
          <p:nvPr/>
        </p:nvSpPr>
        <p:spPr>
          <a:xfrm>
            <a:off x="5664835" y="3181350"/>
            <a:ext cx="1689100" cy="368300"/>
          </a:xfrm>
          <a:prstGeom prst="rect">
            <a:avLst/>
          </a:prstGeom>
          <a:noFill/>
        </p:spPr>
        <p:txBody>
          <a:bodyPr wrap="square" rtlCol="0" anchor="t">
            <a:spAutoFit/>
          </a:bodyPr>
          <a:lstStyle/>
          <a:p>
            <a:pPr algn="l"/>
            <a:r>
              <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W </a:t>
            </a:r>
            <a:r>
              <a:rPr lang="en-US" altLang="zh-CN"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互联电容</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3" name="椭圆 12"/>
          <p:cNvSpPr/>
          <p:nvPr/>
        </p:nvSpPr>
        <p:spPr>
          <a:xfrm>
            <a:off x="1664335" y="3549650"/>
            <a:ext cx="86360" cy="75565"/>
          </a:xfrm>
          <a:prstGeom prst="ellipse">
            <a:avLst/>
          </a:prstGeom>
          <a:gradFill>
            <a:gsLst>
              <a:gs pos="0">
                <a:srgbClr val="FE4444"/>
              </a:gs>
              <a:gs pos="100000">
                <a:srgbClr val="832B2B"/>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280920" y="3510915"/>
            <a:ext cx="86360" cy="75565"/>
          </a:xfrm>
          <a:prstGeom prst="ellipse">
            <a:avLst/>
          </a:prstGeom>
          <a:gradFill>
            <a:gsLst>
              <a:gs pos="0">
                <a:srgbClr val="FE4444"/>
              </a:gs>
              <a:gs pos="100000">
                <a:srgbClr val="832B2B"/>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536065" y="3672840"/>
            <a:ext cx="343535" cy="368300"/>
          </a:xfrm>
          <a:prstGeom prst="rect">
            <a:avLst/>
          </a:prstGeom>
          <a:noFill/>
        </p:spPr>
        <p:txBody>
          <a:bodyPr wrap="none" rtlCol="0">
            <a:spAutoFit/>
          </a:bodyPr>
          <a:lstStyle/>
          <a:p>
            <a:pPr algn="l"/>
            <a:r>
              <a:rPr lang="en-US" altLang="zh-CN" dirty="0">
                <a:latin typeface="微软雅黑" panose="020B0503020204020204" pitchFamily="34" charset="-122"/>
                <a:ea typeface="微软雅黑" panose="020B0503020204020204" pitchFamily="34" charset="-122"/>
              </a:rPr>
              <a:t>A</a:t>
            </a:r>
            <a:endParaRPr lang="en-US" altLang="zh-CN"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2585720" y="3510915"/>
            <a:ext cx="326390" cy="368300"/>
          </a:xfrm>
          <a:prstGeom prst="rect">
            <a:avLst/>
          </a:prstGeom>
          <a:noFill/>
        </p:spPr>
        <p:txBody>
          <a:bodyPr wrap="none" rtlCol="0">
            <a:spAutoFit/>
          </a:bodyPr>
          <a:lstStyle/>
          <a:p>
            <a:pPr algn="l"/>
            <a:r>
              <a:rPr lang="en-US" altLang="zh-CN" dirty="0">
                <a:latin typeface="微软雅黑" panose="020B0503020204020204" pitchFamily="34" charset="-122"/>
                <a:ea typeface="微软雅黑" panose="020B0503020204020204" pitchFamily="34" charset="-122"/>
              </a:rPr>
              <a:t>B</a:t>
            </a:r>
            <a:endParaRPr lang="en-US" altLang="zh-CN"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5377180" y="1664335"/>
            <a:ext cx="3566160" cy="852805"/>
          </a:xfrm>
          <a:prstGeom prst="rect">
            <a:avLst/>
          </a:prstGeom>
          <a:noFill/>
        </p:spPr>
        <p:txBody>
          <a:bodyPr wrap="square" rtlCol="0" anchor="t">
            <a:noAutofit/>
          </a:bodyPr>
          <a:lstStyle/>
          <a:p>
            <a:pPr algn="l"/>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β=(W/L)</a:t>
            </a:r>
            <a:r>
              <a:rPr lang="en-US" altLang="zh-CN" sz="2000"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/(W/L)</a:t>
            </a:r>
            <a:r>
              <a:rPr lang="en-US" altLang="zh-CN" sz="2000"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n</a:t>
            </a:r>
            <a:endParaRPr lang="en-US" altLang="zh-CN" sz="2000"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endParaRPr lang="en-US" altLang="zh-CN" sz="2000"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 C</a:t>
            </a:r>
            <a:r>
              <a:rPr lang="en-US" altLang="zh-CN" sz="2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dp1</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β</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dn1</a:t>
            </a:r>
            <a:r>
              <a:rPr lang="zh-CN" altLang="en-US"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gp2</a:t>
            </a:r>
            <a:r>
              <a:rPr lang="en-US" altLang="zh-CN" sz="2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=βC</a:t>
            </a:r>
            <a:r>
              <a:rPr lang="en-US" altLang="zh-CN" sz="2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gn2</a:t>
            </a:r>
            <a:endParaRPr lang="en-US" altLang="zh-CN" sz="2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endParaRPr lang="en-US" altLang="zh-CN" sz="2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endParaRPr lang="en-US" altLang="zh-CN" sz="2000" baseline="-250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文本框 19"/>
          <p:cNvSpPr txBox="1"/>
          <p:nvPr/>
        </p:nvSpPr>
        <p:spPr>
          <a:xfrm>
            <a:off x="5664835" y="3917950"/>
            <a:ext cx="2639060" cy="368300"/>
          </a:xfrm>
          <a:prstGeom prst="rect">
            <a:avLst/>
          </a:prstGeom>
          <a:noFill/>
        </p:spPr>
        <p:txBody>
          <a:bodyPr wrap="square" rtlCol="0" anchor="t">
            <a:spAutoFit/>
          </a:bodyPr>
          <a:lstStyle/>
          <a:p>
            <a:pPr algn="l"/>
            <a:r>
              <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gn2</a:t>
            </a:r>
            <a:r>
              <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pn2  </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第二级栅电容</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1" name="文本框 20"/>
          <p:cNvSpPr txBox="1"/>
          <p:nvPr/>
        </p:nvSpPr>
        <p:spPr>
          <a:xfrm>
            <a:off x="5754370" y="2611120"/>
            <a:ext cx="3110230" cy="598805"/>
          </a:xfrm>
          <a:prstGeom prst="rect">
            <a:avLst/>
          </a:prstGeom>
          <a:noFill/>
        </p:spPr>
        <p:txBody>
          <a:bodyPr wrap="square" rtlCol="0" anchor="t">
            <a:spAutoFit/>
          </a:bodyPr>
          <a:p>
            <a:pPr algn="l"/>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L</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=(β+1)(C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dn1</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gn2</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w</a:t>
            </a:r>
            <a:endPar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endParaRPr lang="en-US" altLang="zh-CN" sz="2000" baseline="-25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2" name="文本框 21"/>
          <p:cNvSpPr txBox="1"/>
          <p:nvPr/>
        </p:nvSpPr>
        <p:spPr>
          <a:xfrm>
            <a:off x="5484495" y="4489450"/>
            <a:ext cx="3659505" cy="1014730"/>
          </a:xfrm>
          <a:prstGeom prst="rect">
            <a:avLst/>
          </a:prstGeom>
          <a:noFill/>
        </p:spPr>
        <p:txBody>
          <a:bodyPr wrap="square" rtlCol="0" anchor="t">
            <a:spAutoFit/>
          </a:bodyPr>
          <a:p>
            <a:pPr algn="l"/>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=0.69C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L</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20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eqn</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20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eqp</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β</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)/2</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=0.345(</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(β+1)(C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dn1</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gn2</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w</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20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eqn</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20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eqp</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β)</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7" name="文本框 26"/>
          <p:cNvSpPr txBox="1"/>
          <p:nvPr/>
        </p:nvSpPr>
        <p:spPr>
          <a:xfrm>
            <a:off x="5664835" y="863600"/>
            <a:ext cx="3084830" cy="706755"/>
          </a:xfrm>
          <a:prstGeom prst="rect">
            <a:avLst/>
          </a:prstGeom>
          <a:noFill/>
        </p:spPr>
        <p:txBody>
          <a:bodyPr wrap="square" rtlCol="0" anchor="t">
            <a:spAutoFit/>
          </a:bodyPr>
          <a:p>
            <a:pPr algn="l"/>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同尺寸下</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PMOS</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NMOS</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的电阻为</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20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eqp</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20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eqn</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a:t>
            </a:r>
            <a:r>
              <a:rPr lang="zh-CN" altLang="en-US">
                <a:sym typeface="+mn-ea"/>
              </a:rPr>
              <a:t>动态特性</a:t>
            </a:r>
            <a:endParaRPr lang="zh-CN" altLang="en-US">
              <a:sym typeface="+mn-ea"/>
            </a:endParaRPr>
          </a:p>
        </p:txBody>
      </p:sp>
      <p:sp>
        <p:nvSpPr>
          <p:cNvPr id="5" name="文本框 4"/>
          <p:cNvSpPr txBox="1"/>
          <p:nvPr/>
        </p:nvSpPr>
        <p:spPr>
          <a:xfrm>
            <a:off x="1093470" y="4933950"/>
            <a:ext cx="3529965" cy="368300"/>
          </a:xfrm>
          <a:prstGeom prst="rect">
            <a:avLst/>
          </a:prstGeom>
          <a:noFill/>
        </p:spPr>
        <p:txBody>
          <a:bodyPr wrap="square" rtlCol="0" anchor="t">
            <a:spAutoFit/>
          </a:bodyPr>
          <a:lstStyle/>
          <a:p>
            <a:pPr algn="l"/>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PMOS</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NMOS</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W/L</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比例</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β</a:t>
            </a:r>
            <a:endPar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74786" name="图片 374785"/>
          <p:cNvPicPr>
            <a:picLocks noChangeAspect="1"/>
          </p:cNvPicPr>
          <p:nvPr/>
        </p:nvPicPr>
        <p:blipFill>
          <a:blip r:embed="rId1"/>
          <a:stretch>
            <a:fillRect/>
          </a:stretch>
        </p:blipFill>
        <p:spPr>
          <a:xfrm>
            <a:off x="306388" y="1033833"/>
            <a:ext cx="5103813" cy="3828521"/>
          </a:xfrm>
          <a:prstGeom prst="rect">
            <a:avLst/>
          </a:prstGeom>
          <a:noFill/>
          <a:ln w="12700">
            <a:noFill/>
          </a:ln>
        </p:spPr>
      </p:pic>
      <p:sp>
        <p:nvSpPr>
          <p:cNvPr id="374788" name="文本框 374787"/>
          <p:cNvSpPr txBox="1"/>
          <p:nvPr/>
        </p:nvSpPr>
        <p:spPr>
          <a:xfrm>
            <a:off x="1536171" y="1631792"/>
            <a:ext cx="634365" cy="321945"/>
          </a:xfrm>
          <a:prstGeom prst="rect">
            <a:avLst/>
          </a:prstGeom>
          <a:noFill/>
          <a:ln w="12700">
            <a:noFill/>
          </a:ln>
        </p:spPr>
        <p:txBody>
          <a:bodyPr wrap="none" anchor="t" anchorCtr="0">
            <a:spAutoFit/>
          </a:bodyPr>
          <a:lstStyle/>
          <a:p>
            <a:r>
              <a:rPr lang="en-US" altLang="zh-CN" sz="1500" i="0" err="1">
                <a:solidFill>
                  <a:schemeClr val="tx2"/>
                </a:solidFill>
                <a:latin typeface="Book Antiqua" panose="02040602050305030304" pitchFamily="18" charset="0"/>
              </a:rPr>
              <a:t>tpLH</a:t>
            </a:r>
            <a:endParaRPr lang="en-US" altLang="zh-CN" sz="1500" i="0">
              <a:solidFill>
                <a:schemeClr val="tx2"/>
              </a:solidFill>
              <a:latin typeface="Book Antiqua" panose="02040602050305030304" pitchFamily="18" charset="0"/>
            </a:endParaRPr>
          </a:p>
        </p:txBody>
      </p:sp>
      <p:sp>
        <p:nvSpPr>
          <p:cNvPr id="374789" name="文本框 374788"/>
          <p:cNvSpPr txBox="1"/>
          <p:nvPr/>
        </p:nvSpPr>
        <p:spPr>
          <a:xfrm>
            <a:off x="3781213" y="1607979"/>
            <a:ext cx="634365" cy="321945"/>
          </a:xfrm>
          <a:prstGeom prst="rect">
            <a:avLst/>
          </a:prstGeom>
          <a:solidFill>
            <a:schemeClr val="bg1"/>
          </a:solidFill>
          <a:ln w="12700">
            <a:noFill/>
          </a:ln>
        </p:spPr>
        <p:txBody>
          <a:bodyPr wrap="none" anchor="t" anchorCtr="0">
            <a:spAutoFit/>
          </a:bodyPr>
          <a:lstStyle/>
          <a:p>
            <a:r>
              <a:rPr lang="en-US" altLang="zh-CN" sz="1500" i="0" err="1">
                <a:solidFill>
                  <a:schemeClr val="tx2"/>
                </a:solidFill>
                <a:latin typeface="Book Antiqua" panose="02040602050305030304" pitchFamily="18" charset="0"/>
              </a:rPr>
              <a:t>tpHL</a:t>
            </a:r>
            <a:endParaRPr lang="en-US" altLang="zh-CN" sz="1500" i="0">
              <a:solidFill>
                <a:schemeClr val="tx2"/>
              </a:solidFill>
              <a:latin typeface="Book Antiqua" panose="02040602050305030304" pitchFamily="18" charset="0"/>
            </a:endParaRPr>
          </a:p>
        </p:txBody>
      </p:sp>
      <p:sp>
        <p:nvSpPr>
          <p:cNvPr id="374790" name="文本框 374789"/>
          <p:cNvSpPr txBox="1"/>
          <p:nvPr/>
        </p:nvSpPr>
        <p:spPr>
          <a:xfrm>
            <a:off x="4725141" y="2417604"/>
            <a:ext cx="359410" cy="321945"/>
          </a:xfrm>
          <a:prstGeom prst="rect">
            <a:avLst/>
          </a:prstGeom>
          <a:solidFill>
            <a:schemeClr val="bg1"/>
          </a:solidFill>
          <a:ln w="12700">
            <a:noFill/>
          </a:ln>
        </p:spPr>
        <p:txBody>
          <a:bodyPr wrap="none" anchor="t" anchorCtr="0">
            <a:spAutoFit/>
          </a:bodyPr>
          <a:lstStyle/>
          <a:p>
            <a:r>
              <a:rPr lang="en-US" altLang="zh-CN" sz="1500" i="0" err="1">
                <a:solidFill>
                  <a:schemeClr val="tx2"/>
                </a:solidFill>
                <a:latin typeface="Book Antiqua" panose="02040602050305030304" pitchFamily="18" charset="0"/>
              </a:rPr>
              <a:t>tp</a:t>
            </a:r>
            <a:endParaRPr lang="en-US" altLang="zh-CN" sz="1500" i="0">
              <a:solidFill>
                <a:schemeClr val="tx2"/>
              </a:solidFill>
              <a:latin typeface="Book Antiqua" panose="02040602050305030304" pitchFamily="18" charset="0"/>
            </a:endParaRPr>
          </a:p>
        </p:txBody>
      </p:sp>
      <p:graphicFrame>
        <p:nvGraphicFramePr>
          <p:cNvPr id="3" name="对象 2">
            <a:hlinkClick r:id="" action="ppaction://ole?verb=0"/>
          </p:cNvPr>
          <p:cNvGraphicFramePr>
            <a:graphicFrameLocks noChangeAspect="1"/>
          </p:cNvGraphicFramePr>
          <p:nvPr/>
        </p:nvGraphicFramePr>
        <p:xfrm>
          <a:off x="7045960" y="1416050"/>
          <a:ext cx="1984375" cy="753110"/>
        </p:xfrm>
        <a:graphic>
          <a:graphicData uri="http://schemas.openxmlformats.org/presentationml/2006/ole">
            <mc:AlternateContent xmlns:mc="http://schemas.openxmlformats.org/markup-compatibility/2006">
              <mc:Choice xmlns:v="urn:schemas-microsoft-com:vml" Requires="v">
                <p:oleObj spid="_x0000_s2" name="" r:id="rId2" imgW="1473200" imgH="558800" progId="Equation.KSEE3">
                  <p:embed/>
                </p:oleObj>
              </mc:Choice>
              <mc:Fallback>
                <p:oleObj name="" r:id="rId2" imgW="1473200" imgH="558800" progId="Equation.KSEE3">
                  <p:embed/>
                  <p:pic>
                    <p:nvPicPr>
                      <p:cNvPr id="0" name="图片 2048"/>
                      <p:cNvPicPr/>
                      <p:nvPr/>
                    </p:nvPicPr>
                    <p:blipFill>
                      <a:blip r:embed="rId3"/>
                      <a:stretch>
                        <a:fillRect/>
                      </a:stretch>
                    </p:blipFill>
                    <p:spPr>
                      <a:xfrm>
                        <a:off x="7045960" y="1416050"/>
                        <a:ext cx="1984375" cy="753110"/>
                      </a:xfrm>
                      <a:prstGeom prst="rect">
                        <a:avLst/>
                      </a:prstGeom>
                    </p:spPr>
                  </p:pic>
                </p:oleObj>
              </mc:Fallback>
            </mc:AlternateContent>
          </a:graphicData>
        </a:graphic>
      </p:graphicFrame>
      <p:sp>
        <p:nvSpPr>
          <p:cNvPr id="13" name="椭圆 12"/>
          <p:cNvSpPr/>
          <p:nvPr/>
        </p:nvSpPr>
        <p:spPr>
          <a:xfrm>
            <a:off x="1664335" y="3549650"/>
            <a:ext cx="86360" cy="75565"/>
          </a:xfrm>
          <a:prstGeom prst="ellipse">
            <a:avLst/>
          </a:prstGeom>
          <a:gradFill>
            <a:gsLst>
              <a:gs pos="0">
                <a:srgbClr val="FE4444"/>
              </a:gs>
              <a:gs pos="100000">
                <a:srgbClr val="832B2B"/>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2280920" y="3510915"/>
            <a:ext cx="86360" cy="75565"/>
          </a:xfrm>
          <a:prstGeom prst="ellipse">
            <a:avLst/>
          </a:prstGeom>
          <a:gradFill>
            <a:gsLst>
              <a:gs pos="0">
                <a:srgbClr val="FE4444"/>
              </a:gs>
              <a:gs pos="100000">
                <a:srgbClr val="832B2B"/>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536065" y="3672840"/>
            <a:ext cx="343535" cy="368300"/>
          </a:xfrm>
          <a:prstGeom prst="rect">
            <a:avLst/>
          </a:prstGeom>
          <a:noFill/>
        </p:spPr>
        <p:txBody>
          <a:bodyPr wrap="none" rtlCol="0">
            <a:spAutoFit/>
          </a:bodyPr>
          <a:lstStyle/>
          <a:p>
            <a:pPr algn="l"/>
            <a:r>
              <a:rPr lang="en-US" altLang="zh-CN" dirty="0">
                <a:latin typeface="微软雅黑" panose="020B0503020204020204" pitchFamily="34" charset="-122"/>
                <a:ea typeface="微软雅黑" panose="020B0503020204020204" pitchFamily="34" charset="-122"/>
              </a:rPr>
              <a:t>A</a:t>
            </a:r>
            <a:endParaRPr lang="en-US" altLang="zh-CN"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2585720" y="3510915"/>
            <a:ext cx="326390" cy="368300"/>
          </a:xfrm>
          <a:prstGeom prst="rect">
            <a:avLst/>
          </a:prstGeom>
          <a:noFill/>
        </p:spPr>
        <p:txBody>
          <a:bodyPr wrap="none" rtlCol="0">
            <a:spAutoFit/>
          </a:bodyPr>
          <a:lstStyle/>
          <a:p>
            <a:pPr algn="l"/>
            <a:r>
              <a:rPr lang="en-US" altLang="zh-CN" dirty="0">
                <a:latin typeface="微软雅黑" panose="020B0503020204020204" pitchFamily="34" charset="-122"/>
                <a:ea typeface="微软雅黑" panose="020B0503020204020204" pitchFamily="34" charset="-122"/>
              </a:rPr>
              <a:t>B</a:t>
            </a:r>
            <a:endParaRPr lang="en-US" altLang="zh-CN"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5408930" y="960755"/>
            <a:ext cx="3566160" cy="852805"/>
          </a:xfrm>
          <a:prstGeom prst="rect">
            <a:avLst/>
          </a:prstGeom>
          <a:noFill/>
        </p:spPr>
        <p:txBody>
          <a:bodyPr wrap="square" rtlCol="0" anchor="t">
            <a:noAutofit/>
          </a:bodyPr>
          <a:lstStyle/>
          <a:p>
            <a:pPr algn="l"/>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点</a:t>
            </a:r>
            <a:r>
              <a:rPr lang="en-US" altLang="zh-CN"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tp</a:t>
            </a:r>
            <a:r>
              <a:rPr lang="zh-CN" altLang="en-US"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最小</a:t>
            </a:r>
            <a:endParaRPr lang="zh-CN" altLang="en-US"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文本框 9"/>
          <p:cNvSpPr txBox="1"/>
          <p:nvPr/>
        </p:nvSpPr>
        <p:spPr>
          <a:xfrm>
            <a:off x="5601335" y="2387600"/>
            <a:ext cx="3203575" cy="1137285"/>
          </a:xfrm>
          <a:prstGeom prst="rect">
            <a:avLst/>
          </a:prstGeom>
          <a:noFill/>
        </p:spPr>
        <p:txBody>
          <a:bodyPr wrap="square" rtlCol="0" anchor="t">
            <a:spAutoFit/>
          </a:bodyPr>
          <a:p>
            <a:pPr algn="l"/>
            <a:r>
              <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r </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同尺寸下</a:t>
            </a:r>
            <a:r>
              <a:rPr lang="en-US" altLang="zh-CN" sz="2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PMOS</a:t>
            </a:r>
            <a:r>
              <a:rPr lang="zh-CN" altLang="en-US" sz="2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2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NMOS</a:t>
            </a:r>
            <a:r>
              <a:rPr lang="zh-CN" altLang="en-US" sz="2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的电阻比</a:t>
            </a:r>
            <a:r>
              <a:rPr lang="en-US" altLang="zh-CN" sz="2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en-US" altLang="zh-CN" sz="2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sz="2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r=R</a:t>
            </a:r>
            <a:r>
              <a:rPr lang="en-US" altLang="zh-CN" sz="22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eqp</a:t>
            </a:r>
            <a:r>
              <a:rPr lang="en-US" altLang="zh-CN" sz="22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22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eqn</a:t>
            </a:r>
            <a:endParaRPr lang="en-US" altLang="zh-CN" sz="22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5" name="图片 24"/>
          <p:cNvPicPr>
            <a:picLocks noChangeAspect="1"/>
          </p:cNvPicPr>
          <p:nvPr/>
        </p:nvPicPr>
        <p:blipFill>
          <a:blip r:embed="rId4"/>
          <a:stretch>
            <a:fillRect/>
          </a:stretch>
        </p:blipFill>
        <p:spPr>
          <a:xfrm>
            <a:off x="5906135" y="1504315"/>
            <a:ext cx="981075" cy="490855"/>
          </a:xfrm>
          <a:prstGeom prst="rect">
            <a:avLst/>
          </a:prstGeom>
        </p:spPr>
      </p:pic>
      <p:sp>
        <p:nvSpPr>
          <p:cNvPr id="26" name="文本框 25"/>
          <p:cNvSpPr txBox="1"/>
          <p:nvPr/>
        </p:nvSpPr>
        <p:spPr>
          <a:xfrm>
            <a:off x="5474335" y="1565910"/>
            <a:ext cx="422910" cy="429895"/>
          </a:xfrm>
          <a:prstGeom prst="rect">
            <a:avLst/>
          </a:prstGeom>
          <a:noFill/>
        </p:spPr>
        <p:txBody>
          <a:bodyPr wrap="square" rtlCol="0" anchor="t">
            <a:spAutoFit/>
          </a:bodyPr>
          <a:p>
            <a:pPr algn="l"/>
            <a:r>
              <a:rPr lang="zh-CN" altLang="en-US" sz="2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令</a:t>
            </a:r>
            <a:endParaRPr lang="zh-CN" altLang="en-US" sz="220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文本框 3"/>
          <p:cNvSpPr txBox="1"/>
          <p:nvPr/>
        </p:nvSpPr>
        <p:spPr>
          <a:xfrm>
            <a:off x="5601335" y="3736975"/>
            <a:ext cx="3566160" cy="852805"/>
          </a:xfrm>
          <a:prstGeom prst="rect">
            <a:avLst/>
          </a:prstGeom>
          <a:noFill/>
        </p:spPr>
        <p:txBody>
          <a:bodyPr wrap="square" rtlCol="0" anchor="t">
            <a:noAutofit/>
          </a:bodyPr>
          <a:p>
            <a:pPr algn="l"/>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zh-CN">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点</a:t>
            </a:r>
            <a:r>
              <a:rPr lang="en-US" altLang="zh-CN"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lang="zh-CN" altLang="en-US"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400"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pHL</a:t>
            </a:r>
            <a:r>
              <a:rPr lang="en-US" altLang="zh-CN"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400"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pLH</a:t>
            </a:r>
            <a:endParaRPr lang="en-US" altLang="zh-CN"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则</a:t>
            </a:r>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R</a:t>
            </a:r>
            <a:r>
              <a:rPr lang="en-US" altLang="zh-CN" sz="24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eqn</a:t>
            </a:r>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24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eqp</a:t>
            </a:r>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β</a:t>
            </a:r>
            <a:endPar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rPr>
              <a:t>     β</a:t>
            </a:r>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24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eqp</a:t>
            </a:r>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/R</a:t>
            </a:r>
            <a:r>
              <a:rPr lang="en-US" altLang="zh-CN" sz="2400"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eqn</a:t>
            </a:r>
            <a:endParaRPr lang="en-US" altLang="zh-CN" sz="24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r>
              <a:rPr lang="en-US" altLang="zh-CN"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4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反相器链</a:t>
            </a:r>
            <a:endParaRPr lang="zh-CN" altLang="en-US">
              <a:sym typeface="+mn-ea"/>
            </a:endParaRPr>
          </a:p>
        </p:txBody>
      </p:sp>
      <p:sp>
        <p:nvSpPr>
          <p:cNvPr id="377859" name="矩形 377858"/>
          <p:cNvSpPr/>
          <p:nvPr/>
        </p:nvSpPr>
        <p:spPr>
          <a:xfrm>
            <a:off x="1793240" y="2288170"/>
            <a:ext cx="1323" cy="10583"/>
          </a:xfrm>
          <a:prstGeom prst="rect">
            <a:avLst/>
          </a:prstGeom>
          <a:blipFill rotWithShape="0">
            <a:blip r:embed="rId1"/>
          </a:blipFill>
          <a:ln w="9525">
            <a:noFill/>
          </a:ln>
        </p:spPr>
        <p:txBody>
          <a:bodyPr/>
          <a:lstStyle/>
          <a:p>
            <a:endParaRPr lang="zh-CN" altLang="en-US" sz="1500"/>
          </a:p>
        </p:txBody>
      </p:sp>
      <p:sp>
        <p:nvSpPr>
          <p:cNvPr id="377860" name="矩形 377859"/>
          <p:cNvSpPr/>
          <p:nvPr/>
        </p:nvSpPr>
        <p:spPr>
          <a:xfrm>
            <a:off x="2174240" y="2288170"/>
            <a:ext cx="1323" cy="10583"/>
          </a:xfrm>
          <a:prstGeom prst="rect">
            <a:avLst/>
          </a:prstGeom>
          <a:blipFill rotWithShape="0">
            <a:blip r:embed="rId1"/>
          </a:blipFill>
          <a:ln w="9525">
            <a:noFill/>
          </a:ln>
        </p:spPr>
        <p:txBody>
          <a:bodyPr/>
          <a:lstStyle/>
          <a:p>
            <a:endParaRPr lang="zh-CN" altLang="en-US" sz="1500"/>
          </a:p>
        </p:txBody>
      </p:sp>
      <p:sp>
        <p:nvSpPr>
          <p:cNvPr id="377861" name="矩形 377860"/>
          <p:cNvSpPr/>
          <p:nvPr/>
        </p:nvSpPr>
        <p:spPr>
          <a:xfrm>
            <a:off x="2680918" y="2288170"/>
            <a:ext cx="1323" cy="10583"/>
          </a:xfrm>
          <a:prstGeom prst="rect">
            <a:avLst/>
          </a:prstGeom>
          <a:blipFill rotWithShape="0">
            <a:blip r:embed="rId1"/>
          </a:blipFill>
          <a:ln w="9525">
            <a:noFill/>
          </a:ln>
        </p:spPr>
        <p:txBody>
          <a:bodyPr/>
          <a:lstStyle/>
          <a:p>
            <a:endParaRPr lang="zh-CN" altLang="en-US" sz="1500"/>
          </a:p>
        </p:txBody>
      </p:sp>
      <p:sp>
        <p:nvSpPr>
          <p:cNvPr id="377862" name="矩形 377861"/>
          <p:cNvSpPr/>
          <p:nvPr/>
        </p:nvSpPr>
        <p:spPr>
          <a:xfrm>
            <a:off x="2998418" y="2288170"/>
            <a:ext cx="1323" cy="10583"/>
          </a:xfrm>
          <a:prstGeom prst="rect">
            <a:avLst/>
          </a:prstGeom>
          <a:blipFill rotWithShape="0">
            <a:blip r:embed="rId1"/>
          </a:blipFill>
          <a:ln w="9525">
            <a:noFill/>
          </a:ln>
        </p:spPr>
        <p:txBody>
          <a:bodyPr/>
          <a:lstStyle/>
          <a:p>
            <a:endParaRPr lang="zh-CN" altLang="en-US" sz="1500"/>
          </a:p>
        </p:txBody>
      </p:sp>
      <p:sp>
        <p:nvSpPr>
          <p:cNvPr id="377863" name="矩形 377862"/>
          <p:cNvSpPr/>
          <p:nvPr/>
        </p:nvSpPr>
        <p:spPr>
          <a:xfrm>
            <a:off x="3622834" y="2288170"/>
            <a:ext cx="1323" cy="10583"/>
          </a:xfrm>
          <a:prstGeom prst="rect">
            <a:avLst/>
          </a:prstGeom>
          <a:blipFill rotWithShape="0">
            <a:blip r:embed="rId1"/>
          </a:blipFill>
          <a:ln w="9525">
            <a:noFill/>
          </a:ln>
        </p:spPr>
        <p:txBody>
          <a:bodyPr/>
          <a:lstStyle/>
          <a:p>
            <a:endParaRPr lang="zh-CN" altLang="en-US" sz="1500"/>
          </a:p>
        </p:txBody>
      </p:sp>
      <p:sp>
        <p:nvSpPr>
          <p:cNvPr id="377864" name="矩形 377863"/>
          <p:cNvSpPr/>
          <p:nvPr/>
        </p:nvSpPr>
        <p:spPr>
          <a:xfrm>
            <a:off x="3981344" y="2288170"/>
            <a:ext cx="1323" cy="10583"/>
          </a:xfrm>
          <a:prstGeom prst="rect">
            <a:avLst/>
          </a:prstGeom>
          <a:blipFill rotWithShape="0">
            <a:blip r:embed="rId1"/>
          </a:blipFill>
          <a:ln w="9525">
            <a:noFill/>
          </a:ln>
        </p:spPr>
        <p:txBody>
          <a:bodyPr/>
          <a:lstStyle/>
          <a:p>
            <a:endParaRPr lang="zh-CN" altLang="en-US" sz="1500"/>
          </a:p>
        </p:txBody>
      </p:sp>
      <p:sp>
        <p:nvSpPr>
          <p:cNvPr id="377865" name="矩形 377864"/>
          <p:cNvSpPr/>
          <p:nvPr/>
        </p:nvSpPr>
        <p:spPr>
          <a:xfrm>
            <a:off x="4722178" y="2277587"/>
            <a:ext cx="1323" cy="10583"/>
          </a:xfrm>
          <a:prstGeom prst="rect">
            <a:avLst/>
          </a:prstGeom>
          <a:blipFill rotWithShape="0">
            <a:blip r:embed="rId2"/>
          </a:blipFill>
          <a:ln w="9525">
            <a:noFill/>
          </a:ln>
        </p:spPr>
        <p:txBody>
          <a:bodyPr/>
          <a:lstStyle/>
          <a:p>
            <a:endParaRPr lang="zh-CN" altLang="en-US" sz="1500"/>
          </a:p>
        </p:txBody>
      </p:sp>
      <p:sp>
        <p:nvSpPr>
          <p:cNvPr id="377866" name="矩形 377865"/>
          <p:cNvSpPr/>
          <p:nvPr/>
        </p:nvSpPr>
        <p:spPr>
          <a:xfrm>
            <a:off x="5482855" y="2277587"/>
            <a:ext cx="1323" cy="10583"/>
          </a:xfrm>
          <a:prstGeom prst="rect">
            <a:avLst/>
          </a:prstGeom>
          <a:blipFill rotWithShape="0">
            <a:blip r:embed="rId2"/>
          </a:blipFill>
          <a:ln w="9525">
            <a:noFill/>
          </a:ln>
        </p:spPr>
        <p:txBody>
          <a:bodyPr/>
          <a:lstStyle/>
          <a:p>
            <a:endParaRPr lang="zh-CN" altLang="en-US" sz="1500"/>
          </a:p>
        </p:txBody>
      </p:sp>
      <p:sp>
        <p:nvSpPr>
          <p:cNvPr id="377867" name="矩形 377866"/>
          <p:cNvSpPr/>
          <p:nvPr/>
        </p:nvSpPr>
        <p:spPr>
          <a:xfrm>
            <a:off x="6615272" y="2256420"/>
            <a:ext cx="1323" cy="10583"/>
          </a:xfrm>
          <a:prstGeom prst="rect">
            <a:avLst/>
          </a:prstGeom>
          <a:blipFill rotWithShape="0">
            <a:blip r:embed="rId1"/>
          </a:blipFill>
          <a:ln w="9525">
            <a:noFill/>
          </a:ln>
        </p:spPr>
        <p:txBody>
          <a:bodyPr/>
          <a:lstStyle/>
          <a:p>
            <a:endParaRPr lang="zh-CN" altLang="en-US" sz="1500"/>
          </a:p>
        </p:txBody>
      </p:sp>
      <p:sp>
        <p:nvSpPr>
          <p:cNvPr id="377868" name="矩形 377867"/>
          <p:cNvSpPr/>
          <p:nvPr/>
        </p:nvSpPr>
        <p:spPr>
          <a:xfrm>
            <a:off x="3739251" y="2298753"/>
            <a:ext cx="10583" cy="1323"/>
          </a:xfrm>
          <a:prstGeom prst="rect">
            <a:avLst/>
          </a:prstGeom>
          <a:blipFill rotWithShape="0">
            <a:blip r:embed="rId1"/>
          </a:blipFill>
          <a:ln w="9525">
            <a:noFill/>
          </a:ln>
        </p:spPr>
        <p:txBody>
          <a:bodyPr/>
          <a:lstStyle/>
          <a:p>
            <a:endParaRPr lang="zh-CN" altLang="en-US" sz="1500"/>
          </a:p>
        </p:txBody>
      </p:sp>
      <p:sp>
        <p:nvSpPr>
          <p:cNvPr id="377869" name="矩形 377868"/>
          <p:cNvSpPr/>
          <p:nvPr/>
        </p:nvSpPr>
        <p:spPr>
          <a:xfrm>
            <a:off x="3739251" y="2648003"/>
            <a:ext cx="10583" cy="1323"/>
          </a:xfrm>
          <a:prstGeom prst="rect">
            <a:avLst/>
          </a:prstGeom>
          <a:blipFill rotWithShape="0">
            <a:blip r:embed="rId1"/>
          </a:blipFill>
          <a:ln w="9525">
            <a:noFill/>
          </a:ln>
        </p:spPr>
        <p:txBody>
          <a:bodyPr/>
          <a:lstStyle/>
          <a:p>
            <a:endParaRPr lang="zh-CN" altLang="en-US" sz="1500"/>
          </a:p>
        </p:txBody>
      </p:sp>
      <p:sp>
        <p:nvSpPr>
          <p:cNvPr id="377870" name="矩形 377869"/>
          <p:cNvSpPr/>
          <p:nvPr/>
        </p:nvSpPr>
        <p:spPr>
          <a:xfrm>
            <a:off x="3601668" y="2658587"/>
            <a:ext cx="1323" cy="10583"/>
          </a:xfrm>
          <a:prstGeom prst="rect">
            <a:avLst/>
          </a:prstGeom>
          <a:blipFill rotWithShape="0">
            <a:blip r:embed="rId1"/>
          </a:blipFill>
          <a:ln w="9525">
            <a:noFill/>
          </a:ln>
        </p:spPr>
        <p:txBody>
          <a:bodyPr/>
          <a:lstStyle/>
          <a:p>
            <a:endParaRPr lang="zh-CN" altLang="en-US" sz="1500"/>
          </a:p>
        </p:txBody>
      </p:sp>
      <p:sp>
        <p:nvSpPr>
          <p:cNvPr id="377871" name="矩形 377870"/>
          <p:cNvSpPr/>
          <p:nvPr/>
        </p:nvSpPr>
        <p:spPr>
          <a:xfrm>
            <a:off x="3876834" y="2658587"/>
            <a:ext cx="1323" cy="10583"/>
          </a:xfrm>
          <a:prstGeom prst="rect">
            <a:avLst/>
          </a:prstGeom>
          <a:blipFill rotWithShape="0">
            <a:blip r:embed="rId1"/>
          </a:blipFill>
          <a:ln w="9525">
            <a:noFill/>
          </a:ln>
        </p:spPr>
        <p:txBody>
          <a:bodyPr/>
          <a:lstStyle/>
          <a:p>
            <a:endParaRPr lang="zh-CN" altLang="en-US" sz="1500"/>
          </a:p>
        </p:txBody>
      </p:sp>
      <p:sp>
        <p:nvSpPr>
          <p:cNvPr id="377873" name="矩形 377872"/>
          <p:cNvSpPr/>
          <p:nvPr/>
        </p:nvSpPr>
        <p:spPr>
          <a:xfrm>
            <a:off x="3739251" y="2732670"/>
            <a:ext cx="10583" cy="1323"/>
          </a:xfrm>
          <a:prstGeom prst="rect">
            <a:avLst/>
          </a:prstGeom>
          <a:blipFill rotWithShape="0">
            <a:blip r:embed="rId1"/>
          </a:blipFill>
          <a:ln w="9525">
            <a:noFill/>
          </a:ln>
        </p:spPr>
        <p:txBody>
          <a:bodyPr/>
          <a:lstStyle/>
          <a:p>
            <a:endParaRPr lang="zh-CN" altLang="en-US" sz="1500"/>
          </a:p>
        </p:txBody>
      </p:sp>
      <p:sp>
        <p:nvSpPr>
          <p:cNvPr id="377874" name="矩形 377873"/>
          <p:cNvSpPr/>
          <p:nvPr/>
        </p:nvSpPr>
        <p:spPr>
          <a:xfrm>
            <a:off x="3601668" y="2722087"/>
            <a:ext cx="1323" cy="10583"/>
          </a:xfrm>
          <a:prstGeom prst="rect">
            <a:avLst/>
          </a:prstGeom>
          <a:blipFill rotWithShape="0">
            <a:blip r:embed="rId1"/>
          </a:blipFill>
          <a:ln w="9525">
            <a:noFill/>
          </a:ln>
        </p:spPr>
        <p:txBody>
          <a:bodyPr/>
          <a:lstStyle/>
          <a:p>
            <a:endParaRPr lang="zh-CN" altLang="en-US" sz="1500"/>
          </a:p>
        </p:txBody>
      </p:sp>
      <p:sp>
        <p:nvSpPr>
          <p:cNvPr id="377875" name="矩形 377874"/>
          <p:cNvSpPr/>
          <p:nvPr/>
        </p:nvSpPr>
        <p:spPr>
          <a:xfrm>
            <a:off x="3876834" y="2722087"/>
            <a:ext cx="1323" cy="10583"/>
          </a:xfrm>
          <a:prstGeom prst="rect">
            <a:avLst/>
          </a:prstGeom>
          <a:blipFill rotWithShape="0">
            <a:blip r:embed="rId1"/>
          </a:blipFill>
          <a:ln w="9525">
            <a:noFill/>
          </a:ln>
        </p:spPr>
        <p:txBody>
          <a:bodyPr/>
          <a:lstStyle/>
          <a:p>
            <a:endParaRPr lang="zh-CN" altLang="en-US" sz="1500"/>
          </a:p>
        </p:txBody>
      </p:sp>
      <p:sp>
        <p:nvSpPr>
          <p:cNvPr id="377876" name="矩形 377875"/>
          <p:cNvSpPr/>
          <p:nvPr/>
        </p:nvSpPr>
        <p:spPr>
          <a:xfrm>
            <a:off x="2765584" y="2298753"/>
            <a:ext cx="10583" cy="1323"/>
          </a:xfrm>
          <a:prstGeom prst="rect">
            <a:avLst/>
          </a:prstGeom>
          <a:blipFill rotWithShape="0">
            <a:blip r:embed="rId1"/>
          </a:blipFill>
          <a:ln w="9525">
            <a:noFill/>
          </a:ln>
        </p:spPr>
        <p:txBody>
          <a:bodyPr/>
          <a:lstStyle/>
          <a:p>
            <a:endParaRPr lang="zh-CN" altLang="en-US" sz="1500"/>
          </a:p>
        </p:txBody>
      </p:sp>
      <p:sp>
        <p:nvSpPr>
          <p:cNvPr id="377877" name="矩形 377876"/>
          <p:cNvSpPr/>
          <p:nvPr/>
        </p:nvSpPr>
        <p:spPr>
          <a:xfrm>
            <a:off x="2765584" y="2584503"/>
            <a:ext cx="10583" cy="1323"/>
          </a:xfrm>
          <a:prstGeom prst="rect">
            <a:avLst/>
          </a:prstGeom>
          <a:blipFill rotWithShape="0">
            <a:blip r:embed="rId1"/>
          </a:blipFill>
          <a:ln w="9525">
            <a:noFill/>
          </a:ln>
        </p:spPr>
        <p:txBody>
          <a:bodyPr/>
          <a:lstStyle/>
          <a:p>
            <a:endParaRPr lang="zh-CN" altLang="en-US" sz="1500"/>
          </a:p>
        </p:txBody>
      </p:sp>
      <p:sp>
        <p:nvSpPr>
          <p:cNvPr id="377878" name="矩形 377877"/>
          <p:cNvSpPr/>
          <p:nvPr/>
        </p:nvSpPr>
        <p:spPr>
          <a:xfrm>
            <a:off x="2649168" y="2595087"/>
            <a:ext cx="1323" cy="10583"/>
          </a:xfrm>
          <a:prstGeom prst="rect">
            <a:avLst/>
          </a:prstGeom>
          <a:blipFill rotWithShape="0">
            <a:blip r:embed="rId1"/>
          </a:blipFill>
          <a:ln w="9525">
            <a:noFill/>
          </a:ln>
        </p:spPr>
        <p:txBody>
          <a:bodyPr/>
          <a:lstStyle/>
          <a:p>
            <a:endParaRPr lang="zh-CN" altLang="en-US" sz="1500"/>
          </a:p>
        </p:txBody>
      </p:sp>
      <p:sp>
        <p:nvSpPr>
          <p:cNvPr id="377879" name="矩形 377878"/>
          <p:cNvSpPr/>
          <p:nvPr/>
        </p:nvSpPr>
        <p:spPr>
          <a:xfrm>
            <a:off x="2882001" y="2595087"/>
            <a:ext cx="1323" cy="10583"/>
          </a:xfrm>
          <a:prstGeom prst="rect">
            <a:avLst/>
          </a:prstGeom>
          <a:blipFill rotWithShape="0">
            <a:blip r:embed="rId1"/>
          </a:blipFill>
          <a:ln w="9525">
            <a:noFill/>
          </a:ln>
        </p:spPr>
        <p:txBody>
          <a:bodyPr/>
          <a:lstStyle/>
          <a:p>
            <a:endParaRPr lang="zh-CN" altLang="en-US" sz="1500"/>
          </a:p>
        </p:txBody>
      </p:sp>
      <p:sp>
        <p:nvSpPr>
          <p:cNvPr id="377880" name="矩形 377879"/>
          <p:cNvSpPr/>
          <p:nvPr/>
        </p:nvSpPr>
        <p:spPr>
          <a:xfrm>
            <a:off x="2765584" y="2945659"/>
            <a:ext cx="10583" cy="1323"/>
          </a:xfrm>
          <a:prstGeom prst="rect">
            <a:avLst/>
          </a:prstGeom>
          <a:blipFill rotWithShape="0">
            <a:blip r:embed="rId1"/>
          </a:blipFill>
          <a:ln w="9525">
            <a:noFill/>
          </a:ln>
        </p:spPr>
        <p:txBody>
          <a:bodyPr/>
          <a:lstStyle/>
          <a:p>
            <a:endParaRPr lang="zh-CN" altLang="en-US" sz="1500"/>
          </a:p>
        </p:txBody>
      </p:sp>
      <p:sp>
        <p:nvSpPr>
          <p:cNvPr id="377881" name="矩形 377880"/>
          <p:cNvSpPr/>
          <p:nvPr/>
        </p:nvSpPr>
        <p:spPr>
          <a:xfrm>
            <a:off x="2765584" y="2658587"/>
            <a:ext cx="10583" cy="1323"/>
          </a:xfrm>
          <a:prstGeom prst="rect">
            <a:avLst/>
          </a:prstGeom>
          <a:blipFill rotWithShape="0">
            <a:blip r:embed="rId1"/>
          </a:blipFill>
          <a:ln w="9525">
            <a:noFill/>
          </a:ln>
        </p:spPr>
        <p:txBody>
          <a:bodyPr/>
          <a:lstStyle/>
          <a:p>
            <a:endParaRPr lang="zh-CN" altLang="en-US" sz="1500"/>
          </a:p>
        </p:txBody>
      </p:sp>
      <p:sp>
        <p:nvSpPr>
          <p:cNvPr id="377882" name="矩形 377881"/>
          <p:cNvSpPr/>
          <p:nvPr/>
        </p:nvSpPr>
        <p:spPr>
          <a:xfrm>
            <a:off x="2649168" y="2648003"/>
            <a:ext cx="1323" cy="10583"/>
          </a:xfrm>
          <a:prstGeom prst="rect">
            <a:avLst/>
          </a:prstGeom>
          <a:blipFill rotWithShape="0">
            <a:blip r:embed="rId1"/>
          </a:blipFill>
          <a:ln w="9525">
            <a:noFill/>
          </a:ln>
        </p:spPr>
        <p:txBody>
          <a:bodyPr/>
          <a:lstStyle/>
          <a:p>
            <a:endParaRPr lang="zh-CN" altLang="en-US" sz="1500"/>
          </a:p>
        </p:txBody>
      </p:sp>
      <p:sp>
        <p:nvSpPr>
          <p:cNvPr id="377883" name="矩形 377882"/>
          <p:cNvSpPr/>
          <p:nvPr/>
        </p:nvSpPr>
        <p:spPr>
          <a:xfrm>
            <a:off x="2882001" y="2648003"/>
            <a:ext cx="1323" cy="10583"/>
          </a:xfrm>
          <a:prstGeom prst="rect">
            <a:avLst/>
          </a:prstGeom>
          <a:blipFill rotWithShape="0">
            <a:blip r:embed="rId1"/>
          </a:blipFill>
          <a:ln w="9525">
            <a:noFill/>
          </a:ln>
        </p:spPr>
        <p:txBody>
          <a:bodyPr/>
          <a:lstStyle/>
          <a:p>
            <a:endParaRPr lang="zh-CN" altLang="en-US" sz="1500"/>
          </a:p>
        </p:txBody>
      </p:sp>
      <p:sp>
        <p:nvSpPr>
          <p:cNvPr id="377884" name="矩形 377883"/>
          <p:cNvSpPr/>
          <p:nvPr/>
        </p:nvSpPr>
        <p:spPr>
          <a:xfrm>
            <a:off x="1941407" y="2298753"/>
            <a:ext cx="10583" cy="1323"/>
          </a:xfrm>
          <a:prstGeom prst="rect">
            <a:avLst/>
          </a:prstGeom>
          <a:blipFill rotWithShape="0">
            <a:blip r:embed="rId1"/>
          </a:blipFill>
          <a:ln w="9525">
            <a:noFill/>
          </a:ln>
        </p:spPr>
        <p:txBody>
          <a:bodyPr/>
          <a:lstStyle/>
          <a:p>
            <a:endParaRPr lang="zh-CN" altLang="en-US" sz="1500"/>
          </a:p>
        </p:txBody>
      </p:sp>
      <p:sp>
        <p:nvSpPr>
          <p:cNvPr id="377885" name="矩形 377884"/>
          <p:cNvSpPr/>
          <p:nvPr/>
        </p:nvSpPr>
        <p:spPr>
          <a:xfrm>
            <a:off x="1941407" y="2542170"/>
            <a:ext cx="10583" cy="1323"/>
          </a:xfrm>
          <a:prstGeom prst="rect">
            <a:avLst/>
          </a:prstGeom>
          <a:blipFill rotWithShape="0">
            <a:blip r:embed="rId1"/>
          </a:blipFill>
          <a:ln w="9525">
            <a:noFill/>
          </a:ln>
        </p:spPr>
        <p:txBody>
          <a:bodyPr/>
          <a:lstStyle/>
          <a:p>
            <a:endParaRPr lang="zh-CN" altLang="en-US" sz="1500"/>
          </a:p>
        </p:txBody>
      </p:sp>
      <p:sp>
        <p:nvSpPr>
          <p:cNvPr id="377886" name="矩形 377885"/>
          <p:cNvSpPr/>
          <p:nvPr/>
        </p:nvSpPr>
        <p:spPr>
          <a:xfrm>
            <a:off x="1846157" y="2552753"/>
            <a:ext cx="1323" cy="10583"/>
          </a:xfrm>
          <a:prstGeom prst="rect">
            <a:avLst/>
          </a:prstGeom>
          <a:blipFill rotWithShape="0">
            <a:blip r:embed="rId1"/>
          </a:blipFill>
          <a:ln w="9525">
            <a:noFill/>
          </a:ln>
        </p:spPr>
        <p:txBody>
          <a:bodyPr/>
          <a:lstStyle/>
          <a:p>
            <a:endParaRPr lang="zh-CN" altLang="en-US" sz="1500"/>
          </a:p>
        </p:txBody>
      </p:sp>
      <p:sp>
        <p:nvSpPr>
          <p:cNvPr id="377887" name="矩形 377886"/>
          <p:cNvSpPr/>
          <p:nvPr/>
        </p:nvSpPr>
        <p:spPr>
          <a:xfrm>
            <a:off x="2036657" y="2552753"/>
            <a:ext cx="1323" cy="10583"/>
          </a:xfrm>
          <a:prstGeom prst="rect">
            <a:avLst/>
          </a:prstGeom>
          <a:blipFill rotWithShape="0">
            <a:blip r:embed="rId1"/>
          </a:blipFill>
          <a:ln w="9525">
            <a:noFill/>
          </a:ln>
        </p:spPr>
        <p:txBody>
          <a:bodyPr/>
          <a:lstStyle/>
          <a:p>
            <a:endParaRPr lang="zh-CN" altLang="en-US" sz="1500"/>
          </a:p>
        </p:txBody>
      </p:sp>
      <p:sp>
        <p:nvSpPr>
          <p:cNvPr id="377888" name="矩形 377887"/>
          <p:cNvSpPr/>
          <p:nvPr/>
        </p:nvSpPr>
        <p:spPr>
          <a:xfrm>
            <a:off x="1941407" y="2849087"/>
            <a:ext cx="10583" cy="1323"/>
          </a:xfrm>
          <a:prstGeom prst="rect">
            <a:avLst/>
          </a:prstGeom>
          <a:blipFill rotWithShape="0">
            <a:blip r:embed="rId1"/>
          </a:blipFill>
          <a:ln w="9525">
            <a:noFill/>
          </a:ln>
        </p:spPr>
        <p:txBody>
          <a:bodyPr/>
          <a:lstStyle/>
          <a:p>
            <a:endParaRPr lang="zh-CN" altLang="en-US" sz="1500"/>
          </a:p>
        </p:txBody>
      </p:sp>
      <p:sp>
        <p:nvSpPr>
          <p:cNvPr id="377889" name="矩形 377888"/>
          <p:cNvSpPr/>
          <p:nvPr/>
        </p:nvSpPr>
        <p:spPr>
          <a:xfrm>
            <a:off x="1941407" y="2605670"/>
            <a:ext cx="10583" cy="1323"/>
          </a:xfrm>
          <a:prstGeom prst="rect">
            <a:avLst/>
          </a:prstGeom>
          <a:blipFill rotWithShape="0">
            <a:blip r:embed="rId1"/>
          </a:blipFill>
          <a:ln w="9525">
            <a:noFill/>
          </a:ln>
        </p:spPr>
        <p:txBody>
          <a:bodyPr/>
          <a:lstStyle/>
          <a:p>
            <a:endParaRPr lang="zh-CN" altLang="en-US" sz="1500"/>
          </a:p>
        </p:txBody>
      </p:sp>
      <p:sp>
        <p:nvSpPr>
          <p:cNvPr id="377890" name="矩形 377889"/>
          <p:cNvSpPr/>
          <p:nvPr/>
        </p:nvSpPr>
        <p:spPr>
          <a:xfrm>
            <a:off x="1846157" y="2595087"/>
            <a:ext cx="1323" cy="10583"/>
          </a:xfrm>
          <a:prstGeom prst="rect">
            <a:avLst/>
          </a:prstGeom>
          <a:blipFill rotWithShape="0">
            <a:blip r:embed="rId1"/>
          </a:blipFill>
          <a:ln w="9525">
            <a:noFill/>
          </a:ln>
        </p:spPr>
        <p:txBody>
          <a:bodyPr/>
          <a:lstStyle/>
          <a:p>
            <a:endParaRPr lang="zh-CN" altLang="en-US" sz="1500"/>
          </a:p>
        </p:txBody>
      </p:sp>
      <p:sp>
        <p:nvSpPr>
          <p:cNvPr id="377891" name="矩形 377890"/>
          <p:cNvSpPr/>
          <p:nvPr/>
        </p:nvSpPr>
        <p:spPr>
          <a:xfrm>
            <a:off x="2036657" y="2595087"/>
            <a:ext cx="1323" cy="10583"/>
          </a:xfrm>
          <a:prstGeom prst="rect">
            <a:avLst/>
          </a:prstGeom>
          <a:blipFill rotWithShape="0">
            <a:blip r:embed="rId1"/>
          </a:blipFill>
          <a:ln w="9525">
            <a:noFill/>
          </a:ln>
        </p:spPr>
        <p:txBody>
          <a:bodyPr/>
          <a:lstStyle/>
          <a:p>
            <a:endParaRPr lang="zh-CN" altLang="en-US" sz="1500"/>
          </a:p>
        </p:txBody>
      </p:sp>
      <p:sp>
        <p:nvSpPr>
          <p:cNvPr id="377892" name="矩形 377891"/>
          <p:cNvSpPr/>
          <p:nvPr/>
        </p:nvSpPr>
        <p:spPr>
          <a:xfrm>
            <a:off x="6942032" y="2267003"/>
            <a:ext cx="10583" cy="1323"/>
          </a:xfrm>
          <a:prstGeom prst="rect">
            <a:avLst/>
          </a:prstGeom>
          <a:blipFill rotWithShape="0">
            <a:blip r:embed="rId1"/>
          </a:blipFill>
          <a:ln w="9525">
            <a:noFill/>
          </a:ln>
        </p:spPr>
        <p:txBody>
          <a:bodyPr/>
          <a:lstStyle/>
          <a:p>
            <a:endParaRPr lang="zh-CN" altLang="en-US" sz="1500"/>
          </a:p>
        </p:txBody>
      </p:sp>
      <p:sp>
        <p:nvSpPr>
          <p:cNvPr id="377893" name="矩形 377892"/>
          <p:cNvSpPr/>
          <p:nvPr/>
        </p:nvSpPr>
        <p:spPr>
          <a:xfrm>
            <a:off x="6942032" y="2753837"/>
            <a:ext cx="10583" cy="1323"/>
          </a:xfrm>
          <a:prstGeom prst="rect">
            <a:avLst/>
          </a:prstGeom>
          <a:blipFill rotWithShape="0">
            <a:blip r:embed="rId1"/>
          </a:blipFill>
          <a:ln w="9525">
            <a:noFill/>
          </a:ln>
        </p:spPr>
        <p:txBody>
          <a:bodyPr/>
          <a:lstStyle/>
          <a:p>
            <a:endParaRPr lang="zh-CN" altLang="en-US" sz="1500"/>
          </a:p>
        </p:txBody>
      </p:sp>
      <p:sp>
        <p:nvSpPr>
          <p:cNvPr id="377894" name="矩形 377893"/>
          <p:cNvSpPr/>
          <p:nvPr/>
        </p:nvSpPr>
        <p:spPr>
          <a:xfrm>
            <a:off x="6752855" y="2753837"/>
            <a:ext cx="1323" cy="10583"/>
          </a:xfrm>
          <a:prstGeom prst="rect">
            <a:avLst/>
          </a:prstGeom>
          <a:blipFill rotWithShape="0">
            <a:blip r:embed="rId1"/>
          </a:blipFill>
          <a:ln w="9525">
            <a:noFill/>
          </a:ln>
        </p:spPr>
        <p:txBody>
          <a:bodyPr/>
          <a:lstStyle/>
          <a:p>
            <a:endParaRPr lang="zh-CN" altLang="en-US" sz="1500"/>
          </a:p>
        </p:txBody>
      </p:sp>
      <p:sp>
        <p:nvSpPr>
          <p:cNvPr id="377896" name="矩形 377895"/>
          <p:cNvSpPr/>
          <p:nvPr/>
        </p:nvSpPr>
        <p:spPr>
          <a:xfrm>
            <a:off x="6942032" y="2870253"/>
            <a:ext cx="10583" cy="1323"/>
          </a:xfrm>
          <a:prstGeom prst="rect">
            <a:avLst/>
          </a:prstGeom>
          <a:blipFill rotWithShape="0">
            <a:blip r:embed="rId1"/>
          </a:blipFill>
          <a:ln w="9525">
            <a:noFill/>
          </a:ln>
        </p:spPr>
        <p:txBody>
          <a:bodyPr/>
          <a:lstStyle/>
          <a:p>
            <a:endParaRPr lang="zh-CN" altLang="en-US" sz="1500"/>
          </a:p>
        </p:txBody>
      </p:sp>
      <p:sp>
        <p:nvSpPr>
          <p:cNvPr id="377897" name="矩形 377896"/>
          <p:cNvSpPr/>
          <p:nvPr/>
        </p:nvSpPr>
        <p:spPr>
          <a:xfrm>
            <a:off x="6752855" y="2849087"/>
            <a:ext cx="1323" cy="10583"/>
          </a:xfrm>
          <a:prstGeom prst="rect">
            <a:avLst/>
          </a:prstGeom>
          <a:blipFill rotWithShape="0">
            <a:blip r:embed="rId1"/>
          </a:blipFill>
          <a:ln w="9525">
            <a:noFill/>
          </a:ln>
        </p:spPr>
        <p:txBody>
          <a:bodyPr/>
          <a:lstStyle/>
          <a:p>
            <a:endParaRPr lang="zh-CN" altLang="en-US" sz="1500"/>
          </a:p>
        </p:txBody>
      </p:sp>
      <p:sp>
        <p:nvSpPr>
          <p:cNvPr id="377898" name="任意多边形 377897"/>
          <p:cNvSpPr/>
          <p:nvPr/>
        </p:nvSpPr>
        <p:spPr>
          <a:xfrm>
            <a:off x="6963198" y="2256420"/>
            <a:ext cx="10583" cy="1323"/>
          </a:xfrm>
          <a:custGeom>
            <a:avLst/>
            <a:gdLst/>
            <a:ahLst/>
            <a:cxnLst/>
            <a:rect l="0" t="0" r="0" b="0"/>
            <a:pathLst>
              <a:path w="8">
                <a:moveTo>
                  <a:pt x="0" y="0"/>
                </a:moveTo>
                <a:lnTo>
                  <a:pt x="0" y="0"/>
                </a:lnTo>
                <a:lnTo>
                  <a:pt x="0" y="0"/>
                </a:lnTo>
                <a:lnTo>
                  <a:pt x="8" y="0"/>
                </a:lnTo>
                <a:lnTo>
                  <a:pt x="8" y="0"/>
                </a:lnTo>
                <a:lnTo>
                  <a:pt x="8" y="0"/>
                </a:lnTo>
                <a:lnTo>
                  <a:pt x="0" y="0"/>
                </a:lnTo>
                <a:close/>
              </a:path>
            </a:pathLst>
          </a:custGeom>
          <a:blipFill rotWithShape="0">
            <a:blip r:embed="rId1"/>
          </a:blipFill>
          <a:ln w="9525">
            <a:noFill/>
          </a:ln>
        </p:spPr>
        <p:txBody>
          <a:bodyPr/>
          <a:lstStyle/>
          <a:p>
            <a:endParaRPr lang="zh-CN" altLang="en-US" sz="1500"/>
          </a:p>
        </p:txBody>
      </p:sp>
      <p:pic>
        <p:nvPicPr>
          <p:cNvPr id="377899" name="图片 377898" descr="3inverters"/>
          <p:cNvPicPr>
            <a:picLocks noChangeAspect="1"/>
          </p:cNvPicPr>
          <p:nvPr/>
        </p:nvPicPr>
        <p:blipFill>
          <a:blip r:embed="rId3"/>
          <a:stretch>
            <a:fillRect/>
          </a:stretch>
        </p:blipFill>
        <p:spPr>
          <a:xfrm>
            <a:off x="2612126" y="1217930"/>
            <a:ext cx="4140729" cy="1727729"/>
          </a:xfrm>
          <a:prstGeom prst="rect">
            <a:avLst/>
          </a:prstGeom>
          <a:noFill/>
          <a:ln w="9525">
            <a:noFill/>
          </a:ln>
        </p:spPr>
      </p:pic>
      <p:sp>
        <p:nvSpPr>
          <p:cNvPr id="377900" name="文本框 377899"/>
          <p:cNvSpPr txBox="1"/>
          <p:nvPr/>
        </p:nvSpPr>
        <p:spPr>
          <a:xfrm>
            <a:off x="6677448" y="1971993"/>
            <a:ext cx="576792" cy="321945"/>
          </a:xfrm>
          <a:prstGeom prst="rect">
            <a:avLst/>
          </a:prstGeom>
          <a:noFill/>
          <a:ln w="12700">
            <a:noFill/>
          </a:ln>
        </p:spPr>
        <p:txBody>
          <a:bodyPr>
            <a:spAutoFit/>
          </a:bodyPr>
          <a:lstStyle/>
          <a:p>
            <a:r>
              <a:rPr lang="en-US" altLang="zh-CN" sz="1500">
                <a:latin typeface="Arial" panose="020B0604020202020204" pitchFamily="34" charset="0"/>
              </a:rPr>
              <a:t>C</a:t>
            </a:r>
            <a:r>
              <a:rPr lang="en-US" altLang="zh-CN" sz="1500" baseline="-25000">
                <a:latin typeface="Arial" panose="020B0604020202020204" pitchFamily="34" charset="0"/>
              </a:rPr>
              <a:t>L</a:t>
            </a:r>
            <a:endParaRPr lang="en-US" altLang="zh-CN" sz="1500" baseline="-25000">
              <a:latin typeface="Arial" panose="020B0604020202020204" pitchFamily="34" charset="0"/>
            </a:endParaRPr>
          </a:p>
        </p:txBody>
      </p:sp>
      <p:sp>
        <p:nvSpPr>
          <p:cNvPr id="377902" name="文本框 377901"/>
          <p:cNvSpPr txBox="1"/>
          <p:nvPr/>
        </p:nvSpPr>
        <p:spPr>
          <a:xfrm>
            <a:off x="2317115" y="1306566"/>
            <a:ext cx="341630"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In</a:t>
            </a:r>
            <a:endParaRPr lang="en-US" altLang="zh-CN" sz="1500" i="0">
              <a:latin typeface="Arial" panose="020B0604020202020204" pitchFamily="34" charset="0"/>
            </a:endParaRPr>
          </a:p>
        </p:txBody>
      </p:sp>
      <p:sp>
        <p:nvSpPr>
          <p:cNvPr id="377903" name="文本框 377902"/>
          <p:cNvSpPr txBox="1"/>
          <p:nvPr/>
        </p:nvSpPr>
        <p:spPr>
          <a:xfrm>
            <a:off x="6538543" y="1403138"/>
            <a:ext cx="715698" cy="321945"/>
          </a:xfrm>
          <a:prstGeom prst="rect">
            <a:avLst/>
          </a:prstGeom>
          <a:noFill/>
          <a:ln w="12700">
            <a:noFill/>
          </a:ln>
        </p:spPr>
        <p:txBody>
          <a:bodyPr>
            <a:spAutoFit/>
          </a:bodyPr>
          <a:lstStyle/>
          <a:p>
            <a:r>
              <a:rPr lang="en-US" altLang="zh-CN" sz="1500" i="0">
                <a:latin typeface="Arial" panose="020B0604020202020204" pitchFamily="34" charset="0"/>
              </a:rPr>
              <a:t>Out</a:t>
            </a:r>
            <a:endParaRPr lang="en-US" altLang="zh-CN" sz="1500" i="0">
              <a:latin typeface="Arial" panose="020B0604020202020204" pitchFamily="34" charset="0"/>
            </a:endParaRPr>
          </a:p>
        </p:txBody>
      </p:sp>
      <p:sp>
        <p:nvSpPr>
          <p:cNvPr id="377901" name="文本框 377900"/>
          <p:cNvSpPr txBox="1"/>
          <p:nvPr/>
        </p:nvSpPr>
        <p:spPr>
          <a:xfrm>
            <a:off x="2007235" y="3220720"/>
            <a:ext cx="5838825" cy="1014730"/>
          </a:xfrm>
          <a:prstGeom prst="rect">
            <a:avLst/>
          </a:prstGeom>
          <a:noFill/>
          <a:ln w="12700">
            <a:noFill/>
          </a:ln>
        </p:spPr>
        <p:txBody>
          <a:bodyPr wrap="square" anchor="t" anchorCtr="0">
            <a:spAutoFit/>
          </a:bodyPr>
          <a:lstStyle/>
          <a:p>
            <a:r>
              <a:rPr lang="zh-CN" altLang="en-US" sz="2000" i="0">
                <a:latin typeface="Arial" panose="020B0604020202020204" pitchFamily="34" charset="0"/>
              </a:rPr>
              <a:t>给定负载电容</a:t>
            </a:r>
            <a:r>
              <a:rPr lang="en-US" altLang="zh-CN" sz="2000" i="0">
                <a:latin typeface="Arial" panose="020B0604020202020204" pitchFamily="34" charset="0"/>
              </a:rPr>
              <a:t>CL</a:t>
            </a:r>
            <a:r>
              <a:rPr lang="zh-CN" altLang="en-US" sz="2000" i="0">
                <a:latin typeface="Arial" panose="020B0604020202020204" pitchFamily="34" charset="0"/>
              </a:rPr>
              <a:t>，求解</a:t>
            </a:r>
            <a:r>
              <a:rPr lang="en-US" altLang="zh-CN" sz="2000" i="0">
                <a:latin typeface="Arial" panose="020B0604020202020204" pitchFamily="34" charset="0"/>
              </a:rPr>
              <a:t>:</a:t>
            </a:r>
            <a:endParaRPr lang="en-US" altLang="zh-CN" sz="2000" i="0">
              <a:latin typeface="Arial" panose="020B0604020202020204" pitchFamily="34" charset="0"/>
            </a:endParaRPr>
          </a:p>
          <a:p>
            <a:r>
              <a:rPr lang="en-US" altLang="zh-CN" sz="2000" i="0">
                <a:latin typeface="Arial" panose="020B0604020202020204" pitchFamily="34" charset="0"/>
              </a:rPr>
              <a:t>--1. </a:t>
            </a:r>
            <a:r>
              <a:rPr lang="zh-CN" altLang="en-US" sz="2000" i="0">
                <a:latin typeface="Arial" panose="020B0604020202020204" pitchFamily="34" charset="0"/>
              </a:rPr>
              <a:t>需要多少级的反相器链才能最小化系统延时？</a:t>
            </a:r>
            <a:endParaRPr lang="zh-CN" altLang="en-US" sz="2000" i="0">
              <a:latin typeface="Arial" panose="020B0604020202020204" pitchFamily="34" charset="0"/>
            </a:endParaRPr>
          </a:p>
          <a:p>
            <a:r>
              <a:rPr lang="en-US" altLang="zh-CN" sz="2000" i="0">
                <a:latin typeface="Arial" panose="020B0604020202020204" pitchFamily="34" charset="0"/>
              </a:rPr>
              <a:t>--2. </a:t>
            </a:r>
            <a:r>
              <a:rPr lang="zh-CN" altLang="en-US" sz="2000" i="0">
                <a:latin typeface="Arial" panose="020B0604020202020204" pitchFamily="34" charset="0"/>
              </a:rPr>
              <a:t>如何逐级增大反相器的尺寸？</a:t>
            </a:r>
            <a:endParaRPr lang="zh-CN" altLang="en-US" sz="2000" i="0">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反相器链</a:t>
            </a:r>
            <a:endParaRPr lang="zh-CN" altLang="en-US">
              <a:sym typeface="+mn-ea"/>
            </a:endParaRPr>
          </a:p>
        </p:txBody>
      </p:sp>
      <p:sp>
        <p:nvSpPr>
          <p:cNvPr id="379915" name="文本框 379914"/>
          <p:cNvSpPr txBox="1"/>
          <p:nvPr/>
        </p:nvSpPr>
        <p:spPr>
          <a:xfrm>
            <a:off x="164836" y="3538326"/>
            <a:ext cx="5165725" cy="2014855"/>
          </a:xfrm>
          <a:prstGeom prst="rect">
            <a:avLst/>
          </a:prstGeom>
          <a:noFill/>
          <a:ln w="12700">
            <a:noFill/>
          </a:ln>
        </p:spPr>
        <p:txBody>
          <a:bodyPr wrap="none" anchor="t" anchorCtr="0">
            <a:spAutoFit/>
          </a:bodyPr>
          <a:lstStyle/>
          <a:p>
            <a:pPr algn="l"/>
            <a:r>
              <a:rPr lang="en-US" altLang="zh-CN" sz="2000" err="1">
                <a:latin typeface="微软雅黑" panose="020B0503020204020204" pitchFamily="34" charset="-122"/>
                <a:ea typeface="微软雅黑" panose="020B0503020204020204" pitchFamily="34" charset="-122"/>
              </a:rPr>
              <a:t>t</a:t>
            </a:r>
            <a:r>
              <a:rPr lang="en-US" altLang="zh-CN" sz="2000" baseline="-25000" err="1">
                <a:latin typeface="微软雅黑" panose="020B0503020204020204" pitchFamily="34" charset="-122"/>
                <a:ea typeface="微软雅黑" panose="020B0503020204020204" pitchFamily="34" charset="-122"/>
              </a:rPr>
              <a:t>p</a:t>
            </a:r>
            <a:r>
              <a:rPr lang="en-US" altLang="zh-CN" sz="2000" i="0">
                <a:latin typeface="微软雅黑" panose="020B0503020204020204" pitchFamily="34" charset="-122"/>
                <a:ea typeface="微软雅黑" panose="020B0503020204020204" pitchFamily="34" charset="-122"/>
              </a:rPr>
              <a:t> </a:t>
            </a:r>
            <a:r>
              <a:rPr lang="en-US" altLang="zh-CN" sz="2000">
                <a:latin typeface="微软雅黑" panose="020B0503020204020204" pitchFamily="34" charset="-122"/>
                <a:ea typeface="微软雅黑" panose="020B0503020204020204" pitchFamily="34" charset="-122"/>
                <a:sym typeface="+mn-ea"/>
              </a:rPr>
              <a:t>= </a:t>
            </a:r>
            <a:r>
              <a:rPr lang="en-US" altLang="zh-CN" sz="2000" u="sng">
                <a:latin typeface="微软雅黑" panose="020B0503020204020204" pitchFamily="34" charset="-122"/>
                <a:ea typeface="微软雅黑" panose="020B0503020204020204" pitchFamily="34" charset="-122"/>
                <a:sym typeface="+mn-ea"/>
              </a:rPr>
              <a:t>Delay (Internal) </a:t>
            </a:r>
            <a:r>
              <a:rPr lang="en-US" altLang="zh-CN" sz="2000">
                <a:latin typeface="微软雅黑" panose="020B0503020204020204" pitchFamily="34" charset="-122"/>
                <a:ea typeface="微软雅黑" panose="020B0503020204020204" pitchFamily="34" charset="-122"/>
                <a:sym typeface="+mn-ea"/>
              </a:rPr>
              <a:t>+</a:t>
            </a:r>
            <a:r>
              <a:rPr lang="en-US" altLang="zh-CN" sz="2000" u="sng">
                <a:latin typeface="微软雅黑" panose="020B0503020204020204" pitchFamily="34" charset="-122"/>
                <a:ea typeface="微软雅黑" panose="020B0503020204020204" pitchFamily="34" charset="-122"/>
                <a:sym typeface="+mn-ea"/>
              </a:rPr>
              <a:t> Delay (Load)</a:t>
            </a:r>
            <a:endParaRPr lang="en-US" altLang="zh-CN" sz="2000" i="0">
              <a:latin typeface="微软雅黑" panose="020B0503020204020204" pitchFamily="34" charset="-122"/>
              <a:ea typeface="微软雅黑" panose="020B0503020204020204" pitchFamily="34" charset="-122"/>
            </a:endParaRPr>
          </a:p>
          <a:p>
            <a:pPr algn="l"/>
            <a:r>
              <a:rPr lang="en-US" altLang="zh-CN" sz="2000">
                <a:latin typeface="微软雅黑" panose="020B0503020204020204" pitchFamily="34" charset="-122"/>
                <a:ea typeface="微软雅黑" panose="020B0503020204020204" pitchFamily="34" charset="-122"/>
                <a:sym typeface="+mn-ea"/>
              </a:rPr>
              <a:t>   = </a:t>
            </a:r>
            <a:r>
              <a:rPr lang="en-US" altLang="zh-CN" sz="2000" err="1">
                <a:latin typeface="微软雅黑" panose="020B0503020204020204" pitchFamily="34" charset="-122"/>
                <a:ea typeface="微软雅黑" panose="020B0503020204020204" pitchFamily="34" charset="-122"/>
                <a:sym typeface="+mn-ea"/>
              </a:rPr>
              <a:t>kR</a:t>
            </a:r>
            <a:r>
              <a:rPr lang="en-US" altLang="zh-CN" sz="2000" baseline="-25000" err="1">
                <a:latin typeface="微软雅黑" panose="020B0503020204020204" pitchFamily="34" charset="-122"/>
                <a:ea typeface="微软雅黑" panose="020B0503020204020204" pitchFamily="34" charset="-122"/>
                <a:sym typeface="+mn-ea"/>
              </a:rPr>
              <a:t>W</a:t>
            </a:r>
            <a:r>
              <a:rPr lang="en-US" altLang="zh-CN" sz="2000" err="1">
                <a:latin typeface="微软雅黑" panose="020B0503020204020204" pitchFamily="34" charset="-122"/>
                <a:ea typeface="微软雅黑" panose="020B0503020204020204" pitchFamily="34" charset="-122"/>
                <a:sym typeface="+mn-ea"/>
              </a:rPr>
              <a:t>C</a:t>
            </a:r>
            <a:r>
              <a:rPr lang="en-US" altLang="zh-CN" sz="2000" baseline="-25000" err="1">
                <a:latin typeface="微软雅黑" panose="020B0503020204020204" pitchFamily="34" charset="-122"/>
                <a:ea typeface="微软雅黑" panose="020B0503020204020204" pitchFamily="34" charset="-122"/>
                <a:sym typeface="+mn-ea"/>
              </a:rPr>
              <a:t>int</a:t>
            </a:r>
            <a:r>
              <a:rPr lang="en-US" altLang="zh-CN" sz="2000">
                <a:latin typeface="微软雅黑" panose="020B0503020204020204" pitchFamily="34" charset="-122"/>
                <a:ea typeface="微软雅黑" panose="020B0503020204020204" pitchFamily="34" charset="-122"/>
                <a:sym typeface="+mn-ea"/>
              </a:rPr>
              <a:t> + </a:t>
            </a:r>
            <a:r>
              <a:rPr lang="en-US" altLang="zh-CN" sz="2000" err="1">
                <a:latin typeface="微软雅黑" panose="020B0503020204020204" pitchFamily="34" charset="-122"/>
                <a:ea typeface="微软雅黑" panose="020B0503020204020204" pitchFamily="34" charset="-122"/>
                <a:sym typeface="+mn-ea"/>
              </a:rPr>
              <a:t>kR</a:t>
            </a:r>
            <a:r>
              <a:rPr lang="en-US" altLang="zh-CN" sz="2000" baseline="-25000" err="1">
                <a:latin typeface="微软雅黑" panose="020B0503020204020204" pitchFamily="34" charset="-122"/>
                <a:ea typeface="微软雅黑" panose="020B0503020204020204" pitchFamily="34" charset="-122"/>
                <a:sym typeface="+mn-ea"/>
              </a:rPr>
              <a:t>W</a:t>
            </a:r>
            <a:r>
              <a:rPr lang="en-US" altLang="zh-CN" sz="2000" err="1">
                <a:latin typeface="微软雅黑" panose="020B0503020204020204" pitchFamily="34" charset="-122"/>
                <a:ea typeface="微软雅黑" panose="020B0503020204020204" pitchFamily="34" charset="-122"/>
                <a:sym typeface="+mn-ea"/>
              </a:rPr>
              <a:t>C</a:t>
            </a:r>
            <a:r>
              <a:rPr lang="en-US" altLang="zh-CN" sz="2000" baseline="-25000">
                <a:latin typeface="微软雅黑" panose="020B0503020204020204" pitchFamily="34" charset="-122"/>
                <a:ea typeface="微软雅黑" panose="020B0503020204020204" pitchFamily="34" charset="-122"/>
                <a:sym typeface="+mn-ea"/>
              </a:rPr>
              <a:t>L</a:t>
            </a:r>
            <a:r>
              <a:rPr lang="en-US" altLang="zh-CN" sz="2000" baseline="-25000">
                <a:latin typeface="微软雅黑" panose="020B0503020204020204" pitchFamily="34" charset="-122"/>
                <a:ea typeface="微软雅黑" panose="020B0503020204020204" pitchFamily="34" charset="-122"/>
                <a:sym typeface="+mn-ea"/>
              </a:rPr>
              <a:t> </a:t>
            </a:r>
            <a:endParaRPr lang="en-US" altLang="zh-CN" sz="2000" baseline="-25000">
              <a:latin typeface="微软雅黑" panose="020B0503020204020204" pitchFamily="34" charset="-122"/>
              <a:ea typeface="微软雅黑" panose="020B0503020204020204" pitchFamily="34" charset="-122"/>
              <a:sym typeface="+mn-ea"/>
            </a:endParaRPr>
          </a:p>
          <a:p>
            <a:pPr algn="l"/>
            <a:r>
              <a:rPr lang="en-US" altLang="zh-CN" sz="2000" baseline="-25000">
                <a:latin typeface="微软雅黑" panose="020B0503020204020204" pitchFamily="34" charset="-122"/>
                <a:ea typeface="微软雅黑" panose="020B0503020204020204" pitchFamily="34" charset="-122"/>
                <a:sym typeface="+mn-ea"/>
              </a:rPr>
              <a:t>     </a:t>
            </a:r>
            <a:r>
              <a:rPr lang="en-US" altLang="zh-CN" sz="2000" err="1">
                <a:latin typeface="微软雅黑" panose="020B0503020204020204" pitchFamily="34" charset="-122"/>
                <a:ea typeface="微软雅黑" panose="020B0503020204020204" pitchFamily="34" charset="-122"/>
                <a:sym typeface="+mn-ea"/>
              </a:rPr>
              <a:t>= kR</a:t>
            </a:r>
            <a:r>
              <a:rPr lang="en-US" altLang="zh-CN" sz="2000" baseline="-25000" err="1">
                <a:latin typeface="微软雅黑" panose="020B0503020204020204" pitchFamily="34" charset="-122"/>
                <a:ea typeface="微软雅黑" panose="020B0503020204020204" pitchFamily="34" charset="-122"/>
                <a:sym typeface="+mn-ea"/>
              </a:rPr>
              <a:t>W</a:t>
            </a:r>
            <a:r>
              <a:rPr lang="en-US" altLang="zh-CN" sz="2000" baseline="-25000">
                <a:latin typeface="微软雅黑" panose="020B0503020204020204" pitchFamily="34" charset="-122"/>
                <a:ea typeface="微软雅黑" panose="020B0503020204020204" pitchFamily="34" charset="-122"/>
                <a:sym typeface="+mn-ea"/>
              </a:rPr>
              <a:t> </a:t>
            </a:r>
            <a:r>
              <a:rPr lang="en-US" altLang="zh-CN" sz="2000">
                <a:latin typeface="微软雅黑" panose="020B0503020204020204" pitchFamily="34" charset="-122"/>
                <a:ea typeface="微软雅黑" panose="020B0503020204020204" pitchFamily="34" charset="-122"/>
                <a:sym typeface="+mn-ea"/>
              </a:rPr>
              <a:t>C</a:t>
            </a:r>
            <a:r>
              <a:rPr lang="en-US" altLang="zh-CN" sz="2000" baseline="-25000">
                <a:latin typeface="微软雅黑" panose="020B0503020204020204" pitchFamily="34" charset="-122"/>
                <a:ea typeface="微软雅黑" panose="020B0503020204020204" pitchFamily="34" charset="-122"/>
                <a:sym typeface="+mn-ea"/>
              </a:rPr>
              <a:t>int</a:t>
            </a:r>
            <a:r>
              <a:rPr lang="en-US" altLang="zh-CN" sz="2000">
                <a:latin typeface="微软雅黑" panose="020B0503020204020204" pitchFamily="34" charset="-122"/>
                <a:ea typeface="微软雅黑" panose="020B0503020204020204" pitchFamily="34" charset="-122"/>
                <a:sym typeface="+mn-ea"/>
              </a:rPr>
              <a:t>(1+ 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L</a:t>
            </a:r>
            <a:r>
              <a:rPr lang="en-US" altLang="zh-CN" sz="2000">
                <a:latin typeface="微软雅黑" panose="020B0503020204020204" pitchFamily="34" charset="-122"/>
                <a:ea typeface="微软雅黑" panose="020B0503020204020204" pitchFamily="34" charset="-122"/>
                <a:sym typeface="+mn-ea"/>
              </a:rPr>
              <a:t> /</a:t>
            </a:r>
            <a:r>
              <a:rPr lang="en-US" altLang="zh-CN" sz="2000" err="1">
                <a:latin typeface="微软雅黑" panose="020B0503020204020204" pitchFamily="34" charset="-122"/>
                <a:ea typeface="微软雅黑" panose="020B0503020204020204" pitchFamily="34" charset="-122"/>
                <a:sym typeface="+mn-ea"/>
              </a:rPr>
              <a:t>C</a:t>
            </a:r>
            <a:r>
              <a:rPr lang="en-US" altLang="zh-CN" sz="2000" baseline="-25000" err="1">
                <a:latin typeface="微软雅黑" panose="020B0503020204020204" pitchFamily="34" charset="-122"/>
                <a:ea typeface="微软雅黑" panose="020B0503020204020204" pitchFamily="34" charset="-122"/>
                <a:sym typeface="+mn-ea"/>
              </a:rPr>
              <a:t>int</a:t>
            </a:r>
            <a:r>
              <a:rPr lang="en-US" altLang="zh-CN" sz="2000">
                <a:latin typeface="微软雅黑" panose="020B0503020204020204" pitchFamily="34" charset="-122"/>
                <a:ea typeface="微软雅黑" panose="020B0503020204020204" pitchFamily="34" charset="-122"/>
                <a:sym typeface="+mn-ea"/>
              </a:rPr>
              <a:t>)</a:t>
            </a:r>
            <a:endParaRPr lang="en-US" altLang="zh-CN" sz="2000">
              <a:latin typeface="微软雅黑" panose="020B0503020204020204" pitchFamily="34" charset="-122"/>
              <a:ea typeface="微软雅黑" panose="020B0503020204020204" pitchFamily="34" charset="-122"/>
              <a:sym typeface="+mn-ea"/>
            </a:endParaRPr>
          </a:p>
          <a:p>
            <a:pPr algn="l"/>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   =t</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p0</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L</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int</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 =t</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p0</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L</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/SC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unit</a:t>
            </a: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fontAlgn="auto">
              <a:spcBef>
                <a:spcPts val="600"/>
              </a:spcBef>
            </a:pPr>
            <a:r>
              <a:rPr lang="en-US" altLang="zh-CN" sz="200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000" baseline="-2500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ea"/>
              </a:rPr>
              <a:t>p0</a:t>
            </a:r>
            <a:r>
              <a:rPr lang="en-US" altLang="zh-CN" sz="2000" baseline="-25000">
                <a:solidFill>
                  <a:srgbClr val="0070C0"/>
                </a:solidFill>
                <a:latin typeface="微软雅黑" panose="020B0503020204020204" pitchFamily="34" charset="-122"/>
                <a:ea typeface="微软雅黑" panose="020B0503020204020204" pitchFamily="34" charset="-122"/>
                <a:sym typeface="+mn-ea"/>
              </a:rPr>
              <a:t> </a:t>
            </a:r>
            <a:r>
              <a:rPr lang="en-US" altLang="zh-CN" sz="2000" err="1">
                <a:solidFill>
                  <a:srgbClr val="0070C0"/>
                </a:solidFill>
                <a:latin typeface="微软雅黑" panose="020B0503020204020204" pitchFamily="34" charset="-122"/>
                <a:ea typeface="微软雅黑" panose="020B0503020204020204" pitchFamily="34" charset="-122"/>
                <a:sym typeface="+mn-ea"/>
              </a:rPr>
              <a:t>= kR</a:t>
            </a:r>
            <a:r>
              <a:rPr lang="en-US" altLang="zh-CN" sz="2000" baseline="-25000" err="1">
                <a:solidFill>
                  <a:srgbClr val="0070C0"/>
                </a:solidFill>
                <a:latin typeface="微软雅黑" panose="020B0503020204020204" pitchFamily="34" charset="-122"/>
                <a:ea typeface="微软雅黑" panose="020B0503020204020204" pitchFamily="34" charset="-122"/>
                <a:sym typeface="+mn-ea"/>
              </a:rPr>
              <a:t>W</a:t>
            </a:r>
            <a:r>
              <a:rPr lang="en-US" altLang="zh-CN" sz="2000" baseline="-25000">
                <a:solidFill>
                  <a:srgbClr val="0070C0"/>
                </a:solidFill>
                <a:latin typeface="微软雅黑" panose="020B0503020204020204" pitchFamily="34" charset="-122"/>
                <a:ea typeface="微软雅黑" panose="020B0503020204020204" pitchFamily="34" charset="-122"/>
                <a:sym typeface="+mn-ea"/>
              </a:rPr>
              <a:t> </a:t>
            </a:r>
            <a:r>
              <a:rPr lang="en-US" altLang="zh-CN" sz="2000">
                <a:solidFill>
                  <a:srgbClr val="0070C0"/>
                </a:solidFill>
                <a:latin typeface="微软雅黑" panose="020B0503020204020204" pitchFamily="34" charset="-122"/>
                <a:ea typeface="微软雅黑" panose="020B0503020204020204" pitchFamily="34" charset="-122"/>
                <a:sym typeface="+mn-ea"/>
              </a:rPr>
              <a:t>C</a:t>
            </a:r>
            <a:r>
              <a:rPr lang="en-US" altLang="zh-CN" sz="2000" baseline="-25000">
                <a:solidFill>
                  <a:srgbClr val="0070C0"/>
                </a:solidFill>
                <a:latin typeface="微软雅黑" panose="020B0503020204020204" pitchFamily="34" charset="-122"/>
                <a:ea typeface="微软雅黑" panose="020B0503020204020204" pitchFamily="34" charset="-122"/>
                <a:sym typeface="+mn-ea"/>
              </a:rPr>
              <a:t>int</a:t>
            </a:r>
            <a:r>
              <a:rPr lang="en-US" altLang="zh-CN" sz="2000">
                <a:solidFill>
                  <a:srgbClr val="0070C0"/>
                </a:solidFill>
                <a:latin typeface="微软雅黑" panose="020B0503020204020204" pitchFamily="34" charset="-122"/>
                <a:ea typeface="微软雅黑" panose="020B0503020204020204" pitchFamily="34" charset="-122"/>
                <a:sym typeface="+mn-ea"/>
              </a:rPr>
              <a:t>=</a:t>
            </a:r>
            <a:r>
              <a:rPr lang="en-US" altLang="zh-CN" sz="2000" err="1">
                <a:solidFill>
                  <a:srgbClr val="0070C0"/>
                </a:solidFill>
                <a:latin typeface="微软雅黑" panose="020B0503020204020204" pitchFamily="34" charset="-122"/>
                <a:ea typeface="微软雅黑" panose="020B0503020204020204" pitchFamily="34" charset="-122"/>
                <a:sym typeface="+mn-ea"/>
              </a:rPr>
              <a:t>k(R</a:t>
            </a:r>
            <a:r>
              <a:rPr lang="en-US" altLang="zh-CN" sz="2000" baseline="-25000" err="1">
                <a:solidFill>
                  <a:srgbClr val="0070C0"/>
                </a:solidFill>
                <a:latin typeface="微软雅黑" panose="020B0503020204020204" pitchFamily="34" charset="-122"/>
                <a:ea typeface="微软雅黑" panose="020B0503020204020204" pitchFamily="34" charset="-122"/>
                <a:sym typeface="+mn-ea"/>
              </a:rPr>
              <a:t>unit</a:t>
            </a:r>
            <a:r>
              <a:rPr lang="en-US" altLang="zh-CN" sz="2000" err="1">
                <a:solidFill>
                  <a:srgbClr val="0070C0"/>
                </a:solidFill>
                <a:latin typeface="微软雅黑" panose="020B0503020204020204" pitchFamily="34" charset="-122"/>
                <a:ea typeface="微软雅黑" panose="020B0503020204020204" pitchFamily="34" charset="-122"/>
                <a:sym typeface="+mn-ea"/>
              </a:rPr>
              <a:t>/S)(S</a:t>
            </a:r>
            <a:r>
              <a:rPr lang="en-US" altLang="zh-CN" sz="2000">
                <a:solidFill>
                  <a:srgbClr val="0070C0"/>
                </a:solidFill>
                <a:latin typeface="微软雅黑" panose="020B0503020204020204" pitchFamily="34" charset="-122"/>
                <a:ea typeface="微软雅黑" panose="020B0503020204020204" pitchFamily="34" charset="-122"/>
                <a:sym typeface="+mn-ea"/>
              </a:rPr>
              <a:t>C</a:t>
            </a:r>
            <a:r>
              <a:rPr lang="en-US" altLang="zh-CN" sz="2000" baseline="-25000" err="1">
                <a:solidFill>
                  <a:srgbClr val="0070C0"/>
                </a:solidFill>
                <a:latin typeface="微软雅黑" panose="020B0503020204020204" pitchFamily="34" charset="-122"/>
                <a:ea typeface="微软雅黑" panose="020B0503020204020204" pitchFamily="34" charset="-122"/>
                <a:sym typeface="+mn-ea"/>
              </a:rPr>
              <a:t>unit</a:t>
            </a:r>
            <a:r>
              <a:rPr lang="en-US" altLang="zh-CN" sz="2000" err="1">
                <a:solidFill>
                  <a:srgbClr val="0070C0"/>
                </a:solidFill>
                <a:latin typeface="微软雅黑" panose="020B0503020204020204" pitchFamily="34" charset="-122"/>
                <a:ea typeface="微软雅黑" panose="020B0503020204020204" pitchFamily="34" charset="-122"/>
                <a:sym typeface="+mn-ea"/>
              </a:rPr>
              <a:t>)</a:t>
            </a:r>
            <a:r>
              <a:rPr lang="en-US" altLang="zh-CN" sz="2000" baseline="-25000">
                <a:solidFill>
                  <a:srgbClr val="0070C0"/>
                </a:solidFill>
                <a:latin typeface="微软雅黑" panose="020B0503020204020204" pitchFamily="34" charset="-122"/>
                <a:ea typeface="微软雅黑" panose="020B0503020204020204" pitchFamily="34" charset="-122"/>
                <a:sym typeface="+mn-ea"/>
              </a:rPr>
              <a:t> </a:t>
            </a:r>
            <a:r>
              <a:rPr lang="en-US" altLang="zh-CN" sz="2000" err="1">
                <a:solidFill>
                  <a:srgbClr val="0070C0"/>
                </a:solidFill>
                <a:latin typeface="微软雅黑" panose="020B0503020204020204" pitchFamily="34" charset="-122"/>
                <a:ea typeface="微软雅黑" panose="020B0503020204020204" pitchFamily="34" charset="-122"/>
                <a:sym typeface="+mn-ea"/>
              </a:rPr>
              <a:t>= kR</a:t>
            </a:r>
            <a:r>
              <a:rPr lang="en-US" altLang="zh-CN" sz="2000" baseline="-25000" err="1">
                <a:solidFill>
                  <a:srgbClr val="0070C0"/>
                </a:solidFill>
                <a:latin typeface="微软雅黑" panose="020B0503020204020204" pitchFamily="34" charset="-122"/>
                <a:ea typeface="微软雅黑" panose="020B0503020204020204" pitchFamily="34" charset="-122"/>
                <a:sym typeface="+mn-ea"/>
              </a:rPr>
              <a:t>unit</a:t>
            </a:r>
            <a:r>
              <a:rPr lang="en-US" altLang="zh-CN" sz="2000" baseline="-25000">
                <a:solidFill>
                  <a:srgbClr val="0070C0"/>
                </a:solidFill>
                <a:latin typeface="微软雅黑" panose="020B0503020204020204" pitchFamily="34" charset="-122"/>
                <a:ea typeface="微软雅黑" panose="020B0503020204020204" pitchFamily="34" charset="-122"/>
                <a:sym typeface="+mn-ea"/>
              </a:rPr>
              <a:t> </a:t>
            </a:r>
            <a:r>
              <a:rPr lang="en-US" altLang="zh-CN" sz="2000">
                <a:solidFill>
                  <a:srgbClr val="0070C0"/>
                </a:solidFill>
                <a:latin typeface="微软雅黑" panose="020B0503020204020204" pitchFamily="34" charset="-122"/>
                <a:ea typeface="微软雅黑" panose="020B0503020204020204" pitchFamily="34" charset="-122"/>
                <a:sym typeface="+mn-ea"/>
              </a:rPr>
              <a:t>C</a:t>
            </a:r>
            <a:r>
              <a:rPr lang="en-US" altLang="zh-CN" sz="2000" baseline="-25000" err="1">
                <a:solidFill>
                  <a:srgbClr val="0070C0"/>
                </a:solidFill>
                <a:latin typeface="微软雅黑" panose="020B0503020204020204" pitchFamily="34" charset="-122"/>
                <a:ea typeface="微软雅黑" panose="020B0503020204020204" pitchFamily="34" charset="-122"/>
                <a:sym typeface="+mn-ea"/>
              </a:rPr>
              <a:t>unit</a:t>
            </a:r>
            <a:endParaRPr lang="en-US" altLang="zh-CN" sz="2000">
              <a:latin typeface="微软雅黑" panose="020B0503020204020204" pitchFamily="34" charset="-122"/>
              <a:ea typeface="微软雅黑" panose="020B0503020204020204" pitchFamily="34" charset="-122"/>
            </a:endParaRPr>
          </a:p>
          <a:p>
            <a:pPr algn="l"/>
            <a:r>
              <a:rPr lang="en-US" altLang="zh-CN" sz="2000">
                <a:latin typeface="微软雅黑" panose="020B0503020204020204" pitchFamily="34" charset="-122"/>
                <a:ea typeface="微软雅黑" panose="020B0503020204020204" pitchFamily="34" charset="-122"/>
                <a:sym typeface="+mn-ea"/>
              </a:rPr>
              <a:t>   </a:t>
            </a:r>
            <a:endParaRPr lang="en-US" altLang="zh-CN" sz="2000" u="sng">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1"/>
          <a:stretch>
            <a:fillRect/>
          </a:stretch>
        </p:blipFill>
        <p:spPr>
          <a:xfrm>
            <a:off x="974090" y="825500"/>
            <a:ext cx="3291840" cy="2712720"/>
          </a:xfrm>
          <a:prstGeom prst="rect">
            <a:avLst/>
          </a:prstGeom>
        </p:spPr>
      </p:pic>
      <p:pic>
        <p:nvPicPr>
          <p:cNvPr id="3" name="图片 2"/>
          <p:cNvPicPr>
            <a:picLocks noChangeAspect="1"/>
          </p:cNvPicPr>
          <p:nvPr/>
        </p:nvPicPr>
        <p:blipFill>
          <a:blip r:embed="rId2"/>
          <a:stretch>
            <a:fillRect/>
          </a:stretch>
        </p:blipFill>
        <p:spPr>
          <a:xfrm>
            <a:off x="4645660" y="862330"/>
            <a:ext cx="2827020" cy="2446020"/>
          </a:xfrm>
          <a:prstGeom prst="rect">
            <a:avLst/>
          </a:prstGeom>
        </p:spPr>
      </p:pic>
      <p:sp>
        <p:nvSpPr>
          <p:cNvPr id="4" name="文本框 3"/>
          <p:cNvSpPr txBox="1"/>
          <p:nvPr/>
        </p:nvSpPr>
        <p:spPr>
          <a:xfrm>
            <a:off x="5666740" y="3350260"/>
            <a:ext cx="2727960" cy="2322830"/>
          </a:xfrm>
          <a:prstGeom prst="rect">
            <a:avLst/>
          </a:prstGeom>
          <a:noFill/>
        </p:spPr>
        <p:txBody>
          <a:bodyPr wrap="square" rtlCol="0" anchor="t">
            <a:spAutoFit/>
          </a:bodyPr>
          <a:p>
            <a:pPr algn="l">
              <a:spcBef>
                <a:spcPts val="600"/>
              </a:spcBef>
            </a:pP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int</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本征电容</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spcBef>
                <a:spcPts val="600"/>
              </a:spcBef>
            </a:pP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L</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负载电容</a:t>
            </a:r>
            <a:endPar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spcBef>
                <a:spcPts val="600"/>
              </a:spcBef>
            </a:pPr>
            <a:r>
              <a:rPr lang="en-US" altLang="zh-CN" sz="2000">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000" baseline="-25000">
                <a:latin typeface="微软雅黑" panose="020B0503020204020204" pitchFamily="34" charset="-122"/>
                <a:ea typeface="微软雅黑" panose="020B0503020204020204" pitchFamily="34" charset="-122"/>
                <a:cs typeface="微软雅黑" panose="020B0503020204020204" pitchFamily="34" charset="-122"/>
                <a:sym typeface="+mn-ea"/>
              </a:rPr>
              <a:t>p0</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本征传播延时时间</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spcBef>
                <a:spcPts val="600"/>
              </a:spcBef>
            </a:pP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t</a:t>
            </a:r>
            <a:r>
              <a:rPr lang="en-US" altLang="zh-CN" sz="2000"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p0</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与门的尺寸无关</a:t>
            </a:r>
            <a:endPar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spcBef>
                <a:spcPts val="600"/>
              </a:spcBef>
            </a:pP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S</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越大，传播延时越小</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spcBef>
                <a:spcPts val="600"/>
              </a:spcBef>
            </a:pP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设计要点：</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L</a:t>
            </a:r>
            <a:r>
              <a:rPr lang="en-US" altLang="zh-CN"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sz="2000" baseline="-25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int</a:t>
            </a:r>
            <a:endParaRPr lang="en-US" altLang="zh-CN" sz="2000" baseline="-25000" dirty="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zh-CN" altLang="en-US">
                <a:sym typeface="+mn-ea"/>
              </a:rPr>
              <a:t>链</a:t>
            </a:r>
            <a:endParaRPr lang="zh-CN" altLang="en-US">
              <a:sym typeface="+mn-ea"/>
            </a:endParaRPr>
          </a:p>
        </p:txBody>
      </p:sp>
      <p:sp>
        <p:nvSpPr>
          <p:cNvPr id="2" name="文本框 1"/>
          <p:cNvSpPr txBox="1"/>
          <p:nvPr/>
        </p:nvSpPr>
        <p:spPr>
          <a:xfrm>
            <a:off x="6109335" y="2741295"/>
            <a:ext cx="2630805" cy="645160"/>
          </a:xfrm>
          <a:prstGeom prst="rect">
            <a:avLst/>
          </a:prstGeom>
          <a:noFill/>
        </p:spPr>
        <p:txBody>
          <a:bodyPr wrap="square" rtlCol="0" anchor="t">
            <a:spAutoFit/>
          </a:bodyPr>
          <a:lstStyle/>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此时器件本身的电容将起到主要作用。</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73762" name="图片 373761"/>
          <p:cNvPicPr>
            <a:picLocks noChangeAspect="1"/>
          </p:cNvPicPr>
          <p:nvPr/>
        </p:nvPicPr>
        <p:blipFill>
          <a:blip r:embed="rId1"/>
          <a:stretch>
            <a:fillRect/>
          </a:stretch>
        </p:blipFill>
        <p:spPr>
          <a:xfrm>
            <a:off x="922655" y="1252220"/>
            <a:ext cx="5186680" cy="3605530"/>
          </a:xfrm>
          <a:prstGeom prst="rect">
            <a:avLst/>
          </a:prstGeom>
          <a:noFill/>
          <a:ln w="12700">
            <a:noFill/>
          </a:ln>
        </p:spPr>
      </p:pic>
      <p:sp>
        <p:nvSpPr>
          <p:cNvPr id="373766" name="直接连接符 373765"/>
          <p:cNvSpPr/>
          <p:nvPr/>
        </p:nvSpPr>
        <p:spPr>
          <a:xfrm flipH="1">
            <a:off x="4124643" y="3364389"/>
            <a:ext cx="1984375" cy="912813"/>
          </a:xfrm>
          <a:prstGeom prst="line">
            <a:avLst/>
          </a:prstGeom>
          <a:ln w="12700" cap="flat" cmpd="sng">
            <a:solidFill>
              <a:srgbClr val="000082"/>
            </a:solidFill>
            <a:prstDash val="solid"/>
            <a:headEnd type="none" w="med" len="med"/>
            <a:tailEnd type="triangle" w="med" len="med"/>
          </a:ln>
        </p:spPr>
      </p:sp>
      <p:sp>
        <p:nvSpPr>
          <p:cNvPr id="5" name="文本框 4"/>
          <p:cNvSpPr txBox="1"/>
          <p:nvPr/>
        </p:nvSpPr>
        <p:spPr>
          <a:xfrm>
            <a:off x="922655" y="4982845"/>
            <a:ext cx="6465570" cy="368300"/>
          </a:xfrm>
          <a:prstGeom prst="rect">
            <a:avLst/>
          </a:prstGeom>
          <a:noFill/>
        </p:spPr>
        <p:txBody>
          <a:bodyPr wrap="square" rtlCol="0" anchor="t">
            <a:spAutoFit/>
          </a:bodyPr>
          <a:lstStyle/>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以相同尺寸放大系数</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S </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扩大</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MOS</a:t>
            </a:r>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尺寸，能够降低反相器延时</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243840" y="774700"/>
            <a:ext cx="5998845" cy="460375"/>
          </a:xfrm>
          <a:prstGeom prst="rect">
            <a:avLst/>
          </a:prstGeom>
          <a:noFill/>
        </p:spPr>
        <p:txBody>
          <a:bodyPr wrap="square" rtlCol="0" anchor="t">
            <a:spAutoFit/>
          </a:bodyPr>
          <a:p>
            <a:pPr algn="l"/>
            <a:r>
              <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减小传播延时的设计</a:t>
            </a:r>
            <a:r>
              <a:rPr lang="en-US" altLang="zh-CN"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器件尺寸</a:t>
            </a:r>
            <a:r>
              <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设计</a:t>
            </a:r>
            <a:endPar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反相器链</a:t>
            </a:r>
            <a:endParaRPr lang="zh-CN" altLang="en-US">
              <a:sym typeface="+mn-ea"/>
            </a:endParaRPr>
          </a:p>
        </p:txBody>
      </p:sp>
      <p:sp>
        <p:nvSpPr>
          <p:cNvPr id="381954" name="矩形 381953"/>
          <p:cNvSpPr/>
          <p:nvPr/>
        </p:nvSpPr>
        <p:spPr>
          <a:xfrm>
            <a:off x="1465633" y="2097458"/>
            <a:ext cx="5892271" cy="793750"/>
          </a:xfrm>
          <a:prstGeom prst="rect">
            <a:avLst/>
          </a:prstGeom>
          <a:noFill/>
          <a:ln w="12700" cap="flat" cmpd="sng">
            <a:solidFill>
              <a:schemeClr val="tx1"/>
            </a:solidFill>
            <a:prstDash val="solid"/>
            <a:miter/>
            <a:headEnd type="none" w="med" len="med"/>
            <a:tailEnd type="none" w="med" len="med"/>
          </a:ln>
        </p:spPr>
        <p:txBody>
          <a:bodyPr/>
          <a:lstStyle/>
          <a:p>
            <a:endParaRPr lang="zh-CN" altLang="en-US" sz="1500"/>
          </a:p>
        </p:txBody>
      </p:sp>
      <p:graphicFrame>
        <p:nvGraphicFramePr>
          <p:cNvPr id="381956" name="对象 381955"/>
          <p:cNvGraphicFramePr/>
          <p:nvPr/>
        </p:nvGraphicFramePr>
        <p:xfrm>
          <a:off x="1721168" y="1330273"/>
          <a:ext cx="5513917" cy="1860021"/>
        </p:xfrm>
        <a:graphic>
          <a:graphicData uri="http://schemas.openxmlformats.org/presentationml/2006/ole">
            <mc:AlternateContent xmlns:mc="http://schemas.openxmlformats.org/markup-compatibility/2006">
              <mc:Choice xmlns:v="urn:schemas-microsoft-com:vml" Requires="v">
                <p:oleObj spid="_x0000_s2" name="" r:id="rId1" imgW="2400300" imgH="914400" progId="Equation.3">
                  <p:embed/>
                </p:oleObj>
              </mc:Choice>
              <mc:Fallback>
                <p:oleObj name="" r:id="rId1" imgW="2400300" imgH="914400" progId="Equation.3">
                  <p:embed/>
                  <p:pic>
                    <p:nvPicPr>
                      <p:cNvPr id="0" name="图片 3077"/>
                      <p:cNvPicPr/>
                      <p:nvPr/>
                    </p:nvPicPr>
                    <p:blipFill>
                      <a:blip r:embed="rId2"/>
                      <a:stretch>
                        <a:fillRect/>
                      </a:stretch>
                    </p:blipFill>
                    <p:spPr>
                      <a:xfrm>
                        <a:off x="1721168" y="1330273"/>
                        <a:ext cx="5513917" cy="1860021"/>
                      </a:xfrm>
                      <a:prstGeom prst="rect">
                        <a:avLst/>
                      </a:prstGeom>
                      <a:noFill/>
                      <a:ln w="38100">
                        <a:noFill/>
                        <a:miter/>
                      </a:ln>
                    </p:spPr>
                  </p:pic>
                </p:oleObj>
              </mc:Fallback>
            </mc:AlternateContent>
          </a:graphicData>
        </a:graphic>
      </p:graphicFrame>
      <p:sp>
        <p:nvSpPr>
          <p:cNvPr id="381957" name="文本框 381956"/>
          <p:cNvSpPr txBox="1"/>
          <p:nvPr/>
        </p:nvSpPr>
        <p:spPr>
          <a:xfrm>
            <a:off x="2484120" y="3419475"/>
            <a:ext cx="5488305" cy="1630045"/>
          </a:xfrm>
          <a:prstGeom prst="rect">
            <a:avLst/>
          </a:prstGeom>
          <a:noFill/>
          <a:ln w="12700">
            <a:noFill/>
          </a:ln>
        </p:spPr>
        <p:txBody>
          <a:bodyPr wrap="square">
            <a:spAutoFit/>
          </a:bodyPr>
          <a:lstStyle/>
          <a:p>
            <a:r>
              <a:rPr lang="en-US" altLang="zh-CN" sz="2000" err="1">
                <a:latin typeface="Arial" panose="020B0604020202020204" pitchFamily="34" charset="0"/>
              </a:rPr>
              <a:t>C</a:t>
            </a:r>
            <a:r>
              <a:rPr lang="en-US" altLang="zh-CN" sz="2000" baseline="-25000" err="1">
                <a:latin typeface="Arial" panose="020B0604020202020204" pitchFamily="34" charset="0"/>
              </a:rPr>
              <a:t>int</a:t>
            </a:r>
            <a:r>
              <a:rPr lang="en-US" altLang="zh-CN" sz="2000" i="0">
                <a:latin typeface="Arial" panose="020B0604020202020204" pitchFamily="34" charset="0"/>
              </a:rPr>
              <a:t> = </a:t>
            </a:r>
            <a:r>
              <a:rPr lang="en-US" altLang="zh-CN" sz="2000" err="1">
                <a:latin typeface="Symbol" panose="05050102010706020507" pitchFamily="18" charset="2"/>
              </a:rPr>
              <a:t>g</a:t>
            </a:r>
            <a:r>
              <a:rPr lang="en-US" altLang="zh-CN" sz="2000" err="1">
                <a:latin typeface="Arial" panose="020B0604020202020204" pitchFamily="34" charset="0"/>
              </a:rPr>
              <a:t>C</a:t>
            </a:r>
            <a:r>
              <a:rPr lang="en-US" altLang="zh-CN" sz="2000" baseline="-25000" err="1">
                <a:latin typeface="Arial" panose="020B0604020202020204" pitchFamily="34" charset="0"/>
              </a:rPr>
              <a:t>gin</a:t>
            </a:r>
            <a:r>
              <a:rPr lang="en-US" altLang="zh-CN" sz="2000" baseline="-25000">
                <a:latin typeface="Arial" panose="020B0604020202020204" pitchFamily="34" charset="0"/>
              </a:rPr>
              <a:t> </a:t>
            </a:r>
            <a:r>
              <a:rPr lang="en-US" altLang="zh-CN" sz="2000" i="0">
                <a:latin typeface="Arial" panose="020B0604020202020204" pitchFamily="34" charset="0"/>
              </a:rPr>
              <a:t>with</a:t>
            </a:r>
            <a:r>
              <a:rPr lang="en-US" altLang="zh-CN" sz="2000" baseline="-25000">
                <a:latin typeface="Arial" panose="020B0604020202020204" pitchFamily="34" charset="0"/>
              </a:rPr>
              <a:t> </a:t>
            </a:r>
            <a:r>
              <a:rPr lang="en-US" altLang="zh-CN" sz="2000">
                <a:latin typeface="Symbol" panose="05050102010706020507" pitchFamily="18" charset="2"/>
              </a:rPr>
              <a:t>g</a:t>
            </a:r>
            <a:r>
              <a:rPr lang="en-US" altLang="zh-CN" sz="2000">
                <a:latin typeface="Arial" panose="020B0604020202020204" pitchFamily="34" charset="0"/>
              </a:rPr>
              <a:t> </a:t>
            </a:r>
            <a:r>
              <a:rPr lang="en-US" altLang="zh-CN" sz="2000">
                <a:latin typeface="Arial" panose="020B0604020202020204" pitchFamily="34" charset="0"/>
                <a:sym typeface="Symbol" panose="05050102010706020507" pitchFamily="18" charset="2"/>
              </a:rPr>
              <a:t> </a:t>
            </a:r>
            <a:r>
              <a:rPr lang="en-US" altLang="zh-CN" sz="2000" i="0">
                <a:latin typeface="Arial" panose="020B0604020202020204" pitchFamily="34" charset="0"/>
                <a:sym typeface="Symbol" panose="05050102010706020507" pitchFamily="18" charset="2"/>
              </a:rPr>
              <a:t>1, </a:t>
            </a:r>
            <a:r>
              <a:rPr lang="en-US" altLang="zh-CN" sz="2000" err="1">
                <a:latin typeface="Arial" panose="020B0604020202020204" pitchFamily="34" charset="0"/>
                <a:sym typeface="+mn-ea"/>
              </a:rPr>
              <a:t>C</a:t>
            </a:r>
            <a:r>
              <a:rPr lang="en-US" altLang="zh-CN" sz="2000" baseline="-25000" err="1">
                <a:latin typeface="Arial" panose="020B0604020202020204" pitchFamily="34" charset="0"/>
                <a:sym typeface="+mn-ea"/>
              </a:rPr>
              <a:t>gin</a:t>
            </a:r>
            <a:r>
              <a:rPr lang="en-US" altLang="zh-CN" sz="2000" err="1">
                <a:latin typeface="Arial" panose="020B0604020202020204" pitchFamily="34" charset="0"/>
                <a:sym typeface="+mn-ea"/>
              </a:rPr>
              <a:t>: </a:t>
            </a:r>
            <a:r>
              <a:rPr lang="zh-CN" altLang="en-US" sz="2000" err="1">
                <a:latin typeface="Arial" panose="020B0604020202020204" pitchFamily="34" charset="0"/>
                <a:sym typeface="+mn-ea"/>
              </a:rPr>
              <a:t>输入节点的电容</a:t>
            </a:r>
            <a:endParaRPr lang="en-US" altLang="zh-CN" sz="2000" i="0">
              <a:latin typeface="Arial" panose="020B0604020202020204" pitchFamily="34" charset="0"/>
              <a:sym typeface="Symbol" panose="05050102010706020507" pitchFamily="18" charset="2"/>
            </a:endParaRPr>
          </a:p>
          <a:p>
            <a:r>
              <a:rPr lang="en-US" altLang="zh-CN" sz="2000">
                <a:solidFill>
                  <a:srgbClr val="C00000"/>
                </a:solidFill>
                <a:latin typeface="Arial" panose="020B0604020202020204" pitchFamily="34" charset="0"/>
                <a:sym typeface="Symbol" panose="05050102010706020507" pitchFamily="18" charset="2"/>
              </a:rPr>
              <a:t>f</a:t>
            </a:r>
            <a:r>
              <a:rPr lang="en-US" altLang="zh-CN" sz="2000" i="0">
                <a:solidFill>
                  <a:srgbClr val="C00000"/>
                </a:solidFill>
                <a:latin typeface="Arial" panose="020B0604020202020204" pitchFamily="34" charset="0"/>
                <a:sym typeface="Symbol" panose="05050102010706020507" pitchFamily="18" charset="2"/>
              </a:rPr>
              <a:t> = </a:t>
            </a:r>
            <a:r>
              <a:rPr lang="en-US" altLang="zh-CN" sz="2000">
                <a:solidFill>
                  <a:srgbClr val="C00000"/>
                </a:solidFill>
                <a:latin typeface="Arial" panose="020B0604020202020204" pitchFamily="34" charset="0"/>
                <a:sym typeface="Symbol" panose="05050102010706020507" pitchFamily="18" charset="2"/>
              </a:rPr>
              <a:t>C</a:t>
            </a:r>
            <a:r>
              <a:rPr lang="en-US" altLang="zh-CN" sz="2000" baseline="-25000">
                <a:solidFill>
                  <a:srgbClr val="C00000"/>
                </a:solidFill>
                <a:latin typeface="Arial" panose="020B0604020202020204" pitchFamily="34" charset="0"/>
                <a:sym typeface="Symbol" panose="05050102010706020507" pitchFamily="18" charset="2"/>
              </a:rPr>
              <a:t>L</a:t>
            </a:r>
            <a:r>
              <a:rPr lang="en-US" altLang="zh-CN" sz="2000">
                <a:solidFill>
                  <a:srgbClr val="C00000"/>
                </a:solidFill>
                <a:latin typeface="Arial" panose="020B0604020202020204" pitchFamily="34" charset="0"/>
                <a:sym typeface="Symbol" panose="05050102010706020507" pitchFamily="18" charset="2"/>
              </a:rPr>
              <a:t>/</a:t>
            </a:r>
            <a:r>
              <a:rPr lang="en-US" altLang="zh-CN" sz="2000" err="1">
                <a:solidFill>
                  <a:srgbClr val="C00000"/>
                </a:solidFill>
                <a:latin typeface="Arial" panose="020B0604020202020204" pitchFamily="34" charset="0"/>
              </a:rPr>
              <a:t>C</a:t>
            </a:r>
            <a:r>
              <a:rPr lang="en-US" altLang="zh-CN" sz="2000" baseline="-25000" err="1">
                <a:solidFill>
                  <a:srgbClr val="C00000"/>
                </a:solidFill>
                <a:latin typeface="Arial" panose="020B0604020202020204" pitchFamily="34" charset="0"/>
              </a:rPr>
              <a:t>gin</a:t>
            </a:r>
            <a:r>
              <a:rPr lang="en-US" altLang="zh-CN" sz="2000">
                <a:solidFill>
                  <a:srgbClr val="C00000"/>
                </a:solidFill>
                <a:latin typeface="Arial" panose="020B0604020202020204" pitchFamily="34" charset="0"/>
                <a:sym typeface="Symbol" panose="05050102010706020507" pitchFamily="18" charset="2"/>
              </a:rPr>
              <a:t> </a:t>
            </a:r>
            <a:r>
              <a:rPr lang="en-US" altLang="zh-CN" sz="2000" i="0" err="1">
                <a:solidFill>
                  <a:srgbClr val="C00000"/>
                </a:solidFill>
                <a:latin typeface="Arial" panose="020B0604020202020204" pitchFamily="34" charset="0"/>
                <a:sym typeface="Symbol" panose="05050102010706020507" pitchFamily="18" charset="2"/>
              </a:rPr>
              <a:t>- </a:t>
            </a:r>
            <a:r>
              <a:rPr lang="zh-CN" altLang="en-US" sz="2000" err="1">
                <a:solidFill>
                  <a:srgbClr val="C00000"/>
                </a:solidFill>
                <a:latin typeface="Arial" panose="020B0604020202020204" pitchFamily="34" charset="0"/>
                <a:sym typeface="Symbol" panose="05050102010706020507" pitchFamily="18" charset="2"/>
              </a:rPr>
              <a:t>等效扇出</a:t>
            </a:r>
            <a:endParaRPr lang="zh-CN" altLang="en-US" sz="2000" err="1">
              <a:latin typeface="Arial" panose="020B0604020202020204" pitchFamily="34" charset="0"/>
              <a:sym typeface="Symbol" panose="05050102010706020507" pitchFamily="18" charset="2"/>
            </a:endParaRPr>
          </a:p>
          <a:p>
            <a:r>
              <a:rPr lang="en-US" altLang="zh-CN" sz="2000" err="1">
                <a:latin typeface="Arial" panose="020B0604020202020204" pitchFamily="34" charset="0"/>
                <a:sym typeface="Symbol" panose="05050102010706020507" pitchFamily="18" charset="2"/>
              </a:rPr>
              <a:t>R = R</a:t>
            </a:r>
            <a:r>
              <a:rPr lang="en-US" altLang="zh-CN" sz="2000" baseline="-25000" err="1">
                <a:latin typeface="Arial" panose="020B0604020202020204" pitchFamily="34" charset="0"/>
                <a:sym typeface="Symbol" panose="05050102010706020507" pitchFamily="18" charset="2"/>
              </a:rPr>
              <a:t>unit</a:t>
            </a:r>
            <a:r>
              <a:rPr lang="en-US" altLang="zh-CN" sz="2000">
                <a:latin typeface="Arial" panose="020B0604020202020204" pitchFamily="34" charset="0"/>
                <a:sym typeface="Symbol" panose="05050102010706020507" pitchFamily="18" charset="2"/>
              </a:rPr>
              <a:t>/S ; </a:t>
            </a:r>
            <a:endParaRPr lang="en-US" altLang="zh-CN" sz="2000">
              <a:latin typeface="Arial" panose="020B0604020202020204" pitchFamily="34" charset="0"/>
              <a:sym typeface="Symbol" panose="05050102010706020507" pitchFamily="18" charset="2"/>
            </a:endParaRPr>
          </a:p>
          <a:p>
            <a:r>
              <a:rPr lang="en-US" altLang="zh-CN" sz="2000" err="1">
                <a:latin typeface="Arial" panose="020B0604020202020204" pitchFamily="34" charset="0"/>
              </a:rPr>
              <a:t>C</a:t>
            </a:r>
            <a:r>
              <a:rPr lang="en-US" altLang="zh-CN" sz="2000" baseline="-25000" err="1">
                <a:latin typeface="Arial" panose="020B0604020202020204" pitchFamily="34" charset="0"/>
              </a:rPr>
              <a:t>int</a:t>
            </a:r>
            <a:r>
              <a:rPr lang="en-US" altLang="zh-CN" sz="2000" err="1">
                <a:latin typeface="Arial" panose="020B0604020202020204" pitchFamily="34" charset="0"/>
                <a:sym typeface="Symbol" panose="05050102010706020507" pitchFamily="18" charset="2"/>
              </a:rPr>
              <a:t> =SC</a:t>
            </a:r>
            <a:r>
              <a:rPr lang="en-US" altLang="zh-CN" sz="2000" baseline="-25000" err="1">
                <a:latin typeface="Arial" panose="020B0604020202020204" pitchFamily="34" charset="0"/>
                <a:sym typeface="Symbol" panose="05050102010706020507" pitchFamily="18" charset="2"/>
              </a:rPr>
              <a:t>unit</a:t>
            </a:r>
            <a:endParaRPr lang="en-US" altLang="zh-CN" sz="2000" i="0">
              <a:latin typeface="Arial" panose="020B0604020202020204" pitchFamily="34" charset="0"/>
              <a:sym typeface="Symbol" panose="05050102010706020507" pitchFamily="18" charset="2"/>
            </a:endParaRPr>
          </a:p>
          <a:p>
            <a:r>
              <a:rPr lang="en-US" altLang="zh-CN" sz="2000">
                <a:latin typeface="Arial" panose="020B0604020202020204" pitchFamily="34" charset="0"/>
                <a:sym typeface="Symbol" panose="05050102010706020507" pitchFamily="18" charset="2"/>
              </a:rPr>
              <a:t>t</a:t>
            </a:r>
            <a:r>
              <a:rPr lang="en-US" altLang="zh-CN" sz="2000" baseline="-25000">
                <a:latin typeface="Arial" panose="020B0604020202020204" pitchFamily="34" charset="0"/>
                <a:sym typeface="Symbol" panose="05050102010706020507" pitchFamily="18" charset="2"/>
              </a:rPr>
              <a:t>p</a:t>
            </a:r>
            <a:r>
              <a:rPr lang="en-US" altLang="zh-CN" sz="2000" i="0" baseline="-25000">
                <a:latin typeface="Arial" panose="020B0604020202020204" pitchFamily="34" charset="0"/>
                <a:sym typeface="Symbol" panose="05050102010706020507" pitchFamily="18" charset="2"/>
              </a:rPr>
              <a:t>0</a:t>
            </a:r>
            <a:r>
              <a:rPr lang="en-US" altLang="zh-CN" sz="2000" i="0">
                <a:latin typeface="Arial" panose="020B0604020202020204" pitchFamily="34" charset="0"/>
                <a:sym typeface="Symbol" panose="05050102010706020507" pitchFamily="18" charset="2"/>
              </a:rPr>
              <a:t> = 0.69</a:t>
            </a:r>
            <a:r>
              <a:rPr lang="en-US" altLang="zh-CN" sz="2000">
                <a:latin typeface="Arial" panose="020B0604020202020204" pitchFamily="34" charset="0"/>
                <a:sym typeface="Symbol" panose="05050102010706020507" pitchFamily="18" charset="2"/>
              </a:rPr>
              <a:t>R</a:t>
            </a:r>
            <a:r>
              <a:rPr lang="en-US" altLang="zh-CN" sz="2000" baseline="-25000">
                <a:latin typeface="Arial" panose="020B0604020202020204" pitchFamily="34" charset="0"/>
                <a:sym typeface="Symbol" panose="05050102010706020507" pitchFamily="18" charset="2"/>
              </a:rPr>
              <a:t>unit</a:t>
            </a:r>
            <a:r>
              <a:rPr lang="en-US" altLang="zh-CN" sz="2000">
                <a:latin typeface="Arial" panose="020B0604020202020204" pitchFamily="34" charset="0"/>
                <a:sym typeface="Symbol" panose="05050102010706020507" pitchFamily="18" charset="2"/>
              </a:rPr>
              <a:t>C</a:t>
            </a:r>
            <a:r>
              <a:rPr lang="en-US" altLang="zh-CN" sz="2000" baseline="-25000">
                <a:latin typeface="Arial" panose="020B0604020202020204" pitchFamily="34" charset="0"/>
                <a:sym typeface="Symbol" panose="05050102010706020507" pitchFamily="18" charset="2"/>
              </a:rPr>
              <a:t>unit</a:t>
            </a:r>
            <a:endParaRPr lang="en-US" altLang="zh-CN" sz="2000" baseline="-25000">
              <a:latin typeface="Arial" panose="020B0604020202020204" pitchFamily="34" charset="0"/>
              <a:sym typeface="Symbol" panose="05050102010706020507" pitchFamily="18" charset="2"/>
            </a:endParaRPr>
          </a:p>
        </p:txBody>
      </p:sp>
      <p:graphicFrame>
        <p:nvGraphicFramePr>
          <p:cNvPr id="381958" name="对象 381957"/>
          <p:cNvGraphicFramePr/>
          <p:nvPr/>
        </p:nvGraphicFramePr>
        <p:xfrm>
          <a:off x="4524375" y="2767542"/>
          <a:ext cx="93928" cy="178594"/>
        </p:xfrm>
        <a:graphic>
          <a:graphicData uri="http://schemas.openxmlformats.org/presentationml/2006/ole">
            <mc:AlternateContent xmlns:mc="http://schemas.openxmlformats.org/markup-compatibility/2006">
              <mc:Choice xmlns:v="urn:schemas-microsoft-com:vml" Requires="v">
                <p:oleObj spid="_x0000_s3" name="" r:id="rId3" imgW="114300" imgH="215265" progId="Equation.3">
                  <p:embed/>
                </p:oleObj>
              </mc:Choice>
              <mc:Fallback>
                <p:oleObj name="" r:id="rId3" imgW="114300" imgH="215265" progId="Equation.3">
                  <p:embed/>
                  <p:pic>
                    <p:nvPicPr>
                      <p:cNvPr id="0" name="图片 3079"/>
                      <p:cNvPicPr/>
                      <p:nvPr/>
                    </p:nvPicPr>
                    <p:blipFill>
                      <a:blip r:embed="rId4"/>
                      <a:stretch>
                        <a:fillRect/>
                      </a:stretch>
                    </p:blipFill>
                    <p:spPr>
                      <a:xfrm>
                        <a:off x="4524375" y="2767542"/>
                        <a:ext cx="93928" cy="178594"/>
                      </a:xfrm>
                      <a:prstGeom prst="rect">
                        <a:avLst/>
                      </a:prstGeom>
                      <a:noFill/>
                      <a:ln w="38100">
                        <a:noFill/>
                        <a:miter/>
                      </a:ln>
                    </p:spPr>
                  </p:pic>
                </p:oleObj>
              </mc:Fallback>
            </mc:AlternateContent>
          </a:graphicData>
        </a:graphic>
      </p:graphicFrame>
      <p:sp>
        <p:nvSpPr>
          <p:cNvPr id="14" name="文本框 13"/>
          <p:cNvSpPr txBox="1"/>
          <p:nvPr/>
        </p:nvSpPr>
        <p:spPr>
          <a:xfrm>
            <a:off x="5909310" y="3091815"/>
            <a:ext cx="1104900" cy="368300"/>
          </a:xfrm>
          <a:prstGeom prst="rect">
            <a:avLst/>
          </a:prstGeom>
          <a:noFill/>
        </p:spPr>
        <p:txBody>
          <a:bodyPr wrap="square" rtlCol="0" anchor="t">
            <a:spAutoFit/>
          </a:bodyPr>
          <a:lstStyle/>
          <a:p>
            <a:pPr algn="l"/>
            <a:r>
              <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等效扇出</a:t>
            </a:r>
            <a:endParaRPr lang="zh-CN" altLang="en-US">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4" name="直接箭头连接符 3"/>
          <p:cNvCxnSpPr>
            <a:stCxn id="14" idx="0"/>
          </p:cNvCxnSpPr>
          <p:nvPr/>
        </p:nvCxnSpPr>
        <p:spPr>
          <a:xfrm flipV="1">
            <a:off x="6461760" y="2602230"/>
            <a:ext cx="91440" cy="4895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 name="文本框 4"/>
          <p:cNvSpPr txBox="1"/>
          <p:nvPr/>
        </p:nvSpPr>
        <p:spPr>
          <a:xfrm>
            <a:off x="6120765" y="1420495"/>
            <a:ext cx="2475865" cy="398780"/>
          </a:xfrm>
          <a:prstGeom prst="rect">
            <a:avLst/>
          </a:prstGeom>
          <a:noFill/>
        </p:spPr>
        <p:txBody>
          <a:bodyPr wrap="square" rtlCol="0" anchor="t">
            <a:spAutoFit/>
          </a:bodyPr>
          <a:lstStyle/>
          <a:p>
            <a:pPr algn="l"/>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比例</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sym typeface="+mn-ea"/>
              </a:rPr>
              <a:t>系数</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（工艺相关）</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cxnSp>
        <p:nvCxnSpPr>
          <p:cNvPr id="6" name="直接箭头连接符 5"/>
          <p:cNvCxnSpPr>
            <a:stCxn id="5" idx="2"/>
          </p:cNvCxnSpPr>
          <p:nvPr/>
        </p:nvCxnSpPr>
        <p:spPr>
          <a:xfrm flipH="1">
            <a:off x="6904355" y="1819275"/>
            <a:ext cx="454660" cy="6000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727835" y="5093335"/>
            <a:ext cx="5631180" cy="368300"/>
          </a:xfrm>
          <a:prstGeom prst="rect">
            <a:avLst/>
          </a:prstGeom>
          <a:noFill/>
        </p:spPr>
        <p:txBody>
          <a:bodyPr wrap="square" rtlCol="0" anchor="t">
            <a:spAutoFit/>
          </a:bodyPr>
          <a:lstStyle/>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反相器延迟仅取决于外部负载电容与输入电容的比值</a:t>
            </a:r>
            <a:endPar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反相器链</a:t>
            </a:r>
            <a:endParaRPr lang="zh-CN" altLang="en-US">
              <a:sym typeface="+mn-ea"/>
            </a:endParaRPr>
          </a:p>
        </p:txBody>
      </p:sp>
      <p:sp>
        <p:nvSpPr>
          <p:cNvPr id="382979" name="文本框 382978"/>
          <p:cNvSpPr txBox="1"/>
          <p:nvPr/>
        </p:nvSpPr>
        <p:spPr>
          <a:xfrm>
            <a:off x="6751108" y="2018983"/>
            <a:ext cx="576792" cy="321945"/>
          </a:xfrm>
          <a:prstGeom prst="rect">
            <a:avLst/>
          </a:prstGeom>
          <a:noFill/>
          <a:ln w="12700">
            <a:noFill/>
          </a:ln>
        </p:spPr>
        <p:txBody>
          <a:bodyPr>
            <a:spAutoFit/>
          </a:bodyPr>
          <a:lstStyle/>
          <a:p>
            <a:r>
              <a:rPr lang="en-US" altLang="zh-CN" sz="1500">
                <a:latin typeface="Arial" panose="020B0604020202020204" pitchFamily="34" charset="0"/>
              </a:rPr>
              <a:t>C</a:t>
            </a:r>
            <a:r>
              <a:rPr lang="en-US" altLang="zh-CN" sz="1500" baseline="-25000">
                <a:latin typeface="Arial" panose="020B0604020202020204" pitchFamily="34" charset="0"/>
              </a:rPr>
              <a:t>L</a:t>
            </a:r>
            <a:endParaRPr lang="en-US" altLang="zh-CN" sz="1500" baseline="-25000">
              <a:latin typeface="Arial" panose="020B0604020202020204" pitchFamily="34" charset="0"/>
            </a:endParaRPr>
          </a:p>
        </p:txBody>
      </p:sp>
      <p:sp>
        <p:nvSpPr>
          <p:cNvPr id="382980" name="文本框 382979"/>
          <p:cNvSpPr txBox="1"/>
          <p:nvPr/>
        </p:nvSpPr>
        <p:spPr>
          <a:xfrm>
            <a:off x="1692275" y="1259628"/>
            <a:ext cx="341630"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In</a:t>
            </a:r>
            <a:endParaRPr lang="en-US" altLang="zh-CN" sz="1500" i="0">
              <a:latin typeface="Arial" panose="020B0604020202020204" pitchFamily="34" charset="0"/>
            </a:endParaRPr>
          </a:p>
        </p:txBody>
      </p:sp>
      <p:sp>
        <p:nvSpPr>
          <p:cNvPr id="382981" name="文本框 382980"/>
          <p:cNvSpPr txBox="1"/>
          <p:nvPr/>
        </p:nvSpPr>
        <p:spPr>
          <a:xfrm>
            <a:off x="6392598" y="1259628"/>
            <a:ext cx="715698" cy="321945"/>
          </a:xfrm>
          <a:prstGeom prst="rect">
            <a:avLst/>
          </a:prstGeom>
          <a:noFill/>
          <a:ln w="12700">
            <a:noFill/>
          </a:ln>
        </p:spPr>
        <p:txBody>
          <a:bodyPr>
            <a:spAutoFit/>
          </a:bodyPr>
          <a:lstStyle/>
          <a:p>
            <a:r>
              <a:rPr lang="en-US" altLang="zh-CN" sz="1500" i="0">
                <a:latin typeface="Arial" panose="020B0604020202020204" pitchFamily="34" charset="0"/>
              </a:rPr>
              <a:t>Out</a:t>
            </a:r>
            <a:endParaRPr lang="en-US" altLang="zh-CN" sz="1500" i="0">
              <a:latin typeface="Arial" panose="020B0604020202020204" pitchFamily="34" charset="0"/>
            </a:endParaRPr>
          </a:p>
        </p:txBody>
      </p:sp>
      <p:pic>
        <p:nvPicPr>
          <p:cNvPr id="382982" name="图片 382981" descr="InverterChain"/>
          <p:cNvPicPr>
            <a:picLocks noChangeAspect="1"/>
          </p:cNvPicPr>
          <p:nvPr/>
        </p:nvPicPr>
        <p:blipFill>
          <a:blip r:embed="rId1"/>
          <a:stretch>
            <a:fillRect/>
          </a:stretch>
        </p:blipFill>
        <p:spPr>
          <a:xfrm>
            <a:off x="2057400" y="1259628"/>
            <a:ext cx="4693708" cy="1590146"/>
          </a:xfrm>
          <a:prstGeom prst="rect">
            <a:avLst/>
          </a:prstGeom>
          <a:noFill/>
          <a:ln w="9525">
            <a:noFill/>
          </a:ln>
        </p:spPr>
      </p:pic>
      <p:sp>
        <p:nvSpPr>
          <p:cNvPr id="382983" name="文本框 382982"/>
          <p:cNvSpPr txBox="1"/>
          <p:nvPr/>
        </p:nvSpPr>
        <p:spPr>
          <a:xfrm>
            <a:off x="2552171" y="2115556"/>
            <a:ext cx="288925"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1</a:t>
            </a:r>
            <a:endParaRPr lang="en-US" altLang="zh-CN" sz="1500" i="0">
              <a:latin typeface="Arial" panose="020B0604020202020204" pitchFamily="34" charset="0"/>
            </a:endParaRPr>
          </a:p>
        </p:txBody>
      </p:sp>
      <p:sp>
        <p:nvSpPr>
          <p:cNvPr id="382984" name="文本框 382983"/>
          <p:cNvSpPr txBox="1"/>
          <p:nvPr/>
        </p:nvSpPr>
        <p:spPr>
          <a:xfrm>
            <a:off x="3504671" y="2115556"/>
            <a:ext cx="288925"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2</a:t>
            </a:r>
            <a:endParaRPr lang="en-US" altLang="zh-CN" sz="1500" i="0">
              <a:latin typeface="Arial" panose="020B0604020202020204" pitchFamily="34" charset="0"/>
            </a:endParaRPr>
          </a:p>
        </p:txBody>
      </p:sp>
      <p:sp>
        <p:nvSpPr>
          <p:cNvPr id="382985" name="文本框 382984"/>
          <p:cNvSpPr txBox="1"/>
          <p:nvPr/>
        </p:nvSpPr>
        <p:spPr>
          <a:xfrm>
            <a:off x="5473171" y="2115556"/>
            <a:ext cx="320675"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N</a:t>
            </a:r>
            <a:endParaRPr lang="en-US" altLang="zh-CN" sz="1500" i="0">
              <a:latin typeface="Arial" panose="020B0604020202020204" pitchFamily="34" charset="0"/>
            </a:endParaRPr>
          </a:p>
        </p:txBody>
      </p:sp>
      <p:sp>
        <p:nvSpPr>
          <p:cNvPr id="382986" name="文本框 382985"/>
          <p:cNvSpPr txBox="1"/>
          <p:nvPr/>
        </p:nvSpPr>
        <p:spPr>
          <a:xfrm>
            <a:off x="2590271" y="2938198"/>
            <a:ext cx="2478405" cy="398780"/>
          </a:xfrm>
          <a:prstGeom prst="rect">
            <a:avLst/>
          </a:prstGeom>
          <a:noFill/>
          <a:ln w="12700">
            <a:noFill/>
          </a:ln>
        </p:spPr>
        <p:txBody>
          <a:bodyPr wrap="none" anchor="t" anchorCtr="0">
            <a:spAutoFit/>
          </a:bodyPr>
          <a:lstStyle/>
          <a:p>
            <a:r>
              <a:rPr lang="en-US" altLang="zh-CN" sz="2000" err="1">
                <a:latin typeface="Arial" panose="020B0604020202020204" pitchFamily="34" charset="0"/>
                <a:sym typeface="Symbol" panose="05050102010706020507" pitchFamily="18" charset="2"/>
              </a:rPr>
              <a:t>t</a:t>
            </a:r>
            <a:r>
              <a:rPr lang="en-US" altLang="zh-CN" sz="2000" baseline="-25000" err="1">
                <a:latin typeface="Arial" panose="020B0604020202020204" pitchFamily="34" charset="0"/>
                <a:sym typeface="Symbol" panose="05050102010706020507" pitchFamily="18" charset="2"/>
              </a:rPr>
              <a:t>p</a:t>
            </a:r>
            <a:r>
              <a:rPr lang="en-US" altLang="zh-CN" sz="2000" i="0">
                <a:latin typeface="Arial" panose="020B0604020202020204" pitchFamily="34" charset="0"/>
              </a:rPr>
              <a:t> = </a:t>
            </a:r>
            <a:r>
              <a:rPr lang="en-US" altLang="zh-CN" sz="2000">
                <a:latin typeface="Arial" panose="020B0604020202020204" pitchFamily="34" charset="0"/>
                <a:sym typeface="Symbol" panose="05050102010706020507" pitchFamily="18" charset="2"/>
              </a:rPr>
              <a:t>t</a:t>
            </a:r>
            <a:r>
              <a:rPr lang="en-US" altLang="zh-CN" sz="2000" baseline="-25000">
                <a:latin typeface="Arial" panose="020B0604020202020204" pitchFamily="34" charset="0"/>
                <a:sym typeface="Symbol" panose="05050102010706020507" pitchFamily="18" charset="2"/>
              </a:rPr>
              <a:t>p</a:t>
            </a:r>
            <a:r>
              <a:rPr lang="en-US" altLang="zh-CN" sz="2000" i="0" baseline="-25000">
                <a:latin typeface="Arial" panose="020B0604020202020204" pitchFamily="34" charset="0"/>
              </a:rPr>
              <a:t>1</a:t>
            </a:r>
            <a:r>
              <a:rPr lang="en-US" altLang="zh-CN" sz="2000" i="0">
                <a:latin typeface="Arial" panose="020B0604020202020204" pitchFamily="34" charset="0"/>
              </a:rPr>
              <a:t> + </a:t>
            </a:r>
            <a:r>
              <a:rPr lang="en-US" altLang="zh-CN" sz="2000">
                <a:latin typeface="Arial" panose="020B0604020202020204" pitchFamily="34" charset="0"/>
                <a:sym typeface="Symbol" panose="05050102010706020507" pitchFamily="18" charset="2"/>
              </a:rPr>
              <a:t>t</a:t>
            </a:r>
            <a:r>
              <a:rPr lang="en-US" altLang="zh-CN" sz="2000" baseline="-25000">
                <a:latin typeface="Arial" panose="020B0604020202020204" pitchFamily="34" charset="0"/>
                <a:sym typeface="Symbol" panose="05050102010706020507" pitchFamily="18" charset="2"/>
              </a:rPr>
              <a:t>p</a:t>
            </a:r>
            <a:r>
              <a:rPr lang="en-US" altLang="zh-CN" sz="2000" i="0" baseline="-25000">
                <a:latin typeface="Arial" panose="020B0604020202020204" pitchFamily="34" charset="0"/>
              </a:rPr>
              <a:t>2</a:t>
            </a:r>
            <a:r>
              <a:rPr lang="en-US" altLang="zh-CN" sz="2000" i="0">
                <a:latin typeface="Arial" panose="020B0604020202020204" pitchFamily="34" charset="0"/>
              </a:rPr>
              <a:t> + …+ </a:t>
            </a:r>
            <a:r>
              <a:rPr lang="en-US" altLang="zh-CN" sz="2000" err="1">
                <a:latin typeface="Arial" panose="020B0604020202020204" pitchFamily="34" charset="0"/>
                <a:sym typeface="Symbol" panose="05050102010706020507" pitchFamily="18" charset="2"/>
              </a:rPr>
              <a:t>t</a:t>
            </a:r>
            <a:r>
              <a:rPr lang="en-US" altLang="zh-CN" sz="2000" baseline="-25000" err="1">
                <a:latin typeface="Arial" panose="020B0604020202020204" pitchFamily="34" charset="0"/>
                <a:sym typeface="Symbol" panose="05050102010706020507" pitchFamily="18" charset="2"/>
              </a:rPr>
              <a:t>p</a:t>
            </a:r>
            <a:r>
              <a:rPr lang="en-US" altLang="zh-CN" sz="2000" baseline="-25000" err="1">
                <a:latin typeface="Arial" panose="020B0604020202020204" pitchFamily="34" charset="0"/>
              </a:rPr>
              <a:t>N</a:t>
            </a:r>
            <a:endParaRPr lang="en-US" altLang="zh-CN" sz="2000" baseline="-25000" err="1">
              <a:latin typeface="Arial" panose="020B0604020202020204" pitchFamily="34" charset="0"/>
            </a:endParaRPr>
          </a:p>
        </p:txBody>
      </p:sp>
      <p:graphicFrame>
        <p:nvGraphicFramePr>
          <p:cNvPr id="382987" name="对象 382986"/>
          <p:cNvGraphicFramePr/>
          <p:nvPr/>
        </p:nvGraphicFramePr>
        <p:xfrm>
          <a:off x="2653507" y="3538379"/>
          <a:ext cx="2857500" cy="910167"/>
        </p:xfrm>
        <a:graphic>
          <a:graphicData uri="http://schemas.openxmlformats.org/presentationml/2006/ole">
            <mc:AlternateContent xmlns:mc="http://schemas.openxmlformats.org/markup-compatibility/2006">
              <mc:Choice xmlns:v="urn:schemas-microsoft-com:vml" Requires="v">
                <p:oleObj spid="_x0000_s2" name="" r:id="rId2" imgW="1600200" imgH="508000" progId="Equation.3">
                  <p:embed/>
                </p:oleObj>
              </mc:Choice>
              <mc:Fallback>
                <p:oleObj name="" r:id="rId2" imgW="1600200" imgH="508000" progId="Equation.3">
                  <p:embed/>
                  <p:pic>
                    <p:nvPicPr>
                      <p:cNvPr id="0" name="图片 3078"/>
                      <p:cNvPicPr/>
                      <p:nvPr/>
                    </p:nvPicPr>
                    <p:blipFill>
                      <a:blip r:embed="rId3"/>
                      <a:stretch>
                        <a:fillRect/>
                      </a:stretch>
                    </p:blipFill>
                    <p:spPr>
                      <a:xfrm>
                        <a:off x="2653507" y="3538379"/>
                        <a:ext cx="2857500" cy="910167"/>
                      </a:xfrm>
                      <a:prstGeom prst="rect">
                        <a:avLst/>
                      </a:prstGeom>
                      <a:noFill/>
                      <a:ln w="38100">
                        <a:noFill/>
                        <a:miter/>
                      </a:ln>
                    </p:spPr>
                  </p:pic>
                </p:oleObj>
              </mc:Fallback>
            </mc:AlternateContent>
          </a:graphicData>
        </a:graphic>
      </p:graphicFrame>
      <p:graphicFrame>
        <p:nvGraphicFramePr>
          <p:cNvPr id="382988" name="对象 382987"/>
          <p:cNvGraphicFramePr/>
          <p:nvPr/>
        </p:nvGraphicFramePr>
        <p:xfrm>
          <a:off x="1930030" y="4591421"/>
          <a:ext cx="4963583" cy="906198"/>
        </p:xfrm>
        <a:graphic>
          <a:graphicData uri="http://schemas.openxmlformats.org/presentationml/2006/ole">
            <mc:AlternateContent xmlns:mc="http://schemas.openxmlformats.org/markup-compatibility/2006">
              <mc:Choice xmlns:v="urn:schemas-microsoft-com:vml" Requires="v">
                <p:oleObj spid="_x0000_s3" name="" r:id="rId4" imgW="2781300" imgH="508000" progId="Equation.3">
                  <p:embed/>
                </p:oleObj>
              </mc:Choice>
              <mc:Fallback>
                <p:oleObj name="" r:id="rId4" imgW="2781300" imgH="508000" progId="Equation.3">
                  <p:embed/>
                  <p:pic>
                    <p:nvPicPr>
                      <p:cNvPr id="0" name="图片 3083"/>
                      <p:cNvPicPr/>
                      <p:nvPr/>
                    </p:nvPicPr>
                    <p:blipFill>
                      <a:blip r:embed="rId5"/>
                      <a:stretch>
                        <a:fillRect/>
                      </a:stretch>
                    </p:blipFill>
                    <p:spPr>
                      <a:xfrm>
                        <a:off x="1930030" y="4591421"/>
                        <a:ext cx="4963583" cy="906198"/>
                      </a:xfrm>
                      <a:prstGeom prst="rect">
                        <a:avLst/>
                      </a:prstGeom>
                      <a:noFill/>
                      <a:ln w="38100">
                        <a:noFill/>
                        <a:miter/>
                      </a:ln>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反相器链</a:t>
            </a:r>
            <a:endParaRPr lang="zh-CN" altLang="en-US">
              <a:sym typeface="+mn-ea"/>
            </a:endParaRPr>
          </a:p>
        </p:txBody>
      </p:sp>
      <p:graphicFrame>
        <p:nvGraphicFramePr>
          <p:cNvPr id="382988" name="对象 382987"/>
          <p:cNvGraphicFramePr/>
          <p:nvPr/>
        </p:nvGraphicFramePr>
        <p:xfrm>
          <a:off x="2141485" y="1217666"/>
          <a:ext cx="4963583" cy="906198"/>
        </p:xfrm>
        <a:graphic>
          <a:graphicData uri="http://schemas.openxmlformats.org/presentationml/2006/ole">
            <mc:AlternateContent xmlns:mc="http://schemas.openxmlformats.org/markup-compatibility/2006">
              <mc:Choice xmlns:v="urn:schemas-microsoft-com:vml" Requires="v">
                <p:oleObj spid="_x0000_s2" name="" r:id="rId1" imgW="2781300" imgH="508000" progId="Equation.3">
                  <p:embed/>
                </p:oleObj>
              </mc:Choice>
              <mc:Fallback>
                <p:oleObj name="" r:id="rId1" imgW="2781300" imgH="508000" progId="Equation.3">
                  <p:embed/>
                  <p:pic>
                    <p:nvPicPr>
                      <p:cNvPr id="0" name="图片 3083"/>
                      <p:cNvPicPr/>
                      <p:nvPr/>
                    </p:nvPicPr>
                    <p:blipFill>
                      <a:blip r:embed="rId2"/>
                      <a:stretch>
                        <a:fillRect/>
                      </a:stretch>
                    </p:blipFill>
                    <p:spPr>
                      <a:xfrm>
                        <a:off x="2141485" y="1217666"/>
                        <a:ext cx="4963583" cy="906198"/>
                      </a:xfrm>
                      <a:prstGeom prst="rect">
                        <a:avLst/>
                      </a:prstGeom>
                      <a:noFill/>
                      <a:ln w="38100">
                        <a:noFill/>
                        <a:miter/>
                      </a:ln>
                    </p:spPr>
                  </p:pic>
                </p:oleObj>
              </mc:Fallback>
            </mc:AlternateContent>
          </a:graphicData>
        </a:graphic>
      </p:graphicFrame>
      <p:sp>
        <p:nvSpPr>
          <p:cNvPr id="14" name="文本框 13"/>
          <p:cNvSpPr txBox="1"/>
          <p:nvPr/>
        </p:nvSpPr>
        <p:spPr>
          <a:xfrm>
            <a:off x="1744345" y="2406015"/>
            <a:ext cx="2232025" cy="368300"/>
          </a:xfrm>
          <a:prstGeom prst="rect">
            <a:avLst/>
          </a:prstGeom>
          <a:noFill/>
        </p:spPr>
        <p:txBody>
          <a:bodyPr wrap="square" rtlCol="0" anchor="t">
            <a:spAutoFit/>
          </a:bodyPr>
          <a:lstStyle/>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目标：</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min(t</a:t>
            </a:r>
            <a:r>
              <a:rPr lang="en-US" altLang="zh-CN" baseline="-25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 name="文本框 2"/>
          <p:cNvSpPr txBox="1"/>
          <p:nvPr/>
        </p:nvSpPr>
        <p:spPr>
          <a:xfrm>
            <a:off x="1744345" y="3313430"/>
            <a:ext cx="3534410" cy="368300"/>
          </a:xfrm>
          <a:prstGeom prst="rect">
            <a:avLst/>
          </a:prstGeom>
          <a:noFill/>
        </p:spPr>
        <p:txBody>
          <a:bodyPr wrap="none" rtlCol="0" anchor="t">
            <a:spAutoFit/>
          </a:bodyPr>
          <a:lstStyle/>
          <a:p>
            <a:pPr algn="l"/>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解答：</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baseline="-25000">
                <a:latin typeface="微软雅黑" panose="020B0503020204020204" pitchFamily="34" charset="-122"/>
                <a:ea typeface="微软雅黑" panose="020B0503020204020204" pitchFamily="34" charset="-122"/>
                <a:cs typeface="微软雅黑" panose="020B0503020204020204" pitchFamily="34" charset="-122"/>
                <a:sym typeface="+mn-ea"/>
              </a:rPr>
              <a:t>gin,j+1</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baseline="-25000">
                <a:latin typeface="微软雅黑" panose="020B0503020204020204" pitchFamily="34" charset="-122"/>
                <a:ea typeface="微软雅黑" panose="020B0503020204020204" pitchFamily="34" charset="-122"/>
                <a:cs typeface="微软雅黑" panose="020B0503020204020204" pitchFamily="34" charset="-122"/>
                <a:sym typeface="+mn-ea"/>
              </a:rPr>
              <a:t>gin,j</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 C</a:t>
            </a:r>
            <a:r>
              <a:rPr lang="en-US" altLang="zh-CN" baseline="-25000">
                <a:latin typeface="微软雅黑" panose="020B0503020204020204" pitchFamily="34" charset="-122"/>
                <a:ea typeface="微软雅黑" panose="020B0503020204020204" pitchFamily="34" charset="-122"/>
                <a:cs typeface="微软雅黑" panose="020B0503020204020204" pitchFamily="34" charset="-122"/>
                <a:sym typeface="+mn-ea"/>
              </a:rPr>
              <a:t>gin,j</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/C</a:t>
            </a:r>
            <a:r>
              <a:rPr lang="en-US" altLang="zh-CN" baseline="-25000">
                <a:latin typeface="微软雅黑" panose="020B0503020204020204" pitchFamily="34" charset="-122"/>
                <a:ea typeface="微软雅黑" panose="020B0503020204020204" pitchFamily="34" charset="-122"/>
                <a:cs typeface="微软雅黑" panose="020B0503020204020204" pitchFamily="34" charset="-122"/>
                <a:sym typeface="+mn-ea"/>
              </a:rPr>
              <a:t>gin,j-1</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1736725" y="2874645"/>
            <a:ext cx="4393565" cy="368300"/>
          </a:xfrm>
          <a:prstGeom prst="rect">
            <a:avLst/>
          </a:prstGeom>
          <a:noFill/>
        </p:spPr>
        <p:txBody>
          <a:bodyPr wrap="none" rtlCol="0" anchor="t">
            <a:spAutoFit/>
          </a:bodyPr>
          <a:lstStyle/>
          <a:p>
            <a:pPr algn="l"/>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方法：</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N-1</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次偏导都为</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0</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时，求得最小延时</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文本框 4"/>
          <p:cNvSpPr txBox="1"/>
          <p:nvPr/>
        </p:nvSpPr>
        <p:spPr>
          <a:xfrm>
            <a:off x="2414270" y="3823970"/>
            <a:ext cx="4069080" cy="368300"/>
          </a:xfrm>
          <a:prstGeom prst="rect">
            <a:avLst/>
          </a:prstGeom>
          <a:noFill/>
        </p:spPr>
        <p:txBody>
          <a:bodyPr wrap="none" rtlCol="0" anchor="t">
            <a:spAutoFit/>
          </a:bodyPr>
          <a:lstStyle/>
          <a:p>
            <a:pPr algn="l"/>
            <a:r>
              <a:rPr lang="zh-CN" altLang="en-US">
                <a:latin typeface="Arial" panose="020B0604020202020204" pitchFamily="34" charset="0"/>
                <a:sym typeface="+mn-ea"/>
              </a:rPr>
              <a:t>即：中间一级为前后两级的几何平均值</a:t>
            </a:r>
            <a:endParaRPr lang="zh-CN" altLang="en-US">
              <a:latin typeface="Arial" panose="020B0604020202020204" pitchFamily="34" charset="0"/>
              <a:sym typeface="+mn-ea"/>
            </a:endParaRPr>
          </a:p>
        </p:txBody>
      </p:sp>
      <p:graphicFrame>
        <p:nvGraphicFramePr>
          <p:cNvPr id="384004" name="对象 384003"/>
          <p:cNvGraphicFramePr/>
          <p:nvPr/>
        </p:nvGraphicFramePr>
        <p:xfrm>
          <a:off x="3294010" y="4381871"/>
          <a:ext cx="2235729" cy="443177"/>
        </p:xfrm>
        <a:graphic>
          <a:graphicData uri="http://schemas.openxmlformats.org/presentationml/2006/ole">
            <mc:AlternateContent xmlns:mc="http://schemas.openxmlformats.org/markup-compatibility/2006">
              <mc:Choice xmlns:v="urn:schemas-microsoft-com:vml" Requires="v">
                <p:oleObj spid="_x0000_s6" name="" r:id="rId3" imgW="1409700" imgH="279400" progId="Equation.3">
                  <p:embed/>
                </p:oleObj>
              </mc:Choice>
              <mc:Fallback>
                <p:oleObj name="" r:id="rId3" imgW="1409700" imgH="279400" progId="Equation.3">
                  <p:embed/>
                  <p:pic>
                    <p:nvPicPr>
                      <p:cNvPr id="0" name="图片 3080"/>
                      <p:cNvPicPr/>
                      <p:nvPr/>
                    </p:nvPicPr>
                    <p:blipFill>
                      <a:blip r:embed="rId4"/>
                      <a:stretch>
                        <a:fillRect/>
                      </a:stretch>
                    </p:blipFill>
                    <p:spPr>
                      <a:xfrm>
                        <a:off x="3294010" y="4381871"/>
                        <a:ext cx="2235729" cy="443177"/>
                      </a:xfrm>
                      <a:prstGeom prst="rect">
                        <a:avLst/>
                      </a:prstGeom>
                      <a:noFill/>
                      <a:ln w="38100">
                        <a:noFill/>
                        <a:miter/>
                      </a:ln>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反相器链</a:t>
            </a:r>
            <a:endParaRPr lang="zh-CN" altLang="en-US">
              <a:sym typeface="+mn-ea"/>
            </a:endParaRPr>
          </a:p>
        </p:txBody>
      </p:sp>
      <p:sp>
        <p:nvSpPr>
          <p:cNvPr id="3" name="文本框 2"/>
          <p:cNvSpPr txBox="1"/>
          <p:nvPr/>
        </p:nvSpPr>
        <p:spPr>
          <a:xfrm>
            <a:off x="1119505" y="1161415"/>
            <a:ext cx="3234055" cy="368300"/>
          </a:xfrm>
          <a:prstGeom prst="rect">
            <a:avLst/>
          </a:prstGeom>
          <a:noFill/>
        </p:spPr>
        <p:txBody>
          <a:bodyPr wrap="none" rtlCol="0" anchor="t">
            <a:spAutoFit/>
          </a:bodyPr>
          <a:lstStyle/>
          <a:p>
            <a:pPr algn="l"/>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假定器件尺寸放大倍数为</a:t>
            </a:r>
            <a:r>
              <a:rPr lang="en-US" altLang="zh-CN" i="1">
                <a:latin typeface="微软雅黑" panose="020B0503020204020204" pitchFamily="34" charset="-122"/>
                <a:ea typeface="微软雅黑" panose="020B0503020204020204" pitchFamily="34" charset="-122"/>
                <a:cs typeface="微软雅黑" panose="020B0503020204020204" pitchFamily="34" charset="-122"/>
                <a:sym typeface="+mn-ea"/>
              </a:rPr>
              <a:t>f</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，则</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85027" name="对象 385026"/>
          <p:cNvGraphicFramePr/>
          <p:nvPr/>
        </p:nvGraphicFramePr>
        <p:xfrm>
          <a:off x="2926028" y="1835679"/>
          <a:ext cx="2328333" cy="482865"/>
        </p:xfrm>
        <a:graphic>
          <a:graphicData uri="http://schemas.openxmlformats.org/presentationml/2006/ole">
            <mc:AlternateContent xmlns:mc="http://schemas.openxmlformats.org/markup-compatibility/2006">
              <mc:Choice xmlns:v="urn:schemas-microsoft-com:vml" Requires="v">
                <p:oleObj spid="_x0000_s2" name="" r:id="rId1" imgW="1217930" imgH="254000" progId="Equation.3">
                  <p:embed/>
                </p:oleObj>
              </mc:Choice>
              <mc:Fallback>
                <p:oleObj name="" r:id="rId1" imgW="1217930" imgH="254000" progId="Equation.3">
                  <p:embed/>
                  <p:pic>
                    <p:nvPicPr>
                      <p:cNvPr id="0" name="图片 3084"/>
                      <p:cNvPicPr/>
                      <p:nvPr/>
                    </p:nvPicPr>
                    <p:blipFill>
                      <a:blip r:embed="rId2"/>
                      <a:stretch>
                        <a:fillRect/>
                      </a:stretch>
                    </p:blipFill>
                    <p:spPr>
                      <a:xfrm>
                        <a:off x="2926028" y="1835679"/>
                        <a:ext cx="2328333" cy="482865"/>
                      </a:xfrm>
                      <a:prstGeom prst="rect">
                        <a:avLst/>
                      </a:prstGeom>
                      <a:noFill/>
                      <a:ln w="38100">
                        <a:noFill/>
                        <a:miter/>
                      </a:ln>
                    </p:spPr>
                  </p:pic>
                </p:oleObj>
              </mc:Fallback>
            </mc:AlternateContent>
          </a:graphicData>
        </a:graphic>
      </p:graphicFrame>
      <p:sp>
        <p:nvSpPr>
          <p:cNvPr id="5" name="文本框 4"/>
          <p:cNvSpPr txBox="1"/>
          <p:nvPr/>
        </p:nvSpPr>
        <p:spPr>
          <a:xfrm>
            <a:off x="1233805" y="2774315"/>
            <a:ext cx="1244600" cy="368300"/>
          </a:xfrm>
          <a:prstGeom prst="rect">
            <a:avLst/>
          </a:prstGeom>
          <a:noFill/>
        </p:spPr>
        <p:txBody>
          <a:bodyPr wrap="none" rtlCol="0" anchor="t">
            <a:spAutoFit/>
          </a:bodyPr>
          <a:lstStyle/>
          <a:p>
            <a:pPr algn="l"/>
            <a:r>
              <a:rPr lang="en-US" altLang="zh-CN" i="1">
                <a:latin typeface="微软雅黑" panose="020B0503020204020204" pitchFamily="34" charset="-122"/>
                <a:ea typeface="微软雅黑" panose="020B0503020204020204" pitchFamily="34" charset="-122"/>
                <a:cs typeface="微软雅黑" panose="020B0503020204020204" pitchFamily="34" charset="-122"/>
                <a:sym typeface="+mn-ea"/>
              </a:rPr>
              <a:t>f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最优值为</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85029" name="对象 385028"/>
          <p:cNvGraphicFramePr/>
          <p:nvPr/>
        </p:nvGraphicFramePr>
        <p:xfrm>
          <a:off x="3523986" y="3327348"/>
          <a:ext cx="1035843" cy="460375"/>
        </p:xfrm>
        <a:graphic>
          <a:graphicData uri="http://schemas.openxmlformats.org/presentationml/2006/ole">
            <mc:AlternateContent xmlns:mc="http://schemas.openxmlformats.org/markup-compatibility/2006">
              <mc:Choice xmlns:v="urn:schemas-microsoft-com:vml" Requires="v">
                <p:oleObj spid="_x0000_s4" name="" r:id="rId3" imgW="546100" imgH="241300" progId="Equation.3">
                  <p:embed/>
                </p:oleObj>
              </mc:Choice>
              <mc:Fallback>
                <p:oleObj name="" r:id="rId3" imgW="546100" imgH="241300" progId="Equation.3">
                  <p:embed/>
                  <p:pic>
                    <p:nvPicPr>
                      <p:cNvPr id="0" name="图片 3082"/>
                      <p:cNvPicPr/>
                      <p:nvPr/>
                    </p:nvPicPr>
                    <p:blipFill>
                      <a:blip r:embed="rId4"/>
                      <a:stretch>
                        <a:fillRect/>
                      </a:stretch>
                    </p:blipFill>
                    <p:spPr>
                      <a:xfrm>
                        <a:off x="3523986" y="3327348"/>
                        <a:ext cx="1035843" cy="460375"/>
                      </a:xfrm>
                      <a:prstGeom prst="rect">
                        <a:avLst/>
                      </a:prstGeom>
                      <a:noFill/>
                      <a:ln w="38100">
                        <a:noFill/>
                        <a:miter/>
                      </a:ln>
                    </p:spPr>
                  </p:pic>
                </p:oleObj>
              </mc:Fallback>
            </mc:AlternateContent>
          </a:graphicData>
        </a:graphic>
      </p:graphicFrame>
      <p:sp>
        <p:nvSpPr>
          <p:cNvPr id="6" name="文本框 5"/>
          <p:cNvSpPr txBox="1"/>
          <p:nvPr/>
        </p:nvSpPr>
        <p:spPr>
          <a:xfrm>
            <a:off x="1233805" y="4150995"/>
            <a:ext cx="1325880" cy="368300"/>
          </a:xfrm>
          <a:prstGeom prst="rect">
            <a:avLst/>
          </a:prstGeom>
          <a:noFill/>
        </p:spPr>
        <p:txBody>
          <a:bodyPr wrap="none" rtlCol="0" anchor="t">
            <a:spAutoFit/>
          </a:bodyPr>
          <a:lstStyle/>
          <a:p>
            <a:pPr algn="l"/>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最小延时：</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85030" name="对象 385029"/>
          <p:cNvGraphicFramePr/>
          <p:nvPr/>
        </p:nvGraphicFramePr>
        <p:xfrm>
          <a:off x="3077633" y="4677887"/>
          <a:ext cx="2416969" cy="508000"/>
        </p:xfrm>
        <a:graphic>
          <a:graphicData uri="http://schemas.openxmlformats.org/presentationml/2006/ole">
            <mc:AlternateContent xmlns:mc="http://schemas.openxmlformats.org/markup-compatibility/2006">
              <mc:Choice xmlns:v="urn:schemas-microsoft-com:vml" Requires="v">
                <p:oleObj spid="_x0000_s7" name="" r:id="rId5" imgW="1268095" imgH="266065" progId="Equation.3">
                  <p:embed/>
                </p:oleObj>
              </mc:Choice>
              <mc:Fallback>
                <p:oleObj name="" r:id="rId5" imgW="1268095" imgH="266065" progId="Equation.3">
                  <p:embed/>
                  <p:pic>
                    <p:nvPicPr>
                      <p:cNvPr id="0" name="图片 3081"/>
                      <p:cNvPicPr/>
                      <p:nvPr/>
                    </p:nvPicPr>
                    <p:blipFill>
                      <a:blip r:embed="rId6"/>
                      <a:stretch>
                        <a:fillRect/>
                      </a:stretch>
                    </p:blipFill>
                    <p:spPr>
                      <a:xfrm>
                        <a:off x="3077633" y="4677887"/>
                        <a:ext cx="2416969" cy="508000"/>
                      </a:xfrm>
                      <a:prstGeom prst="rect">
                        <a:avLst/>
                      </a:prstGeom>
                      <a:noFill/>
                      <a:ln w="38100">
                        <a:noFill/>
                        <a:miter/>
                      </a:ln>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反相器链</a:t>
            </a:r>
            <a:endParaRPr lang="zh-CN" altLang="en-US">
              <a:sym typeface="+mn-ea"/>
            </a:endParaRPr>
          </a:p>
        </p:txBody>
      </p:sp>
      <p:pic>
        <p:nvPicPr>
          <p:cNvPr id="386051" name="图片 386050" descr="3inverters"/>
          <p:cNvPicPr>
            <a:picLocks noChangeAspect="1"/>
          </p:cNvPicPr>
          <p:nvPr/>
        </p:nvPicPr>
        <p:blipFill>
          <a:blip r:embed="rId1"/>
          <a:stretch>
            <a:fillRect/>
          </a:stretch>
        </p:blipFill>
        <p:spPr>
          <a:xfrm>
            <a:off x="2345426" y="1492250"/>
            <a:ext cx="4140729" cy="1727729"/>
          </a:xfrm>
          <a:prstGeom prst="rect">
            <a:avLst/>
          </a:prstGeom>
          <a:noFill/>
          <a:ln w="9525">
            <a:noFill/>
          </a:ln>
        </p:spPr>
      </p:pic>
      <p:sp>
        <p:nvSpPr>
          <p:cNvPr id="386052" name="文本框 386051"/>
          <p:cNvSpPr txBox="1"/>
          <p:nvPr/>
        </p:nvSpPr>
        <p:spPr>
          <a:xfrm>
            <a:off x="6410748" y="2246313"/>
            <a:ext cx="1338792" cy="321945"/>
          </a:xfrm>
          <a:prstGeom prst="rect">
            <a:avLst/>
          </a:prstGeom>
          <a:noFill/>
          <a:ln w="12700">
            <a:noFill/>
          </a:ln>
        </p:spPr>
        <p:txBody>
          <a:bodyPr>
            <a:spAutoFit/>
          </a:bodyPr>
          <a:lstStyle/>
          <a:p>
            <a:r>
              <a:rPr lang="en-US" altLang="zh-CN" sz="1500">
                <a:latin typeface="Arial" panose="020B0604020202020204" pitchFamily="34" charset="0"/>
              </a:rPr>
              <a:t>C</a:t>
            </a:r>
            <a:r>
              <a:rPr lang="en-US" altLang="zh-CN" sz="1500" baseline="-25000">
                <a:latin typeface="Arial" panose="020B0604020202020204" pitchFamily="34" charset="0"/>
              </a:rPr>
              <a:t>L</a:t>
            </a:r>
            <a:r>
              <a:rPr lang="en-US" altLang="zh-CN" sz="1500">
                <a:latin typeface="Arial" panose="020B0604020202020204" pitchFamily="34" charset="0"/>
              </a:rPr>
              <a:t>= 8 C</a:t>
            </a:r>
            <a:r>
              <a:rPr lang="en-US" altLang="zh-CN" sz="1500" baseline="-25000">
                <a:latin typeface="Arial" panose="020B0604020202020204" pitchFamily="34" charset="0"/>
              </a:rPr>
              <a:t>1</a:t>
            </a:r>
            <a:endParaRPr lang="en-US" altLang="zh-CN" sz="1500" baseline="-25000">
              <a:latin typeface="Arial" panose="020B0604020202020204" pitchFamily="34" charset="0"/>
            </a:endParaRPr>
          </a:p>
        </p:txBody>
      </p:sp>
      <p:sp>
        <p:nvSpPr>
          <p:cNvPr id="386053" name="文本框 386052"/>
          <p:cNvSpPr txBox="1"/>
          <p:nvPr/>
        </p:nvSpPr>
        <p:spPr>
          <a:xfrm>
            <a:off x="2050415" y="1580886"/>
            <a:ext cx="341630"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In</a:t>
            </a:r>
            <a:endParaRPr lang="en-US" altLang="zh-CN" sz="1500" i="0">
              <a:latin typeface="Arial" panose="020B0604020202020204" pitchFamily="34" charset="0"/>
            </a:endParaRPr>
          </a:p>
        </p:txBody>
      </p:sp>
      <p:sp>
        <p:nvSpPr>
          <p:cNvPr id="386054" name="文本框 386053"/>
          <p:cNvSpPr txBox="1"/>
          <p:nvPr/>
        </p:nvSpPr>
        <p:spPr>
          <a:xfrm>
            <a:off x="6271843" y="1677458"/>
            <a:ext cx="715698" cy="321945"/>
          </a:xfrm>
          <a:prstGeom prst="rect">
            <a:avLst/>
          </a:prstGeom>
          <a:noFill/>
          <a:ln w="12700">
            <a:noFill/>
          </a:ln>
        </p:spPr>
        <p:txBody>
          <a:bodyPr>
            <a:spAutoFit/>
          </a:bodyPr>
          <a:lstStyle/>
          <a:p>
            <a:r>
              <a:rPr lang="en-US" altLang="zh-CN" sz="1500" i="0">
                <a:latin typeface="Arial" panose="020B0604020202020204" pitchFamily="34" charset="0"/>
              </a:rPr>
              <a:t>Out</a:t>
            </a:r>
            <a:endParaRPr lang="en-US" altLang="zh-CN" sz="1500" i="0">
              <a:latin typeface="Arial" panose="020B0604020202020204" pitchFamily="34" charset="0"/>
            </a:endParaRPr>
          </a:p>
        </p:txBody>
      </p:sp>
      <p:sp>
        <p:nvSpPr>
          <p:cNvPr id="386055" name="直接连接符 386054"/>
          <p:cNvSpPr/>
          <p:nvPr/>
        </p:nvSpPr>
        <p:spPr>
          <a:xfrm>
            <a:off x="2050415" y="2246313"/>
            <a:ext cx="365125" cy="0"/>
          </a:xfrm>
          <a:prstGeom prst="line">
            <a:avLst/>
          </a:prstGeom>
          <a:ln w="12700" cap="flat" cmpd="sng">
            <a:solidFill>
              <a:schemeClr val="tx1"/>
            </a:solidFill>
            <a:prstDash val="solid"/>
            <a:headEnd type="none" w="med" len="med"/>
            <a:tailEnd type="triangle" w="med" len="med"/>
          </a:ln>
        </p:spPr>
      </p:sp>
      <p:sp>
        <p:nvSpPr>
          <p:cNvPr id="386056" name="直接连接符 386055"/>
          <p:cNvSpPr/>
          <p:nvPr/>
        </p:nvSpPr>
        <p:spPr>
          <a:xfrm flipV="1">
            <a:off x="2050415" y="2246313"/>
            <a:ext cx="0" cy="381000"/>
          </a:xfrm>
          <a:prstGeom prst="line">
            <a:avLst/>
          </a:prstGeom>
          <a:ln w="12700" cap="flat" cmpd="sng">
            <a:solidFill>
              <a:schemeClr val="tx1"/>
            </a:solidFill>
            <a:prstDash val="solid"/>
            <a:headEnd type="none" w="med" len="med"/>
            <a:tailEnd type="none" w="med" len="med"/>
          </a:ln>
        </p:spPr>
      </p:sp>
      <p:sp>
        <p:nvSpPr>
          <p:cNvPr id="386057" name="文本框 386056"/>
          <p:cNvSpPr txBox="1"/>
          <p:nvPr/>
        </p:nvSpPr>
        <p:spPr>
          <a:xfrm>
            <a:off x="2050415" y="2436813"/>
            <a:ext cx="555625" cy="321945"/>
          </a:xfrm>
          <a:prstGeom prst="rect">
            <a:avLst/>
          </a:prstGeom>
          <a:noFill/>
          <a:ln w="12700">
            <a:noFill/>
          </a:ln>
        </p:spPr>
        <p:txBody>
          <a:bodyPr>
            <a:spAutoFit/>
          </a:bodyPr>
          <a:lstStyle/>
          <a:p>
            <a:r>
              <a:rPr lang="en-US" altLang="zh-CN" sz="1500">
                <a:latin typeface="Arial" panose="020B0604020202020204" pitchFamily="34" charset="0"/>
              </a:rPr>
              <a:t>C</a:t>
            </a:r>
            <a:r>
              <a:rPr lang="en-US" altLang="zh-CN" sz="1500" i="0" baseline="-25000">
                <a:latin typeface="Arial" panose="020B0604020202020204" pitchFamily="34" charset="0"/>
              </a:rPr>
              <a:t>1</a:t>
            </a:r>
            <a:endParaRPr lang="en-US" altLang="zh-CN" sz="1500" i="0" baseline="-25000">
              <a:latin typeface="Arial" panose="020B0604020202020204" pitchFamily="34" charset="0"/>
            </a:endParaRPr>
          </a:p>
        </p:txBody>
      </p:sp>
      <p:sp>
        <p:nvSpPr>
          <p:cNvPr id="386058" name="文本框 386057"/>
          <p:cNvSpPr txBox="1"/>
          <p:nvPr/>
        </p:nvSpPr>
        <p:spPr>
          <a:xfrm>
            <a:off x="2783311" y="2342886"/>
            <a:ext cx="288925"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1</a:t>
            </a:r>
            <a:endParaRPr lang="en-US" altLang="zh-CN" sz="1500" i="0">
              <a:latin typeface="Arial" panose="020B0604020202020204" pitchFamily="34" charset="0"/>
            </a:endParaRPr>
          </a:p>
        </p:txBody>
      </p:sp>
      <p:sp>
        <p:nvSpPr>
          <p:cNvPr id="386059" name="文本框 386058"/>
          <p:cNvSpPr txBox="1"/>
          <p:nvPr/>
        </p:nvSpPr>
        <p:spPr>
          <a:xfrm>
            <a:off x="3989811" y="2342886"/>
            <a:ext cx="235585" cy="321945"/>
          </a:xfrm>
          <a:prstGeom prst="rect">
            <a:avLst/>
          </a:prstGeom>
          <a:noFill/>
          <a:ln w="12700">
            <a:noFill/>
          </a:ln>
        </p:spPr>
        <p:txBody>
          <a:bodyPr wrap="none" anchor="t" anchorCtr="0">
            <a:spAutoFit/>
          </a:bodyPr>
          <a:lstStyle/>
          <a:p>
            <a:r>
              <a:rPr lang="en-US" altLang="zh-CN" sz="1500">
                <a:latin typeface="Arial" panose="020B0604020202020204" pitchFamily="34" charset="0"/>
              </a:rPr>
              <a:t>f</a:t>
            </a:r>
            <a:endParaRPr lang="en-US" altLang="zh-CN" sz="1500">
              <a:latin typeface="Arial" panose="020B0604020202020204" pitchFamily="34" charset="0"/>
            </a:endParaRPr>
          </a:p>
        </p:txBody>
      </p:sp>
      <p:sp>
        <p:nvSpPr>
          <p:cNvPr id="386060" name="文本框 386059"/>
          <p:cNvSpPr txBox="1"/>
          <p:nvPr/>
        </p:nvSpPr>
        <p:spPr>
          <a:xfrm>
            <a:off x="5005811" y="2342886"/>
            <a:ext cx="304165" cy="321945"/>
          </a:xfrm>
          <a:prstGeom prst="rect">
            <a:avLst/>
          </a:prstGeom>
          <a:noFill/>
          <a:ln w="12700">
            <a:noFill/>
          </a:ln>
        </p:spPr>
        <p:txBody>
          <a:bodyPr wrap="none" anchor="t" anchorCtr="0">
            <a:spAutoFit/>
          </a:bodyPr>
          <a:lstStyle/>
          <a:p>
            <a:r>
              <a:rPr lang="en-US" altLang="zh-CN" sz="1500">
                <a:latin typeface="Arial" panose="020B0604020202020204" pitchFamily="34" charset="0"/>
              </a:rPr>
              <a:t>f</a:t>
            </a:r>
            <a:r>
              <a:rPr lang="en-US" altLang="zh-CN" sz="1500" i="0" baseline="30000">
                <a:latin typeface="Arial" panose="020B0604020202020204" pitchFamily="34" charset="0"/>
              </a:rPr>
              <a:t>2</a:t>
            </a:r>
            <a:endParaRPr lang="en-US" altLang="zh-CN" sz="1500" i="0" baseline="30000">
              <a:latin typeface="Arial" panose="020B0604020202020204" pitchFamily="34" charset="0"/>
            </a:endParaRPr>
          </a:p>
        </p:txBody>
      </p:sp>
      <p:graphicFrame>
        <p:nvGraphicFramePr>
          <p:cNvPr id="386061" name="对象 386060"/>
          <p:cNvGraphicFramePr/>
          <p:nvPr/>
        </p:nvGraphicFramePr>
        <p:xfrm>
          <a:off x="3429635" y="3785077"/>
          <a:ext cx="1698625" cy="595313"/>
        </p:xfrm>
        <a:graphic>
          <a:graphicData uri="http://schemas.openxmlformats.org/presentationml/2006/ole">
            <mc:AlternateContent xmlns:mc="http://schemas.openxmlformats.org/markup-compatibility/2006">
              <mc:Choice xmlns:v="urn:schemas-microsoft-com:vml" Requires="v">
                <p:oleObj spid="_x0000_s2" name="" r:id="rId2" imgW="723265" imgH="254000" progId="Equation.3">
                  <p:embed/>
                </p:oleObj>
              </mc:Choice>
              <mc:Fallback>
                <p:oleObj name="" r:id="rId2" imgW="723265" imgH="254000" progId="Equation.3">
                  <p:embed/>
                  <p:pic>
                    <p:nvPicPr>
                      <p:cNvPr id="0" name="图片 3085"/>
                      <p:cNvPicPr/>
                      <p:nvPr/>
                    </p:nvPicPr>
                    <p:blipFill>
                      <a:blip r:embed="rId3"/>
                      <a:stretch>
                        <a:fillRect/>
                      </a:stretch>
                    </p:blipFill>
                    <p:spPr>
                      <a:xfrm>
                        <a:off x="3429635" y="3785077"/>
                        <a:ext cx="1698625" cy="595313"/>
                      </a:xfrm>
                      <a:prstGeom prst="rect">
                        <a:avLst/>
                      </a:prstGeom>
                      <a:noFill/>
                      <a:ln w="38100">
                        <a:noFill/>
                        <a:miter/>
                      </a:ln>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反相器链</a:t>
            </a:r>
            <a:endParaRPr lang="zh-CN" altLang="en-US">
              <a:sym typeface="+mn-ea"/>
            </a:endParaRPr>
          </a:p>
        </p:txBody>
      </p:sp>
      <p:sp>
        <p:nvSpPr>
          <p:cNvPr id="3" name="文本框 2"/>
          <p:cNvSpPr txBox="1"/>
          <p:nvPr/>
        </p:nvSpPr>
        <p:spPr>
          <a:xfrm>
            <a:off x="1096645" y="977265"/>
            <a:ext cx="5440680" cy="368300"/>
          </a:xfrm>
          <a:prstGeom prst="rect">
            <a:avLst/>
          </a:prstGeom>
          <a:noFill/>
        </p:spPr>
        <p:txBody>
          <a:bodyPr wrap="none" rtlCol="0" anchor="t">
            <a:spAutoFit/>
          </a:bodyPr>
          <a:lstStyle/>
          <a:p>
            <a:pPr algn="l"/>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对于给定的负载、输入电容，寻找最优的扇出系数？</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387080" name="对象 387079"/>
          <p:cNvGraphicFramePr/>
          <p:nvPr/>
        </p:nvGraphicFramePr>
        <p:xfrm>
          <a:off x="2766272" y="1645073"/>
          <a:ext cx="3611563" cy="673365"/>
        </p:xfrm>
        <a:graphic>
          <a:graphicData uri="http://schemas.openxmlformats.org/presentationml/2006/ole">
            <mc:AlternateContent xmlns:mc="http://schemas.openxmlformats.org/markup-compatibility/2006">
              <mc:Choice xmlns:v="urn:schemas-microsoft-com:vml" Requires="v">
                <p:oleObj spid="_x0000_s2" name="" r:id="rId1" imgW="2247900" imgH="419100" progId="Equation.3">
                  <p:embed/>
                </p:oleObj>
              </mc:Choice>
              <mc:Fallback>
                <p:oleObj name="" r:id="rId1" imgW="2247900" imgH="419100" progId="Equation.3">
                  <p:embed/>
                  <p:pic>
                    <p:nvPicPr>
                      <p:cNvPr id="0" name="图片 3086"/>
                      <p:cNvPicPr/>
                      <p:nvPr/>
                    </p:nvPicPr>
                    <p:blipFill>
                      <a:blip r:embed="rId2"/>
                      <a:stretch>
                        <a:fillRect/>
                      </a:stretch>
                    </p:blipFill>
                    <p:spPr>
                      <a:xfrm>
                        <a:off x="2766272" y="1645073"/>
                        <a:ext cx="3611563" cy="673365"/>
                      </a:xfrm>
                      <a:prstGeom prst="rect">
                        <a:avLst/>
                      </a:prstGeom>
                      <a:noFill/>
                      <a:ln w="38100">
                        <a:noFill/>
                        <a:miter/>
                      </a:ln>
                    </p:spPr>
                  </p:pic>
                </p:oleObj>
              </mc:Fallback>
            </mc:AlternateContent>
          </a:graphicData>
        </a:graphic>
      </p:graphicFrame>
      <p:graphicFrame>
        <p:nvGraphicFramePr>
          <p:cNvPr id="387077" name="对象 387076"/>
          <p:cNvGraphicFramePr/>
          <p:nvPr/>
        </p:nvGraphicFramePr>
        <p:xfrm>
          <a:off x="2185035" y="2562225"/>
          <a:ext cx="5026025" cy="719455"/>
        </p:xfrm>
        <a:graphic>
          <a:graphicData uri="http://schemas.openxmlformats.org/presentationml/2006/ole">
            <mc:AlternateContent xmlns:mc="http://schemas.openxmlformats.org/markup-compatibility/2006">
              <mc:Choice xmlns:v="urn:schemas-microsoft-com:vml" Requires="v">
                <p:oleObj spid="_x0000_s4" name="" r:id="rId3" imgW="2781300" imgH="457200" progId="Equation.3">
                  <p:embed/>
                </p:oleObj>
              </mc:Choice>
              <mc:Fallback>
                <p:oleObj name="" r:id="rId3" imgW="2781300" imgH="457200" progId="Equation.3">
                  <p:embed/>
                  <p:pic>
                    <p:nvPicPr>
                      <p:cNvPr id="0" name="图片 3088"/>
                      <p:cNvPicPr/>
                      <p:nvPr/>
                    </p:nvPicPr>
                    <p:blipFill>
                      <a:blip r:embed="rId4"/>
                      <a:stretch>
                        <a:fillRect/>
                      </a:stretch>
                    </p:blipFill>
                    <p:spPr>
                      <a:xfrm>
                        <a:off x="2185035" y="2562225"/>
                        <a:ext cx="5026025" cy="719455"/>
                      </a:xfrm>
                      <a:prstGeom prst="rect">
                        <a:avLst/>
                      </a:prstGeom>
                      <a:noFill/>
                      <a:ln w="38100">
                        <a:noFill/>
                        <a:miter/>
                      </a:ln>
                    </p:spPr>
                  </p:pic>
                </p:oleObj>
              </mc:Fallback>
            </mc:AlternateContent>
          </a:graphicData>
        </a:graphic>
      </p:graphicFrame>
      <p:graphicFrame>
        <p:nvGraphicFramePr>
          <p:cNvPr id="387078" name="对象 387077"/>
          <p:cNvGraphicFramePr/>
          <p:nvPr/>
        </p:nvGraphicFramePr>
        <p:xfrm>
          <a:off x="2790825" y="3539490"/>
          <a:ext cx="3587115" cy="689610"/>
        </p:xfrm>
        <a:graphic>
          <a:graphicData uri="http://schemas.openxmlformats.org/presentationml/2006/ole">
            <mc:AlternateContent xmlns:mc="http://schemas.openxmlformats.org/markup-compatibility/2006">
              <mc:Choice xmlns:v="urn:schemas-microsoft-com:vml" Requires="v">
                <p:oleObj spid="_x0000_s5" name="" r:id="rId5" imgW="2031365" imgH="444500" progId="Equation.3">
                  <p:embed/>
                </p:oleObj>
              </mc:Choice>
              <mc:Fallback>
                <p:oleObj name="" r:id="rId5" imgW="2031365" imgH="444500" progId="Equation.3">
                  <p:embed/>
                  <p:pic>
                    <p:nvPicPr>
                      <p:cNvPr id="0" name="图片 3090"/>
                      <p:cNvPicPr/>
                      <p:nvPr/>
                    </p:nvPicPr>
                    <p:blipFill>
                      <a:blip r:embed="rId6"/>
                      <a:stretch>
                        <a:fillRect/>
                      </a:stretch>
                    </p:blipFill>
                    <p:spPr>
                      <a:xfrm>
                        <a:off x="2790825" y="3539490"/>
                        <a:ext cx="3587115" cy="689610"/>
                      </a:xfrm>
                      <a:prstGeom prst="rect">
                        <a:avLst/>
                      </a:prstGeom>
                      <a:noFill/>
                      <a:ln w="38100">
                        <a:noFill/>
                        <a:miter/>
                      </a:ln>
                    </p:spPr>
                  </p:pic>
                </p:oleObj>
              </mc:Fallback>
            </mc:AlternateContent>
          </a:graphicData>
        </a:graphic>
      </p:graphicFrame>
      <p:sp>
        <p:nvSpPr>
          <p:cNvPr id="6" name="文本框 5"/>
          <p:cNvSpPr txBox="1"/>
          <p:nvPr/>
        </p:nvSpPr>
        <p:spPr>
          <a:xfrm>
            <a:off x="1270635" y="4688205"/>
            <a:ext cx="3920490" cy="398780"/>
          </a:xfrm>
          <a:prstGeom prst="rect">
            <a:avLst/>
          </a:prstGeom>
          <a:noFill/>
        </p:spPr>
        <p:txBody>
          <a:bodyPr wrap="none" rtlCol="0" anchor="t">
            <a:spAutoFit/>
          </a:bodyPr>
          <a:lstStyle/>
          <a:p>
            <a:pPr algn="l"/>
            <a:r>
              <a:rPr lang="zh-CN" altLang="en-US" sz="2000">
                <a:latin typeface="Arial" panose="020B0604020202020204" pitchFamily="34" charset="0"/>
                <a:sym typeface="+mn-ea"/>
              </a:rPr>
              <a:t>忽略自载，即</a:t>
            </a:r>
            <a:r>
              <a:rPr lang="en-US" altLang="zh-CN" sz="2000">
                <a:latin typeface="Arial" panose="020B0604020202020204" pitchFamily="34" charset="0"/>
                <a:sym typeface="+mn-ea"/>
              </a:rPr>
              <a:t> </a:t>
            </a:r>
            <a:r>
              <a:rPr lang="en-US" altLang="zh-CN" sz="2000">
                <a:latin typeface="Symbol" panose="05050102010706020507" pitchFamily="18" charset="2"/>
                <a:sym typeface="+mn-ea"/>
              </a:rPr>
              <a:t>g</a:t>
            </a:r>
            <a:r>
              <a:rPr lang="en-US" altLang="zh-CN" sz="2000">
                <a:latin typeface="Arial" panose="020B0604020202020204" pitchFamily="34" charset="0"/>
                <a:sym typeface="+mn-ea"/>
              </a:rPr>
              <a:t> = 0, f = e, N</a:t>
            </a:r>
            <a:r>
              <a:rPr lang="en-US" altLang="zh-CN" sz="2000" err="1">
                <a:latin typeface="Arial" panose="020B0604020202020204" pitchFamily="34" charset="0"/>
                <a:sym typeface="+mn-ea"/>
              </a:rPr>
              <a:t> = lnF</a:t>
            </a:r>
            <a:endParaRPr lang="en-US" altLang="zh-CN" sz="2000" err="1">
              <a:latin typeface="Arial" panose="020B0604020202020204" pitchFamily="34" charset="0"/>
              <a:ea typeface="微软雅黑" panose="020B0503020204020204" pitchFamily="34" charset="-122"/>
              <a:sym typeface="+mn-ea"/>
            </a:endParaRPr>
          </a:p>
        </p:txBody>
      </p:sp>
      <p:graphicFrame>
        <p:nvGraphicFramePr>
          <p:cNvPr id="387081" name="对象 387080"/>
          <p:cNvGraphicFramePr/>
          <p:nvPr/>
        </p:nvGraphicFramePr>
        <p:xfrm>
          <a:off x="5667375" y="4660900"/>
          <a:ext cx="2095500" cy="425979"/>
        </p:xfrm>
        <a:graphic>
          <a:graphicData uri="http://schemas.openxmlformats.org/presentationml/2006/ole">
            <mc:AlternateContent xmlns:mc="http://schemas.openxmlformats.org/markup-compatibility/2006">
              <mc:Choice xmlns:v="urn:schemas-microsoft-com:vml" Requires="v">
                <p:oleObj spid="_x0000_s7" name="" r:id="rId7" imgW="1052830" imgH="215900" progId="Equation.3">
                  <p:embed/>
                </p:oleObj>
              </mc:Choice>
              <mc:Fallback>
                <p:oleObj name="" r:id="rId7" imgW="1052830" imgH="215900" progId="Equation.3">
                  <p:embed/>
                  <p:pic>
                    <p:nvPicPr>
                      <p:cNvPr id="0" name="图片 3089"/>
                      <p:cNvPicPr/>
                      <p:nvPr/>
                    </p:nvPicPr>
                    <p:blipFill>
                      <a:blip r:embed="rId8"/>
                      <a:stretch>
                        <a:fillRect/>
                      </a:stretch>
                    </p:blipFill>
                    <p:spPr>
                      <a:xfrm>
                        <a:off x="5667375" y="4660900"/>
                        <a:ext cx="2095500" cy="425979"/>
                      </a:xfrm>
                      <a:prstGeom prst="rect">
                        <a:avLst/>
                      </a:prstGeom>
                      <a:noFill/>
                      <a:ln w="38100">
                        <a:noFill/>
                        <a:miter/>
                      </a:ln>
                    </p:spPr>
                  </p:pic>
                </p:oleObj>
              </mc:Fallback>
            </mc:AlternateContent>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反相器链</a:t>
            </a:r>
            <a:endParaRPr lang="zh-CN" altLang="en-US">
              <a:sym typeface="+mn-ea"/>
            </a:endParaRPr>
          </a:p>
        </p:txBody>
      </p:sp>
      <p:pic>
        <p:nvPicPr>
          <p:cNvPr id="388099" name="图片 388098"/>
          <p:cNvPicPr>
            <a:picLocks noChangeAspect="1"/>
          </p:cNvPicPr>
          <p:nvPr/>
        </p:nvPicPr>
        <p:blipFill>
          <a:blip r:embed="rId1"/>
          <a:srcRect t="5235"/>
          <a:stretch>
            <a:fillRect/>
          </a:stretch>
        </p:blipFill>
        <p:spPr>
          <a:xfrm>
            <a:off x="2769341" y="1450340"/>
            <a:ext cx="4108979" cy="3305969"/>
          </a:xfrm>
          <a:prstGeom prst="rect">
            <a:avLst/>
          </a:prstGeom>
          <a:noFill/>
          <a:ln w="12700">
            <a:noFill/>
          </a:ln>
        </p:spPr>
      </p:pic>
      <p:graphicFrame>
        <p:nvGraphicFramePr>
          <p:cNvPr id="388101" name="对象 388100"/>
          <p:cNvGraphicFramePr/>
          <p:nvPr/>
        </p:nvGraphicFramePr>
        <p:xfrm>
          <a:off x="3685328" y="939377"/>
          <a:ext cx="2095500" cy="425979"/>
        </p:xfrm>
        <a:graphic>
          <a:graphicData uri="http://schemas.openxmlformats.org/presentationml/2006/ole">
            <mc:AlternateContent xmlns:mc="http://schemas.openxmlformats.org/markup-compatibility/2006">
              <mc:Choice xmlns:v="urn:schemas-microsoft-com:vml" Requires="v">
                <p:oleObj spid="_x0000_s2" name="" r:id="rId2" imgW="1052830" imgH="215900" progId="Equation.3">
                  <p:embed/>
                </p:oleObj>
              </mc:Choice>
              <mc:Fallback>
                <p:oleObj name="" r:id="rId2" imgW="1052830" imgH="215900" progId="Equation.3">
                  <p:embed/>
                  <p:pic>
                    <p:nvPicPr>
                      <p:cNvPr id="0" name="图片 3087"/>
                      <p:cNvPicPr/>
                      <p:nvPr/>
                    </p:nvPicPr>
                    <p:blipFill>
                      <a:blip r:embed="rId3"/>
                      <a:stretch>
                        <a:fillRect/>
                      </a:stretch>
                    </p:blipFill>
                    <p:spPr>
                      <a:xfrm>
                        <a:off x="3685328" y="939377"/>
                        <a:ext cx="2095500" cy="425979"/>
                      </a:xfrm>
                      <a:prstGeom prst="rect">
                        <a:avLst/>
                      </a:prstGeom>
                      <a:noFill/>
                      <a:ln w="38100">
                        <a:noFill/>
                        <a:miter/>
                      </a:ln>
                    </p:spPr>
                  </p:pic>
                </p:oleObj>
              </mc:Fallback>
            </mc:AlternateContent>
          </a:graphicData>
        </a:graphic>
      </p:graphicFrame>
      <p:sp>
        <p:nvSpPr>
          <p:cNvPr id="388102" name="文本框 388101"/>
          <p:cNvSpPr txBox="1"/>
          <p:nvPr/>
        </p:nvSpPr>
        <p:spPr>
          <a:xfrm>
            <a:off x="3560763" y="4899078"/>
            <a:ext cx="2344420" cy="398780"/>
          </a:xfrm>
          <a:prstGeom prst="rect">
            <a:avLst/>
          </a:prstGeom>
          <a:noFill/>
          <a:ln w="12700">
            <a:noFill/>
          </a:ln>
        </p:spPr>
        <p:txBody>
          <a:bodyPr wrap="none" anchor="t" anchorCtr="0">
            <a:spAutoFit/>
          </a:bodyPr>
          <a:lstStyle/>
          <a:p>
            <a:pPr algn="l"/>
            <a:r>
              <a:rPr lang="zh-CN" altLang="en-US" sz="2000" i="0">
                <a:solidFill>
                  <a:schemeClr val="tx2"/>
                </a:solidFill>
                <a:latin typeface="Arial" panose="020B0604020202020204" pitchFamily="34" charset="0"/>
              </a:rPr>
              <a:t>当</a:t>
            </a:r>
            <a:r>
              <a:rPr lang="en-US" altLang="zh-CN" sz="2000" i="0">
                <a:solidFill>
                  <a:schemeClr val="tx2"/>
                </a:solidFill>
                <a:latin typeface="Book Antiqua" panose="02040602050305030304" pitchFamily="18" charset="0"/>
              </a:rPr>
              <a:t> </a:t>
            </a:r>
            <a:r>
              <a:rPr lang="en-US" altLang="zh-CN" sz="2000" i="0">
                <a:solidFill>
                  <a:schemeClr val="tx2"/>
                </a:solidFill>
                <a:latin typeface="Symbol" panose="05050102010706020507" pitchFamily="18" charset="2"/>
              </a:rPr>
              <a:t>g</a:t>
            </a:r>
            <a:r>
              <a:rPr lang="en-US" altLang="zh-CN" sz="2000" i="0">
                <a:solidFill>
                  <a:schemeClr val="tx2"/>
                </a:solidFill>
                <a:latin typeface="Arial" panose="020B0604020202020204" pitchFamily="34" charset="0"/>
              </a:rPr>
              <a:t>=1</a:t>
            </a:r>
            <a:r>
              <a:rPr lang="zh-CN" altLang="en-US" sz="2000" i="0">
                <a:solidFill>
                  <a:schemeClr val="tx2"/>
                </a:solidFill>
                <a:latin typeface="Arial" panose="020B0604020202020204" pitchFamily="34" charset="0"/>
              </a:rPr>
              <a:t>时，</a:t>
            </a:r>
            <a:r>
              <a:rPr lang="en-US" altLang="zh-CN" sz="2000" err="1">
                <a:solidFill>
                  <a:schemeClr val="tx2"/>
                </a:solidFill>
                <a:latin typeface="Arial" panose="020B0604020202020204" pitchFamily="34" charset="0"/>
                <a:sym typeface="+mn-ea"/>
              </a:rPr>
              <a:t>f</a:t>
            </a:r>
            <a:r>
              <a:rPr lang="en-US" altLang="zh-CN" sz="2000" baseline="-25000" err="1">
                <a:solidFill>
                  <a:schemeClr val="tx2"/>
                </a:solidFill>
                <a:latin typeface="Arial" panose="020B0604020202020204" pitchFamily="34" charset="0"/>
                <a:sym typeface="+mn-ea"/>
              </a:rPr>
              <a:t>opt</a:t>
            </a:r>
            <a:r>
              <a:rPr lang="en-US" altLang="zh-CN" sz="2000">
                <a:solidFill>
                  <a:schemeClr val="tx2"/>
                </a:solidFill>
                <a:latin typeface="Arial" panose="020B0604020202020204" pitchFamily="34" charset="0"/>
                <a:sym typeface="+mn-ea"/>
              </a:rPr>
              <a:t> = 3.6</a:t>
            </a:r>
            <a:endParaRPr lang="en-US" altLang="zh-CN" sz="2000" i="0">
              <a:solidFill>
                <a:schemeClr val="tx2"/>
              </a:solidFill>
              <a:latin typeface="Arial" panose="020B0604020202020204" pitchFamily="34" charset="0"/>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反相器链</a:t>
            </a:r>
            <a:endParaRPr lang="zh-CN" altLang="en-US">
              <a:sym typeface="+mn-ea"/>
            </a:endParaRPr>
          </a:p>
        </p:txBody>
      </p:sp>
      <p:pic>
        <p:nvPicPr>
          <p:cNvPr id="389123" name="图片 389122"/>
          <p:cNvPicPr>
            <a:picLocks noChangeAspect="1"/>
          </p:cNvPicPr>
          <p:nvPr/>
        </p:nvPicPr>
        <p:blipFill>
          <a:blip r:embed="rId1"/>
          <a:srcRect l="26936"/>
          <a:stretch>
            <a:fillRect/>
          </a:stretch>
        </p:blipFill>
        <p:spPr>
          <a:xfrm>
            <a:off x="946785" y="814705"/>
            <a:ext cx="3576320" cy="2362835"/>
          </a:xfrm>
          <a:prstGeom prst="rect">
            <a:avLst/>
          </a:prstGeom>
          <a:noFill/>
          <a:ln w="12700">
            <a:noFill/>
          </a:ln>
        </p:spPr>
      </p:pic>
      <p:pic>
        <p:nvPicPr>
          <p:cNvPr id="389126" name="图片 389125"/>
          <p:cNvPicPr>
            <a:picLocks noChangeAspect="1"/>
          </p:cNvPicPr>
          <p:nvPr/>
        </p:nvPicPr>
        <p:blipFill>
          <a:blip r:embed="rId2"/>
          <a:stretch>
            <a:fillRect/>
          </a:stretch>
        </p:blipFill>
        <p:spPr>
          <a:xfrm>
            <a:off x="5072433" y="757714"/>
            <a:ext cx="3098271" cy="2469885"/>
          </a:xfrm>
          <a:prstGeom prst="rect">
            <a:avLst/>
          </a:prstGeom>
          <a:noFill/>
          <a:ln w="12700">
            <a:noFill/>
          </a:ln>
        </p:spPr>
      </p:pic>
      <p:sp>
        <p:nvSpPr>
          <p:cNvPr id="2" name="文本框 1"/>
          <p:cNvSpPr txBox="1"/>
          <p:nvPr/>
        </p:nvSpPr>
        <p:spPr>
          <a:xfrm>
            <a:off x="2511425" y="3227705"/>
            <a:ext cx="600710" cy="368300"/>
          </a:xfrm>
          <a:prstGeom prst="rect">
            <a:avLst/>
          </a:prstGeom>
          <a:noFill/>
        </p:spPr>
        <p:txBody>
          <a:bodyPr wrap="none" rtlCol="0" anchor="t">
            <a:spAutoFit/>
          </a:bodyPr>
          <a:lstStyle/>
          <a:p>
            <a:pPr algn="l"/>
            <a:r>
              <a:rPr lang="en-US" altLang="zh-CN">
                <a:solidFill>
                  <a:schemeClr val="tx2"/>
                </a:solidFill>
                <a:latin typeface="Arial" panose="020B0604020202020204" pitchFamily="34" charset="0"/>
                <a:sym typeface="+mn-ea"/>
              </a:rPr>
              <a:t> </a:t>
            </a:r>
            <a:r>
              <a:rPr lang="en-US" altLang="zh-CN">
                <a:solidFill>
                  <a:schemeClr val="tx2"/>
                </a:solidFill>
                <a:latin typeface="Symbol" panose="05050102010706020507" pitchFamily="18" charset="2"/>
                <a:sym typeface="+mn-ea"/>
              </a:rPr>
              <a:t>g</a:t>
            </a:r>
            <a:r>
              <a:rPr lang="en-US" altLang="zh-CN">
                <a:solidFill>
                  <a:schemeClr val="tx2"/>
                </a:solidFill>
                <a:latin typeface="Arial" panose="020B0604020202020204" pitchFamily="34" charset="0"/>
                <a:sym typeface="+mn-ea"/>
              </a:rPr>
              <a:t>=0</a:t>
            </a:r>
            <a:endParaRPr lang="zh-CN" altLang="en-US" dirty="0">
              <a:latin typeface="微软雅黑" panose="020B0503020204020204" pitchFamily="34" charset="-122"/>
              <a:ea typeface="微软雅黑" panose="020B0503020204020204" pitchFamily="34" charset="-122"/>
            </a:endParaRPr>
          </a:p>
        </p:txBody>
      </p:sp>
      <p:sp>
        <p:nvSpPr>
          <p:cNvPr id="3" name="文本框 2"/>
          <p:cNvSpPr txBox="1"/>
          <p:nvPr/>
        </p:nvSpPr>
        <p:spPr>
          <a:xfrm>
            <a:off x="6199505" y="3227705"/>
            <a:ext cx="600710" cy="368300"/>
          </a:xfrm>
          <a:prstGeom prst="rect">
            <a:avLst/>
          </a:prstGeom>
          <a:noFill/>
        </p:spPr>
        <p:txBody>
          <a:bodyPr wrap="none" rtlCol="0" anchor="t">
            <a:spAutoFit/>
          </a:bodyPr>
          <a:lstStyle/>
          <a:p>
            <a:pPr algn="l"/>
            <a:r>
              <a:rPr lang="en-US" altLang="zh-CN">
                <a:solidFill>
                  <a:schemeClr val="tx2"/>
                </a:solidFill>
                <a:latin typeface="Arial" panose="020B0604020202020204" pitchFamily="34" charset="0"/>
                <a:sym typeface="+mn-ea"/>
              </a:rPr>
              <a:t> </a:t>
            </a:r>
            <a:r>
              <a:rPr lang="en-US" altLang="zh-CN">
                <a:solidFill>
                  <a:schemeClr val="tx2"/>
                </a:solidFill>
                <a:latin typeface="Symbol" panose="05050102010706020507" pitchFamily="18" charset="2"/>
                <a:sym typeface="+mn-ea"/>
              </a:rPr>
              <a:t>g</a:t>
            </a:r>
            <a:r>
              <a:rPr lang="en-US" altLang="zh-CN">
                <a:solidFill>
                  <a:schemeClr val="tx2"/>
                </a:solidFill>
                <a:latin typeface="Arial" panose="020B0604020202020204" pitchFamily="34" charset="0"/>
                <a:sym typeface="+mn-ea"/>
              </a:rPr>
              <a:t>=1</a:t>
            </a:r>
            <a:endParaRPr lang="zh-CN" altLang="en-US" dirty="0">
              <a:latin typeface="微软雅黑" panose="020B0503020204020204" pitchFamily="34" charset="-122"/>
              <a:ea typeface="微软雅黑" panose="020B0503020204020204" pitchFamily="34" charset="-122"/>
            </a:endParaRPr>
          </a:p>
        </p:txBody>
      </p:sp>
      <p:graphicFrame>
        <p:nvGraphicFramePr>
          <p:cNvPr id="390149" name="对象 390148"/>
          <p:cNvGraphicFramePr/>
          <p:nvPr/>
        </p:nvGraphicFramePr>
        <p:xfrm>
          <a:off x="3488902" y="3517318"/>
          <a:ext cx="2416969" cy="508000"/>
        </p:xfrm>
        <a:graphic>
          <a:graphicData uri="http://schemas.openxmlformats.org/presentationml/2006/ole">
            <mc:AlternateContent xmlns:mc="http://schemas.openxmlformats.org/markup-compatibility/2006">
              <mc:Choice xmlns:v="urn:schemas-microsoft-com:vml" Requires="v">
                <p:oleObj spid="_x0000_s4" name="" r:id="rId3" imgW="1268095" imgH="266065" progId="Equation.3">
                  <p:embed/>
                </p:oleObj>
              </mc:Choice>
              <mc:Fallback>
                <p:oleObj name="" r:id="rId3" imgW="1268095" imgH="266065" progId="Equation.3">
                  <p:embed/>
                  <p:pic>
                    <p:nvPicPr>
                      <p:cNvPr id="0" name="图片 3091"/>
                      <p:cNvPicPr/>
                      <p:nvPr/>
                    </p:nvPicPr>
                    <p:blipFill>
                      <a:blip r:embed="rId4"/>
                      <a:stretch>
                        <a:fillRect/>
                      </a:stretch>
                    </p:blipFill>
                    <p:spPr>
                      <a:xfrm>
                        <a:off x="3488902" y="3517318"/>
                        <a:ext cx="2416969" cy="508000"/>
                      </a:xfrm>
                      <a:prstGeom prst="rect">
                        <a:avLst/>
                      </a:prstGeom>
                      <a:noFill/>
                      <a:ln w="38100">
                        <a:noFill/>
                        <a:miter/>
                      </a:ln>
                    </p:spPr>
                  </p:pic>
                </p:oleObj>
              </mc:Fallback>
            </mc:AlternateContent>
          </a:graphicData>
        </a:graphic>
      </p:graphicFrame>
      <p:graphicFrame>
        <p:nvGraphicFramePr>
          <p:cNvPr id="5" name="表格 4"/>
          <p:cNvGraphicFramePr/>
          <p:nvPr/>
        </p:nvGraphicFramePr>
        <p:xfrm>
          <a:off x="1435735" y="4104005"/>
          <a:ext cx="6398260" cy="1524000"/>
        </p:xfrm>
        <a:graphic>
          <a:graphicData uri="http://schemas.openxmlformats.org/drawingml/2006/table">
            <a:tbl>
              <a:tblPr firstRow="1" bandRow="1">
                <a:tableStyleId>{F5AB1C69-6EDB-4FF4-983F-18BD219EF322}</a:tableStyleId>
              </a:tblPr>
              <a:tblGrid>
                <a:gridCol w="1599565"/>
                <a:gridCol w="1599565"/>
                <a:gridCol w="1599565"/>
                <a:gridCol w="1599565"/>
              </a:tblGrid>
              <a:tr h="381000">
                <a:tc>
                  <a:txBody>
                    <a:bodyPr/>
                    <a:lstStyle/>
                    <a:p>
                      <a:pPr algn="ctr">
                        <a:buNone/>
                      </a:pPr>
                      <a:r>
                        <a:rPr lang="en-US" altLang="zh-CN"/>
                        <a:t>F</a:t>
                      </a:r>
                      <a:endParaRPr lang="en-US" altLang="zh-CN"/>
                    </a:p>
                  </a:txBody>
                  <a:tcPr/>
                </a:tc>
                <a:tc>
                  <a:txBody>
                    <a:bodyPr/>
                    <a:lstStyle/>
                    <a:p>
                      <a:pPr algn="ctr">
                        <a:buNone/>
                      </a:pPr>
                      <a:r>
                        <a:rPr lang="zh-CN" altLang="en-US"/>
                        <a:t>无缓冲</a:t>
                      </a:r>
                      <a:endParaRPr lang="zh-CN" altLang="en-US"/>
                    </a:p>
                  </a:txBody>
                  <a:tcPr/>
                </a:tc>
                <a:tc>
                  <a:txBody>
                    <a:bodyPr/>
                    <a:lstStyle/>
                    <a:p>
                      <a:pPr algn="ctr">
                        <a:buNone/>
                      </a:pPr>
                      <a:r>
                        <a:rPr lang="zh-CN" altLang="en-US"/>
                        <a:t>两级缓冲</a:t>
                      </a:r>
                      <a:endParaRPr lang="zh-CN" altLang="en-US"/>
                    </a:p>
                  </a:txBody>
                  <a:tcPr/>
                </a:tc>
                <a:tc>
                  <a:txBody>
                    <a:bodyPr/>
                    <a:lstStyle/>
                    <a:p>
                      <a:pPr algn="ctr">
                        <a:buNone/>
                      </a:pPr>
                      <a:r>
                        <a:rPr lang="zh-CN" altLang="en-US"/>
                        <a:t>反相器链</a:t>
                      </a:r>
                      <a:endParaRPr lang="zh-CN" altLang="en-US"/>
                    </a:p>
                  </a:txBody>
                  <a:tcPr/>
                </a:tc>
              </a:tr>
              <a:tr h="381000">
                <a:tc>
                  <a:txBody>
                    <a:bodyPr/>
                    <a:lstStyle/>
                    <a:p>
                      <a:pPr algn="ctr">
                        <a:buNone/>
                      </a:pPr>
                      <a:r>
                        <a:rPr lang="en-US" altLang="zh-CN"/>
                        <a:t>10</a:t>
                      </a:r>
                      <a:endParaRPr lang="en-US" altLang="zh-CN"/>
                    </a:p>
                  </a:txBody>
                  <a:tcPr/>
                </a:tc>
                <a:tc>
                  <a:txBody>
                    <a:bodyPr/>
                    <a:lstStyle/>
                    <a:p>
                      <a:pPr algn="ctr">
                        <a:buNone/>
                      </a:pPr>
                      <a:r>
                        <a:rPr lang="en-US" altLang="zh-CN"/>
                        <a:t>11</a:t>
                      </a:r>
                      <a:endParaRPr lang="en-US" altLang="zh-CN"/>
                    </a:p>
                  </a:txBody>
                  <a:tcPr/>
                </a:tc>
                <a:tc>
                  <a:txBody>
                    <a:bodyPr/>
                    <a:lstStyle/>
                    <a:p>
                      <a:pPr algn="ctr">
                        <a:buNone/>
                      </a:pPr>
                      <a:r>
                        <a:rPr lang="en-US" altLang="zh-CN"/>
                        <a:t>8.3</a:t>
                      </a:r>
                      <a:endParaRPr lang="en-US" altLang="zh-CN"/>
                    </a:p>
                  </a:txBody>
                  <a:tcPr/>
                </a:tc>
                <a:tc>
                  <a:txBody>
                    <a:bodyPr/>
                    <a:lstStyle/>
                    <a:p>
                      <a:pPr algn="ctr">
                        <a:buNone/>
                      </a:pPr>
                      <a:r>
                        <a:rPr lang="en-US" altLang="zh-CN"/>
                        <a:t>8.3</a:t>
                      </a:r>
                      <a:endParaRPr lang="en-US" altLang="zh-CN"/>
                    </a:p>
                  </a:txBody>
                  <a:tcPr/>
                </a:tc>
              </a:tr>
              <a:tr h="381000">
                <a:tc>
                  <a:txBody>
                    <a:bodyPr/>
                    <a:lstStyle/>
                    <a:p>
                      <a:pPr algn="ctr">
                        <a:buNone/>
                      </a:pPr>
                      <a:r>
                        <a:rPr lang="en-US" altLang="zh-CN"/>
                        <a:t>100</a:t>
                      </a:r>
                      <a:endParaRPr lang="en-US" altLang="zh-CN"/>
                    </a:p>
                  </a:txBody>
                  <a:tcPr/>
                </a:tc>
                <a:tc>
                  <a:txBody>
                    <a:bodyPr/>
                    <a:lstStyle/>
                    <a:p>
                      <a:pPr algn="ctr">
                        <a:buNone/>
                      </a:pPr>
                      <a:r>
                        <a:rPr lang="en-US" altLang="zh-CN"/>
                        <a:t>101</a:t>
                      </a:r>
                      <a:endParaRPr lang="en-US" altLang="zh-CN"/>
                    </a:p>
                  </a:txBody>
                  <a:tcPr/>
                </a:tc>
                <a:tc>
                  <a:txBody>
                    <a:bodyPr/>
                    <a:lstStyle/>
                    <a:p>
                      <a:pPr algn="ctr">
                        <a:buNone/>
                      </a:pPr>
                      <a:r>
                        <a:rPr lang="en-US" altLang="zh-CN"/>
                        <a:t>22</a:t>
                      </a:r>
                      <a:endParaRPr lang="en-US" altLang="zh-CN"/>
                    </a:p>
                  </a:txBody>
                  <a:tcPr/>
                </a:tc>
                <a:tc>
                  <a:txBody>
                    <a:bodyPr/>
                    <a:lstStyle/>
                    <a:p>
                      <a:pPr algn="ctr">
                        <a:buNone/>
                      </a:pPr>
                      <a:r>
                        <a:rPr lang="en-US" altLang="zh-CN"/>
                        <a:t>16.5</a:t>
                      </a:r>
                      <a:endParaRPr lang="en-US" altLang="zh-CN"/>
                    </a:p>
                  </a:txBody>
                  <a:tcPr/>
                </a:tc>
              </a:tr>
              <a:tr h="381000">
                <a:tc>
                  <a:txBody>
                    <a:bodyPr/>
                    <a:lstStyle/>
                    <a:p>
                      <a:pPr algn="ctr">
                        <a:buNone/>
                      </a:pPr>
                      <a:r>
                        <a:rPr lang="en-US" altLang="zh-CN"/>
                        <a:t>1000</a:t>
                      </a:r>
                      <a:endParaRPr lang="en-US" altLang="zh-CN"/>
                    </a:p>
                  </a:txBody>
                  <a:tcPr/>
                </a:tc>
                <a:tc>
                  <a:txBody>
                    <a:bodyPr/>
                    <a:lstStyle/>
                    <a:p>
                      <a:pPr algn="ctr">
                        <a:buNone/>
                      </a:pPr>
                      <a:r>
                        <a:rPr lang="en-US" altLang="zh-CN"/>
                        <a:t>1001</a:t>
                      </a:r>
                      <a:endParaRPr lang="en-US" altLang="zh-CN"/>
                    </a:p>
                  </a:txBody>
                  <a:tcPr/>
                </a:tc>
                <a:tc>
                  <a:txBody>
                    <a:bodyPr/>
                    <a:lstStyle/>
                    <a:p>
                      <a:pPr algn="ctr">
                        <a:buNone/>
                      </a:pPr>
                      <a:r>
                        <a:rPr lang="en-US" altLang="zh-CN"/>
                        <a:t>65</a:t>
                      </a:r>
                      <a:endParaRPr lang="en-US" altLang="zh-CN"/>
                    </a:p>
                  </a:txBody>
                  <a:tcPr/>
                </a:tc>
                <a:tc>
                  <a:txBody>
                    <a:bodyPr/>
                    <a:lstStyle/>
                    <a:p>
                      <a:pPr algn="ctr">
                        <a:buNone/>
                      </a:pPr>
                      <a:r>
                        <a:rPr lang="en-US" altLang="zh-CN"/>
                        <a:t>24.8</a:t>
                      </a:r>
                      <a:endParaRPr lang="en-US" altLang="zh-CN"/>
                    </a:p>
                  </a:txBody>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反相器链</a:t>
            </a:r>
            <a:endParaRPr lang="zh-CN" altLang="en-US">
              <a:sym typeface="+mn-ea"/>
            </a:endParaRPr>
          </a:p>
        </p:txBody>
      </p:sp>
      <p:pic>
        <p:nvPicPr>
          <p:cNvPr id="391171" name="图片 391170"/>
          <p:cNvPicPr>
            <a:picLocks noChangeAspect="1"/>
          </p:cNvPicPr>
          <p:nvPr/>
        </p:nvPicPr>
        <p:blipFill>
          <a:blip r:embed="rId1"/>
          <a:stretch>
            <a:fillRect/>
          </a:stretch>
        </p:blipFill>
        <p:spPr>
          <a:xfrm>
            <a:off x="1478280" y="1334823"/>
            <a:ext cx="816240" cy="703792"/>
          </a:xfrm>
          <a:prstGeom prst="rect">
            <a:avLst/>
          </a:prstGeom>
          <a:noFill/>
          <a:ln w="12700">
            <a:noFill/>
          </a:ln>
        </p:spPr>
      </p:pic>
      <p:sp>
        <p:nvSpPr>
          <p:cNvPr id="391172" name="直接连接符 391171"/>
          <p:cNvSpPr/>
          <p:nvPr/>
        </p:nvSpPr>
        <p:spPr>
          <a:xfrm>
            <a:off x="4867593" y="1768740"/>
            <a:ext cx="448469" cy="0"/>
          </a:xfrm>
          <a:prstGeom prst="line">
            <a:avLst/>
          </a:prstGeom>
          <a:ln w="28575" cap="flat" cmpd="sng">
            <a:solidFill>
              <a:schemeClr val="tx1"/>
            </a:solidFill>
            <a:prstDash val="solid"/>
            <a:headEnd type="none" w="med" len="med"/>
            <a:tailEnd type="none" w="med" len="med"/>
          </a:ln>
        </p:spPr>
      </p:sp>
      <p:sp>
        <p:nvSpPr>
          <p:cNvPr id="391173" name="直接连接符 391172"/>
          <p:cNvSpPr/>
          <p:nvPr/>
        </p:nvSpPr>
        <p:spPr>
          <a:xfrm>
            <a:off x="4867593" y="1836208"/>
            <a:ext cx="448469" cy="0"/>
          </a:xfrm>
          <a:prstGeom prst="line">
            <a:avLst/>
          </a:prstGeom>
          <a:ln w="28575" cap="flat" cmpd="sng">
            <a:solidFill>
              <a:schemeClr val="tx1"/>
            </a:solidFill>
            <a:prstDash val="solid"/>
            <a:headEnd type="none" w="med" len="med"/>
            <a:tailEnd type="none" w="med" len="med"/>
          </a:ln>
        </p:spPr>
      </p:sp>
      <p:sp>
        <p:nvSpPr>
          <p:cNvPr id="391174" name="直接连接符 391173"/>
          <p:cNvSpPr/>
          <p:nvPr/>
        </p:nvSpPr>
        <p:spPr>
          <a:xfrm>
            <a:off x="5039572" y="1932782"/>
            <a:ext cx="108479" cy="0"/>
          </a:xfrm>
          <a:prstGeom prst="line">
            <a:avLst/>
          </a:prstGeom>
          <a:ln w="28575" cap="flat" cmpd="sng">
            <a:solidFill>
              <a:schemeClr val="tx1"/>
            </a:solidFill>
            <a:prstDash val="solid"/>
            <a:headEnd type="none" w="med" len="med"/>
            <a:tailEnd type="none" w="med" len="med"/>
          </a:ln>
        </p:spPr>
      </p:sp>
      <p:sp>
        <p:nvSpPr>
          <p:cNvPr id="391175" name="直接连接符 391174"/>
          <p:cNvSpPr/>
          <p:nvPr/>
        </p:nvSpPr>
        <p:spPr>
          <a:xfrm>
            <a:off x="2208530" y="1645708"/>
            <a:ext cx="2883958" cy="0"/>
          </a:xfrm>
          <a:prstGeom prst="line">
            <a:avLst/>
          </a:prstGeom>
          <a:ln w="19050" cap="flat" cmpd="sng">
            <a:solidFill>
              <a:schemeClr val="tx1"/>
            </a:solidFill>
            <a:prstDash val="solid"/>
            <a:headEnd type="none" w="med" len="med"/>
            <a:tailEnd type="none" w="med" len="med"/>
          </a:ln>
        </p:spPr>
      </p:sp>
      <p:sp>
        <p:nvSpPr>
          <p:cNvPr id="391176" name="直接连接符 391175"/>
          <p:cNvSpPr/>
          <p:nvPr/>
        </p:nvSpPr>
        <p:spPr>
          <a:xfrm>
            <a:off x="5092488" y="1645708"/>
            <a:ext cx="0" cy="109803"/>
          </a:xfrm>
          <a:prstGeom prst="line">
            <a:avLst/>
          </a:prstGeom>
          <a:ln w="19050" cap="flat" cmpd="sng">
            <a:solidFill>
              <a:schemeClr val="tx1"/>
            </a:solidFill>
            <a:prstDash val="solid"/>
            <a:headEnd type="none" w="med" len="med"/>
            <a:tailEnd type="none" w="med" len="med"/>
          </a:ln>
        </p:spPr>
      </p:sp>
      <p:sp>
        <p:nvSpPr>
          <p:cNvPr id="391177" name="直接连接符 391176"/>
          <p:cNvSpPr/>
          <p:nvPr/>
        </p:nvSpPr>
        <p:spPr>
          <a:xfrm>
            <a:off x="5092488" y="1836208"/>
            <a:ext cx="0" cy="96573"/>
          </a:xfrm>
          <a:prstGeom prst="line">
            <a:avLst/>
          </a:prstGeom>
          <a:ln w="19050" cap="flat" cmpd="sng">
            <a:solidFill>
              <a:schemeClr val="tx1"/>
            </a:solidFill>
            <a:prstDash val="solid"/>
            <a:headEnd type="none" w="med" len="med"/>
            <a:tailEnd type="none" w="med" len="med"/>
          </a:ln>
        </p:spPr>
      </p:sp>
      <p:sp>
        <p:nvSpPr>
          <p:cNvPr id="391178" name="直接连接符 391177"/>
          <p:cNvSpPr/>
          <p:nvPr/>
        </p:nvSpPr>
        <p:spPr>
          <a:xfrm>
            <a:off x="1478280" y="1645708"/>
            <a:ext cx="174625" cy="0"/>
          </a:xfrm>
          <a:prstGeom prst="line">
            <a:avLst/>
          </a:prstGeom>
          <a:ln w="19050" cap="flat" cmpd="sng">
            <a:solidFill>
              <a:schemeClr val="tx1"/>
            </a:solidFill>
            <a:prstDash val="solid"/>
            <a:headEnd type="none" w="med" len="med"/>
            <a:tailEnd type="none" w="med" len="med"/>
          </a:ln>
        </p:spPr>
      </p:sp>
      <p:pic>
        <p:nvPicPr>
          <p:cNvPr id="391179" name="图片 391178"/>
          <p:cNvPicPr>
            <a:picLocks noChangeAspect="1"/>
          </p:cNvPicPr>
          <p:nvPr/>
        </p:nvPicPr>
        <p:blipFill>
          <a:blip r:embed="rId1"/>
          <a:stretch>
            <a:fillRect/>
          </a:stretch>
        </p:blipFill>
        <p:spPr>
          <a:xfrm>
            <a:off x="1478280" y="2252928"/>
            <a:ext cx="816240" cy="703792"/>
          </a:xfrm>
          <a:prstGeom prst="rect">
            <a:avLst/>
          </a:prstGeom>
          <a:noFill/>
          <a:ln w="12700">
            <a:noFill/>
          </a:ln>
        </p:spPr>
      </p:pic>
      <p:pic>
        <p:nvPicPr>
          <p:cNvPr id="391180" name="图片 391179"/>
          <p:cNvPicPr>
            <a:picLocks noChangeAspect="1"/>
          </p:cNvPicPr>
          <p:nvPr/>
        </p:nvPicPr>
        <p:blipFill>
          <a:blip r:embed="rId1"/>
          <a:stretch>
            <a:fillRect/>
          </a:stretch>
        </p:blipFill>
        <p:spPr>
          <a:xfrm>
            <a:off x="1478280" y="3221303"/>
            <a:ext cx="816240" cy="703792"/>
          </a:xfrm>
          <a:prstGeom prst="rect">
            <a:avLst/>
          </a:prstGeom>
          <a:noFill/>
          <a:ln w="12700">
            <a:noFill/>
          </a:ln>
        </p:spPr>
      </p:pic>
      <p:pic>
        <p:nvPicPr>
          <p:cNvPr id="391181" name="图片 391180"/>
          <p:cNvPicPr>
            <a:picLocks noChangeAspect="1"/>
          </p:cNvPicPr>
          <p:nvPr/>
        </p:nvPicPr>
        <p:blipFill>
          <a:blip r:embed="rId1"/>
          <a:stretch>
            <a:fillRect/>
          </a:stretch>
        </p:blipFill>
        <p:spPr>
          <a:xfrm>
            <a:off x="1454468" y="4213490"/>
            <a:ext cx="816240" cy="703792"/>
          </a:xfrm>
          <a:prstGeom prst="rect">
            <a:avLst/>
          </a:prstGeom>
          <a:noFill/>
          <a:ln w="12700">
            <a:noFill/>
          </a:ln>
        </p:spPr>
      </p:pic>
      <p:pic>
        <p:nvPicPr>
          <p:cNvPr id="391182" name="图片 391181"/>
          <p:cNvPicPr>
            <a:picLocks noChangeAspect="1"/>
          </p:cNvPicPr>
          <p:nvPr/>
        </p:nvPicPr>
        <p:blipFill>
          <a:blip r:embed="rId1"/>
          <a:stretch>
            <a:fillRect/>
          </a:stretch>
        </p:blipFill>
        <p:spPr>
          <a:xfrm>
            <a:off x="2294520" y="2252928"/>
            <a:ext cx="816239" cy="703792"/>
          </a:xfrm>
          <a:prstGeom prst="rect">
            <a:avLst/>
          </a:prstGeom>
          <a:noFill/>
          <a:ln w="12700">
            <a:noFill/>
          </a:ln>
        </p:spPr>
      </p:pic>
      <p:pic>
        <p:nvPicPr>
          <p:cNvPr id="391183" name="图片 391182"/>
          <p:cNvPicPr>
            <a:picLocks noChangeAspect="1"/>
          </p:cNvPicPr>
          <p:nvPr/>
        </p:nvPicPr>
        <p:blipFill>
          <a:blip r:embed="rId1"/>
          <a:stretch>
            <a:fillRect/>
          </a:stretch>
        </p:blipFill>
        <p:spPr>
          <a:xfrm>
            <a:off x="2294520" y="3221303"/>
            <a:ext cx="816239" cy="703792"/>
          </a:xfrm>
          <a:prstGeom prst="rect">
            <a:avLst/>
          </a:prstGeom>
          <a:noFill/>
          <a:ln w="12700">
            <a:noFill/>
          </a:ln>
        </p:spPr>
      </p:pic>
      <p:pic>
        <p:nvPicPr>
          <p:cNvPr id="391184" name="图片 391183"/>
          <p:cNvPicPr>
            <a:picLocks noChangeAspect="1"/>
          </p:cNvPicPr>
          <p:nvPr/>
        </p:nvPicPr>
        <p:blipFill>
          <a:blip r:embed="rId1"/>
          <a:stretch>
            <a:fillRect/>
          </a:stretch>
        </p:blipFill>
        <p:spPr>
          <a:xfrm>
            <a:off x="2294520" y="4189678"/>
            <a:ext cx="816239" cy="703792"/>
          </a:xfrm>
          <a:prstGeom prst="rect">
            <a:avLst/>
          </a:prstGeom>
          <a:noFill/>
          <a:ln w="12700">
            <a:noFill/>
          </a:ln>
        </p:spPr>
      </p:pic>
      <p:pic>
        <p:nvPicPr>
          <p:cNvPr id="391185" name="图片 391184"/>
          <p:cNvPicPr>
            <a:picLocks noChangeAspect="1"/>
          </p:cNvPicPr>
          <p:nvPr/>
        </p:nvPicPr>
        <p:blipFill>
          <a:blip r:embed="rId1"/>
          <a:stretch>
            <a:fillRect/>
          </a:stretch>
        </p:blipFill>
        <p:spPr>
          <a:xfrm>
            <a:off x="3110759" y="3221303"/>
            <a:ext cx="816240" cy="703792"/>
          </a:xfrm>
          <a:prstGeom prst="rect">
            <a:avLst/>
          </a:prstGeom>
          <a:noFill/>
          <a:ln w="12700">
            <a:noFill/>
          </a:ln>
        </p:spPr>
      </p:pic>
      <p:pic>
        <p:nvPicPr>
          <p:cNvPr id="391186" name="图片 391185"/>
          <p:cNvPicPr>
            <a:picLocks noChangeAspect="1"/>
          </p:cNvPicPr>
          <p:nvPr/>
        </p:nvPicPr>
        <p:blipFill>
          <a:blip r:embed="rId1"/>
          <a:stretch>
            <a:fillRect/>
          </a:stretch>
        </p:blipFill>
        <p:spPr>
          <a:xfrm>
            <a:off x="3110759" y="4189678"/>
            <a:ext cx="816240" cy="703792"/>
          </a:xfrm>
          <a:prstGeom prst="rect">
            <a:avLst/>
          </a:prstGeom>
          <a:noFill/>
          <a:ln w="12700">
            <a:noFill/>
          </a:ln>
        </p:spPr>
      </p:pic>
      <p:pic>
        <p:nvPicPr>
          <p:cNvPr id="391187" name="图片 391186"/>
          <p:cNvPicPr>
            <a:picLocks noChangeAspect="1"/>
          </p:cNvPicPr>
          <p:nvPr/>
        </p:nvPicPr>
        <p:blipFill>
          <a:blip r:embed="rId1"/>
          <a:stretch>
            <a:fillRect/>
          </a:stretch>
        </p:blipFill>
        <p:spPr>
          <a:xfrm>
            <a:off x="3926999" y="4189678"/>
            <a:ext cx="816239" cy="703792"/>
          </a:xfrm>
          <a:prstGeom prst="rect">
            <a:avLst/>
          </a:prstGeom>
          <a:noFill/>
          <a:ln w="12700">
            <a:noFill/>
          </a:ln>
        </p:spPr>
      </p:pic>
      <p:sp>
        <p:nvSpPr>
          <p:cNvPr id="391188" name="直接连接符 391187"/>
          <p:cNvSpPr/>
          <p:nvPr/>
        </p:nvSpPr>
        <p:spPr>
          <a:xfrm>
            <a:off x="4867593" y="2665678"/>
            <a:ext cx="448469" cy="0"/>
          </a:xfrm>
          <a:prstGeom prst="line">
            <a:avLst/>
          </a:prstGeom>
          <a:ln w="28575" cap="flat" cmpd="sng">
            <a:solidFill>
              <a:schemeClr val="tx1"/>
            </a:solidFill>
            <a:prstDash val="solid"/>
            <a:headEnd type="none" w="med" len="med"/>
            <a:tailEnd type="none" w="med" len="med"/>
          </a:ln>
        </p:spPr>
      </p:sp>
      <p:sp>
        <p:nvSpPr>
          <p:cNvPr id="391189" name="直接连接符 391188"/>
          <p:cNvSpPr/>
          <p:nvPr/>
        </p:nvSpPr>
        <p:spPr>
          <a:xfrm>
            <a:off x="4867593" y="2733146"/>
            <a:ext cx="448469" cy="0"/>
          </a:xfrm>
          <a:prstGeom prst="line">
            <a:avLst/>
          </a:prstGeom>
          <a:ln w="28575" cap="flat" cmpd="sng">
            <a:solidFill>
              <a:schemeClr val="tx1"/>
            </a:solidFill>
            <a:prstDash val="solid"/>
            <a:headEnd type="none" w="med" len="med"/>
            <a:tailEnd type="none" w="med" len="med"/>
          </a:ln>
        </p:spPr>
      </p:sp>
      <p:sp>
        <p:nvSpPr>
          <p:cNvPr id="391190" name="直接连接符 391189"/>
          <p:cNvSpPr/>
          <p:nvPr/>
        </p:nvSpPr>
        <p:spPr>
          <a:xfrm>
            <a:off x="5039572" y="2829719"/>
            <a:ext cx="108479" cy="0"/>
          </a:xfrm>
          <a:prstGeom prst="line">
            <a:avLst/>
          </a:prstGeom>
          <a:ln w="28575" cap="flat" cmpd="sng">
            <a:solidFill>
              <a:schemeClr val="tx1"/>
            </a:solidFill>
            <a:prstDash val="solid"/>
            <a:headEnd type="none" w="med" len="med"/>
            <a:tailEnd type="none" w="med" len="med"/>
          </a:ln>
        </p:spPr>
      </p:sp>
      <p:sp>
        <p:nvSpPr>
          <p:cNvPr id="391191" name="直接连接符 391190"/>
          <p:cNvSpPr/>
          <p:nvPr/>
        </p:nvSpPr>
        <p:spPr>
          <a:xfrm>
            <a:off x="3039322" y="2558521"/>
            <a:ext cx="2061104" cy="0"/>
          </a:xfrm>
          <a:prstGeom prst="line">
            <a:avLst/>
          </a:prstGeom>
          <a:ln w="19050" cap="flat" cmpd="sng">
            <a:solidFill>
              <a:schemeClr val="tx1"/>
            </a:solidFill>
            <a:prstDash val="solid"/>
            <a:headEnd type="none" w="med" len="med"/>
            <a:tailEnd type="none" w="med" len="med"/>
          </a:ln>
        </p:spPr>
      </p:sp>
      <p:sp>
        <p:nvSpPr>
          <p:cNvPr id="391192" name="直接连接符 391191"/>
          <p:cNvSpPr/>
          <p:nvPr/>
        </p:nvSpPr>
        <p:spPr>
          <a:xfrm>
            <a:off x="5092488" y="2574396"/>
            <a:ext cx="0" cy="78053"/>
          </a:xfrm>
          <a:prstGeom prst="line">
            <a:avLst/>
          </a:prstGeom>
          <a:ln w="19050" cap="flat" cmpd="sng">
            <a:solidFill>
              <a:schemeClr val="tx1"/>
            </a:solidFill>
            <a:prstDash val="solid"/>
            <a:headEnd type="none" w="med" len="med"/>
            <a:tailEnd type="none" w="med" len="med"/>
          </a:ln>
        </p:spPr>
      </p:sp>
      <p:sp>
        <p:nvSpPr>
          <p:cNvPr id="391193" name="直接连接符 391192"/>
          <p:cNvSpPr/>
          <p:nvPr/>
        </p:nvSpPr>
        <p:spPr>
          <a:xfrm>
            <a:off x="5092488" y="2733146"/>
            <a:ext cx="0" cy="96573"/>
          </a:xfrm>
          <a:prstGeom prst="line">
            <a:avLst/>
          </a:prstGeom>
          <a:ln w="19050" cap="flat" cmpd="sng">
            <a:solidFill>
              <a:schemeClr val="tx1"/>
            </a:solidFill>
            <a:prstDash val="solid"/>
            <a:headEnd type="none" w="med" len="med"/>
            <a:tailEnd type="none" w="med" len="med"/>
          </a:ln>
        </p:spPr>
      </p:sp>
      <p:sp>
        <p:nvSpPr>
          <p:cNvPr id="391194" name="直接连接符 391193"/>
          <p:cNvSpPr/>
          <p:nvPr/>
        </p:nvSpPr>
        <p:spPr>
          <a:xfrm>
            <a:off x="4867593" y="3672417"/>
            <a:ext cx="448469" cy="0"/>
          </a:xfrm>
          <a:prstGeom prst="line">
            <a:avLst/>
          </a:prstGeom>
          <a:ln w="28575" cap="flat" cmpd="sng">
            <a:solidFill>
              <a:schemeClr val="tx1"/>
            </a:solidFill>
            <a:prstDash val="solid"/>
            <a:headEnd type="none" w="med" len="med"/>
            <a:tailEnd type="none" w="med" len="med"/>
          </a:ln>
        </p:spPr>
      </p:sp>
      <p:sp>
        <p:nvSpPr>
          <p:cNvPr id="391195" name="直接连接符 391194"/>
          <p:cNvSpPr/>
          <p:nvPr/>
        </p:nvSpPr>
        <p:spPr>
          <a:xfrm>
            <a:off x="4867593" y="3739886"/>
            <a:ext cx="448469" cy="0"/>
          </a:xfrm>
          <a:prstGeom prst="line">
            <a:avLst/>
          </a:prstGeom>
          <a:ln w="28575" cap="flat" cmpd="sng">
            <a:solidFill>
              <a:schemeClr val="tx1"/>
            </a:solidFill>
            <a:prstDash val="solid"/>
            <a:headEnd type="none" w="med" len="med"/>
            <a:tailEnd type="none" w="med" len="med"/>
          </a:ln>
        </p:spPr>
      </p:sp>
      <p:sp>
        <p:nvSpPr>
          <p:cNvPr id="391196" name="直接连接符 391195"/>
          <p:cNvSpPr/>
          <p:nvPr/>
        </p:nvSpPr>
        <p:spPr>
          <a:xfrm>
            <a:off x="5039572" y="3836458"/>
            <a:ext cx="108479" cy="0"/>
          </a:xfrm>
          <a:prstGeom prst="line">
            <a:avLst/>
          </a:prstGeom>
          <a:ln w="28575" cap="flat" cmpd="sng">
            <a:solidFill>
              <a:schemeClr val="tx1"/>
            </a:solidFill>
            <a:prstDash val="solid"/>
            <a:headEnd type="none" w="med" len="med"/>
            <a:tailEnd type="none" w="med" len="med"/>
          </a:ln>
        </p:spPr>
      </p:sp>
      <p:sp>
        <p:nvSpPr>
          <p:cNvPr id="391197" name="直接连接符 391196"/>
          <p:cNvSpPr/>
          <p:nvPr/>
        </p:nvSpPr>
        <p:spPr>
          <a:xfrm flipV="1">
            <a:off x="3859530" y="3525573"/>
            <a:ext cx="1232958" cy="0"/>
          </a:xfrm>
          <a:prstGeom prst="line">
            <a:avLst/>
          </a:prstGeom>
          <a:ln w="19050" cap="flat" cmpd="sng">
            <a:solidFill>
              <a:schemeClr val="tx1"/>
            </a:solidFill>
            <a:prstDash val="solid"/>
            <a:headEnd type="none" w="med" len="med"/>
            <a:tailEnd type="none" w="med" len="med"/>
          </a:ln>
        </p:spPr>
      </p:sp>
      <p:sp>
        <p:nvSpPr>
          <p:cNvPr id="391198" name="直接连接符 391197"/>
          <p:cNvSpPr/>
          <p:nvPr/>
        </p:nvSpPr>
        <p:spPr>
          <a:xfrm>
            <a:off x="5092488" y="3525573"/>
            <a:ext cx="0" cy="133614"/>
          </a:xfrm>
          <a:prstGeom prst="line">
            <a:avLst/>
          </a:prstGeom>
          <a:ln w="19050" cap="flat" cmpd="sng">
            <a:solidFill>
              <a:schemeClr val="tx1"/>
            </a:solidFill>
            <a:prstDash val="solid"/>
            <a:headEnd type="none" w="med" len="med"/>
            <a:tailEnd type="none" w="med" len="med"/>
          </a:ln>
        </p:spPr>
      </p:sp>
      <p:sp>
        <p:nvSpPr>
          <p:cNvPr id="391199" name="直接连接符 391198"/>
          <p:cNvSpPr/>
          <p:nvPr/>
        </p:nvSpPr>
        <p:spPr>
          <a:xfrm>
            <a:off x="5092488" y="3739886"/>
            <a:ext cx="0" cy="96573"/>
          </a:xfrm>
          <a:prstGeom prst="line">
            <a:avLst/>
          </a:prstGeom>
          <a:ln w="19050" cap="flat" cmpd="sng">
            <a:solidFill>
              <a:schemeClr val="tx1"/>
            </a:solidFill>
            <a:prstDash val="solid"/>
            <a:headEnd type="none" w="med" len="med"/>
            <a:tailEnd type="none" w="med" len="med"/>
          </a:ln>
        </p:spPr>
      </p:sp>
      <p:sp>
        <p:nvSpPr>
          <p:cNvPr id="391200" name="直接连接符 391199"/>
          <p:cNvSpPr/>
          <p:nvPr/>
        </p:nvSpPr>
        <p:spPr>
          <a:xfrm>
            <a:off x="4867593" y="4583907"/>
            <a:ext cx="448469" cy="0"/>
          </a:xfrm>
          <a:prstGeom prst="line">
            <a:avLst/>
          </a:prstGeom>
          <a:ln w="28575" cap="flat" cmpd="sng">
            <a:solidFill>
              <a:schemeClr val="tx1"/>
            </a:solidFill>
            <a:prstDash val="solid"/>
            <a:headEnd type="none" w="med" len="med"/>
            <a:tailEnd type="none" w="med" len="med"/>
          </a:ln>
        </p:spPr>
      </p:sp>
      <p:sp>
        <p:nvSpPr>
          <p:cNvPr id="391201" name="直接连接符 391200"/>
          <p:cNvSpPr/>
          <p:nvPr/>
        </p:nvSpPr>
        <p:spPr>
          <a:xfrm>
            <a:off x="4867593" y="4651375"/>
            <a:ext cx="448469" cy="0"/>
          </a:xfrm>
          <a:prstGeom prst="line">
            <a:avLst/>
          </a:prstGeom>
          <a:ln w="28575" cap="flat" cmpd="sng">
            <a:solidFill>
              <a:schemeClr val="tx1"/>
            </a:solidFill>
            <a:prstDash val="solid"/>
            <a:headEnd type="none" w="med" len="med"/>
            <a:tailEnd type="none" w="med" len="med"/>
          </a:ln>
        </p:spPr>
      </p:sp>
      <p:sp>
        <p:nvSpPr>
          <p:cNvPr id="391202" name="直接连接符 391201"/>
          <p:cNvSpPr/>
          <p:nvPr/>
        </p:nvSpPr>
        <p:spPr>
          <a:xfrm>
            <a:off x="5039572" y="4747948"/>
            <a:ext cx="108479" cy="0"/>
          </a:xfrm>
          <a:prstGeom prst="line">
            <a:avLst/>
          </a:prstGeom>
          <a:ln w="28575" cap="flat" cmpd="sng">
            <a:solidFill>
              <a:schemeClr val="tx1"/>
            </a:solidFill>
            <a:prstDash val="solid"/>
            <a:headEnd type="none" w="med" len="med"/>
            <a:tailEnd type="none" w="med" len="med"/>
          </a:ln>
        </p:spPr>
      </p:sp>
      <p:sp>
        <p:nvSpPr>
          <p:cNvPr id="391203" name="直接连接符 391202"/>
          <p:cNvSpPr/>
          <p:nvPr/>
        </p:nvSpPr>
        <p:spPr>
          <a:xfrm>
            <a:off x="4669155" y="4484688"/>
            <a:ext cx="423333" cy="0"/>
          </a:xfrm>
          <a:prstGeom prst="line">
            <a:avLst/>
          </a:prstGeom>
          <a:ln w="19050" cap="flat" cmpd="sng">
            <a:solidFill>
              <a:schemeClr val="tx1"/>
            </a:solidFill>
            <a:prstDash val="solid"/>
            <a:headEnd type="none" w="med" len="med"/>
            <a:tailEnd type="none" w="med" len="med"/>
          </a:ln>
        </p:spPr>
      </p:sp>
      <p:sp>
        <p:nvSpPr>
          <p:cNvPr id="391204" name="直接连接符 391203"/>
          <p:cNvSpPr/>
          <p:nvPr/>
        </p:nvSpPr>
        <p:spPr>
          <a:xfrm>
            <a:off x="5092488" y="4492625"/>
            <a:ext cx="0" cy="78053"/>
          </a:xfrm>
          <a:prstGeom prst="line">
            <a:avLst/>
          </a:prstGeom>
          <a:ln w="19050" cap="flat" cmpd="sng">
            <a:solidFill>
              <a:schemeClr val="tx1"/>
            </a:solidFill>
            <a:prstDash val="solid"/>
            <a:headEnd type="none" w="med" len="med"/>
            <a:tailEnd type="none" w="med" len="med"/>
          </a:ln>
        </p:spPr>
      </p:sp>
      <p:sp>
        <p:nvSpPr>
          <p:cNvPr id="391205" name="直接连接符 391204"/>
          <p:cNvSpPr/>
          <p:nvPr/>
        </p:nvSpPr>
        <p:spPr>
          <a:xfrm>
            <a:off x="5092488" y="4651375"/>
            <a:ext cx="0" cy="96573"/>
          </a:xfrm>
          <a:prstGeom prst="line">
            <a:avLst/>
          </a:prstGeom>
          <a:ln w="19050" cap="flat" cmpd="sng">
            <a:solidFill>
              <a:schemeClr val="tx1"/>
            </a:solidFill>
            <a:prstDash val="solid"/>
            <a:headEnd type="none" w="med" len="med"/>
            <a:tailEnd type="none" w="med" len="med"/>
          </a:ln>
        </p:spPr>
      </p:sp>
      <p:sp>
        <p:nvSpPr>
          <p:cNvPr id="391206" name="直接连接符 391205"/>
          <p:cNvSpPr/>
          <p:nvPr/>
        </p:nvSpPr>
        <p:spPr>
          <a:xfrm flipV="1">
            <a:off x="3851593" y="4503208"/>
            <a:ext cx="261938" cy="0"/>
          </a:xfrm>
          <a:prstGeom prst="line">
            <a:avLst/>
          </a:prstGeom>
          <a:ln w="19050" cap="flat" cmpd="sng">
            <a:solidFill>
              <a:schemeClr val="tx1"/>
            </a:solidFill>
            <a:prstDash val="solid"/>
            <a:headEnd type="none" w="med" len="med"/>
            <a:tailEnd type="none" w="med" len="med"/>
          </a:ln>
        </p:spPr>
      </p:sp>
      <p:sp>
        <p:nvSpPr>
          <p:cNvPr id="391207" name="直接连接符 391206"/>
          <p:cNvSpPr/>
          <p:nvPr/>
        </p:nvSpPr>
        <p:spPr>
          <a:xfrm flipV="1">
            <a:off x="3018155" y="4503208"/>
            <a:ext cx="261938" cy="0"/>
          </a:xfrm>
          <a:prstGeom prst="line">
            <a:avLst/>
          </a:prstGeom>
          <a:ln w="19050" cap="flat" cmpd="sng">
            <a:solidFill>
              <a:schemeClr val="tx1"/>
            </a:solidFill>
            <a:prstDash val="solid"/>
            <a:headEnd type="none" w="med" len="med"/>
            <a:tailEnd type="none" w="med" len="med"/>
          </a:ln>
        </p:spPr>
      </p:sp>
      <p:sp>
        <p:nvSpPr>
          <p:cNvPr id="391208" name="直接连接符 391207"/>
          <p:cNvSpPr/>
          <p:nvPr/>
        </p:nvSpPr>
        <p:spPr>
          <a:xfrm flipV="1">
            <a:off x="2184718" y="4503208"/>
            <a:ext cx="261938" cy="0"/>
          </a:xfrm>
          <a:prstGeom prst="line">
            <a:avLst/>
          </a:prstGeom>
          <a:ln w="19050" cap="flat" cmpd="sng">
            <a:solidFill>
              <a:schemeClr val="tx1"/>
            </a:solidFill>
            <a:prstDash val="solid"/>
            <a:headEnd type="none" w="med" len="med"/>
            <a:tailEnd type="none" w="med" len="med"/>
          </a:ln>
        </p:spPr>
      </p:sp>
      <p:sp>
        <p:nvSpPr>
          <p:cNvPr id="391209" name="直接连接符 391208"/>
          <p:cNvSpPr/>
          <p:nvPr/>
        </p:nvSpPr>
        <p:spPr>
          <a:xfrm flipV="1">
            <a:off x="2200593" y="3534833"/>
            <a:ext cx="261938" cy="0"/>
          </a:xfrm>
          <a:prstGeom prst="line">
            <a:avLst/>
          </a:prstGeom>
          <a:ln w="19050" cap="flat" cmpd="sng">
            <a:solidFill>
              <a:schemeClr val="tx1"/>
            </a:solidFill>
            <a:prstDash val="solid"/>
            <a:headEnd type="none" w="med" len="med"/>
            <a:tailEnd type="none" w="med" len="med"/>
          </a:ln>
        </p:spPr>
      </p:sp>
      <p:sp>
        <p:nvSpPr>
          <p:cNvPr id="391210" name="直接连接符 391209"/>
          <p:cNvSpPr/>
          <p:nvPr/>
        </p:nvSpPr>
        <p:spPr>
          <a:xfrm flipV="1">
            <a:off x="3018155" y="3526896"/>
            <a:ext cx="261938" cy="0"/>
          </a:xfrm>
          <a:prstGeom prst="line">
            <a:avLst/>
          </a:prstGeom>
          <a:ln w="19050" cap="flat" cmpd="sng">
            <a:solidFill>
              <a:schemeClr val="tx1"/>
            </a:solidFill>
            <a:prstDash val="solid"/>
            <a:headEnd type="none" w="med" len="med"/>
            <a:tailEnd type="none" w="med" len="med"/>
          </a:ln>
        </p:spPr>
      </p:sp>
      <p:sp>
        <p:nvSpPr>
          <p:cNvPr id="391211" name="直接连接符 391210"/>
          <p:cNvSpPr/>
          <p:nvPr/>
        </p:nvSpPr>
        <p:spPr>
          <a:xfrm flipV="1">
            <a:off x="2224405" y="2558521"/>
            <a:ext cx="261938" cy="0"/>
          </a:xfrm>
          <a:prstGeom prst="line">
            <a:avLst/>
          </a:prstGeom>
          <a:ln w="19050" cap="flat" cmpd="sng">
            <a:solidFill>
              <a:schemeClr val="tx1"/>
            </a:solidFill>
            <a:prstDash val="solid"/>
            <a:headEnd type="none" w="med" len="med"/>
            <a:tailEnd type="none" w="med" len="med"/>
          </a:ln>
        </p:spPr>
      </p:sp>
      <p:sp>
        <p:nvSpPr>
          <p:cNvPr id="391212" name="直接连接符 391211"/>
          <p:cNvSpPr/>
          <p:nvPr/>
        </p:nvSpPr>
        <p:spPr>
          <a:xfrm>
            <a:off x="1494155" y="2590271"/>
            <a:ext cx="174625" cy="0"/>
          </a:xfrm>
          <a:prstGeom prst="line">
            <a:avLst/>
          </a:prstGeom>
          <a:ln w="19050" cap="flat" cmpd="sng">
            <a:solidFill>
              <a:schemeClr val="tx1"/>
            </a:solidFill>
            <a:prstDash val="solid"/>
            <a:headEnd type="none" w="med" len="med"/>
            <a:tailEnd type="none" w="med" len="med"/>
          </a:ln>
        </p:spPr>
      </p:sp>
      <p:sp>
        <p:nvSpPr>
          <p:cNvPr id="391213" name="直接连接符 391212"/>
          <p:cNvSpPr/>
          <p:nvPr/>
        </p:nvSpPr>
        <p:spPr>
          <a:xfrm>
            <a:off x="1502093" y="3534833"/>
            <a:ext cx="174625" cy="0"/>
          </a:xfrm>
          <a:prstGeom prst="line">
            <a:avLst/>
          </a:prstGeom>
          <a:ln w="19050" cap="flat" cmpd="sng">
            <a:solidFill>
              <a:schemeClr val="tx1"/>
            </a:solidFill>
            <a:prstDash val="solid"/>
            <a:headEnd type="none" w="med" len="med"/>
            <a:tailEnd type="none" w="med" len="med"/>
          </a:ln>
        </p:spPr>
      </p:sp>
      <p:sp>
        <p:nvSpPr>
          <p:cNvPr id="391214" name="直接连接符 391213"/>
          <p:cNvSpPr/>
          <p:nvPr/>
        </p:nvSpPr>
        <p:spPr>
          <a:xfrm>
            <a:off x="1470343" y="4511146"/>
            <a:ext cx="174625" cy="0"/>
          </a:xfrm>
          <a:prstGeom prst="line">
            <a:avLst/>
          </a:prstGeom>
          <a:ln w="19050" cap="flat" cmpd="sng">
            <a:solidFill>
              <a:schemeClr val="tx1"/>
            </a:solidFill>
            <a:prstDash val="solid"/>
            <a:headEnd type="none" w="med" len="med"/>
            <a:tailEnd type="none" w="med" len="med"/>
          </a:ln>
        </p:spPr>
      </p:sp>
      <p:sp>
        <p:nvSpPr>
          <p:cNvPr id="391215" name="文本框 391214"/>
          <p:cNvSpPr txBox="1"/>
          <p:nvPr/>
        </p:nvSpPr>
        <p:spPr>
          <a:xfrm>
            <a:off x="1393613" y="1628511"/>
            <a:ext cx="288925"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1</a:t>
            </a:r>
            <a:endParaRPr lang="en-US" altLang="zh-CN" sz="1500" i="0">
              <a:latin typeface="Arial" panose="020B0604020202020204" pitchFamily="34" charset="0"/>
            </a:endParaRPr>
          </a:p>
        </p:txBody>
      </p:sp>
      <p:sp>
        <p:nvSpPr>
          <p:cNvPr id="391216" name="文本框 391215"/>
          <p:cNvSpPr txBox="1"/>
          <p:nvPr/>
        </p:nvSpPr>
        <p:spPr>
          <a:xfrm>
            <a:off x="1361863" y="2549261"/>
            <a:ext cx="288925"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1</a:t>
            </a:r>
            <a:endParaRPr lang="en-US" altLang="zh-CN" sz="1500" i="0">
              <a:latin typeface="Arial" panose="020B0604020202020204" pitchFamily="34" charset="0"/>
            </a:endParaRPr>
          </a:p>
        </p:txBody>
      </p:sp>
      <p:sp>
        <p:nvSpPr>
          <p:cNvPr id="391217" name="文本框 391216"/>
          <p:cNvSpPr txBox="1"/>
          <p:nvPr/>
        </p:nvSpPr>
        <p:spPr>
          <a:xfrm>
            <a:off x="1361863" y="3517636"/>
            <a:ext cx="288925"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1</a:t>
            </a:r>
            <a:endParaRPr lang="en-US" altLang="zh-CN" sz="1500" i="0">
              <a:latin typeface="Arial" panose="020B0604020202020204" pitchFamily="34" charset="0"/>
            </a:endParaRPr>
          </a:p>
        </p:txBody>
      </p:sp>
      <p:sp>
        <p:nvSpPr>
          <p:cNvPr id="391218" name="文本框 391217"/>
          <p:cNvSpPr txBox="1"/>
          <p:nvPr/>
        </p:nvSpPr>
        <p:spPr>
          <a:xfrm>
            <a:off x="1338051" y="4486011"/>
            <a:ext cx="288925"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1</a:t>
            </a:r>
            <a:endParaRPr lang="en-US" altLang="zh-CN" sz="1500" i="0">
              <a:latin typeface="Arial" panose="020B0604020202020204" pitchFamily="34" charset="0"/>
            </a:endParaRPr>
          </a:p>
        </p:txBody>
      </p:sp>
      <p:sp>
        <p:nvSpPr>
          <p:cNvPr id="391219" name="文本框 391218"/>
          <p:cNvSpPr txBox="1"/>
          <p:nvPr/>
        </p:nvSpPr>
        <p:spPr>
          <a:xfrm>
            <a:off x="2211176" y="2557198"/>
            <a:ext cx="288925"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8</a:t>
            </a:r>
            <a:endParaRPr lang="en-US" altLang="zh-CN" sz="1500" i="0">
              <a:latin typeface="Arial" panose="020B0604020202020204" pitchFamily="34" charset="0"/>
            </a:endParaRPr>
          </a:p>
        </p:txBody>
      </p:sp>
      <p:sp>
        <p:nvSpPr>
          <p:cNvPr id="391220" name="文本框 391219"/>
          <p:cNvSpPr txBox="1"/>
          <p:nvPr/>
        </p:nvSpPr>
        <p:spPr>
          <a:xfrm>
            <a:off x="4536863" y="1699948"/>
            <a:ext cx="394970"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64</a:t>
            </a:r>
            <a:endParaRPr lang="en-US" altLang="zh-CN" sz="1500" i="0">
              <a:latin typeface="Arial" panose="020B0604020202020204" pitchFamily="34" charset="0"/>
            </a:endParaRPr>
          </a:p>
        </p:txBody>
      </p:sp>
      <p:sp>
        <p:nvSpPr>
          <p:cNvPr id="391221" name="文本框 391220"/>
          <p:cNvSpPr txBox="1"/>
          <p:nvPr/>
        </p:nvSpPr>
        <p:spPr>
          <a:xfrm>
            <a:off x="4505113" y="2588948"/>
            <a:ext cx="394970"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64</a:t>
            </a:r>
            <a:endParaRPr lang="en-US" altLang="zh-CN" sz="1500" i="0">
              <a:latin typeface="Arial" panose="020B0604020202020204" pitchFamily="34" charset="0"/>
            </a:endParaRPr>
          </a:p>
        </p:txBody>
      </p:sp>
      <p:sp>
        <p:nvSpPr>
          <p:cNvPr id="391222" name="文本框 391221"/>
          <p:cNvSpPr txBox="1"/>
          <p:nvPr/>
        </p:nvSpPr>
        <p:spPr>
          <a:xfrm>
            <a:off x="4489238" y="3573198"/>
            <a:ext cx="394970"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64</a:t>
            </a:r>
            <a:endParaRPr lang="en-US" altLang="zh-CN" sz="1500" i="0">
              <a:latin typeface="Arial" panose="020B0604020202020204" pitchFamily="34" charset="0"/>
            </a:endParaRPr>
          </a:p>
        </p:txBody>
      </p:sp>
      <p:sp>
        <p:nvSpPr>
          <p:cNvPr id="391223" name="文本框 391222"/>
          <p:cNvSpPr txBox="1"/>
          <p:nvPr/>
        </p:nvSpPr>
        <p:spPr>
          <a:xfrm>
            <a:off x="4544801" y="4533636"/>
            <a:ext cx="394970"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64</a:t>
            </a:r>
            <a:endParaRPr lang="en-US" altLang="zh-CN" sz="1500" i="0">
              <a:latin typeface="Arial" panose="020B0604020202020204" pitchFamily="34" charset="0"/>
            </a:endParaRPr>
          </a:p>
        </p:txBody>
      </p:sp>
      <p:sp>
        <p:nvSpPr>
          <p:cNvPr id="391224" name="文本框 391223"/>
          <p:cNvSpPr txBox="1"/>
          <p:nvPr/>
        </p:nvSpPr>
        <p:spPr>
          <a:xfrm>
            <a:off x="2211176" y="3557323"/>
            <a:ext cx="288925"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4</a:t>
            </a:r>
            <a:endParaRPr lang="en-US" altLang="zh-CN" sz="1500" i="0">
              <a:latin typeface="Arial" panose="020B0604020202020204" pitchFamily="34" charset="0"/>
            </a:endParaRPr>
          </a:p>
        </p:txBody>
      </p:sp>
      <p:sp>
        <p:nvSpPr>
          <p:cNvPr id="391225" name="文本框 391224"/>
          <p:cNvSpPr txBox="1"/>
          <p:nvPr/>
        </p:nvSpPr>
        <p:spPr>
          <a:xfrm>
            <a:off x="2100051" y="4644761"/>
            <a:ext cx="447675"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2.8</a:t>
            </a:r>
            <a:endParaRPr lang="en-US" altLang="zh-CN" sz="1500" i="0">
              <a:latin typeface="Arial" panose="020B0604020202020204" pitchFamily="34" charset="0"/>
            </a:endParaRPr>
          </a:p>
        </p:txBody>
      </p:sp>
      <p:sp>
        <p:nvSpPr>
          <p:cNvPr id="391226" name="文本框 391225"/>
          <p:cNvSpPr txBox="1"/>
          <p:nvPr/>
        </p:nvSpPr>
        <p:spPr>
          <a:xfrm>
            <a:off x="2981113" y="4620948"/>
            <a:ext cx="288925"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8</a:t>
            </a:r>
            <a:endParaRPr lang="en-US" altLang="zh-CN" sz="1500" i="0">
              <a:latin typeface="Arial" panose="020B0604020202020204" pitchFamily="34" charset="0"/>
            </a:endParaRPr>
          </a:p>
        </p:txBody>
      </p:sp>
      <p:sp>
        <p:nvSpPr>
          <p:cNvPr id="391227" name="文本框 391226"/>
          <p:cNvSpPr txBox="1"/>
          <p:nvPr/>
        </p:nvSpPr>
        <p:spPr>
          <a:xfrm>
            <a:off x="2925551" y="3589073"/>
            <a:ext cx="394970"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16</a:t>
            </a:r>
            <a:endParaRPr lang="en-US" altLang="zh-CN" sz="1500" i="0">
              <a:latin typeface="Arial" panose="020B0604020202020204" pitchFamily="34" charset="0"/>
            </a:endParaRPr>
          </a:p>
        </p:txBody>
      </p:sp>
      <p:sp>
        <p:nvSpPr>
          <p:cNvPr id="391228" name="文本框 391227"/>
          <p:cNvSpPr txBox="1"/>
          <p:nvPr/>
        </p:nvSpPr>
        <p:spPr>
          <a:xfrm>
            <a:off x="3631988" y="4597136"/>
            <a:ext cx="553720" cy="321945"/>
          </a:xfrm>
          <a:prstGeom prst="rect">
            <a:avLst/>
          </a:prstGeom>
          <a:noFill/>
          <a:ln w="12700">
            <a:noFill/>
          </a:ln>
        </p:spPr>
        <p:txBody>
          <a:bodyPr wrap="none" anchor="t" anchorCtr="0">
            <a:spAutoFit/>
          </a:bodyPr>
          <a:lstStyle/>
          <a:p>
            <a:r>
              <a:rPr lang="en-US" altLang="zh-CN" sz="1500" i="0">
                <a:latin typeface="Arial" panose="020B0604020202020204" pitchFamily="34" charset="0"/>
              </a:rPr>
              <a:t>22.6</a:t>
            </a:r>
            <a:endParaRPr lang="en-US" altLang="zh-CN" sz="1500" i="0">
              <a:latin typeface="Arial" panose="020B0604020202020204" pitchFamily="34" charset="0"/>
            </a:endParaRPr>
          </a:p>
        </p:txBody>
      </p:sp>
      <p:sp>
        <p:nvSpPr>
          <p:cNvPr id="391229" name="文本框 391228"/>
          <p:cNvSpPr txBox="1"/>
          <p:nvPr/>
        </p:nvSpPr>
        <p:spPr>
          <a:xfrm>
            <a:off x="5910051" y="1195917"/>
            <a:ext cx="2108729" cy="3681730"/>
          </a:xfrm>
          <a:prstGeom prst="rect">
            <a:avLst/>
          </a:prstGeom>
          <a:noFill/>
          <a:ln w="12700">
            <a:noFill/>
          </a:ln>
        </p:spPr>
        <p:txBody>
          <a:bodyPr>
            <a:spAutoFit/>
          </a:bodyPr>
          <a:lstStyle/>
          <a:p>
            <a:r>
              <a:rPr lang="en-US" altLang="zh-CN" sz="1665" b="1" i="0" err="1">
                <a:latin typeface="Arial" panose="020B0604020202020204" pitchFamily="34" charset="0"/>
              </a:rPr>
              <a:t>N	f	t</a:t>
            </a:r>
            <a:r>
              <a:rPr lang="en-US" altLang="zh-CN" sz="1665" b="1" i="0" baseline="-25000" err="1">
                <a:latin typeface="Arial" panose="020B0604020202020204" pitchFamily="34" charset="0"/>
              </a:rPr>
              <a:t>p</a:t>
            </a:r>
            <a:endParaRPr lang="en-US" altLang="zh-CN" sz="1665" b="1" i="0">
              <a:latin typeface="Arial" panose="020B0604020202020204" pitchFamily="34" charset="0"/>
            </a:endParaRPr>
          </a:p>
          <a:p>
            <a:endParaRPr lang="en-US" altLang="zh-CN" sz="1665" b="1" i="0">
              <a:latin typeface="Arial" panose="020B0604020202020204" pitchFamily="34" charset="0"/>
            </a:endParaRPr>
          </a:p>
          <a:p>
            <a:r>
              <a:rPr lang="en-US" altLang="zh-CN" sz="1665" b="1" i="0">
                <a:latin typeface="Arial" panose="020B0604020202020204" pitchFamily="34" charset="0"/>
              </a:rPr>
              <a:t>1	64	65</a:t>
            </a:r>
            <a:endParaRPr lang="en-US" altLang="zh-CN" sz="1665" b="1" i="0">
              <a:latin typeface="Arial" panose="020B0604020202020204" pitchFamily="34" charset="0"/>
            </a:endParaRPr>
          </a:p>
          <a:p>
            <a:endParaRPr lang="en-US" altLang="zh-CN" sz="1665" b="1" i="0">
              <a:latin typeface="Arial" panose="020B0604020202020204" pitchFamily="34" charset="0"/>
            </a:endParaRPr>
          </a:p>
          <a:p>
            <a:endParaRPr lang="en-US" altLang="zh-CN" sz="1665" b="1" i="0">
              <a:latin typeface="Arial" panose="020B0604020202020204" pitchFamily="34" charset="0"/>
            </a:endParaRPr>
          </a:p>
          <a:p>
            <a:r>
              <a:rPr lang="en-US" altLang="zh-CN" sz="1665" b="1" i="0">
                <a:latin typeface="Arial" panose="020B0604020202020204" pitchFamily="34" charset="0"/>
              </a:rPr>
              <a:t>2	8	18</a:t>
            </a:r>
            <a:endParaRPr lang="en-US" altLang="zh-CN" sz="1665" b="1" i="0">
              <a:latin typeface="Arial" panose="020B0604020202020204" pitchFamily="34" charset="0"/>
            </a:endParaRPr>
          </a:p>
          <a:p>
            <a:endParaRPr lang="en-US" altLang="zh-CN" sz="1665" b="1" i="0">
              <a:latin typeface="Arial" panose="020B0604020202020204" pitchFamily="34" charset="0"/>
            </a:endParaRPr>
          </a:p>
          <a:p>
            <a:endParaRPr lang="en-US" altLang="zh-CN" sz="1665" b="1" i="0">
              <a:latin typeface="Arial" panose="020B0604020202020204" pitchFamily="34" charset="0"/>
            </a:endParaRPr>
          </a:p>
          <a:p>
            <a:endParaRPr lang="en-US" altLang="zh-CN" sz="1665" b="1" i="0">
              <a:latin typeface="Arial" panose="020B0604020202020204" pitchFamily="34" charset="0"/>
            </a:endParaRPr>
          </a:p>
          <a:p>
            <a:r>
              <a:rPr lang="en-US" altLang="zh-CN" sz="1665" b="1" i="0">
                <a:latin typeface="Arial" panose="020B0604020202020204" pitchFamily="34" charset="0"/>
              </a:rPr>
              <a:t>3	4	15</a:t>
            </a:r>
            <a:endParaRPr lang="en-US" altLang="zh-CN" sz="1665" b="1" i="0">
              <a:latin typeface="Arial" panose="020B0604020202020204" pitchFamily="34" charset="0"/>
            </a:endParaRPr>
          </a:p>
          <a:p>
            <a:endParaRPr lang="en-US" altLang="zh-CN" sz="1665" b="1" i="0">
              <a:latin typeface="Arial" panose="020B0604020202020204" pitchFamily="34" charset="0"/>
            </a:endParaRPr>
          </a:p>
          <a:p>
            <a:endParaRPr lang="en-US" altLang="zh-CN" sz="1665" b="1" i="0">
              <a:latin typeface="Arial" panose="020B0604020202020204" pitchFamily="34" charset="0"/>
            </a:endParaRPr>
          </a:p>
          <a:p>
            <a:endParaRPr lang="en-US" altLang="zh-CN" sz="1665" b="1" i="0">
              <a:latin typeface="Arial" panose="020B0604020202020204" pitchFamily="34" charset="0"/>
            </a:endParaRPr>
          </a:p>
          <a:p>
            <a:r>
              <a:rPr lang="en-US" altLang="zh-CN" sz="1665" b="1" i="0">
                <a:latin typeface="Arial" panose="020B0604020202020204" pitchFamily="34" charset="0"/>
              </a:rPr>
              <a:t>4	2.8	15.3</a:t>
            </a:r>
            <a:endParaRPr lang="en-US" altLang="zh-CN" sz="1665" b="1" i="0">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sp>
        <p:nvSpPr>
          <p:cNvPr id="348163" name="文本占位符 348162"/>
          <p:cNvSpPr>
            <a:spLocks noGrp="1"/>
          </p:cNvSpPr>
          <p:nvPr>
            <p:ph type="body" idx="1"/>
          </p:nvPr>
        </p:nvSpPr>
        <p:spPr>
          <a:xfrm>
            <a:off x="851535" y="935990"/>
            <a:ext cx="6477000" cy="3941445"/>
          </a:xfrm>
        </p:spPr>
        <p:txBody>
          <a:bodyPr lIns="75406" tIns="37041" rIns="75406" bIns="37041"/>
          <a:lstStyle/>
          <a:p>
            <a:pPr>
              <a:lnSpc>
                <a:spcPct val="150000"/>
              </a:lnSpc>
            </a:pPr>
            <a:r>
              <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功耗构成</a:t>
            </a:r>
            <a:endParaRPr lang="zh-CN" altLang="en-US" sz="24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动态功耗</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pPr>
            <a:r>
              <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对电容充放电引起的功耗</a:t>
            </a:r>
            <a:endParaRPr lang="zh-CN" altLang="en-US" sz="16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pPr>
            <a:r>
              <a:rPr lang="zh-CN" altLang="en-US" sz="1665">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状态切换过程中产生的直接通路（短路</a:t>
            </a:r>
            <a:r>
              <a:rPr lang="zh-CN" altLang="en-US" sz="1665">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功耗）</a:t>
            </a:r>
            <a:endParaRPr lang="zh-CN" altLang="en-US" sz="1665">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150000"/>
              </a:lnSpc>
            </a:pP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2. </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静态功耗</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pPr>
            <a:r>
              <a:rPr lang="zh-CN" altLang="en-US" sz="1665">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泄露电流导致的功耗（亚阈值</a:t>
            </a:r>
            <a:r>
              <a:rPr lang="zh-CN" altLang="en-US" sz="1665">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导通）</a:t>
            </a:r>
            <a:endParaRPr lang="zh-CN" altLang="en-US" sz="1665">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lvl="2">
              <a:lnSpc>
                <a:spcPct val="150000"/>
              </a:lnSpc>
            </a:pPr>
            <a:endParaRPr lang="zh-CN" altLang="en-US" sz="1665">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grpSp>
        <p:nvGrpSpPr>
          <p:cNvPr id="399431" name="组合 399430"/>
          <p:cNvGrpSpPr/>
          <p:nvPr/>
        </p:nvGrpSpPr>
        <p:grpSpPr>
          <a:xfrm>
            <a:off x="2336800" y="742421"/>
            <a:ext cx="3627438" cy="1930136"/>
            <a:chOff x="1397" y="1098"/>
            <a:chExt cx="2742" cy="1459"/>
          </a:xfrm>
        </p:grpSpPr>
        <p:sp>
          <p:nvSpPr>
            <p:cNvPr id="399432" name="矩形 399431"/>
            <p:cNvSpPr/>
            <p:nvPr/>
          </p:nvSpPr>
          <p:spPr>
            <a:xfrm>
              <a:off x="2894" y="1960"/>
              <a:ext cx="7" cy="156"/>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33" name="矩形 399432"/>
            <p:cNvSpPr/>
            <p:nvPr/>
          </p:nvSpPr>
          <p:spPr>
            <a:xfrm>
              <a:off x="2745" y="2109"/>
              <a:ext cx="149" cy="7"/>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34" name="矩形 399433"/>
            <p:cNvSpPr/>
            <p:nvPr/>
          </p:nvSpPr>
          <p:spPr>
            <a:xfrm>
              <a:off x="2745" y="2109"/>
              <a:ext cx="6" cy="227"/>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35" name="矩形 399434"/>
            <p:cNvSpPr/>
            <p:nvPr/>
          </p:nvSpPr>
          <p:spPr>
            <a:xfrm>
              <a:off x="2745" y="2330"/>
              <a:ext cx="156" cy="6"/>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36" name="矩形 399435"/>
            <p:cNvSpPr/>
            <p:nvPr/>
          </p:nvSpPr>
          <p:spPr>
            <a:xfrm>
              <a:off x="2894" y="2330"/>
              <a:ext cx="7" cy="143"/>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37" name="矩形 399436"/>
            <p:cNvSpPr/>
            <p:nvPr/>
          </p:nvSpPr>
          <p:spPr>
            <a:xfrm>
              <a:off x="2700" y="2109"/>
              <a:ext cx="6" cy="221"/>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38" name="矩形 399437"/>
            <p:cNvSpPr/>
            <p:nvPr/>
          </p:nvSpPr>
          <p:spPr>
            <a:xfrm>
              <a:off x="2894" y="1234"/>
              <a:ext cx="7" cy="149"/>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39" name="矩形 399438"/>
            <p:cNvSpPr/>
            <p:nvPr/>
          </p:nvSpPr>
          <p:spPr>
            <a:xfrm>
              <a:off x="2745" y="1376"/>
              <a:ext cx="149" cy="7"/>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40" name="矩形 399439"/>
            <p:cNvSpPr/>
            <p:nvPr/>
          </p:nvSpPr>
          <p:spPr>
            <a:xfrm>
              <a:off x="2745" y="1376"/>
              <a:ext cx="6" cy="227"/>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41" name="矩形 399440"/>
            <p:cNvSpPr/>
            <p:nvPr/>
          </p:nvSpPr>
          <p:spPr>
            <a:xfrm>
              <a:off x="2745" y="1597"/>
              <a:ext cx="156" cy="6"/>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42" name="矩形 399441"/>
            <p:cNvSpPr/>
            <p:nvPr/>
          </p:nvSpPr>
          <p:spPr>
            <a:xfrm>
              <a:off x="2894" y="1597"/>
              <a:ext cx="7" cy="149"/>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43" name="矩形 399442"/>
            <p:cNvSpPr/>
            <p:nvPr/>
          </p:nvSpPr>
          <p:spPr>
            <a:xfrm>
              <a:off x="2700" y="1376"/>
              <a:ext cx="6" cy="221"/>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44" name="任意多边形 399443"/>
            <p:cNvSpPr/>
            <p:nvPr/>
          </p:nvSpPr>
          <p:spPr>
            <a:xfrm>
              <a:off x="2622" y="1448"/>
              <a:ext cx="71" cy="78"/>
            </a:xfrm>
            <a:custGeom>
              <a:avLst/>
              <a:gdLst/>
              <a:ahLst/>
              <a:cxnLst/>
              <a:rect l="0" t="0" r="0" b="0"/>
              <a:pathLst>
                <a:path w="71" h="78">
                  <a:moveTo>
                    <a:pt x="65" y="32"/>
                  </a:moveTo>
                  <a:lnTo>
                    <a:pt x="58" y="6"/>
                  </a:lnTo>
                  <a:lnTo>
                    <a:pt x="58" y="13"/>
                  </a:lnTo>
                  <a:lnTo>
                    <a:pt x="58" y="13"/>
                  </a:lnTo>
                  <a:lnTo>
                    <a:pt x="32" y="6"/>
                  </a:lnTo>
                  <a:lnTo>
                    <a:pt x="32" y="6"/>
                  </a:lnTo>
                  <a:lnTo>
                    <a:pt x="32" y="6"/>
                  </a:lnTo>
                  <a:lnTo>
                    <a:pt x="13" y="13"/>
                  </a:lnTo>
                  <a:lnTo>
                    <a:pt x="19" y="6"/>
                  </a:lnTo>
                  <a:lnTo>
                    <a:pt x="19" y="6"/>
                  </a:lnTo>
                  <a:lnTo>
                    <a:pt x="6" y="32"/>
                  </a:lnTo>
                  <a:lnTo>
                    <a:pt x="6" y="32"/>
                  </a:lnTo>
                  <a:lnTo>
                    <a:pt x="6" y="32"/>
                  </a:lnTo>
                  <a:lnTo>
                    <a:pt x="19" y="58"/>
                  </a:lnTo>
                  <a:lnTo>
                    <a:pt x="19" y="58"/>
                  </a:lnTo>
                  <a:lnTo>
                    <a:pt x="19" y="58"/>
                  </a:lnTo>
                  <a:lnTo>
                    <a:pt x="39" y="71"/>
                  </a:lnTo>
                  <a:lnTo>
                    <a:pt x="32" y="71"/>
                  </a:lnTo>
                  <a:lnTo>
                    <a:pt x="32" y="71"/>
                  </a:lnTo>
                  <a:lnTo>
                    <a:pt x="58" y="58"/>
                  </a:lnTo>
                  <a:lnTo>
                    <a:pt x="58" y="58"/>
                  </a:lnTo>
                  <a:lnTo>
                    <a:pt x="58" y="58"/>
                  </a:lnTo>
                  <a:lnTo>
                    <a:pt x="65" y="32"/>
                  </a:lnTo>
                  <a:lnTo>
                    <a:pt x="65" y="32"/>
                  </a:lnTo>
                  <a:lnTo>
                    <a:pt x="71" y="32"/>
                  </a:lnTo>
                  <a:lnTo>
                    <a:pt x="71" y="32"/>
                  </a:lnTo>
                  <a:lnTo>
                    <a:pt x="65" y="58"/>
                  </a:lnTo>
                  <a:lnTo>
                    <a:pt x="65" y="58"/>
                  </a:lnTo>
                  <a:lnTo>
                    <a:pt x="58" y="65"/>
                  </a:lnTo>
                  <a:lnTo>
                    <a:pt x="32" y="78"/>
                  </a:lnTo>
                  <a:lnTo>
                    <a:pt x="32" y="78"/>
                  </a:lnTo>
                  <a:lnTo>
                    <a:pt x="32" y="78"/>
                  </a:lnTo>
                  <a:lnTo>
                    <a:pt x="13" y="65"/>
                  </a:lnTo>
                  <a:lnTo>
                    <a:pt x="13" y="65"/>
                  </a:lnTo>
                  <a:lnTo>
                    <a:pt x="13" y="58"/>
                  </a:lnTo>
                  <a:lnTo>
                    <a:pt x="0" y="32"/>
                  </a:lnTo>
                  <a:lnTo>
                    <a:pt x="0" y="32"/>
                  </a:lnTo>
                  <a:lnTo>
                    <a:pt x="0" y="32"/>
                  </a:lnTo>
                  <a:lnTo>
                    <a:pt x="13" y="6"/>
                  </a:lnTo>
                  <a:lnTo>
                    <a:pt x="13" y="6"/>
                  </a:lnTo>
                  <a:lnTo>
                    <a:pt x="13" y="6"/>
                  </a:lnTo>
                  <a:lnTo>
                    <a:pt x="32" y="0"/>
                  </a:lnTo>
                  <a:lnTo>
                    <a:pt x="32" y="0"/>
                  </a:lnTo>
                  <a:lnTo>
                    <a:pt x="32" y="0"/>
                  </a:lnTo>
                  <a:lnTo>
                    <a:pt x="58" y="6"/>
                  </a:lnTo>
                  <a:lnTo>
                    <a:pt x="58" y="6"/>
                  </a:lnTo>
                  <a:lnTo>
                    <a:pt x="65" y="6"/>
                  </a:lnTo>
                  <a:lnTo>
                    <a:pt x="71" y="32"/>
                  </a:lnTo>
                  <a:lnTo>
                    <a:pt x="65" y="32"/>
                  </a:lnTo>
                  <a:close/>
                </a:path>
              </a:pathLst>
            </a:custGeom>
            <a:blipFill rotWithShape="0">
              <a:blip r:embed="rId1"/>
            </a:blipFill>
            <a:ln w="19050" cap="flat" cmpd="sng">
              <a:solidFill>
                <a:srgbClr val="000000"/>
              </a:solidFill>
              <a:prstDash val="solid"/>
              <a:headEnd type="none" w="med" len="med"/>
              <a:tailEnd type="none" w="med" len="med"/>
            </a:ln>
          </p:spPr>
          <p:txBody>
            <a:bodyPr/>
            <a:lstStyle/>
            <a:p>
              <a:endParaRPr lang="zh-CN" altLang="en-US" sz="1500"/>
            </a:p>
          </p:txBody>
        </p:sp>
        <p:sp>
          <p:nvSpPr>
            <p:cNvPr id="399445" name="任意多边形 399444"/>
            <p:cNvSpPr/>
            <p:nvPr/>
          </p:nvSpPr>
          <p:spPr>
            <a:xfrm>
              <a:off x="2687" y="1480"/>
              <a:ext cx="6" cy="1"/>
            </a:xfrm>
            <a:custGeom>
              <a:avLst/>
              <a:gdLst/>
              <a:ahLst/>
              <a:cxnLst/>
              <a:rect l="0" t="0" r="0" b="0"/>
              <a:pathLst>
                <a:path w="6">
                  <a:moveTo>
                    <a:pt x="0" y="0"/>
                  </a:moveTo>
                  <a:lnTo>
                    <a:pt x="0" y="0"/>
                  </a:lnTo>
                  <a:lnTo>
                    <a:pt x="0" y="0"/>
                  </a:lnTo>
                  <a:lnTo>
                    <a:pt x="6" y="0"/>
                  </a:lnTo>
                  <a:lnTo>
                    <a:pt x="6" y="0"/>
                  </a:lnTo>
                  <a:lnTo>
                    <a:pt x="6" y="0"/>
                  </a:lnTo>
                  <a:lnTo>
                    <a:pt x="0" y="0"/>
                  </a:lnTo>
                  <a:close/>
                </a:path>
              </a:pathLst>
            </a:custGeom>
            <a:blipFill rotWithShape="0">
              <a:blip r:embed="rId1"/>
            </a:blipFill>
            <a:ln w="19050" cap="flat" cmpd="sng">
              <a:solidFill>
                <a:srgbClr val="000000"/>
              </a:solidFill>
              <a:prstDash val="solid"/>
              <a:headEnd type="none" w="med" len="med"/>
              <a:tailEnd type="none" w="med" len="med"/>
            </a:ln>
          </p:spPr>
          <p:txBody>
            <a:bodyPr/>
            <a:lstStyle/>
            <a:p>
              <a:endParaRPr lang="zh-CN" altLang="en-US" sz="1500"/>
            </a:p>
          </p:txBody>
        </p:sp>
        <p:sp>
          <p:nvSpPr>
            <p:cNvPr id="399446" name="矩形 399445"/>
            <p:cNvSpPr/>
            <p:nvPr/>
          </p:nvSpPr>
          <p:spPr>
            <a:xfrm>
              <a:off x="2894" y="1668"/>
              <a:ext cx="7" cy="292"/>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47" name="矩形 399446"/>
            <p:cNvSpPr/>
            <p:nvPr/>
          </p:nvSpPr>
          <p:spPr>
            <a:xfrm>
              <a:off x="2473" y="1480"/>
              <a:ext cx="142" cy="7"/>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48" name="矩形 399447"/>
            <p:cNvSpPr/>
            <p:nvPr/>
          </p:nvSpPr>
          <p:spPr>
            <a:xfrm>
              <a:off x="2473" y="1480"/>
              <a:ext cx="6" cy="733"/>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49" name="矩形 399448"/>
            <p:cNvSpPr/>
            <p:nvPr/>
          </p:nvSpPr>
          <p:spPr>
            <a:xfrm>
              <a:off x="2473" y="2207"/>
              <a:ext cx="214" cy="6"/>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50" name="矩形 399449"/>
            <p:cNvSpPr/>
            <p:nvPr/>
          </p:nvSpPr>
          <p:spPr>
            <a:xfrm>
              <a:off x="2777" y="1227"/>
              <a:ext cx="221" cy="7"/>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51" name="矩形 399450"/>
            <p:cNvSpPr/>
            <p:nvPr/>
          </p:nvSpPr>
          <p:spPr>
            <a:xfrm>
              <a:off x="2823" y="2492"/>
              <a:ext cx="142" cy="6"/>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52" name="矩形 399451"/>
            <p:cNvSpPr/>
            <p:nvPr/>
          </p:nvSpPr>
          <p:spPr>
            <a:xfrm>
              <a:off x="2855" y="2524"/>
              <a:ext cx="78" cy="7"/>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53" name="矩形 399452"/>
            <p:cNvSpPr/>
            <p:nvPr/>
          </p:nvSpPr>
          <p:spPr>
            <a:xfrm>
              <a:off x="2881" y="2550"/>
              <a:ext cx="26" cy="7"/>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54" name="矩形 399453"/>
            <p:cNvSpPr/>
            <p:nvPr/>
          </p:nvSpPr>
          <p:spPr>
            <a:xfrm>
              <a:off x="1948" y="1817"/>
              <a:ext cx="505" cy="7"/>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55" name="矩形 399454"/>
            <p:cNvSpPr/>
            <p:nvPr/>
          </p:nvSpPr>
          <p:spPr>
            <a:xfrm>
              <a:off x="2894" y="1817"/>
              <a:ext cx="512" cy="7"/>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56" name="矩形 399455"/>
            <p:cNvSpPr/>
            <p:nvPr/>
          </p:nvSpPr>
          <p:spPr>
            <a:xfrm>
              <a:off x="3257" y="1817"/>
              <a:ext cx="7" cy="221"/>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57" name="矩形 399456"/>
            <p:cNvSpPr/>
            <p:nvPr/>
          </p:nvSpPr>
          <p:spPr>
            <a:xfrm>
              <a:off x="3186" y="2038"/>
              <a:ext cx="142" cy="6"/>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58" name="矩形 399457"/>
            <p:cNvSpPr/>
            <p:nvPr/>
          </p:nvSpPr>
          <p:spPr>
            <a:xfrm>
              <a:off x="3186" y="2077"/>
              <a:ext cx="142" cy="6"/>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59" name="矩形 399458"/>
            <p:cNvSpPr/>
            <p:nvPr/>
          </p:nvSpPr>
          <p:spPr>
            <a:xfrm>
              <a:off x="3186" y="2375"/>
              <a:ext cx="142" cy="7"/>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60" name="矩形 399459"/>
            <p:cNvSpPr/>
            <p:nvPr/>
          </p:nvSpPr>
          <p:spPr>
            <a:xfrm>
              <a:off x="3225" y="2408"/>
              <a:ext cx="71" cy="6"/>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61" name="矩形 399460"/>
            <p:cNvSpPr/>
            <p:nvPr/>
          </p:nvSpPr>
          <p:spPr>
            <a:xfrm>
              <a:off x="3251" y="2440"/>
              <a:ext cx="19" cy="7"/>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62" name="矩形 399461"/>
            <p:cNvSpPr/>
            <p:nvPr/>
          </p:nvSpPr>
          <p:spPr>
            <a:xfrm>
              <a:off x="3257" y="2077"/>
              <a:ext cx="7" cy="292"/>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63" name="任意多边形 399462"/>
            <p:cNvSpPr/>
            <p:nvPr/>
          </p:nvSpPr>
          <p:spPr>
            <a:xfrm>
              <a:off x="1397" y="1772"/>
              <a:ext cx="240" cy="7"/>
            </a:xfrm>
            <a:custGeom>
              <a:avLst/>
              <a:gdLst/>
              <a:ahLst/>
              <a:cxnLst/>
              <a:rect l="0" t="0" r="0" b="0"/>
              <a:pathLst>
                <a:path w="240" h="7">
                  <a:moveTo>
                    <a:pt x="0" y="0"/>
                  </a:moveTo>
                  <a:lnTo>
                    <a:pt x="233" y="0"/>
                  </a:lnTo>
                  <a:lnTo>
                    <a:pt x="240" y="0"/>
                  </a:lnTo>
                  <a:lnTo>
                    <a:pt x="240" y="0"/>
                  </a:lnTo>
                  <a:lnTo>
                    <a:pt x="233" y="7"/>
                  </a:lnTo>
                  <a:lnTo>
                    <a:pt x="0" y="7"/>
                  </a:lnTo>
                  <a:lnTo>
                    <a:pt x="0" y="0"/>
                  </a:lnTo>
                  <a:close/>
                </a:path>
              </a:pathLst>
            </a:custGeom>
            <a:blipFill rotWithShape="0">
              <a:blip r:embed="rId1"/>
            </a:blipFill>
            <a:ln w="19050" cap="flat" cmpd="sng">
              <a:solidFill>
                <a:srgbClr val="000000"/>
              </a:solidFill>
              <a:prstDash val="solid"/>
              <a:headEnd type="none" w="med" len="med"/>
              <a:tailEnd type="none" w="med" len="med"/>
            </a:ln>
          </p:spPr>
          <p:txBody>
            <a:bodyPr/>
            <a:lstStyle/>
            <a:p>
              <a:endParaRPr lang="zh-CN" altLang="en-US" sz="1500"/>
            </a:p>
          </p:txBody>
        </p:sp>
        <p:sp>
          <p:nvSpPr>
            <p:cNvPr id="399464" name="任意多边形 399463"/>
            <p:cNvSpPr/>
            <p:nvPr/>
          </p:nvSpPr>
          <p:spPr>
            <a:xfrm>
              <a:off x="1630" y="1772"/>
              <a:ext cx="123" cy="298"/>
            </a:xfrm>
            <a:custGeom>
              <a:avLst/>
              <a:gdLst/>
              <a:ahLst/>
              <a:cxnLst/>
              <a:rect l="0" t="0" r="0" b="0"/>
              <a:pathLst>
                <a:path w="123" h="298">
                  <a:moveTo>
                    <a:pt x="7" y="0"/>
                  </a:moveTo>
                  <a:lnTo>
                    <a:pt x="123" y="292"/>
                  </a:lnTo>
                  <a:lnTo>
                    <a:pt x="117" y="298"/>
                  </a:lnTo>
                  <a:lnTo>
                    <a:pt x="117" y="298"/>
                  </a:lnTo>
                  <a:lnTo>
                    <a:pt x="117" y="292"/>
                  </a:lnTo>
                  <a:lnTo>
                    <a:pt x="0" y="0"/>
                  </a:lnTo>
                  <a:lnTo>
                    <a:pt x="7" y="0"/>
                  </a:lnTo>
                  <a:close/>
                </a:path>
              </a:pathLst>
            </a:custGeom>
            <a:blipFill rotWithShape="0">
              <a:blip r:embed="rId1"/>
            </a:blipFill>
            <a:ln w="19050" cap="flat" cmpd="sng">
              <a:solidFill>
                <a:srgbClr val="000000"/>
              </a:solidFill>
              <a:prstDash val="solid"/>
              <a:headEnd type="none" w="med" len="med"/>
              <a:tailEnd type="none" w="med" len="med"/>
            </a:ln>
          </p:spPr>
          <p:txBody>
            <a:bodyPr/>
            <a:lstStyle/>
            <a:p>
              <a:endParaRPr lang="zh-CN" altLang="en-US" sz="1500"/>
            </a:p>
          </p:txBody>
        </p:sp>
        <p:sp>
          <p:nvSpPr>
            <p:cNvPr id="399465" name="矩形 399464"/>
            <p:cNvSpPr/>
            <p:nvPr/>
          </p:nvSpPr>
          <p:spPr>
            <a:xfrm>
              <a:off x="1747" y="2064"/>
              <a:ext cx="233" cy="6"/>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66" name="任意多边形 399465"/>
            <p:cNvSpPr/>
            <p:nvPr/>
          </p:nvSpPr>
          <p:spPr>
            <a:xfrm>
              <a:off x="3905" y="1772"/>
              <a:ext cx="234" cy="7"/>
            </a:xfrm>
            <a:custGeom>
              <a:avLst/>
              <a:gdLst/>
              <a:ahLst/>
              <a:cxnLst/>
              <a:rect l="0" t="0" r="0" b="0"/>
              <a:pathLst>
                <a:path w="234" h="7">
                  <a:moveTo>
                    <a:pt x="234" y="7"/>
                  </a:moveTo>
                  <a:lnTo>
                    <a:pt x="0" y="7"/>
                  </a:lnTo>
                  <a:lnTo>
                    <a:pt x="0" y="0"/>
                  </a:lnTo>
                  <a:lnTo>
                    <a:pt x="0" y="0"/>
                  </a:lnTo>
                  <a:lnTo>
                    <a:pt x="0" y="0"/>
                  </a:lnTo>
                  <a:lnTo>
                    <a:pt x="234" y="0"/>
                  </a:lnTo>
                  <a:lnTo>
                    <a:pt x="234" y="7"/>
                  </a:lnTo>
                  <a:close/>
                </a:path>
              </a:pathLst>
            </a:custGeom>
            <a:blipFill rotWithShape="0">
              <a:blip r:embed="rId1"/>
            </a:blipFill>
            <a:ln w="19050" cap="flat" cmpd="sng">
              <a:solidFill>
                <a:srgbClr val="000000"/>
              </a:solidFill>
              <a:prstDash val="solid"/>
              <a:headEnd type="none" w="med" len="med"/>
              <a:tailEnd type="none" w="med" len="med"/>
            </a:ln>
          </p:spPr>
          <p:txBody>
            <a:bodyPr/>
            <a:lstStyle/>
            <a:p>
              <a:endParaRPr lang="zh-CN" altLang="en-US" sz="1500"/>
            </a:p>
          </p:txBody>
        </p:sp>
        <p:sp>
          <p:nvSpPr>
            <p:cNvPr id="399467" name="任意多边形 399466"/>
            <p:cNvSpPr/>
            <p:nvPr/>
          </p:nvSpPr>
          <p:spPr>
            <a:xfrm>
              <a:off x="3789" y="1772"/>
              <a:ext cx="123" cy="298"/>
            </a:xfrm>
            <a:custGeom>
              <a:avLst/>
              <a:gdLst/>
              <a:ahLst/>
              <a:cxnLst/>
              <a:rect l="0" t="0" r="0" b="0"/>
              <a:pathLst>
                <a:path w="123" h="298">
                  <a:moveTo>
                    <a:pt x="123" y="0"/>
                  </a:moveTo>
                  <a:lnTo>
                    <a:pt x="6" y="292"/>
                  </a:lnTo>
                  <a:lnTo>
                    <a:pt x="6" y="298"/>
                  </a:lnTo>
                  <a:lnTo>
                    <a:pt x="0" y="298"/>
                  </a:lnTo>
                  <a:lnTo>
                    <a:pt x="0" y="292"/>
                  </a:lnTo>
                  <a:lnTo>
                    <a:pt x="116" y="0"/>
                  </a:lnTo>
                  <a:lnTo>
                    <a:pt x="123" y="0"/>
                  </a:lnTo>
                  <a:close/>
                </a:path>
              </a:pathLst>
            </a:custGeom>
            <a:blipFill rotWithShape="0">
              <a:blip r:embed="rId1"/>
            </a:blipFill>
            <a:ln w="19050" cap="flat" cmpd="sng">
              <a:solidFill>
                <a:srgbClr val="000000"/>
              </a:solidFill>
              <a:prstDash val="solid"/>
              <a:headEnd type="none" w="med" len="med"/>
              <a:tailEnd type="none" w="med" len="med"/>
            </a:ln>
          </p:spPr>
          <p:txBody>
            <a:bodyPr/>
            <a:lstStyle/>
            <a:p>
              <a:endParaRPr lang="zh-CN" altLang="en-US" sz="1500"/>
            </a:p>
          </p:txBody>
        </p:sp>
        <p:sp>
          <p:nvSpPr>
            <p:cNvPr id="399468" name="矩形 399467"/>
            <p:cNvSpPr/>
            <p:nvPr/>
          </p:nvSpPr>
          <p:spPr>
            <a:xfrm>
              <a:off x="3555" y="2064"/>
              <a:ext cx="234" cy="6"/>
            </a:xfrm>
            <a:prstGeom prst="rect">
              <a:avLst/>
            </a:prstGeom>
            <a:blipFill rotWithShape="0">
              <a:blip r:embed="rId1"/>
            </a:blipFill>
            <a:ln w="19050" cap="flat" cmpd="sng">
              <a:solidFill>
                <a:srgbClr val="000000"/>
              </a:solidFill>
              <a:prstDash val="solid"/>
              <a:miter/>
              <a:headEnd type="none" w="med" len="med"/>
              <a:tailEnd type="none" w="med" len="med"/>
            </a:ln>
          </p:spPr>
          <p:txBody>
            <a:bodyPr/>
            <a:lstStyle/>
            <a:p>
              <a:endParaRPr lang="zh-CN" altLang="en-US" sz="1500"/>
            </a:p>
          </p:txBody>
        </p:sp>
        <p:sp>
          <p:nvSpPr>
            <p:cNvPr id="399469" name="矩形 399468"/>
            <p:cNvSpPr/>
            <p:nvPr/>
          </p:nvSpPr>
          <p:spPr>
            <a:xfrm>
              <a:off x="1656" y="1629"/>
              <a:ext cx="195" cy="156"/>
            </a:xfrm>
            <a:prstGeom prst="rect">
              <a:avLst/>
            </a:prstGeom>
            <a:noFill/>
            <a:ln w="19050">
              <a:noFill/>
            </a:ln>
          </p:spPr>
          <p:txBody>
            <a:bodyPr wrap="none" lIns="0" tIns="0" rIns="0" bIns="0">
              <a:spAutoFit/>
            </a:bodyPr>
            <a:lstStyle/>
            <a:p>
              <a:r>
                <a:rPr lang="en-US" altLang="zh-CN" sz="1335" b="1" i="0">
                  <a:solidFill>
                    <a:srgbClr val="000000"/>
                  </a:solidFill>
                  <a:latin typeface="Times New Roman" panose="02020603050405020304" pitchFamily="18" charset="0"/>
                </a:rPr>
                <a:t>Vin</a:t>
              </a:r>
              <a:endParaRPr lang="en-US" altLang="zh-CN" sz="3665" i="0">
                <a:solidFill>
                  <a:srgbClr val="0000B6"/>
                </a:solidFill>
                <a:latin typeface="Book Antiqua" panose="02040602050305030304" pitchFamily="18" charset="0"/>
              </a:endParaRPr>
            </a:p>
          </p:txBody>
        </p:sp>
        <p:sp>
          <p:nvSpPr>
            <p:cNvPr id="399470" name="矩形 399469"/>
            <p:cNvSpPr/>
            <p:nvPr/>
          </p:nvSpPr>
          <p:spPr>
            <a:xfrm>
              <a:off x="3451" y="1629"/>
              <a:ext cx="260" cy="156"/>
            </a:xfrm>
            <a:prstGeom prst="rect">
              <a:avLst/>
            </a:prstGeom>
            <a:noFill/>
            <a:ln w="19050">
              <a:noFill/>
            </a:ln>
          </p:spPr>
          <p:txBody>
            <a:bodyPr wrap="none" lIns="0" tIns="0" rIns="0" bIns="0">
              <a:spAutoFit/>
            </a:bodyPr>
            <a:lstStyle/>
            <a:p>
              <a:r>
                <a:rPr lang="en-US" altLang="zh-CN" sz="1335" b="1" i="0" err="1">
                  <a:solidFill>
                    <a:srgbClr val="000000"/>
                  </a:solidFill>
                  <a:latin typeface="Times New Roman" panose="02020603050405020304" pitchFamily="18" charset="0"/>
                </a:rPr>
                <a:t>Vout</a:t>
              </a:r>
              <a:endParaRPr lang="en-US" altLang="zh-CN" sz="3665" i="0">
                <a:solidFill>
                  <a:srgbClr val="0000B6"/>
                </a:solidFill>
                <a:latin typeface="Book Antiqua" panose="02040602050305030304" pitchFamily="18" charset="0"/>
              </a:endParaRPr>
            </a:p>
          </p:txBody>
        </p:sp>
        <p:sp>
          <p:nvSpPr>
            <p:cNvPr id="399471" name="矩形 399470"/>
            <p:cNvSpPr/>
            <p:nvPr/>
          </p:nvSpPr>
          <p:spPr>
            <a:xfrm>
              <a:off x="3089" y="2064"/>
              <a:ext cx="93" cy="156"/>
            </a:xfrm>
            <a:prstGeom prst="rect">
              <a:avLst/>
            </a:prstGeom>
            <a:noFill/>
            <a:ln w="19050">
              <a:noFill/>
            </a:ln>
          </p:spPr>
          <p:txBody>
            <a:bodyPr wrap="none" lIns="0" tIns="0" rIns="0" bIns="0">
              <a:spAutoFit/>
            </a:bodyPr>
            <a:lstStyle/>
            <a:p>
              <a:r>
                <a:rPr lang="en-US" altLang="zh-CN" sz="1335" b="1" i="0">
                  <a:solidFill>
                    <a:srgbClr val="000000"/>
                  </a:solidFill>
                  <a:latin typeface="Times New Roman" panose="02020603050405020304" pitchFamily="18" charset="0"/>
                </a:rPr>
                <a:t>C</a:t>
              </a:r>
              <a:endParaRPr lang="en-US" altLang="zh-CN" sz="3665" i="0">
                <a:solidFill>
                  <a:srgbClr val="0000B6"/>
                </a:solidFill>
                <a:latin typeface="Book Antiqua" panose="02040602050305030304" pitchFamily="18" charset="0"/>
              </a:endParaRPr>
            </a:p>
          </p:txBody>
        </p:sp>
        <p:sp>
          <p:nvSpPr>
            <p:cNvPr id="399472" name="矩形 399471"/>
            <p:cNvSpPr/>
            <p:nvPr/>
          </p:nvSpPr>
          <p:spPr>
            <a:xfrm>
              <a:off x="3179" y="2122"/>
              <a:ext cx="64" cy="116"/>
            </a:xfrm>
            <a:prstGeom prst="rect">
              <a:avLst/>
            </a:prstGeom>
            <a:noFill/>
            <a:ln w="19050">
              <a:noFill/>
            </a:ln>
          </p:spPr>
          <p:txBody>
            <a:bodyPr wrap="none" lIns="0" tIns="0" rIns="0" bIns="0">
              <a:spAutoFit/>
            </a:bodyPr>
            <a:lstStyle/>
            <a:p>
              <a:r>
                <a:rPr lang="en-US" altLang="zh-CN" sz="1000" b="1" i="0">
                  <a:solidFill>
                    <a:srgbClr val="000000"/>
                  </a:solidFill>
                  <a:latin typeface="Times New Roman" panose="02020603050405020304" pitchFamily="18" charset="0"/>
                </a:rPr>
                <a:t>L</a:t>
              </a:r>
              <a:endParaRPr lang="en-US" altLang="zh-CN" sz="3665" i="0">
                <a:solidFill>
                  <a:srgbClr val="0000B6"/>
                </a:solidFill>
                <a:latin typeface="Book Antiqua" panose="02040602050305030304" pitchFamily="18" charset="0"/>
              </a:endParaRPr>
            </a:p>
          </p:txBody>
        </p:sp>
        <p:sp>
          <p:nvSpPr>
            <p:cNvPr id="399473" name="任意多边形 399472"/>
            <p:cNvSpPr/>
            <p:nvPr/>
          </p:nvSpPr>
          <p:spPr>
            <a:xfrm>
              <a:off x="3413" y="2207"/>
              <a:ext cx="45" cy="77"/>
            </a:xfrm>
            <a:custGeom>
              <a:avLst/>
              <a:gdLst/>
              <a:ahLst/>
              <a:cxnLst/>
              <a:rect l="0" t="0" r="0" b="0"/>
              <a:pathLst>
                <a:path w="45" h="77">
                  <a:moveTo>
                    <a:pt x="26" y="0"/>
                  </a:moveTo>
                  <a:lnTo>
                    <a:pt x="45" y="0"/>
                  </a:lnTo>
                  <a:lnTo>
                    <a:pt x="45" y="0"/>
                  </a:lnTo>
                  <a:lnTo>
                    <a:pt x="45" y="0"/>
                  </a:lnTo>
                  <a:lnTo>
                    <a:pt x="26" y="77"/>
                  </a:lnTo>
                  <a:lnTo>
                    <a:pt x="19" y="77"/>
                  </a:lnTo>
                  <a:lnTo>
                    <a:pt x="19" y="77"/>
                  </a:lnTo>
                  <a:lnTo>
                    <a:pt x="0" y="0"/>
                  </a:lnTo>
                  <a:lnTo>
                    <a:pt x="0" y="0"/>
                  </a:lnTo>
                  <a:lnTo>
                    <a:pt x="6" y="0"/>
                  </a:lnTo>
                  <a:lnTo>
                    <a:pt x="6" y="0"/>
                  </a:lnTo>
                  <a:lnTo>
                    <a:pt x="26" y="77"/>
                  </a:lnTo>
                  <a:lnTo>
                    <a:pt x="26" y="77"/>
                  </a:lnTo>
                  <a:lnTo>
                    <a:pt x="19" y="77"/>
                  </a:lnTo>
                  <a:lnTo>
                    <a:pt x="38" y="0"/>
                  </a:lnTo>
                  <a:lnTo>
                    <a:pt x="45" y="0"/>
                  </a:lnTo>
                  <a:lnTo>
                    <a:pt x="45" y="6"/>
                  </a:lnTo>
                  <a:lnTo>
                    <a:pt x="26" y="6"/>
                  </a:lnTo>
                  <a:lnTo>
                    <a:pt x="26" y="0"/>
                  </a:lnTo>
                  <a:close/>
                </a:path>
              </a:pathLst>
            </a:custGeom>
            <a:blipFill rotWithShape="0">
              <a:blip r:embed="rId1"/>
            </a:blipFill>
            <a:ln w="19050" cap="flat" cmpd="sng">
              <a:solidFill>
                <a:srgbClr val="000000"/>
              </a:solidFill>
              <a:prstDash val="solid"/>
              <a:headEnd type="none" w="med" len="med"/>
              <a:tailEnd type="none" w="med" len="med"/>
            </a:ln>
          </p:spPr>
          <p:txBody>
            <a:bodyPr/>
            <a:lstStyle/>
            <a:p>
              <a:endParaRPr lang="zh-CN" altLang="en-US" sz="1500"/>
            </a:p>
          </p:txBody>
        </p:sp>
        <p:sp>
          <p:nvSpPr>
            <p:cNvPr id="399474" name="任意多边形 399473"/>
            <p:cNvSpPr/>
            <p:nvPr/>
          </p:nvSpPr>
          <p:spPr>
            <a:xfrm>
              <a:off x="3419" y="2207"/>
              <a:ext cx="20" cy="6"/>
            </a:xfrm>
            <a:custGeom>
              <a:avLst/>
              <a:gdLst/>
              <a:ahLst/>
              <a:cxnLst/>
              <a:rect l="0" t="0" r="0" b="0"/>
              <a:pathLst>
                <a:path w="20" h="6">
                  <a:moveTo>
                    <a:pt x="0" y="0"/>
                  </a:moveTo>
                  <a:lnTo>
                    <a:pt x="20" y="0"/>
                  </a:lnTo>
                  <a:lnTo>
                    <a:pt x="20" y="6"/>
                  </a:lnTo>
                  <a:lnTo>
                    <a:pt x="20" y="6"/>
                  </a:lnTo>
                  <a:lnTo>
                    <a:pt x="20" y="6"/>
                  </a:lnTo>
                  <a:lnTo>
                    <a:pt x="0" y="6"/>
                  </a:lnTo>
                  <a:lnTo>
                    <a:pt x="0" y="0"/>
                  </a:lnTo>
                  <a:close/>
                </a:path>
              </a:pathLst>
            </a:custGeom>
            <a:blipFill rotWithShape="0">
              <a:blip r:embed="rId1"/>
            </a:blipFill>
            <a:ln w="19050" cap="flat" cmpd="sng">
              <a:solidFill>
                <a:srgbClr val="000000"/>
              </a:solidFill>
              <a:prstDash val="solid"/>
              <a:headEnd type="none" w="med" len="med"/>
              <a:tailEnd type="none" w="med" len="med"/>
            </a:ln>
          </p:spPr>
          <p:txBody>
            <a:bodyPr/>
            <a:lstStyle/>
            <a:p>
              <a:endParaRPr lang="zh-CN" altLang="en-US" sz="1500"/>
            </a:p>
          </p:txBody>
        </p:sp>
        <p:sp>
          <p:nvSpPr>
            <p:cNvPr id="399475" name="任意多边形 399474"/>
            <p:cNvSpPr/>
            <p:nvPr/>
          </p:nvSpPr>
          <p:spPr>
            <a:xfrm>
              <a:off x="3419" y="2207"/>
              <a:ext cx="39" cy="77"/>
            </a:xfrm>
            <a:custGeom>
              <a:avLst/>
              <a:gdLst/>
              <a:ahLst/>
              <a:cxnLst/>
              <a:rect l="0" t="0" r="0" b="0"/>
              <a:pathLst>
                <a:path w="39" h="77">
                  <a:moveTo>
                    <a:pt x="20" y="0"/>
                  </a:moveTo>
                  <a:lnTo>
                    <a:pt x="39" y="0"/>
                  </a:lnTo>
                  <a:lnTo>
                    <a:pt x="20" y="77"/>
                  </a:lnTo>
                  <a:lnTo>
                    <a:pt x="0" y="0"/>
                  </a:lnTo>
                  <a:lnTo>
                    <a:pt x="20" y="0"/>
                  </a:lnTo>
                  <a:close/>
                </a:path>
              </a:pathLst>
            </a:custGeom>
            <a:blipFill rotWithShape="0">
              <a:blip r:embed="rId1"/>
            </a:blipFill>
            <a:ln w="19050" cap="flat" cmpd="sng">
              <a:solidFill>
                <a:srgbClr val="000000"/>
              </a:solidFill>
              <a:prstDash val="solid"/>
              <a:headEnd type="none" w="med" len="med"/>
              <a:tailEnd type="none" w="med" len="med"/>
            </a:ln>
          </p:spPr>
          <p:txBody>
            <a:bodyPr/>
            <a:lstStyle/>
            <a:p>
              <a:endParaRPr lang="zh-CN" altLang="en-US" sz="1500"/>
            </a:p>
          </p:txBody>
        </p:sp>
        <p:sp>
          <p:nvSpPr>
            <p:cNvPr id="399476" name="任意多边形 399475"/>
            <p:cNvSpPr/>
            <p:nvPr/>
          </p:nvSpPr>
          <p:spPr>
            <a:xfrm>
              <a:off x="2926" y="1305"/>
              <a:ext cx="500" cy="577"/>
            </a:xfrm>
            <a:custGeom>
              <a:avLst/>
              <a:gdLst/>
              <a:ahLst/>
              <a:cxnLst/>
              <a:rect l="0" t="0" r="0" b="0"/>
              <a:pathLst>
                <a:path w="500" h="577">
                  <a:moveTo>
                    <a:pt x="0" y="45"/>
                  </a:moveTo>
                  <a:lnTo>
                    <a:pt x="0" y="0"/>
                  </a:lnTo>
                  <a:lnTo>
                    <a:pt x="7" y="0"/>
                  </a:lnTo>
                  <a:lnTo>
                    <a:pt x="7" y="0"/>
                  </a:lnTo>
                  <a:lnTo>
                    <a:pt x="7" y="156"/>
                  </a:lnTo>
                  <a:lnTo>
                    <a:pt x="7" y="156"/>
                  </a:lnTo>
                  <a:lnTo>
                    <a:pt x="7" y="156"/>
                  </a:lnTo>
                  <a:lnTo>
                    <a:pt x="13" y="259"/>
                  </a:lnTo>
                  <a:lnTo>
                    <a:pt x="13" y="259"/>
                  </a:lnTo>
                  <a:lnTo>
                    <a:pt x="13" y="259"/>
                  </a:lnTo>
                  <a:lnTo>
                    <a:pt x="39" y="324"/>
                  </a:lnTo>
                  <a:lnTo>
                    <a:pt x="33" y="324"/>
                  </a:lnTo>
                  <a:lnTo>
                    <a:pt x="33" y="324"/>
                  </a:lnTo>
                  <a:lnTo>
                    <a:pt x="111" y="363"/>
                  </a:lnTo>
                  <a:lnTo>
                    <a:pt x="111" y="363"/>
                  </a:lnTo>
                  <a:lnTo>
                    <a:pt x="111" y="363"/>
                  </a:lnTo>
                  <a:lnTo>
                    <a:pt x="260" y="409"/>
                  </a:lnTo>
                  <a:lnTo>
                    <a:pt x="260" y="409"/>
                  </a:lnTo>
                  <a:lnTo>
                    <a:pt x="260" y="409"/>
                  </a:lnTo>
                  <a:lnTo>
                    <a:pt x="396" y="454"/>
                  </a:lnTo>
                  <a:lnTo>
                    <a:pt x="402" y="454"/>
                  </a:lnTo>
                  <a:lnTo>
                    <a:pt x="402" y="454"/>
                  </a:lnTo>
                  <a:lnTo>
                    <a:pt x="448" y="486"/>
                  </a:lnTo>
                  <a:lnTo>
                    <a:pt x="448" y="486"/>
                  </a:lnTo>
                  <a:lnTo>
                    <a:pt x="448" y="486"/>
                  </a:lnTo>
                  <a:lnTo>
                    <a:pt x="480" y="525"/>
                  </a:lnTo>
                  <a:lnTo>
                    <a:pt x="480" y="525"/>
                  </a:lnTo>
                  <a:lnTo>
                    <a:pt x="480" y="525"/>
                  </a:lnTo>
                  <a:lnTo>
                    <a:pt x="500" y="577"/>
                  </a:lnTo>
                  <a:lnTo>
                    <a:pt x="500" y="577"/>
                  </a:lnTo>
                  <a:lnTo>
                    <a:pt x="493" y="577"/>
                  </a:lnTo>
                  <a:lnTo>
                    <a:pt x="493" y="577"/>
                  </a:lnTo>
                  <a:lnTo>
                    <a:pt x="474" y="525"/>
                  </a:lnTo>
                  <a:lnTo>
                    <a:pt x="474" y="525"/>
                  </a:lnTo>
                  <a:lnTo>
                    <a:pt x="474" y="532"/>
                  </a:lnTo>
                  <a:lnTo>
                    <a:pt x="441" y="493"/>
                  </a:lnTo>
                  <a:lnTo>
                    <a:pt x="441" y="493"/>
                  </a:lnTo>
                  <a:lnTo>
                    <a:pt x="441" y="493"/>
                  </a:lnTo>
                  <a:lnTo>
                    <a:pt x="396" y="461"/>
                  </a:lnTo>
                  <a:lnTo>
                    <a:pt x="396" y="461"/>
                  </a:lnTo>
                  <a:lnTo>
                    <a:pt x="396" y="461"/>
                  </a:lnTo>
                  <a:lnTo>
                    <a:pt x="260" y="415"/>
                  </a:lnTo>
                  <a:lnTo>
                    <a:pt x="260" y="415"/>
                  </a:lnTo>
                  <a:lnTo>
                    <a:pt x="260" y="415"/>
                  </a:lnTo>
                  <a:lnTo>
                    <a:pt x="111" y="370"/>
                  </a:lnTo>
                  <a:lnTo>
                    <a:pt x="111" y="370"/>
                  </a:lnTo>
                  <a:lnTo>
                    <a:pt x="111" y="370"/>
                  </a:lnTo>
                  <a:lnTo>
                    <a:pt x="33" y="331"/>
                  </a:lnTo>
                  <a:lnTo>
                    <a:pt x="33" y="331"/>
                  </a:lnTo>
                  <a:lnTo>
                    <a:pt x="33" y="324"/>
                  </a:lnTo>
                  <a:lnTo>
                    <a:pt x="7" y="259"/>
                  </a:lnTo>
                  <a:lnTo>
                    <a:pt x="7" y="259"/>
                  </a:lnTo>
                  <a:lnTo>
                    <a:pt x="7" y="259"/>
                  </a:lnTo>
                  <a:lnTo>
                    <a:pt x="0" y="156"/>
                  </a:lnTo>
                  <a:lnTo>
                    <a:pt x="0" y="156"/>
                  </a:lnTo>
                  <a:lnTo>
                    <a:pt x="0" y="156"/>
                  </a:lnTo>
                  <a:lnTo>
                    <a:pt x="0" y="0"/>
                  </a:lnTo>
                  <a:lnTo>
                    <a:pt x="0" y="0"/>
                  </a:lnTo>
                  <a:lnTo>
                    <a:pt x="7" y="0"/>
                  </a:lnTo>
                  <a:lnTo>
                    <a:pt x="7" y="45"/>
                  </a:lnTo>
                  <a:lnTo>
                    <a:pt x="0" y="45"/>
                  </a:lnTo>
                  <a:close/>
                </a:path>
              </a:pathLst>
            </a:custGeom>
            <a:blipFill rotWithShape="0">
              <a:blip r:embed="rId1"/>
            </a:blipFill>
            <a:ln w="19050" cap="flat" cmpd="sng">
              <a:solidFill>
                <a:srgbClr val="000000"/>
              </a:solidFill>
              <a:prstDash val="solid"/>
              <a:headEnd type="none" w="med" len="med"/>
              <a:tailEnd type="none" w="med" len="med"/>
            </a:ln>
          </p:spPr>
          <p:txBody>
            <a:bodyPr/>
            <a:lstStyle/>
            <a:p>
              <a:endParaRPr lang="zh-CN" altLang="en-US" sz="1500"/>
            </a:p>
          </p:txBody>
        </p:sp>
        <p:sp>
          <p:nvSpPr>
            <p:cNvPr id="399477" name="任意多边形 399476"/>
            <p:cNvSpPr/>
            <p:nvPr/>
          </p:nvSpPr>
          <p:spPr>
            <a:xfrm>
              <a:off x="3419" y="1882"/>
              <a:ext cx="20" cy="78"/>
            </a:xfrm>
            <a:custGeom>
              <a:avLst/>
              <a:gdLst/>
              <a:ahLst/>
              <a:cxnLst/>
              <a:rect l="0" t="0" r="0" b="0"/>
              <a:pathLst>
                <a:path w="20" h="78">
                  <a:moveTo>
                    <a:pt x="7" y="0"/>
                  </a:moveTo>
                  <a:lnTo>
                    <a:pt x="20" y="78"/>
                  </a:lnTo>
                  <a:lnTo>
                    <a:pt x="20" y="78"/>
                  </a:lnTo>
                  <a:lnTo>
                    <a:pt x="13" y="78"/>
                  </a:lnTo>
                  <a:lnTo>
                    <a:pt x="13" y="78"/>
                  </a:lnTo>
                  <a:lnTo>
                    <a:pt x="0" y="0"/>
                  </a:lnTo>
                  <a:lnTo>
                    <a:pt x="7" y="0"/>
                  </a:lnTo>
                  <a:close/>
                </a:path>
              </a:pathLst>
            </a:custGeom>
            <a:blipFill rotWithShape="0">
              <a:blip r:embed="rId1"/>
            </a:blipFill>
            <a:ln w="19050" cap="flat" cmpd="sng">
              <a:solidFill>
                <a:srgbClr val="000000"/>
              </a:solidFill>
              <a:prstDash val="solid"/>
              <a:headEnd type="none" w="med" len="med"/>
              <a:tailEnd type="none" w="med" len="med"/>
            </a:ln>
          </p:spPr>
          <p:txBody>
            <a:bodyPr/>
            <a:lstStyle/>
            <a:p>
              <a:endParaRPr lang="zh-CN" altLang="en-US" sz="1500"/>
            </a:p>
          </p:txBody>
        </p:sp>
        <p:sp>
          <p:nvSpPr>
            <p:cNvPr id="399478" name="任意多边形 399477"/>
            <p:cNvSpPr/>
            <p:nvPr/>
          </p:nvSpPr>
          <p:spPr>
            <a:xfrm>
              <a:off x="3432" y="1960"/>
              <a:ext cx="13" cy="247"/>
            </a:xfrm>
            <a:custGeom>
              <a:avLst/>
              <a:gdLst/>
              <a:ahLst/>
              <a:cxnLst/>
              <a:rect l="0" t="0" r="0" b="0"/>
              <a:pathLst>
                <a:path w="13" h="247">
                  <a:moveTo>
                    <a:pt x="7" y="0"/>
                  </a:moveTo>
                  <a:lnTo>
                    <a:pt x="0" y="0"/>
                  </a:lnTo>
                  <a:lnTo>
                    <a:pt x="7" y="247"/>
                  </a:lnTo>
                  <a:lnTo>
                    <a:pt x="13" y="247"/>
                  </a:lnTo>
                  <a:lnTo>
                    <a:pt x="7" y="0"/>
                  </a:lnTo>
                  <a:close/>
                </a:path>
              </a:pathLst>
            </a:custGeom>
            <a:blipFill rotWithShape="0">
              <a:blip r:embed="rId1"/>
            </a:blipFill>
            <a:ln w="19050" cap="flat" cmpd="sng">
              <a:solidFill>
                <a:srgbClr val="000000"/>
              </a:solidFill>
              <a:prstDash val="solid"/>
              <a:headEnd type="none" w="med" len="med"/>
              <a:tailEnd type="none" w="med" len="med"/>
            </a:ln>
          </p:spPr>
          <p:txBody>
            <a:bodyPr/>
            <a:lstStyle/>
            <a:p>
              <a:endParaRPr lang="zh-CN" altLang="en-US" sz="1500"/>
            </a:p>
          </p:txBody>
        </p:sp>
        <p:sp>
          <p:nvSpPr>
            <p:cNvPr id="399479" name="矩形 399478"/>
            <p:cNvSpPr/>
            <p:nvPr/>
          </p:nvSpPr>
          <p:spPr>
            <a:xfrm>
              <a:off x="2797" y="1098"/>
              <a:ext cx="180" cy="126"/>
            </a:xfrm>
            <a:prstGeom prst="rect">
              <a:avLst/>
            </a:prstGeom>
            <a:noFill/>
            <a:ln w="19050">
              <a:noFill/>
            </a:ln>
          </p:spPr>
          <p:txBody>
            <a:bodyPr wrap="none" lIns="0" tIns="0" rIns="0" bIns="0">
              <a:spAutoFit/>
            </a:bodyPr>
            <a:lstStyle/>
            <a:p>
              <a:r>
                <a:rPr lang="en-US" altLang="zh-CN" sz="1085" i="0" err="1">
                  <a:solidFill>
                    <a:srgbClr val="000000"/>
                  </a:solidFill>
                  <a:latin typeface="Times New Roman" panose="02020603050405020304" pitchFamily="18" charset="0"/>
                </a:rPr>
                <a:t>Vdd</a:t>
              </a:r>
              <a:endParaRPr lang="en-US" altLang="zh-CN" sz="3665" i="0">
                <a:solidFill>
                  <a:srgbClr val="0000B6"/>
                </a:solidFill>
                <a:latin typeface="Book Antiqua" panose="02040602050305030304" pitchFamily="18" charset="0"/>
              </a:endParaRPr>
            </a:p>
          </p:txBody>
        </p:sp>
      </p:grpSp>
      <p:sp>
        <p:nvSpPr>
          <p:cNvPr id="399363" name="矩形 399362"/>
          <p:cNvSpPr/>
          <p:nvPr/>
        </p:nvSpPr>
        <p:spPr>
          <a:xfrm>
            <a:off x="4590521" y="3004397"/>
            <a:ext cx="9261" cy="0"/>
          </a:xfrm>
          <a:prstGeom prst="rect">
            <a:avLst/>
          </a:prstGeom>
          <a:blipFill rotWithShape="0">
            <a:blip r:embed="rId1"/>
          </a:blipFill>
          <a:ln w="9525">
            <a:noFill/>
          </a:ln>
        </p:spPr>
        <p:txBody>
          <a:bodyPr/>
          <a:lstStyle/>
          <a:p>
            <a:endParaRPr lang="zh-CN" altLang="en-US" sz="1500"/>
          </a:p>
        </p:txBody>
      </p:sp>
      <p:sp>
        <p:nvSpPr>
          <p:cNvPr id="399365" name="矩形 399364"/>
          <p:cNvSpPr/>
          <p:nvPr/>
        </p:nvSpPr>
        <p:spPr>
          <a:xfrm>
            <a:off x="4333875" y="3201512"/>
            <a:ext cx="7938" cy="0"/>
          </a:xfrm>
          <a:prstGeom prst="rect">
            <a:avLst/>
          </a:prstGeom>
          <a:blipFill rotWithShape="0">
            <a:blip r:embed="rId1"/>
          </a:blipFill>
          <a:ln w="9525">
            <a:noFill/>
          </a:ln>
        </p:spPr>
        <p:txBody>
          <a:bodyPr/>
          <a:lstStyle/>
          <a:p>
            <a:endParaRPr lang="zh-CN" altLang="en-US" sz="1500"/>
          </a:p>
        </p:txBody>
      </p:sp>
      <p:sp>
        <p:nvSpPr>
          <p:cNvPr id="399372" name="矩形 399371"/>
          <p:cNvSpPr/>
          <p:nvPr/>
        </p:nvSpPr>
        <p:spPr>
          <a:xfrm>
            <a:off x="4717521" y="3131397"/>
            <a:ext cx="9261" cy="0"/>
          </a:xfrm>
          <a:prstGeom prst="rect">
            <a:avLst/>
          </a:prstGeom>
          <a:blipFill rotWithShape="0">
            <a:blip r:embed="rId1"/>
          </a:blipFill>
          <a:ln w="9525">
            <a:noFill/>
          </a:ln>
        </p:spPr>
        <p:txBody>
          <a:bodyPr/>
          <a:lstStyle/>
          <a:p>
            <a:endParaRPr lang="zh-CN" altLang="en-US" sz="1500"/>
          </a:p>
        </p:txBody>
      </p:sp>
      <p:sp>
        <p:nvSpPr>
          <p:cNvPr id="399388" name="矩形 399387"/>
          <p:cNvSpPr/>
          <p:nvPr/>
        </p:nvSpPr>
        <p:spPr>
          <a:xfrm>
            <a:off x="5070740" y="3107584"/>
            <a:ext cx="9260" cy="0"/>
          </a:xfrm>
          <a:prstGeom prst="rect">
            <a:avLst/>
          </a:prstGeom>
          <a:blipFill rotWithShape="0">
            <a:blip r:embed="rId1"/>
          </a:blipFill>
          <a:ln w="9525">
            <a:noFill/>
          </a:ln>
        </p:spPr>
        <p:txBody>
          <a:bodyPr/>
          <a:lstStyle/>
          <a:p>
            <a:endParaRPr lang="zh-CN" altLang="en-US" sz="1500"/>
          </a:p>
        </p:txBody>
      </p:sp>
      <p:sp>
        <p:nvSpPr>
          <p:cNvPr id="399389" name="矩形 399388"/>
          <p:cNvSpPr/>
          <p:nvPr/>
        </p:nvSpPr>
        <p:spPr>
          <a:xfrm>
            <a:off x="4976813" y="3107584"/>
            <a:ext cx="0" cy="7938"/>
          </a:xfrm>
          <a:prstGeom prst="rect">
            <a:avLst/>
          </a:prstGeom>
          <a:blipFill rotWithShape="0">
            <a:blip r:embed="rId1"/>
          </a:blipFill>
          <a:ln w="9525">
            <a:noFill/>
          </a:ln>
        </p:spPr>
        <p:txBody>
          <a:bodyPr/>
          <a:lstStyle/>
          <a:p>
            <a:endParaRPr lang="zh-CN" altLang="en-US" sz="1500"/>
          </a:p>
        </p:txBody>
      </p:sp>
      <p:sp>
        <p:nvSpPr>
          <p:cNvPr id="399390" name="矩形 399389"/>
          <p:cNvSpPr/>
          <p:nvPr/>
        </p:nvSpPr>
        <p:spPr>
          <a:xfrm>
            <a:off x="5164667" y="3107584"/>
            <a:ext cx="0" cy="7938"/>
          </a:xfrm>
          <a:prstGeom prst="rect">
            <a:avLst/>
          </a:prstGeom>
          <a:blipFill rotWithShape="0">
            <a:blip r:embed="rId1"/>
          </a:blipFill>
          <a:ln w="9525">
            <a:noFill/>
          </a:ln>
        </p:spPr>
        <p:txBody>
          <a:bodyPr/>
          <a:lstStyle/>
          <a:p>
            <a:endParaRPr lang="zh-CN" altLang="en-US" sz="1500"/>
          </a:p>
        </p:txBody>
      </p:sp>
      <p:sp>
        <p:nvSpPr>
          <p:cNvPr id="399391" name="矩形 399390"/>
          <p:cNvSpPr/>
          <p:nvPr/>
        </p:nvSpPr>
        <p:spPr>
          <a:xfrm>
            <a:off x="4976813" y="3159178"/>
            <a:ext cx="0" cy="7938"/>
          </a:xfrm>
          <a:prstGeom prst="rect">
            <a:avLst/>
          </a:prstGeom>
          <a:blipFill rotWithShape="0">
            <a:blip r:embed="rId1"/>
          </a:blipFill>
          <a:ln w="9525">
            <a:noFill/>
          </a:ln>
        </p:spPr>
        <p:txBody>
          <a:bodyPr/>
          <a:lstStyle/>
          <a:p>
            <a:endParaRPr lang="zh-CN" altLang="en-US" sz="1500"/>
          </a:p>
        </p:txBody>
      </p:sp>
      <p:sp>
        <p:nvSpPr>
          <p:cNvPr id="399392" name="矩形 399391"/>
          <p:cNvSpPr/>
          <p:nvPr/>
        </p:nvSpPr>
        <p:spPr>
          <a:xfrm>
            <a:off x="5164667" y="3159178"/>
            <a:ext cx="0" cy="7938"/>
          </a:xfrm>
          <a:prstGeom prst="rect">
            <a:avLst/>
          </a:prstGeom>
          <a:blipFill rotWithShape="0">
            <a:blip r:embed="rId1"/>
          </a:blipFill>
          <a:ln w="9525">
            <a:noFill/>
          </a:ln>
        </p:spPr>
        <p:txBody>
          <a:bodyPr/>
          <a:lstStyle/>
          <a:p>
            <a:endParaRPr lang="zh-CN" altLang="en-US" sz="1500"/>
          </a:p>
        </p:txBody>
      </p:sp>
      <p:sp>
        <p:nvSpPr>
          <p:cNvPr id="399399" name="矩形 399398"/>
          <p:cNvSpPr/>
          <p:nvPr/>
        </p:nvSpPr>
        <p:spPr>
          <a:xfrm>
            <a:off x="5070740" y="3159178"/>
            <a:ext cx="9260" cy="0"/>
          </a:xfrm>
          <a:prstGeom prst="rect">
            <a:avLst/>
          </a:prstGeom>
          <a:blipFill rotWithShape="0">
            <a:blip r:embed="rId1"/>
          </a:blipFill>
          <a:ln w="9525">
            <a:noFill/>
          </a:ln>
        </p:spPr>
        <p:txBody>
          <a:bodyPr/>
          <a:lstStyle/>
          <a:p>
            <a:endParaRPr lang="zh-CN" altLang="en-US" sz="1500"/>
          </a:p>
        </p:txBody>
      </p:sp>
      <p:sp>
        <p:nvSpPr>
          <p:cNvPr id="399402" name="矩形 399401"/>
          <p:cNvSpPr/>
          <p:nvPr/>
        </p:nvSpPr>
        <p:spPr>
          <a:xfrm>
            <a:off x="3381375" y="3141980"/>
            <a:ext cx="0" cy="7938"/>
          </a:xfrm>
          <a:prstGeom prst="rect">
            <a:avLst/>
          </a:prstGeom>
          <a:blipFill rotWithShape="0">
            <a:blip r:embed="rId1"/>
          </a:blipFill>
          <a:ln w="9525">
            <a:noFill/>
          </a:ln>
        </p:spPr>
        <p:txBody>
          <a:bodyPr/>
          <a:lstStyle/>
          <a:p>
            <a:endParaRPr lang="zh-CN" altLang="en-US" sz="1500"/>
          </a:p>
        </p:txBody>
      </p:sp>
      <p:sp>
        <p:nvSpPr>
          <p:cNvPr id="399404" name="矩形 399403"/>
          <p:cNvSpPr/>
          <p:nvPr/>
        </p:nvSpPr>
        <p:spPr>
          <a:xfrm>
            <a:off x="5464969" y="3141980"/>
            <a:ext cx="0" cy="7938"/>
          </a:xfrm>
          <a:prstGeom prst="rect">
            <a:avLst/>
          </a:prstGeom>
          <a:blipFill rotWithShape="0">
            <a:blip r:embed="rId1"/>
          </a:blipFill>
          <a:ln w="9525">
            <a:noFill/>
          </a:ln>
        </p:spPr>
        <p:txBody>
          <a:bodyPr/>
          <a:lstStyle/>
          <a:p>
            <a:endParaRPr lang="zh-CN" altLang="en-US" sz="1500"/>
          </a:p>
        </p:txBody>
      </p:sp>
      <p:grpSp>
        <p:nvGrpSpPr>
          <p:cNvPr id="5" name="组合 4"/>
          <p:cNvGrpSpPr/>
          <p:nvPr/>
        </p:nvGrpSpPr>
        <p:grpSpPr>
          <a:xfrm>
            <a:off x="2519045" y="3636645"/>
            <a:ext cx="4000500" cy="2022475"/>
            <a:chOff x="3867" y="5246"/>
            <a:chExt cx="6300" cy="3185"/>
          </a:xfrm>
        </p:grpSpPr>
        <p:sp>
          <p:nvSpPr>
            <p:cNvPr id="399374" name="矩形 399373"/>
            <p:cNvSpPr/>
            <p:nvPr/>
          </p:nvSpPr>
          <p:spPr>
            <a:xfrm>
              <a:off x="6798" y="5246"/>
              <a:ext cx="0" cy="13"/>
            </a:xfrm>
            <a:prstGeom prst="rect">
              <a:avLst/>
            </a:prstGeom>
            <a:blipFill rotWithShape="0">
              <a:blip r:embed="rId1"/>
            </a:blipFill>
            <a:ln w="9525">
              <a:noFill/>
            </a:ln>
          </p:spPr>
          <p:txBody>
            <a:bodyPr/>
            <a:lstStyle/>
            <a:p>
              <a:endParaRPr lang="zh-CN" altLang="en-US" sz="1500"/>
            </a:p>
          </p:txBody>
        </p:sp>
        <p:sp>
          <p:nvSpPr>
            <p:cNvPr id="399406" name="矩形 399405"/>
            <p:cNvSpPr/>
            <p:nvPr/>
          </p:nvSpPr>
          <p:spPr>
            <a:xfrm>
              <a:off x="8365" y="5246"/>
              <a:ext cx="13" cy="0"/>
            </a:xfrm>
            <a:prstGeom prst="rect">
              <a:avLst/>
            </a:prstGeom>
            <a:blipFill rotWithShape="0">
              <a:blip r:embed="rId1"/>
            </a:blipFill>
            <a:ln w="9525">
              <a:noFill/>
            </a:ln>
          </p:spPr>
          <p:txBody>
            <a:bodyPr/>
            <a:lstStyle/>
            <a:p>
              <a:endParaRPr lang="zh-CN" altLang="en-US" sz="1500"/>
            </a:p>
          </p:txBody>
        </p:sp>
        <p:grpSp>
          <p:nvGrpSpPr>
            <p:cNvPr id="3" name="组合 2"/>
            <p:cNvGrpSpPr/>
            <p:nvPr/>
          </p:nvGrpSpPr>
          <p:grpSpPr>
            <a:xfrm>
              <a:off x="4928" y="6290"/>
              <a:ext cx="4549" cy="1093"/>
              <a:chOff x="5121" y="5379"/>
              <a:chExt cx="4549" cy="1093"/>
            </a:xfrm>
          </p:grpSpPr>
          <p:sp>
            <p:nvSpPr>
              <p:cNvPr id="399364" name="矩形 399363"/>
              <p:cNvSpPr/>
              <p:nvPr/>
            </p:nvSpPr>
            <p:spPr>
              <a:xfrm>
                <a:off x="7229" y="5800"/>
                <a:ext cx="15" cy="0"/>
              </a:xfrm>
              <a:prstGeom prst="rect">
                <a:avLst/>
              </a:prstGeom>
              <a:blipFill rotWithShape="0">
                <a:blip r:embed="rId1"/>
              </a:blipFill>
              <a:ln w="9525">
                <a:noFill/>
              </a:ln>
            </p:spPr>
            <p:txBody>
              <a:bodyPr/>
              <a:lstStyle/>
              <a:p>
                <a:endParaRPr lang="zh-CN" altLang="en-US" sz="1500"/>
              </a:p>
            </p:txBody>
          </p:sp>
          <p:sp>
            <p:nvSpPr>
              <p:cNvPr id="399366" name="矩形 399365"/>
              <p:cNvSpPr/>
              <p:nvPr/>
            </p:nvSpPr>
            <p:spPr>
              <a:xfrm>
                <a:off x="6825" y="5502"/>
                <a:ext cx="13" cy="0"/>
              </a:xfrm>
              <a:prstGeom prst="rect">
                <a:avLst/>
              </a:prstGeom>
              <a:blipFill rotWithShape="0">
                <a:blip r:embed="rId1"/>
              </a:blipFill>
              <a:ln w="9525">
                <a:noFill/>
              </a:ln>
            </p:spPr>
            <p:txBody>
              <a:bodyPr/>
              <a:lstStyle/>
              <a:p>
                <a:endParaRPr lang="zh-CN" altLang="en-US" sz="1500"/>
              </a:p>
            </p:txBody>
          </p:sp>
          <p:sp>
            <p:nvSpPr>
              <p:cNvPr id="399377" name="矩形 399376"/>
              <p:cNvSpPr/>
              <p:nvPr/>
            </p:nvSpPr>
            <p:spPr>
              <a:xfrm>
                <a:off x="7081" y="5840"/>
                <a:ext cx="0" cy="13"/>
              </a:xfrm>
              <a:prstGeom prst="rect">
                <a:avLst/>
              </a:prstGeom>
              <a:blipFill rotWithShape="0">
                <a:blip r:embed="rId1"/>
              </a:blipFill>
              <a:ln w="9525">
                <a:noFill/>
              </a:ln>
            </p:spPr>
            <p:txBody>
              <a:bodyPr/>
              <a:lstStyle/>
              <a:p>
                <a:endParaRPr lang="zh-CN" altLang="en-US" sz="1500"/>
              </a:p>
            </p:txBody>
          </p:sp>
          <p:sp>
            <p:nvSpPr>
              <p:cNvPr id="399378" name="矩形 399377"/>
              <p:cNvSpPr/>
              <p:nvPr/>
            </p:nvSpPr>
            <p:spPr>
              <a:xfrm>
                <a:off x="7377" y="5840"/>
                <a:ext cx="0" cy="13"/>
              </a:xfrm>
              <a:prstGeom prst="rect">
                <a:avLst/>
              </a:prstGeom>
              <a:blipFill rotWithShape="0">
                <a:blip r:embed="rId1"/>
              </a:blipFill>
              <a:ln w="9525">
                <a:noFill/>
              </a:ln>
            </p:spPr>
            <p:txBody>
              <a:bodyPr/>
              <a:lstStyle/>
              <a:p>
                <a:endParaRPr lang="zh-CN" altLang="en-US" sz="1500"/>
              </a:p>
            </p:txBody>
          </p:sp>
          <p:sp>
            <p:nvSpPr>
              <p:cNvPr id="399379" name="矩形 399378"/>
              <p:cNvSpPr/>
              <p:nvPr/>
            </p:nvSpPr>
            <p:spPr>
              <a:xfrm>
                <a:off x="7148" y="5906"/>
                <a:ext cx="0" cy="15"/>
              </a:xfrm>
              <a:prstGeom prst="rect">
                <a:avLst/>
              </a:prstGeom>
              <a:blipFill rotWithShape="0">
                <a:blip r:embed="rId1"/>
              </a:blipFill>
              <a:ln w="9525">
                <a:noFill/>
              </a:ln>
            </p:spPr>
            <p:txBody>
              <a:bodyPr/>
              <a:lstStyle/>
              <a:p>
                <a:endParaRPr lang="zh-CN" altLang="en-US" sz="1500"/>
              </a:p>
            </p:txBody>
          </p:sp>
          <p:sp>
            <p:nvSpPr>
              <p:cNvPr id="399380" name="矩形 399379"/>
              <p:cNvSpPr/>
              <p:nvPr/>
            </p:nvSpPr>
            <p:spPr>
              <a:xfrm>
                <a:off x="7310" y="5906"/>
                <a:ext cx="0" cy="15"/>
              </a:xfrm>
              <a:prstGeom prst="rect">
                <a:avLst/>
              </a:prstGeom>
              <a:blipFill rotWithShape="0">
                <a:blip r:embed="rId1"/>
              </a:blipFill>
              <a:ln w="9525">
                <a:noFill/>
              </a:ln>
            </p:spPr>
            <p:txBody>
              <a:bodyPr/>
              <a:lstStyle/>
              <a:p>
                <a:endParaRPr lang="zh-CN" altLang="en-US" sz="1500"/>
              </a:p>
            </p:txBody>
          </p:sp>
          <p:sp>
            <p:nvSpPr>
              <p:cNvPr id="399381" name="矩形 399380"/>
              <p:cNvSpPr/>
              <p:nvPr/>
            </p:nvSpPr>
            <p:spPr>
              <a:xfrm>
                <a:off x="7202" y="5961"/>
                <a:ext cx="0" cy="15"/>
              </a:xfrm>
              <a:prstGeom prst="rect">
                <a:avLst/>
              </a:prstGeom>
              <a:blipFill rotWithShape="0">
                <a:blip r:embed="rId1"/>
              </a:blipFill>
              <a:ln w="9525">
                <a:noFill/>
              </a:ln>
            </p:spPr>
            <p:txBody>
              <a:bodyPr/>
              <a:lstStyle/>
              <a:p>
                <a:endParaRPr lang="zh-CN" altLang="en-US" sz="1500"/>
              </a:p>
            </p:txBody>
          </p:sp>
          <p:sp>
            <p:nvSpPr>
              <p:cNvPr id="399382" name="矩形 399381"/>
              <p:cNvSpPr/>
              <p:nvPr/>
            </p:nvSpPr>
            <p:spPr>
              <a:xfrm>
                <a:off x="7256" y="5961"/>
                <a:ext cx="0" cy="15"/>
              </a:xfrm>
              <a:prstGeom prst="rect">
                <a:avLst/>
              </a:prstGeom>
              <a:blipFill rotWithShape="0">
                <a:blip r:embed="rId1"/>
              </a:blipFill>
              <a:ln w="9525">
                <a:noFill/>
              </a:ln>
            </p:spPr>
            <p:txBody>
              <a:bodyPr/>
              <a:lstStyle/>
              <a:p>
                <a:endParaRPr lang="zh-CN" altLang="en-US" sz="1500"/>
              </a:p>
            </p:txBody>
          </p:sp>
          <p:sp>
            <p:nvSpPr>
              <p:cNvPr id="399393" name="矩形 399392"/>
              <p:cNvSpPr/>
              <p:nvPr/>
            </p:nvSpPr>
            <p:spPr>
              <a:xfrm>
                <a:off x="7838" y="5596"/>
                <a:ext cx="0" cy="15"/>
              </a:xfrm>
              <a:prstGeom prst="rect">
                <a:avLst/>
              </a:prstGeom>
              <a:blipFill rotWithShape="0">
                <a:blip r:embed="rId1"/>
              </a:blipFill>
              <a:ln w="9525">
                <a:noFill/>
              </a:ln>
            </p:spPr>
            <p:txBody>
              <a:bodyPr/>
              <a:lstStyle/>
              <a:p>
                <a:endParaRPr lang="zh-CN" altLang="en-US" sz="1500"/>
              </a:p>
            </p:txBody>
          </p:sp>
          <p:sp>
            <p:nvSpPr>
              <p:cNvPr id="399394" name="矩形 399393"/>
              <p:cNvSpPr/>
              <p:nvPr/>
            </p:nvSpPr>
            <p:spPr>
              <a:xfrm>
                <a:off x="8133" y="5596"/>
                <a:ext cx="0" cy="15"/>
              </a:xfrm>
              <a:prstGeom prst="rect">
                <a:avLst/>
              </a:prstGeom>
              <a:blipFill rotWithShape="0">
                <a:blip r:embed="rId1"/>
              </a:blipFill>
              <a:ln w="9525">
                <a:noFill/>
              </a:ln>
            </p:spPr>
            <p:txBody>
              <a:bodyPr/>
              <a:lstStyle/>
              <a:p>
                <a:endParaRPr lang="zh-CN" altLang="en-US" sz="1500"/>
              </a:p>
            </p:txBody>
          </p:sp>
          <p:sp>
            <p:nvSpPr>
              <p:cNvPr id="399395" name="矩形 399394"/>
              <p:cNvSpPr/>
              <p:nvPr/>
            </p:nvSpPr>
            <p:spPr>
              <a:xfrm>
                <a:off x="7919" y="5665"/>
                <a:ext cx="0" cy="13"/>
              </a:xfrm>
              <a:prstGeom prst="rect">
                <a:avLst/>
              </a:prstGeom>
              <a:blipFill rotWithShape="0">
                <a:blip r:embed="rId1"/>
              </a:blipFill>
              <a:ln w="9525">
                <a:noFill/>
              </a:ln>
            </p:spPr>
            <p:txBody>
              <a:bodyPr/>
              <a:lstStyle/>
              <a:p>
                <a:endParaRPr lang="zh-CN" altLang="en-US" sz="1500"/>
              </a:p>
            </p:txBody>
          </p:sp>
          <p:sp>
            <p:nvSpPr>
              <p:cNvPr id="399396" name="矩形 399395"/>
              <p:cNvSpPr/>
              <p:nvPr/>
            </p:nvSpPr>
            <p:spPr>
              <a:xfrm>
                <a:off x="8067" y="5665"/>
                <a:ext cx="0" cy="13"/>
              </a:xfrm>
              <a:prstGeom prst="rect">
                <a:avLst/>
              </a:prstGeom>
              <a:blipFill rotWithShape="0">
                <a:blip r:embed="rId1"/>
              </a:blipFill>
              <a:ln w="9525">
                <a:noFill/>
              </a:ln>
            </p:spPr>
            <p:txBody>
              <a:bodyPr/>
              <a:lstStyle/>
              <a:p>
                <a:endParaRPr lang="zh-CN" altLang="en-US" sz="1500"/>
              </a:p>
            </p:txBody>
          </p:sp>
          <p:sp>
            <p:nvSpPr>
              <p:cNvPr id="399397" name="矩形 399396"/>
              <p:cNvSpPr/>
              <p:nvPr/>
            </p:nvSpPr>
            <p:spPr>
              <a:xfrm>
                <a:off x="7973" y="5731"/>
                <a:ext cx="0" cy="15"/>
              </a:xfrm>
              <a:prstGeom prst="rect">
                <a:avLst/>
              </a:prstGeom>
              <a:blipFill rotWithShape="0">
                <a:blip r:embed="rId1"/>
              </a:blipFill>
              <a:ln w="9525">
                <a:noFill/>
              </a:ln>
            </p:spPr>
            <p:txBody>
              <a:bodyPr/>
              <a:lstStyle/>
              <a:p>
                <a:endParaRPr lang="zh-CN" altLang="en-US" sz="1500"/>
              </a:p>
            </p:txBody>
          </p:sp>
          <p:sp>
            <p:nvSpPr>
              <p:cNvPr id="399398" name="矩形 399397"/>
              <p:cNvSpPr/>
              <p:nvPr/>
            </p:nvSpPr>
            <p:spPr>
              <a:xfrm>
                <a:off x="8013" y="5731"/>
                <a:ext cx="0" cy="15"/>
              </a:xfrm>
              <a:prstGeom prst="rect">
                <a:avLst/>
              </a:prstGeom>
              <a:blipFill rotWithShape="0">
                <a:blip r:embed="rId1"/>
              </a:blipFill>
              <a:ln w="9525">
                <a:noFill/>
              </a:ln>
            </p:spPr>
            <p:txBody>
              <a:bodyPr/>
              <a:lstStyle/>
              <a:p>
                <a:endParaRPr lang="zh-CN" altLang="en-US" sz="1500"/>
              </a:p>
            </p:txBody>
          </p:sp>
          <p:sp>
            <p:nvSpPr>
              <p:cNvPr id="399400" name="矩形 399399"/>
              <p:cNvSpPr/>
              <p:nvPr/>
            </p:nvSpPr>
            <p:spPr>
              <a:xfrm>
                <a:off x="7985" y="5583"/>
                <a:ext cx="15" cy="0"/>
              </a:xfrm>
              <a:prstGeom prst="rect">
                <a:avLst/>
              </a:prstGeom>
              <a:blipFill rotWithShape="0">
                <a:blip r:embed="rId1"/>
              </a:blipFill>
              <a:ln w="9525">
                <a:noFill/>
              </a:ln>
            </p:spPr>
            <p:txBody>
              <a:bodyPr/>
              <a:lstStyle/>
              <a:p>
                <a:endParaRPr lang="zh-CN" altLang="en-US" sz="1500"/>
              </a:p>
            </p:txBody>
          </p:sp>
          <p:sp>
            <p:nvSpPr>
              <p:cNvPr id="399407" name="矩形 399406"/>
              <p:cNvSpPr/>
              <p:nvPr/>
            </p:nvSpPr>
            <p:spPr>
              <a:xfrm>
                <a:off x="5121" y="5404"/>
                <a:ext cx="2538" cy="363"/>
              </a:xfrm>
              <a:prstGeom prst="rect">
                <a:avLst/>
              </a:prstGeom>
              <a:noFill/>
              <a:ln w="9525">
                <a:noFill/>
              </a:ln>
            </p:spPr>
            <p:txBody>
              <a:bodyPr wrap="none" lIns="0" tIns="0" rIns="0" bIns="0">
                <a:spAutoFit/>
              </a:bodyPr>
              <a:lstStyle/>
              <a:p>
                <a:r>
                  <a:rPr lang="zh-CN" altLang="en-US" sz="1500" b="1" i="0">
                    <a:solidFill>
                      <a:srgbClr val="000000"/>
                    </a:solidFill>
                    <a:latin typeface="Times New Roman" panose="02020603050405020304" pitchFamily="18" charset="0"/>
                  </a:rPr>
                  <a:t>单次翻转能量</a:t>
                </a:r>
                <a:r>
                  <a:rPr lang="en-US" altLang="zh-CN" sz="1500" b="1" i="0">
                    <a:solidFill>
                      <a:srgbClr val="000000"/>
                    </a:solidFill>
                    <a:latin typeface="Times New Roman" panose="02020603050405020304" pitchFamily="18" charset="0"/>
                  </a:rPr>
                  <a:t>E = C</a:t>
                </a:r>
                <a:endParaRPr lang="en-US" altLang="zh-CN" sz="3665" i="0">
                  <a:solidFill>
                    <a:srgbClr val="0000B6"/>
                  </a:solidFill>
                  <a:latin typeface="Book Antiqua" panose="02040602050305030304" pitchFamily="18" charset="0"/>
                </a:endParaRPr>
              </a:p>
            </p:txBody>
          </p:sp>
          <p:sp>
            <p:nvSpPr>
              <p:cNvPr id="399408" name="矩形 399407"/>
              <p:cNvSpPr/>
              <p:nvPr/>
            </p:nvSpPr>
            <p:spPr>
              <a:xfrm>
                <a:off x="7671" y="5583"/>
                <a:ext cx="215" cy="282"/>
              </a:xfrm>
              <a:prstGeom prst="rect">
                <a:avLst/>
              </a:prstGeom>
              <a:noFill/>
              <a:ln w="9525">
                <a:noFill/>
              </a:ln>
            </p:spPr>
            <p:txBody>
              <a:bodyPr wrap="none" lIns="0" tIns="0" rIns="0" bIns="0">
                <a:spAutoFit/>
              </a:bodyPr>
              <a:lstStyle/>
              <a:p>
                <a:r>
                  <a:rPr lang="en-US" altLang="zh-CN" sz="1165" b="1" i="0">
                    <a:solidFill>
                      <a:srgbClr val="000000"/>
                    </a:solidFill>
                    <a:latin typeface="Times New Roman" panose="02020603050405020304" pitchFamily="18" charset="0"/>
                  </a:rPr>
                  <a:t>L </a:t>
                </a:r>
                <a:endParaRPr lang="en-US" altLang="zh-CN" sz="3665" i="0">
                  <a:solidFill>
                    <a:srgbClr val="0000B6"/>
                  </a:solidFill>
                  <a:latin typeface="Book Antiqua" panose="02040602050305030304" pitchFamily="18" charset="0"/>
                </a:endParaRPr>
              </a:p>
            </p:txBody>
          </p:sp>
          <p:sp>
            <p:nvSpPr>
              <p:cNvPr id="399409" name="矩形 399408"/>
              <p:cNvSpPr/>
              <p:nvPr/>
            </p:nvSpPr>
            <p:spPr>
              <a:xfrm>
                <a:off x="7888" y="5433"/>
                <a:ext cx="436" cy="363"/>
              </a:xfrm>
              <a:prstGeom prst="rect">
                <a:avLst/>
              </a:prstGeom>
              <a:noFill/>
              <a:ln w="9525">
                <a:noFill/>
              </a:ln>
            </p:spPr>
            <p:txBody>
              <a:bodyPr wrap="none" lIns="0" tIns="0" rIns="0" bIns="0">
                <a:spAutoFit/>
              </a:bodyPr>
              <a:lstStyle/>
              <a:p>
                <a:r>
                  <a:rPr lang="en-US" altLang="zh-CN" sz="1500" b="1" i="0">
                    <a:solidFill>
                      <a:srgbClr val="000000"/>
                    </a:solidFill>
                    <a:latin typeface="Times New Roman" panose="02020603050405020304" pitchFamily="18" charset="0"/>
                  </a:rPr>
                  <a:t>* V</a:t>
                </a:r>
                <a:endParaRPr lang="en-US" altLang="zh-CN" sz="3665" i="0">
                  <a:solidFill>
                    <a:srgbClr val="0000B6"/>
                  </a:solidFill>
                  <a:latin typeface="Book Antiqua" panose="02040602050305030304" pitchFamily="18" charset="0"/>
                </a:endParaRPr>
              </a:p>
            </p:txBody>
          </p:sp>
          <p:sp>
            <p:nvSpPr>
              <p:cNvPr id="399410" name="矩形 399409"/>
              <p:cNvSpPr/>
              <p:nvPr/>
            </p:nvSpPr>
            <p:spPr>
              <a:xfrm>
                <a:off x="8331" y="5583"/>
                <a:ext cx="260" cy="282"/>
              </a:xfrm>
              <a:prstGeom prst="rect">
                <a:avLst/>
              </a:prstGeom>
              <a:noFill/>
              <a:ln w="9525">
                <a:noFill/>
              </a:ln>
            </p:spPr>
            <p:txBody>
              <a:bodyPr wrap="none" lIns="0" tIns="0" rIns="0" bIns="0">
                <a:spAutoFit/>
              </a:bodyPr>
              <a:lstStyle/>
              <a:p>
                <a:r>
                  <a:rPr lang="en-US" altLang="zh-CN" sz="1165" b="1" i="0" err="1">
                    <a:solidFill>
                      <a:srgbClr val="000000"/>
                    </a:solidFill>
                    <a:latin typeface="Times New Roman" panose="02020603050405020304" pitchFamily="18" charset="0"/>
                  </a:rPr>
                  <a:t>dd</a:t>
                </a:r>
                <a:endParaRPr lang="en-US" altLang="zh-CN" sz="3665" i="0">
                  <a:solidFill>
                    <a:srgbClr val="0000B6"/>
                  </a:solidFill>
                  <a:latin typeface="Book Antiqua" panose="02040602050305030304" pitchFamily="18" charset="0"/>
                </a:endParaRPr>
              </a:p>
            </p:txBody>
          </p:sp>
          <p:sp>
            <p:nvSpPr>
              <p:cNvPr id="399411" name="矩形 399410"/>
              <p:cNvSpPr/>
              <p:nvPr/>
            </p:nvSpPr>
            <p:spPr>
              <a:xfrm>
                <a:off x="8590" y="5379"/>
                <a:ext cx="117" cy="282"/>
              </a:xfrm>
              <a:prstGeom prst="rect">
                <a:avLst/>
              </a:prstGeom>
              <a:noFill/>
              <a:ln w="9525">
                <a:noFill/>
              </a:ln>
            </p:spPr>
            <p:txBody>
              <a:bodyPr wrap="none" lIns="0" tIns="0" rIns="0" bIns="0">
                <a:spAutoFit/>
              </a:bodyPr>
              <a:lstStyle/>
              <a:p>
                <a:r>
                  <a:rPr lang="en-US" altLang="zh-CN" sz="1165" b="1" i="0">
                    <a:solidFill>
                      <a:srgbClr val="000000"/>
                    </a:solidFill>
                    <a:latin typeface="Times New Roman" panose="02020603050405020304" pitchFamily="18" charset="0"/>
                  </a:rPr>
                  <a:t>2</a:t>
                </a:r>
                <a:endParaRPr lang="en-US" altLang="zh-CN" sz="3665" i="0">
                  <a:solidFill>
                    <a:srgbClr val="0000B6"/>
                  </a:solidFill>
                  <a:latin typeface="Book Antiqua" panose="02040602050305030304" pitchFamily="18" charset="0"/>
                </a:endParaRPr>
              </a:p>
            </p:txBody>
          </p:sp>
          <p:sp>
            <p:nvSpPr>
              <p:cNvPr id="399412" name="矩形 399411"/>
              <p:cNvSpPr/>
              <p:nvPr/>
            </p:nvSpPr>
            <p:spPr>
              <a:xfrm>
                <a:off x="5959" y="6042"/>
                <a:ext cx="1529" cy="363"/>
              </a:xfrm>
              <a:prstGeom prst="rect">
                <a:avLst/>
              </a:prstGeom>
              <a:noFill/>
              <a:ln w="9525">
                <a:noFill/>
              </a:ln>
            </p:spPr>
            <p:txBody>
              <a:bodyPr wrap="none" lIns="0" tIns="0" rIns="0" bIns="0">
                <a:spAutoFit/>
              </a:bodyPr>
              <a:lstStyle/>
              <a:p>
                <a:r>
                  <a:rPr lang="zh-CN" altLang="en-US" sz="1500" b="1" i="0">
                    <a:solidFill>
                      <a:srgbClr val="000000"/>
                    </a:solidFill>
                    <a:latin typeface="Times New Roman" panose="02020603050405020304" pitchFamily="18" charset="0"/>
                  </a:rPr>
                  <a:t>功耗</a:t>
                </a:r>
                <a:r>
                  <a:rPr lang="en-US" altLang="zh-CN" sz="1500" b="1" i="0">
                    <a:solidFill>
                      <a:srgbClr val="000000"/>
                    </a:solidFill>
                    <a:latin typeface="Times New Roman" panose="02020603050405020304" pitchFamily="18" charset="0"/>
                  </a:rPr>
                  <a:t>P= E * </a:t>
                </a:r>
                <a:endParaRPr lang="en-US" altLang="zh-CN" sz="3665" i="0">
                  <a:solidFill>
                    <a:srgbClr val="0000B6"/>
                  </a:solidFill>
                  <a:latin typeface="Book Antiqua" panose="02040602050305030304" pitchFamily="18" charset="0"/>
                </a:endParaRPr>
              </a:p>
            </p:txBody>
          </p:sp>
          <p:sp>
            <p:nvSpPr>
              <p:cNvPr id="399413" name="矩形 399412"/>
              <p:cNvSpPr/>
              <p:nvPr/>
            </p:nvSpPr>
            <p:spPr>
              <a:xfrm>
                <a:off x="7590" y="6042"/>
                <a:ext cx="421" cy="363"/>
              </a:xfrm>
              <a:prstGeom prst="rect">
                <a:avLst/>
              </a:prstGeom>
              <a:noFill/>
              <a:ln w="9525">
                <a:noFill/>
              </a:ln>
            </p:spPr>
            <p:txBody>
              <a:bodyPr wrap="none" lIns="0" tIns="0" rIns="0" bIns="0">
                <a:spAutoFit/>
              </a:bodyPr>
              <a:lstStyle/>
              <a:p>
                <a:r>
                  <a:rPr lang="en-US" altLang="zh-CN" sz="1500" b="1">
                    <a:solidFill>
                      <a:srgbClr val="000000"/>
                    </a:solidFill>
                    <a:latin typeface="Times New Roman" panose="02020603050405020304" pitchFamily="18" charset="0"/>
                  </a:rPr>
                  <a:t>f = </a:t>
                </a:r>
                <a:endParaRPr lang="en-US" altLang="zh-CN" sz="3665" i="0">
                  <a:solidFill>
                    <a:srgbClr val="0000B6"/>
                  </a:solidFill>
                  <a:latin typeface="Book Antiqua" panose="02040602050305030304" pitchFamily="18" charset="0"/>
                </a:endParaRPr>
              </a:p>
            </p:txBody>
          </p:sp>
          <p:sp>
            <p:nvSpPr>
              <p:cNvPr id="399414" name="矩形 399413"/>
              <p:cNvSpPr/>
              <p:nvPr/>
            </p:nvSpPr>
            <p:spPr>
              <a:xfrm>
                <a:off x="7994" y="6042"/>
                <a:ext cx="217" cy="363"/>
              </a:xfrm>
              <a:prstGeom prst="rect">
                <a:avLst/>
              </a:prstGeom>
              <a:noFill/>
              <a:ln w="9525">
                <a:noFill/>
              </a:ln>
            </p:spPr>
            <p:txBody>
              <a:bodyPr wrap="none" lIns="0" tIns="0" rIns="0" bIns="0">
                <a:spAutoFit/>
              </a:bodyPr>
              <a:lstStyle/>
              <a:p>
                <a:r>
                  <a:rPr lang="en-US" altLang="zh-CN" sz="1500" b="1" i="0">
                    <a:solidFill>
                      <a:srgbClr val="000000"/>
                    </a:solidFill>
                    <a:latin typeface="Times New Roman" panose="02020603050405020304" pitchFamily="18" charset="0"/>
                  </a:rPr>
                  <a:t>C</a:t>
                </a:r>
                <a:endParaRPr lang="en-US" altLang="zh-CN" sz="3665" i="0">
                  <a:solidFill>
                    <a:srgbClr val="0000B6"/>
                  </a:solidFill>
                  <a:latin typeface="Book Antiqua" panose="02040602050305030304" pitchFamily="18" charset="0"/>
                </a:endParaRPr>
              </a:p>
            </p:txBody>
          </p:sp>
          <p:sp>
            <p:nvSpPr>
              <p:cNvPr id="399415" name="矩形 399414"/>
              <p:cNvSpPr/>
              <p:nvPr/>
            </p:nvSpPr>
            <p:spPr>
              <a:xfrm>
                <a:off x="8210" y="6190"/>
                <a:ext cx="156" cy="282"/>
              </a:xfrm>
              <a:prstGeom prst="rect">
                <a:avLst/>
              </a:prstGeom>
              <a:noFill/>
              <a:ln w="9525">
                <a:noFill/>
              </a:ln>
            </p:spPr>
            <p:txBody>
              <a:bodyPr wrap="none" lIns="0" tIns="0" rIns="0" bIns="0">
                <a:spAutoFit/>
              </a:bodyPr>
              <a:lstStyle/>
              <a:p>
                <a:r>
                  <a:rPr lang="en-US" altLang="zh-CN" sz="1165" b="1" i="0">
                    <a:solidFill>
                      <a:srgbClr val="000000"/>
                    </a:solidFill>
                    <a:latin typeface="Times New Roman" panose="02020603050405020304" pitchFamily="18" charset="0"/>
                  </a:rPr>
                  <a:t>L</a:t>
                </a:r>
                <a:endParaRPr lang="en-US" altLang="zh-CN" sz="3665" i="0">
                  <a:solidFill>
                    <a:srgbClr val="0000B6"/>
                  </a:solidFill>
                  <a:latin typeface="Book Antiqua" panose="02040602050305030304" pitchFamily="18" charset="0"/>
                </a:endParaRPr>
              </a:p>
            </p:txBody>
          </p:sp>
          <p:sp>
            <p:nvSpPr>
              <p:cNvPr id="399416" name="矩形 399415"/>
              <p:cNvSpPr/>
              <p:nvPr/>
            </p:nvSpPr>
            <p:spPr>
              <a:xfrm>
                <a:off x="8373" y="6042"/>
                <a:ext cx="511" cy="363"/>
              </a:xfrm>
              <a:prstGeom prst="rect">
                <a:avLst/>
              </a:prstGeom>
              <a:noFill/>
              <a:ln w="9525">
                <a:noFill/>
              </a:ln>
            </p:spPr>
            <p:txBody>
              <a:bodyPr wrap="none" lIns="0" tIns="0" rIns="0" bIns="0">
                <a:spAutoFit/>
              </a:bodyPr>
              <a:lstStyle/>
              <a:p>
                <a:r>
                  <a:rPr lang="en-US" altLang="zh-CN" sz="1500" b="1" i="0">
                    <a:solidFill>
                      <a:srgbClr val="000000"/>
                    </a:solidFill>
                    <a:latin typeface="Times New Roman" panose="02020603050405020304" pitchFamily="18" charset="0"/>
                  </a:rPr>
                  <a:t> * V</a:t>
                </a:r>
                <a:endParaRPr lang="en-US" altLang="zh-CN" sz="3665" i="0">
                  <a:solidFill>
                    <a:srgbClr val="0000B6"/>
                  </a:solidFill>
                  <a:latin typeface="Book Antiqua" panose="02040602050305030304" pitchFamily="18" charset="0"/>
                </a:endParaRPr>
              </a:p>
            </p:txBody>
          </p:sp>
          <p:sp>
            <p:nvSpPr>
              <p:cNvPr id="399417" name="矩形 399416"/>
              <p:cNvSpPr/>
              <p:nvPr/>
            </p:nvSpPr>
            <p:spPr>
              <a:xfrm>
                <a:off x="8885" y="6190"/>
                <a:ext cx="260" cy="282"/>
              </a:xfrm>
              <a:prstGeom prst="rect">
                <a:avLst/>
              </a:prstGeom>
              <a:noFill/>
              <a:ln w="9525">
                <a:noFill/>
              </a:ln>
            </p:spPr>
            <p:txBody>
              <a:bodyPr wrap="none" lIns="0" tIns="0" rIns="0" bIns="0">
                <a:spAutoFit/>
              </a:bodyPr>
              <a:lstStyle/>
              <a:p>
                <a:r>
                  <a:rPr lang="en-US" altLang="zh-CN" sz="1165" b="1" i="0" err="1">
                    <a:solidFill>
                      <a:srgbClr val="000000"/>
                    </a:solidFill>
                    <a:latin typeface="Times New Roman" panose="02020603050405020304" pitchFamily="18" charset="0"/>
                  </a:rPr>
                  <a:t>dd</a:t>
                </a:r>
                <a:endParaRPr lang="en-US" altLang="zh-CN" sz="3665" i="0">
                  <a:solidFill>
                    <a:srgbClr val="0000B6"/>
                  </a:solidFill>
                  <a:latin typeface="Book Antiqua" panose="02040602050305030304" pitchFamily="18" charset="0"/>
                </a:endParaRPr>
              </a:p>
            </p:txBody>
          </p:sp>
          <p:sp>
            <p:nvSpPr>
              <p:cNvPr id="399418" name="矩形 399417"/>
              <p:cNvSpPr/>
              <p:nvPr/>
            </p:nvSpPr>
            <p:spPr>
              <a:xfrm>
                <a:off x="9142" y="5988"/>
                <a:ext cx="117" cy="282"/>
              </a:xfrm>
              <a:prstGeom prst="rect">
                <a:avLst/>
              </a:prstGeom>
              <a:noFill/>
              <a:ln w="9525">
                <a:noFill/>
              </a:ln>
            </p:spPr>
            <p:txBody>
              <a:bodyPr wrap="none" lIns="0" tIns="0" rIns="0" bIns="0">
                <a:spAutoFit/>
              </a:bodyPr>
              <a:lstStyle/>
              <a:p>
                <a:r>
                  <a:rPr lang="en-US" altLang="zh-CN" sz="1165" b="1" i="0">
                    <a:solidFill>
                      <a:srgbClr val="000000"/>
                    </a:solidFill>
                    <a:latin typeface="Times New Roman" panose="02020603050405020304" pitchFamily="18" charset="0"/>
                  </a:rPr>
                  <a:t>2</a:t>
                </a:r>
                <a:endParaRPr lang="en-US" altLang="zh-CN" sz="3665" i="0">
                  <a:solidFill>
                    <a:srgbClr val="0000B6"/>
                  </a:solidFill>
                  <a:latin typeface="Book Antiqua" panose="02040602050305030304" pitchFamily="18" charset="0"/>
                </a:endParaRPr>
              </a:p>
            </p:txBody>
          </p:sp>
          <p:sp>
            <p:nvSpPr>
              <p:cNvPr id="399419" name="矩形 399418"/>
              <p:cNvSpPr/>
              <p:nvPr/>
            </p:nvSpPr>
            <p:spPr>
              <a:xfrm>
                <a:off x="9265" y="6042"/>
                <a:ext cx="75" cy="363"/>
              </a:xfrm>
              <a:prstGeom prst="rect">
                <a:avLst/>
              </a:prstGeom>
              <a:noFill/>
              <a:ln w="9525">
                <a:noFill/>
              </a:ln>
            </p:spPr>
            <p:txBody>
              <a:bodyPr wrap="none" lIns="0" tIns="0" rIns="0" bIns="0">
                <a:spAutoFit/>
              </a:bodyPr>
              <a:lstStyle/>
              <a:p>
                <a:r>
                  <a:rPr lang="en-US" altLang="zh-CN" sz="1500" b="1" i="0">
                    <a:solidFill>
                      <a:srgbClr val="000000"/>
                    </a:solidFill>
                    <a:latin typeface="Times New Roman" panose="02020603050405020304" pitchFamily="18" charset="0"/>
                  </a:rPr>
                  <a:t> </a:t>
                </a:r>
                <a:endParaRPr lang="en-US" altLang="zh-CN" sz="3665" i="0">
                  <a:solidFill>
                    <a:srgbClr val="0000B6"/>
                  </a:solidFill>
                  <a:latin typeface="Book Antiqua" panose="02040602050305030304" pitchFamily="18" charset="0"/>
                </a:endParaRPr>
              </a:p>
            </p:txBody>
          </p:sp>
          <p:sp>
            <p:nvSpPr>
              <p:cNvPr id="399420" name="矩形 399419"/>
              <p:cNvSpPr/>
              <p:nvPr/>
            </p:nvSpPr>
            <p:spPr>
              <a:xfrm>
                <a:off x="9346" y="6042"/>
                <a:ext cx="325" cy="363"/>
              </a:xfrm>
              <a:prstGeom prst="rect">
                <a:avLst/>
              </a:prstGeom>
              <a:noFill/>
              <a:ln w="9525">
                <a:noFill/>
              </a:ln>
            </p:spPr>
            <p:txBody>
              <a:bodyPr wrap="none" lIns="0" tIns="0" rIns="0" bIns="0">
                <a:spAutoFit/>
              </a:bodyPr>
              <a:lstStyle/>
              <a:p>
                <a:r>
                  <a:rPr lang="en-US" altLang="zh-CN" sz="1500" b="1">
                    <a:solidFill>
                      <a:srgbClr val="000000"/>
                    </a:solidFill>
                    <a:latin typeface="Times New Roman" panose="02020603050405020304" pitchFamily="18" charset="0"/>
                  </a:rPr>
                  <a:t>* f</a:t>
                </a:r>
                <a:endParaRPr lang="en-US" altLang="zh-CN" sz="3665" i="0">
                  <a:solidFill>
                    <a:srgbClr val="0000B6"/>
                  </a:solidFill>
                  <a:latin typeface="Book Antiqua" panose="02040602050305030304" pitchFamily="18" charset="0"/>
                </a:endParaRPr>
              </a:p>
            </p:txBody>
          </p:sp>
        </p:grpSp>
        <p:sp>
          <p:nvSpPr>
            <p:cNvPr id="399480" name="矩形 399479"/>
            <p:cNvSpPr/>
            <p:nvPr/>
          </p:nvSpPr>
          <p:spPr>
            <a:xfrm>
              <a:off x="3867" y="7488"/>
              <a:ext cx="6300" cy="363"/>
            </a:xfrm>
            <a:prstGeom prst="rect">
              <a:avLst/>
            </a:prstGeom>
            <a:noFill/>
            <a:ln w="9525">
              <a:noFill/>
            </a:ln>
          </p:spPr>
          <p:txBody>
            <a:bodyPr wrap="none" lIns="0" tIns="0" rIns="0" bIns="0">
              <a:spAutoFit/>
            </a:bodyPr>
            <a:lstStyle/>
            <a:p>
              <a:r>
                <a:rPr lang="zh-CN" altLang="en-US" sz="1500" b="1" i="0">
                  <a:solidFill>
                    <a:srgbClr val="000000"/>
                  </a:solidFill>
                  <a:latin typeface="Times New Roman" panose="02020603050405020304" pitchFamily="18" charset="0"/>
                </a:rPr>
                <a:t>减低负载电容、电源电压、信号频率来降低功耗</a:t>
              </a:r>
              <a:endParaRPr lang="zh-CN" altLang="en-US" sz="1500" b="1" i="0">
                <a:solidFill>
                  <a:srgbClr val="000000"/>
                </a:solidFill>
                <a:latin typeface="Times New Roman" panose="02020603050405020304" pitchFamily="18" charset="0"/>
              </a:endParaRPr>
            </a:p>
          </p:txBody>
        </p:sp>
        <p:sp>
          <p:nvSpPr>
            <p:cNvPr id="2" name="文本框 1"/>
            <p:cNvSpPr txBox="1"/>
            <p:nvPr/>
          </p:nvSpPr>
          <p:spPr>
            <a:xfrm>
              <a:off x="6232" y="7851"/>
              <a:ext cx="2448" cy="580"/>
            </a:xfrm>
            <a:prstGeom prst="rect">
              <a:avLst/>
            </a:prstGeom>
            <a:noFill/>
          </p:spPr>
          <p:txBody>
            <a:bodyPr wrap="none" rtlCol="0">
              <a:spAutoFit/>
            </a:bodyPr>
            <a:lstStyle/>
            <a:p>
              <a:pPr algn="l"/>
              <a:r>
                <a:rPr lang="zh-CN" altLang="en-US" dirty="0">
                  <a:solidFill>
                    <a:srgbClr val="FF0000"/>
                  </a:solidFill>
                  <a:latin typeface="微软雅黑" panose="020B0503020204020204" pitchFamily="34" charset="-122"/>
                  <a:ea typeface="微软雅黑" panose="020B0503020204020204" pitchFamily="34" charset="-122"/>
                </a:rPr>
                <a:t>有哪些方法？</a:t>
              </a:r>
              <a:endParaRPr lang="zh-CN" altLang="en-US" dirty="0">
                <a:solidFill>
                  <a:srgbClr val="FF0000"/>
                </a:solidFill>
                <a:latin typeface="微软雅黑" panose="020B0503020204020204" pitchFamily="34" charset="-122"/>
                <a:ea typeface="微软雅黑" panose="020B0503020204020204" pitchFamily="34" charset="-122"/>
              </a:endParaRPr>
            </a:p>
          </p:txBody>
        </p:sp>
      </p:grpSp>
      <p:pic>
        <p:nvPicPr>
          <p:cNvPr id="6" name="Picture 3"/>
          <p:cNvPicPr>
            <a:picLocks noChangeAspect="1"/>
          </p:cNvPicPr>
          <p:nvPr/>
        </p:nvPicPr>
        <p:blipFill>
          <a:blip r:embed="rId2"/>
          <a:srcRect t="59879"/>
          <a:stretch>
            <a:fillRect/>
          </a:stretch>
        </p:blipFill>
        <p:spPr>
          <a:xfrm>
            <a:off x="1583055" y="2672715"/>
            <a:ext cx="5793740" cy="1483360"/>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pic>
        <p:nvPicPr>
          <p:cNvPr id="400387" name="图片 400386"/>
          <p:cNvPicPr>
            <a:picLocks noChangeAspect="1"/>
          </p:cNvPicPr>
          <p:nvPr/>
        </p:nvPicPr>
        <p:blipFill>
          <a:blip r:embed="rId1"/>
          <a:srcRect b="23557"/>
          <a:stretch>
            <a:fillRect/>
          </a:stretch>
        </p:blipFill>
        <p:spPr>
          <a:xfrm>
            <a:off x="1804035" y="1259840"/>
            <a:ext cx="5397500" cy="2950845"/>
          </a:xfrm>
          <a:prstGeom prst="rect">
            <a:avLst/>
          </a:prstGeom>
          <a:noFill/>
          <a:ln w="9525">
            <a:noFill/>
          </a:ln>
        </p:spPr>
      </p:pic>
      <p:sp>
        <p:nvSpPr>
          <p:cNvPr id="3" name="矩形 2"/>
          <p:cNvSpPr/>
          <p:nvPr/>
        </p:nvSpPr>
        <p:spPr>
          <a:xfrm>
            <a:off x="3012599" y="4472464"/>
            <a:ext cx="3302000" cy="307340"/>
          </a:xfrm>
          <a:prstGeom prst="rect">
            <a:avLst/>
          </a:prstGeom>
          <a:noFill/>
          <a:ln w="9525">
            <a:noFill/>
          </a:ln>
        </p:spPr>
        <p:txBody>
          <a:bodyPr wrap="none" lIns="0" tIns="0" rIns="0" bIns="0">
            <a:spAutoFit/>
          </a:bodyPr>
          <a:lstStyle/>
          <a:p>
            <a:r>
              <a:rPr lang="zh-CN" altLang="en-US" sz="2000" b="1" i="0">
                <a:solidFill>
                  <a:srgbClr val="000000"/>
                </a:solidFill>
                <a:latin typeface="Times New Roman" panose="02020603050405020304" pitchFamily="18" charset="0"/>
              </a:rPr>
              <a:t>减少电压摆幅来降低系统功耗</a:t>
            </a:r>
            <a:endParaRPr lang="zh-CN" altLang="en-US" sz="2000" b="1" i="0">
              <a:solidFill>
                <a:srgbClr val="000000"/>
              </a:solidFill>
              <a:latin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pic>
        <p:nvPicPr>
          <p:cNvPr id="403459" name="图片 403458"/>
          <p:cNvPicPr>
            <a:picLocks noChangeAspect="1"/>
          </p:cNvPicPr>
          <p:nvPr/>
        </p:nvPicPr>
        <p:blipFill>
          <a:blip r:embed="rId1"/>
          <a:srcRect t="42094"/>
          <a:stretch>
            <a:fillRect/>
          </a:stretch>
        </p:blipFill>
        <p:spPr>
          <a:xfrm>
            <a:off x="1722755" y="3166110"/>
            <a:ext cx="5927725" cy="2286000"/>
          </a:xfrm>
          <a:prstGeom prst="rect">
            <a:avLst/>
          </a:prstGeom>
          <a:noFill/>
          <a:ln w="9525">
            <a:noFill/>
          </a:ln>
        </p:spPr>
      </p:pic>
      <p:sp>
        <p:nvSpPr>
          <p:cNvPr id="348163" name="文本占位符 348162"/>
          <p:cNvSpPr>
            <a:spLocks noGrp="1"/>
          </p:cNvSpPr>
          <p:nvPr>
            <p:ph type="body" idx="1"/>
          </p:nvPr>
        </p:nvSpPr>
        <p:spPr>
          <a:xfrm>
            <a:off x="851535" y="935990"/>
            <a:ext cx="7927340" cy="3941445"/>
          </a:xfrm>
        </p:spPr>
        <p:txBody>
          <a:bodyPr lIns="75406" tIns="37041" rIns="75406" bIns="37041"/>
          <a:lstStyle/>
          <a:p>
            <a:pPr>
              <a:lnSpc>
                <a:spcPct val="150000"/>
              </a:lnSpc>
            </a:pP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个时钟周期下的</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总能耗：</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50000"/>
              </a:lnSpc>
              <a:buNone/>
            </a:pP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n(N)</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个时钟周期内反相器发生</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0→1</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翻转的</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次数</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等效功耗计算：</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50000"/>
              </a:lnSpc>
            </a:pP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50000"/>
              </a:lnSpc>
              <a:buNone/>
            </a:pP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a:solidFill>
                  <a:srgbClr val="C00000"/>
                </a:solidFill>
                <a:latin typeface="微软雅黑" panose="020B0503020204020204" pitchFamily="34" charset="-122"/>
                <a:ea typeface="微软雅黑" panose="020B0503020204020204" pitchFamily="34" charset="-122"/>
                <a:cs typeface="微软雅黑" panose="020B0503020204020204" pitchFamily="34" charset="-122"/>
              </a:rPr>
              <a:t>活动因子</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，输出端由</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0</a:t>
            </a:r>
            <a:r>
              <a:rPr lang="en-US" altLang="zh-CN"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的翻转</a:t>
            </a: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概率</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3" name="图片 2"/>
          <p:cNvPicPr>
            <a:picLocks noChangeAspect="1"/>
          </p:cNvPicPr>
          <p:nvPr/>
        </p:nvPicPr>
        <p:blipFill>
          <a:blip r:embed="rId1"/>
          <a:srcRect t="10117" b="76259"/>
          <a:stretch>
            <a:fillRect/>
          </a:stretch>
        </p:blipFill>
        <p:spPr>
          <a:xfrm>
            <a:off x="1607820" y="1589405"/>
            <a:ext cx="5927725" cy="537845"/>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sp>
        <p:nvSpPr>
          <p:cNvPr id="348163" name="文本占位符 348162"/>
          <p:cNvSpPr>
            <a:spLocks noGrp="1"/>
          </p:cNvSpPr>
          <p:nvPr>
            <p:ph type="body" idx="1"/>
          </p:nvPr>
        </p:nvSpPr>
        <p:spPr>
          <a:xfrm>
            <a:off x="851535" y="935990"/>
            <a:ext cx="6477000" cy="3941445"/>
          </a:xfrm>
        </p:spPr>
        <p:txBody>
          <a:bodyPr lIns="75406" tIns="37041" rIns="75406" bIns="37041"/>
          <a:lstStyle/>
          <a:p>
            <a:pPr>
              <a:lnSpc>
                <a:spcPct val="150000"/>
              </a:lnSpc>
            </a:pPr>
            <a:r>
              <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能耗最优设计：</a:t>
            </a:r>
            <a:endParaRPr lang="zh-CN" altLang="en-US" sz="200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404484" name="图片 404483"/>
          <p:cNvPicPr>
            <a:picLocks noChangeAspect="1"/>
          </p:cNvPicPr>
          <p:nvPr/>
        </p:nvPicPr>
        <p:blipFill>
          <a:blip r:embed="rId1"/>
          <a:stretch>
            <a:fillRect/>
          </a:stretch>
        </p:blipFill>
        <p:spPr>
          <a:xfrm>
            <a:off x="2615565" y="1600412"/>
            <a:ext cx="3395928" cy="1074208"/>
          </a:xfrm>
          <a:prstGeom prst="rect">
            <a:avLst/>
          </a:prstGeom>
          <a:noFill/>
          <a:ln w="9525">
            <a:noFill/>
          </a:ln>
        </p:spPr>
      </p:pic>
      <p:sp>
        <p:nvSpPr>
          <p:cNvPr id="404483" name="文本占位符 404482"/>
          <p:cNvSpPr>
            <a:spLocks noGrp="1"/>
          </p:cNvSpPr>
          <p:nvPr/>
        </p:nvSpPr>
        <p:spPr>
          <a:xfrm>
            <a:off x="1250474" y="2929943"/>
            <a:ext cx="6477000" cy="1512093"/>
          </a:xfrm>
          <a:prstGeom prst="rect">
            <a:avLst/>
          </a:prstGeom>
        </p:spPr>
        <p:txBody>
          <a:bodyPr vert="horz" lIns="75406" tIns="37041" rIns="75406" bIns="37041"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a:t>目标：最小化系统功耗</a:t>
            </a:r>
            <a:endParaRPr lang="en-US" altLang="zh-CN"/>
          </a:p>
          <a:p>
            <a:pPr lvl="1">
              <a:lnSpc>
                <a:spcPct val="150000"/>
              </a:lnSpc>
            </a:pPr>
            <a:r>
              <a:rPr lang="zh-CN" altLang="en-US"/>
              <a:t>参数设计</a:t>
            </a:r>
            <a:r>
              <a:rPr lang="en-US" altLang="zh-CN"/>
              <a:t>: </a:t>
            </a:r>
            <a:r>
              <a:rPr lang="en-US" altLang="zh-CN" i="1"/>
              <a:t>f</a:t>
            </a:r>
            <a:r>
              <a:rPr lang="en-US" altLang="zh-CN"/>
              <a:t> </a:t>
            </a:r>
            <a:r>
              <a:rPr lang="zh-CN" altLang="en-US"/>
              <a:t>和</a:t>
            </a:r>
            <a:r>
              <a:rPr lang="en-US" altLang="zh-CN"/>
              <a:t> </a:t>
            </a:r>
            <a:r>
              <a:rPr lang="en-US" altLang="zh-CN" i="1"/>
              <a:t>V</a:t>
            </a:r>
            <a:r>
              <a:rPr lang="en-US" altLang="zh-CN" i="1" baseline="-25000"/>
              <a:t>DD</a:t>
            </a:r>
            <a:endParaRPr lang="en-US" altLang="zh-CN" i="1"/>
          </a:p>
          <a:p>
            <a:pPr lvl="1">
              <a:lnSpc>
                <a:spcPct val="150000"/>
              </a:lnSpc>
            </a:pPr>
            <a:r>
              <a:rPr lang="zh-CN" altLang="en-US">
                <a:sym typeface="Symbol" panose="05050102010706020507" pitchFamily="18" charset="2"/>
              </a:rPr>
              <a:t>线路延时不大于</a:t>
            </a:r>
            <a:r>
              <a:rPr lang="en-US" altLang="zh-CN">
                <a:sym typeface="Symbol" panose="05050102010706020507" pitchFamily="18" charset="2"/>
              </a:rPr>
              <a:t> </a:t>
            </a:r>
            <a:r>
              <a:rPr lang="en-US" altLang="zh-CN" i="1"/>
              <a:t>f</a:t>
            </a:r>
            <a:r>
              <a:rPr lang="en-US" altLang="zh-CN"/>
              <a:t>=1 </a:t>
            </a:r>
            <a:r>
              <a:rPr lang="zh-CN" altLang="en-US"/>
              <a:t>且</a:t>
            </a:r>
            <a:r>
              <a:rPr lang="en-US" altLang="zh-CN" i="1"/>
              <a:t>V</a:t>
            </a:r>
            <a:r>
              <a:rPr lang="en-US" altLang="zh-CN" i="1" baseline="-25000"/>
              <a:t>DD </a:t>
            </a:r>
            <a:r>
              <a:rPr lang="en-US" altLang="zh-CN" i="1" err="1"/>
              <a:t>=V</a:t>
            </a:r>
            <a:r>
              <a:rPr lang="en-US" altLang="zh-CN" i="1" baseline="-25000" err="1"/>
              <a:t>ref</a:t>
            </a:r>
            <a:r>
              <a:rPr lang="zh-CN" altLang="en-US" err="1"/>
              <a:t>的情况</a:t>
            </a:r>
            <a:endParaRPr lang="zh-CN" altLang="en-US" err="1"/>
          </a:p>
        </p:txBody>
      </p:sp>
      <p:graphicFrame>
        <p:nvGraphicFramePr>
          <p:cNvPr id="404485" name="对象 404484"/>
          <p:cNvGraphicFramePr/>
          <p:nvPr/>
        </p:nvGraphicFramePr>
        <p:xfrm>
          <a:off x="6332591" y="3523086"/>
          <a:ext cx="2508250" cy="1354667"/>
        </p:xfrm>
        <a:graphic>
          <a:graphicData uri="http://schemas.openxmlformats.org/presentationml/2006/ole">
            <mc:AlternateContent xmlns:mc="http://schemas.openxmlformats.org/markup-compatibility/2006">
              <mc:Choice xmlns:v="urn:schemas-microsoft-com:vml" Requires="v">
                <p:oleObj spid="_x0000_s2" name="" r:id="rId2" imgW="1739900" imgH="939800" progId="Equation.3">
                  <p:embed/>
                </p:oleObj>
              </mc:Choice>
              <mc:Fallback>
                <p:oleObj name="" r:id="rId2" imgW="1739900" imgH="939800" progId="Equation.3">
                  <p:embed/>
                  <p:pic>
                    <p:nvPicPr>
                      <p:cNvPr id="0" name="图片 3092"/>
                      <p:cNvPicPr/>
                      <p:nvPr/>
                    </p:nvPicPr>
                    <p:blipFill>
                      <a:blip r:embed="rId3"/>
                      <a:stretch>
                        <a:fillRect/>
                      </a:stretch>
                    </p:blipFill>
                    <p:spPr>
                      <a:xfrm>
                        <a:off x="6332591" y="3523086"/>
                        <a:ext cx="2508250" cy="1354667"/>
                      </a:xfrm>
                      <a:prstGeom prst="rect">
                        <a:avLst/>
                      </a:prstGeom>
                      <a:noFill/>
                      <a:ln w="38100">
                        <a:noFill/>
                        <a:miter/>
                      </a:ln>
                    </p:spPr>
                  </p:pic>
                </p:oleObj>
              </mc:Fallback>
            </mc:AlternateContent>
          </a:graphicData>
        </a:graphic>
      </p:graphicFrame>
      <p:sp>
        <p:nvSpPr>
          <p:cNvPr id="3" name="文本框 2"/>
          <p:cNvSpPr txBox="1"/>
          <p:nvPr/>
        </p:nvSpPr>
        <p:spPr>
          <a:xfrm>
            <a:off x="6258560" y="3072765"/>
            <a:ext cx="868680" cy="368300"/>
          </a:xfrm>
          <a:prstGeom prst="rect">
            <a:avLst/>
          </a:prstGeom>
          <a:noFill/>
        </p:spPr>
        <p:txBody>
          <a:bodyPr wrap="none" rtlCol="0" anchor="t">
            <a:spAutoFit/>
          </a:bodyPr>
          <a:lstStyle/>
          <a:p>
            <a:pPr algn="l"/>
            <a:r>
              <a:rPr lang="zh-CN" altLang="en-US">
                <a:sym typeface="+mn-ea"/>
              </a:rPr>
              <a:t>公式：</a:t>
            </a:r>
            <a:endParaRPr lang="zh-CN" altLang="en-US">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sp>
        <p:nvSpPr>
          <p:cNvPr id="405507" name="文本占位符 405506"/>
          <p:cNvSpPr>
            <a:spLocks noGrp="1"/>
          </p:cNvSpPr>
          <p:nvPr/>
        </p:nvSpPr>
        <p:spPr>
          <a:xfrm>
            <a:off x="965200" y="1283335"/>
            <a:ext cx="6477000" cy="3429000"/>
          </a:xfrm>
          <a:prstGeom prst="rect">
            <a:avLst/>
          </a:prstGeom>
        </p:spPr>
        <p:txBody>
          <a:bodyPr vert="horz" lIns="75406" tIns="37041" rIns="75406" bIns="37041"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zh-CN" altLang="en-US" sz="2335"/>
              <a:t>本征输出电容</a:t>
            </a:r>
            <a:r>
              <a:rPr lang="en-US" altLang="zh-CN" sz="2335"/>
              <a:t> (</a:t>
            </a:r>
            <a:r>
              <a:rPr lang="en-US" altLang="zh-CN" sz="2335">
                <a:latin typeface="Symbol" panose="05050102010706020507" pitchFamily="18" charset="2"/>
              </a:rPr>
              <a:t>g</a:t>
            </a:r>
            <a:r>
              <a:rPr lang="en-US" altLang="zh-CN" sz="2335"/>
              <a:t>=1)</a:t>
            </a:r>
            <a:endParaRPr lang="en-US" altLang="zh-CN" sz="2335"/>
          </a:p>
          <a:p>
            <a:endParaRPr lang="en-US" altLang="zh-CN" sz="2335"/>
          </a:p>
          <a:p>
            <a:endParaRPr lang="en-US" altLang="zh-CN" sz="2335"/>
          </a:p>
          <a:p>
            <a:endParaRPr lang="en-US" altLang="zh-CN" sz="2335"/>
          </a:p>
          <a:p>
            <a:r>
              <a:rPr lang="zh-CN" altLang="en-US" sz="2335"/>
              <a:t>能耗：</a:t>
            </a:r>
            <a:endParaRPr lang="en-US" altLang="zh-CN" sz="2335"/>
          </a:p>
          <a:p>
            <a:endParaRPr lang="en-US" altLang="zh-CN" sz="2335"/>
          </a:p>
          <a:p>
            <a:endParaRPr lang="en-US" altLang="zh-CN" sz="2335"/>
          </a:p>
          <a:p>
            <a:endParaRPr lang="en-US" altLang="zh-CN" sz="2335"/>
          </a:p>
          <a:p>
            <a:endParaRPr lang="en-US" altLang="zh-CN" sz="2335"/>
          </a:p>
        </p:txBody>
      </p:sp>
      <p:graphicFrame>
        <p:nvGraphicFramePr>
          <p:cNvPr id="405508" name="对象 405507"/>
          <p:cNvGraphicFramePr/>
          <p:nvPr/>
        </p:nvGraphicFramePr>
        <p:xfrm>
          <a:off x="2031788" y="1765723"/>
          <a:ext cx="5586678" cy="1101990"/>
        </p:xfrm>
        <a:graphic>
          <a:graphicData uri="http://schemas.openxmlformats.org/presentationml/2006/ole">
            <mc:AlternateContent xmlns:mc="http://schemas.openxmlformats.org/markup-compatibility/2006">
              <mc:Choice xmlns:v="urn:schemas-microsoft-com:vml" Requires="v">
                <p:oleObj spid="_x0000_s2" name="" r:id="rId1" imgW="3543300" imgH="698500" progId="Equation.3">
                  <p:embed/>
                </p:oleObj>
              </mc:Choice>
              <mc:Fallback>
                <p:oleObj name="" r:id="rId1" imgW="3543300" imgH="698500" progId="Equation.3">
                  <p:embed/>
                  <p:pic>
                    <p:nvPicPr>
                      <p:cNvPr id="0" name="图片 3093"/>
                      <p:cNvPicPr/>
                      <p:nvPr/>
                    </p:nvPicPr>
                    <p:blipFill>
                      <a:blip r:embed="rId2"/>
                      <a:stretch>
                        <a:fillRect/>
                      </a:stretch>
                    </p:blipFill>
                    <p:spPr>
                      <a:xfrm>
                        <a:off x="2031788" y="1765723"/>
                        <a:ext cx="5586678" cy="1101990"/>
                      </a:xfrm>
                      <a:prstGeom prst="rect">
                        <a:avLst/>
                      </a:prstGeom>
                      <a:noFill/>
                      <a:ln w="38100">
                        <a:noFill/>
                        <a:miter/>
                      </a:ln>
                    </p:spPr>
                  </p:pic>
                </p:oleObj>
              </mc:Fallback>
            </mc:AlternateContent>
          </a:graphicData>
        </a:graphic>
      </p:graphicFrame>
      <p:graphicFrame>
        <p:nvGraphicFramePr>
          <p:cNvPr id="405509" name="对象 405508"/>
          <p:cNvGraphicFramePr/>
          <p:nvPr/>
        </p:nvGraphicFramePr>
        <p:xfrm>
          <a:off x="2722033" y="3496098"/>
          <a:ext cx="2963333" cy="1342761"/>
        </p:xfrm>
        <a:graphic>
          <a:graphicData uri="http://schemas.openxmlformats.org/presentationml/2006/ole">
            <mc:AlternateContent xmlns:mc="http://schemas.openxmlformats.org/markup-compatibility/2006">
              <mc:Choice xmlns:v="urn:schemas-microsoft-com:vml" Requires="v">
                <p:oleObj spid="_x0000_s3" name="" r:id="rId3" imgW="1790065" imgH="812165" progId="Equation.3">
                  <p:embed/>
                </p:oleObj>
              </mc:Choice>
              <mc:Fallback>
                <p:oleObj name="" r:id="rId3" imgW="1790065" imgH="812165" progId="Equation.3">
                  <p:embed/>
                  <p:pic>
                    <p:nvPicPr>
                      <p:cNvPr id="0" name="图片 3094"/>
                      <p:cNvPicPr/>
                      <p:nvPr/>
                    </p:nvPicPr>
                    <p:blipFill>
                      <a:blip r:embed="rId4"/>
                      <a:stretch>
                        <a:fillRect/>
                      </a:stretch>
                    </p:blipFill>
                    <p:spPr>
                      <a:xfrm>
                        <a:off x="2722033" y="3496098"/>
                        <a:ext cx="2963333" cy="1342761"/>
                      </a:xfrm>
                      <a:prstGeom prst="rect">
                        <a:avLst/>
                      </a:prstGeom>
                      <a:noFill/>
                      <a:ln w="38100">
                        <a:noFill/>
                        <a:miter/>
                      </a:ln>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pic>
        <p:nvPicPr>
          <p:cNvPr id="406530" name="图片 406529"/>
          <p:cNvPicPr>
            <a:picLocks noChangeAspect="1"/>
          </p:cNvPicPr>
          <p:nvPr/>
        </p:nvPicPr>
        <p:blipFill>
          <a:blip r:embed="rId1"/>
          <a:stretch>
            <a:fillRect/>
          </a:stretch>
        </p:blipFill>
        <p:spPr>
          <a:xfrm>
            <a:off x="1112520" y="1104530"/>
            <a:ext cx="6918854" cy="3309938"/>
          </a:xfrm>
          <a:prstGeom prst="rect">
            <a:avLst/>
          </a:prstGeom>
          <a:noFill/>
          <a:ln w="9525">
            <a:noFill/>
          </a:ln>
        </p:spPr>
      </p:pic>
      <p:sp>
        <p:nvSpPr>
          <p:cNvPr id="406533" name="文本框 406532"/>
          <p:cNvSpPr txBox="1"/>
          <p:nvPr/>
        </p:nvSpPr>
        <p:spPr>
          <a:xfrm>
            <a:off x="2168208" y="1717040"/>
            <a:ext cx="429895" cy="270510"/>
          </a:xfrm>
          <a:prstGeom prst="rect">
            <a:avLst/>
          </a:prstGeom>
          <a:noFill/>
          <a:ln w="12700">
            <a:noFill/>
          </a:ln>
        </p:spPr>
        <p:txBody>
          <a:bodyPr wrap="none" anchor="t" anchorCtr="0">
            <a:spAutoFit/>
          </a:bodyPr>
          <a:lstStyle/>
          <a:p>
            <a:r>
              <a:rPr lang="en-US" altLang="zh-CN" sz="1165">
                <a:solidFill>
                  <a:schemeClr val="tx2"/>
                </a:solidFill>
                <a:latin typeface="Book Antiqua" panose="02040602050305030304" pitchFamily="18" charset="0"/>
              </a:rPr>
              <a:t>F</a:t>
            </a:r>
            <a:r>
              <a:rPr lang="en-US" altLang="zh-CN" sz="1165" i="0">
                <a:solidFill>
                  <a:schemeClr val="tx2"/>
                </a:solidFill>
                <a:latin typeface="Book Antiqua" panose="02040602050305030304" pitchFamily="18" charset="0"/>
              </a:rPr>
              <a:t>=1</a:t>
            </a:r>
            <a:endParaRPr lang="en-US" altLang="zh-CN" sz="1165">
              <a:solidFill>
                <a:schemeClr val="tx2"/>
              </a:solidFill>
              <a:latin typeface="Book Antiqua" panose="02040602050305030304" pitchFamily="18" charset="0"/>
            </a:endParaRPr>
          </a:p>
        </p:txBody>
      </p:sp>
      <p:sp>
        <p:nvSpPr>
          <p:cNvPr id="406534" name="文本框 406533"/>
          <p:cNvSpPr txBox="1"/>
          <p:nvPr/>
        </p:nvSpPr>
        <p:spPr>
          <a:xfrm>
            <a:off x="2453958" y="2066290"/>
            <a:ext cx="257175" cy="270510"/>
          </a:xfrm>
          <a:prstGeom prst="rect">
            <a:avLst/>
          </a:prstGeom>
          <a:noFill/>
          <a:ln w="12700">
            <a:noFill/>
          </a:ln>
        </p:spPr>
        <p:txBody>
          <a:bodyPr wrap="none" anchor="t" anchorCtr="0">
            <a:spAutoFit/>
          </a:bodyPr>
          <a:lstStyle/>
          <a:p>
            <a:r>
              <a:rPr lang="en-US" altLang="zh-CN" sz="1165" i="0">
                <a:solidFill>
                  <a:schemeClr val="tx2"/>
                </a:solidFill>
                <a:latin typeface="Book Antiqua" panose="02040602050305030304" pitchFamily="18" charset="0"/>
              </a:rPr>
              <a:t>2</a:t>
            </a:r>
            <a:endParaRPr lang="en-US" altLang="zh-CN" sz="1165" i="0">
              <a:solidFill>
                <a:schemeClr val="tx2"/>
              </a:solidFill>
              <a:latin typeface="Book Antiqua" panose="02040602050305030304" pitchFamily="18" charset="0"/>
            </a:endParaRPr>
          </a:p>
        </p:txBody>
      </p:sp>
      <p:sp>
        <p:nvSpPr>
          <p:cNvPr id="406535" name="文本框 406534"/>
          <p:cNvSpPr txBox="1"/>
          <p:nvPr/>
        </p:nvSpPr>
        <p:spPr>
          <a:xfrm>
            <a:off x="3300624" y="2584873"/>
            <a:ext cx="257175" cy="270510"/>
          </a:xfrm>
          <a:prstGeom prst="rect">
            <a:avLst/>
          </a:prstGeom>
          <a:noFill/>
          <a:ln w="12700">
            <a:noFill/>
          </a:ln>
        </p:spPr>
        <p:txBody>
          <a:bodyPr wrap="none" anchor="t" anchorCtr="0">
            <a:spAutoFit/>
          </a:bodyPr>
          <a:lstStyle/>
          <a:p>
            <a:r>
              <a:rPr lang="en-US" altLang="zh-CN" sz="1165" i="0">
                <a:solidFill>
                  <a:schemeClr val="tx2"/>
                </a:solidFill>
                <a:latin typeface="Book Antiqua" panose="02040602050305030304" pitchFamily="18" charset="0"/>
              </a:rPr>
              <a:t>5</a:t>
            </a:r>
            <a:endParaRPr lang="en-US" altLang="zh-CN" sz="1165" i="0">
              <a:solidFill>
                <a:schemeClr val="tx2"/>
              </a:solidFill>
              <a:latin typeface="Book Antiqua" panose="02040602050305030304" pitchFamily="18" charset="0"/>
            </a:endParaRPr>
          </a:p>
        </p:txBody>
      </p:sp>
      <p:sp>
        <p:nvSpPr>
          <p:cNvPr id="406536" name="文本框 406535"/>
          <p:cNvSpPr txBox="1"/>
          <p:nvPr/>
        </p:nvSpPr>
        <p:spPr>
          <a:xfrm>
            <a:off x="3914458" y="3166957"/>
            <a:ext cx="331470" cy="270510"/>
          </a:xfrm>
          <a:prstGeom prst="rect">
            <a:avLst/>
          </a:prstGeom>
          <a:noFill/>
          <a:ln w="12700">
            <a:noFill/>
          </a:ln>
        </p:spPr>
        <p:txBody>
          <a:bodyPr wrap="none" anchor="t" anchorCtr="0">
            <a:spAutoFit/>
          </a:bodyPr>
          <a:lstStyle/>
          <a:p>
            <a:r>
              <a:rPr lang="en-US" altLang="zh-CN" sz="1165" i="0">
                <a:solidFill>
                  <a:schemeClr val="tx2"/>
                </a:solidFill>
                <a:latin typeface="Book Antiqua" panose="02040602050305030304" pitchFamily="18" charset="0"/>
              </a:rPr>
              <a:t>10</a:t>
            </a:r>
            <a:endParaRPr lang="en-US" altLang="zh-CN" sz="1165" i="0">
              <a:solidFill>
                <a:schemeClr val="tx2"/>
              </a:solidFill>
              <a:latin typeface="Book Antiqua" panose="02040602050305030304" pitchFamily="18" charset="0"/>
            </a:endParaRPr>
          </a:p>
        </p:txBody>
      </p:sp>
      <p:sp>
        <p:nvSpPr>
          <p:cNvPr id="406537" name="文本框 406536"/>
          <p:cNvSpPr txBox="1"/>
          <p:nvPr/>
        </p:nvSpPr>
        <p:spPr>
          <a:xfrm>
            <a:off x="3914458" y="3537373"/>
            <a:ext cx="331470" cy="270510"/>
          </a:xfrm>
          <a:prstGeom prst="rect">
            <a:avLst/>
          </a:prstGeom>
          <a:noFill/>
          <a:ln w="12700">
            <a:noFill/>
          </a:ln>
        </p:spPr>
        <p:txBody>
          <a:bodyPr wrap="none" anchor="t" anchorCtr="0">
            <a:spAutoFit/>
          </a:bodyPr>
          <a:lstStyle/>
          <a:p>
            <a:r>
              <a:rPr lang="en-US" altLang="zh-CN" sz="1165" i="0">
                <a:solidFill>
                  <a:schemeClr val="tx2"/>
                </a:solidFill>
                <a:latin typeface="Book Antiqua" panose="02040602050305030304" pitchFamily="18" charset="0"/>
              </a:rPr>
              <a:t>20</a:t>
            </a:r>
            <a:endParaRPr lang="en-US" altLang="zh-CN" sz="1165" i="0">
              <a:solidFill>
                <a:schemeClr val="tx2"/>
              </a:solidFill>
              <a:latin typeface="Book Antiqua" panose="02040602050305030304" pitchFamily="18" charset="0"/>
            </a:endParaRPr>
          </a:p>
        </p:txBody>
      </p:sp>
      <p:sp>
        <p:nvSpPr>
          <p:cNvPr id="406538" name="文本框 406537"/>
          <p:cNvSpPr txBox="1"/>
          <p:nvPr/>
        </p:nvSpPr>
        <p:spPr>
          <a:xfrm>
            <a:off x="2598526" y="854393"/>
            <a:ext cx="959485" cy="347345"/>
          </a:xfrm>
          <a:prstGeom prst="rect">
            <a:avLst/>
          </a:prstGeom>
          <a:noFill/>
          <a:ln w="12700">
            <a:noFill/>
          </a:ln>
        </p:spPr>
        <p:txBody>
          <a:bodyPr wrap="none" anchor="t" anchorCtr="0">
            <a:spAutoFit/>
          </a:bodyPr>
          <a:lstStyle/>
          <a:p>
            <a:r>
              <a:rPr lang="en-US" altLang="zh-CN" sz="1665">
                <a:solidFill>
                  <a:schemeClr val="tx2"/>
                </a:solidFill>
                <a:latin typeface="Book Antiqua" panose="02040602050305030304" pitchFamily="18" charset="0"/>
              </a:rPr>
              <a:t>V</a:t>
            </a:r>
            <a:r>
              <a:rPr lang="en-US" altLang="zh-CN" sz="1665" baseline="-25000">
                <a:solidFill>
                  <a:schemeClr val="tx2"/>
                </a:solidFill>
                <a:latin typeface="Book Antiqua" panose="02040602050305030304" pitchFamily="18" charset="0"/>
              </a:rPr>
              <a:t>DD</a:t>
            </a:r>
            <a:r>
              <a:rPr lang="en-US" altLang="zh-CN" sz="1665">
                <a:solidFill>
                  <a:schemeClr val="tx2"/>
                </a:solidFill>
                <a:latin typeface="Book Antiqua" panose="02040602050305030304" pitchFamily="18" charset="0"/>
              </a:rPr>
              <a:t>=</a:t>
            </a:r>
            <a:r>
              <a:rPr lang="en-US" altLang="zh-CN" sz="1665" i="0">
                <a:solidFill>
                  <a:schemeClr val="tx2"/>
                </a:solidFill>
                <a:latin typeface="Book Antiqua" panose="02040602050305030304" pitchFamily="18" charset="0"/>
              </a:rPr>
              <a:t>f</a:t>
            </a:r>
            <a:r>
              <a:rPr lang="en-US" altLang="zh-CN" sz="1665">
                <a:solidFill>
                  <a:schemeClr val="tx2"/>
                </a:solidFill>
                <a:latin typeface="Book Antiqua" panose="02040602050305030304" pitchFamily="18" charset="0"/>
              </a:rPr>
              <a:t>(f)</a:t>
            </a:r>
            <a:endParaRPr lang="en-US" altLang="zh-CN" sz="1500">
              <a:solidFill>
                <a:schemeClr val="tx2"/>
              </a:solidFill>
              <a:latin typeface="Book Antiqua" panose="02040602050305030304" pitchFamily="18" charset="0"/>
            </a:endParaRPr>
          </a:p>
        </p:txBody>
      </p:sp>
      <p:sp>
        <p:nvSpPr>
          <p:cNvPr id="406539" name="文本框 406538"/>
          <p:cNvSpPr txBox="1"/>
          <p:nvPr/>
        </p:nvSpPr>
        <p:spPr>
          <a:xfrm>
            <a:off x="5828030" y="854710"/>
            <a:ext cx="1186815" cy="347345"/>
          </a:xfrm>
          <a:prstGeom prst="rect">
            <a:avLst/>
          </a:prstGeom>
          <a:noFill/>
          <a:ln w="12700">
            <a:noFill/>
          </a:ln>
        </p:spPr>
        <p:txBody>
          <a:bodyPr wrap="square">
            <a:spAutoFit/>
          </a:bodyPr>
          <a:lstStyle/>
          <a:p>
            <a:r>
              <a:rPr lang="en-US" altLang="zh-CN" sz="1665" err="1">
                <a:solidFill>
                  <a:schemeClr val="tx2"/>
                </a:solidFill>
                <a:latin typeface="Book Antiqua" panose="02040602050305030304" pitchFamily="18" charset="0"/>
              </a:rPr>
              <a:t>E/E</a:t>
            </a:r>
            <a:r>
              <a:rPr lang="en-US" altLang="zh-CN" sz="1665" baseline="-25000" err="1">
                <a:solidFill>
                  <a:schemeClr val="tx2"/>
                </a:solidFill>
                <a:latin typeface="Book Antiqua" panose="02040602050305030304" pitchFamily="18" charset="0"/>
              </a:rPr>
              <a:t>ref</a:t>
            </a:r>
            <a:r>
              <a:rPr lang="en-US" altLang="zh-CN" sz="1665">
                <a:solidFill>
                  <a:schemeClr val="tx2"/>
                </a:solidFill>
                <a:latin typeface="Book Antiqua" panose="02040602050305030304" pitchFamily="18" charset="0"/>
              </a:rPr>
              <a:t>=</a:t>
            </a:r>
            <a:r>
              <a:rPr lang="en-US" altLang="zh-CN" sz="1665" i="0">
                <a:solidFill>
                  <a:schemeClr val="tx2"/>
                </a:solidFill>
                <a:latin typeface="Book Antiqua" panose="02040602050305030304" pitchFamily="18" charset="0"/>
              </a:rPr>
              <a:t>f</a:t>
            </a:r>
            <a:r>
              <a:rPr lang="en-US" altLang="zh-CN" sz="1665">
                <a:solidFill>
                  <a:schemeClr val="tx2"/>
                </a:solidFill>
                <a:latin typeface="Book Antiqua" panose="02040602050305030304" pitchFamily="18" charset="0"/>
              </a:rPr>
              <a:t>(f)</a:t>
            </a:r>
            <a:endParaRPr lang="en-US" altLang="zh-CN" sz="1500">
              <a:solidFill>
                <a:schemeClr val="tx2"/>
              </a:solidFill>
              <a:latin typeface="Book Antiqua" panose="02040602050305030304" pitchFamily="18" charset="0"/>
            </a:endParaRPr>
          </a:p>
        </p:txBody>
      </p:sp>
      <p:sp>
        <p:nvSpPr>
          <p:cNvPr id="12" name="文本框 11"/>
          <p:cNvSpPr txBox="1"/>
          <p:nvPr/>
        </p:nvSpPr>
        <p:spPr>
          <a:xfrm>
            <a:off x="5030788" y="1737360"/>
            <a:ext cx="429895" cy="270510"/>
          </a:xfrm>
          <a:prstGeom prst="rect">
            <a:avLst/>
          </a:prstGeom>
          <a:noFill/>
          <a:ln w="12700">
            <a:noFill/>
          </a:ln>
        </p:spPr>
        <p:txBody>
          <a:bodyPr wrap="none" anchor="t" anchorCtr="0">
            <a:spAutoFit/>
          </a:bodyPr>
          <a:lstStyle/>
          <a:p>
            <a:r>
              <a:rPr lang="en-US" altLang="zh-CN" sz="1165">
                <a:solidFill>
                  <a:schemeClr val="tx2"/>
                </a:solidFill>
                <a:latin typeface="Book Antiqua" panose="02040602050305030304" pitchFamily="18" charset="0"/>
              </a:rPr>
              <a:t>F</a:t>
            </a:r>
            <a:r>
              <a:rPr lang="en-US" altLang="zh-CN" sz="1165" i="0">
                <a:solidFill>
                  <a:schemeClr val="tx2"/>
                </a:solidFill>
                <a:latin typeface="Book Antiqua" panose="02040602050305030304" pitchFamily="18" charset="0"/>
              </a:rPr>
              <a:t>=1</a:t>
            </a:r>
            <a:endParaRPr lang="en-US" altLang="zh-CN" sz="1165">
              <a:solidFill>
                <a:schemeClr val="tx2"/>
              </a:solidFill>
              <a:latin typeface="Book Antiqua" panose="02040602050305030304" pitchFamily="18" charset="0"/>
            </a:endParaRPr>
          </a:p>
        </p:txBody>
      </p:sp>
      <p:sp>
        <p:nvSpPr>
          <p:cNvPr id="13" name="文本框 12"/>
          <p:cNvSpPr txBox="1"/>
          <p:nvPr/>
        </p:nvSpPr>
        <p:spPr>
          <a:xfrm>
            <a:off x="5316538" y="2086610"/>
            <a:ext cx="257175" cy="270510"/>
          </a:xfrm>
          <a:prstGeom prst="rect">
            <a:avLst/>
          </a:prstGeom>
          <a:noFill/>
          <a:ln w="12700">
            <a:noFill/>
          </a:ln>
        </p:spPr>
        <p:txBody>
          <a:bodyPr wrap="none" anchor="t" anchorCtr="0">
            <a:spAutoFit/>
          </a:bodyPr>
          <a:lstStyle/>
          <a:p>
            <a:r>
              <a:rPr lang="en-US" altLang="zh-CN" sz="1165" i="0">
                <a:solidFill>
                  <a:schemeClr val="tx2"/>
                </a:solidFill>
                <a:latin typeface="Book Antiqua" panose="02040602050305030304" pitchFamily="18" charset="0"/>
              </a:rPr>
              <a:t>2</a:t>
            </a:r>
            <a:endParaRPr lang="en-US" altLang="zh-CN" sz="1165" i="0">
              <a:solidFill>
                <a:schemeClr val="tx2"/>
              </a:solidFill>
              <a:latin typeface="Book Antiqua" panose="02040602050305030304" pitchFamily="18" charset="0"/>
            </a:endParaRPr>
          </a:p>
        </p:txBody>
      </p:sp>
      <p:sp>
        <p:nvSpPr>
          <p:cNvPr id="14" name="文本框 13"/>
          <p:cNvSpPr txBox="1"/>
          <p:nvPr/>
        </p:nvSpPr>
        <p:spPr>
          <a:xfrm>
            <a:off x="6163204" y="2605193"/>
            <a:ext cx="257175" cy="270510"/>
          </a:xfrm>
          <a:prstGeom prst="rect">
            <a:avLst/>
          </a:prstGeom>
          <a:noFill/>
          <a:ln w="12700">
            <a:noFill/>
          </a:ln>
        </p:spPr>
        <p:txBody>
          <a:bodyPr wrap="none" anchor="t" anchorCtr="0">
            <a:spAutoFit/>
          </a:bodyPr>
          <a:lstStyle/>
          <a:p>
            <a:r>
              <a:rPr lang="en-US" altLang="zh-CN" sz="1165" i="0">
                <a:solidFill>
                  <a:schemeClr val="tx2"/>
                </a:solidFill>
                <a:latin typeface="Book Antiqua" panose="02040602050305030304" pitchFamily="18" charset="0"/>
              </a:rPr>
              <a:t>5</a:t>
            </a:r>
            <a:endParaRPr lang="en-US" altLang="zh-CN" sz="1165" i="0">
              <a:solidFill>
                <a:schemeClr val="tx2"/>
              </a:solidFill>
              <a:latin typeface="Book Antiqua" panose="02040602050305030304" pitchFamily="18" charset="0"/>
            </a:endParaRPr>
          </a:p>
        </p:txBody>
      </p:sp>
      <p:sp>
        <p:nvSpPr>
          <p:cNvPr id="15" name="文本框 14"/>
          <p:cNvSpPr txBox="1"/>
          <p:nvPr/>
        </p:nvSpPr>
        <p:spPr>
          <a:xfrm>
            <a:off x="6777038" y="3187277"/>
            <a:ext cx="331470" cy="270510"/>
          </a:xfrm>
          <a:prstGeom prst="rect">
            <a:avLst/>
          </a:prstGeom>
          <a:noFill/>
          <a:ln w="12700">
            <a:noFill/>
          </a:ln>
        </p:spPr>
        <p:txBody>
          <a:bodyPr wrap="none" anchor="t" anchorCtr="0">
            <a:spAutoFit/>
          </a:bodyPr>
          <a:lstStyle/>
          <a:p>
            <a:r>
              <a:rPr lang="en-US" altLang="zh-CN" sz="1165" i="0">
                <a:solidFill>
                  <a:schemeClr val="tx2"/>
                </a:solidFill>
                <a:latin typeface="Book Antiqua" panose="02040602050305030304" pitchFamily="18" charset="0"/>
              </a:rPr>
              <a:t>10</a:t>
            </a:r>
            <a:endParaRPr lang="en-US" altLang="zh-CN" sz="1165" i="0">
              <a:solidFill>
                <a:schemeClr val="tx2"/>
              </a:solidFill>
              <a:latin typeface="Book Antiqua" panose="02040602050305030304" pitchFamily="18" charset="0"/>
            </a:endParaRPr>
          </a:p>
        </p:txBody>
      </p:sp>
      <p:sp>
        <p:nvSpPr>
          <p:cNvPr id="16" name="文本框 15"/>
          <p:cNvSpPr txBox="1"/>
          <p:nvPr/>
        </p:nvSpPr>
        <p:spPr>
          <a:xfrm>
            <a:off x="6777038" y="3557693"/>
            <a:ext cx="331470" cy="270510"/>
          </a:xfrm>
          <a:prstGeom prst="rect">
            <a:avLst/>
          </a:prstGeom>
          <a:noFill/>
          <a:ln w="12700">
            <a:noFill/>
          </a:ln>
        </p:spPr>
        <p:txBody>
          <a:bodyPr wrap="none" anchor="t" anchorCtr="0">
            <a:spAutoFit/>
          </a:bodyPr>
          <a:lstStyle/>
          <a:p>
            <a:r>
              <a:rPr lang="en-US" altLang="zh-CN" sz="1165" i="0">
                <a:solidFill>
                  <a:schemeClr val="tx2"/>
                </a:solidFill>
                <a:latin typeface="Book Antiqua" panose="02040602050305030304" pitchFamily="18" charset="0"/>
              </a:rPr>
              <a:t>20</a:t>
            </a:r>
            <a:endParaRPr lang="en-US" altLang="zh-CN" sz="1165" i="0">
              <a:solidFill>
                <a:schemeClr val="tx2"/>
              </a:solidFill>
              <a:latin typeface="Book Antiqua" panose="02040602050305030304" pitchFamily="18" charset="0"/>
            </a:endParaRPr>
          </a:p>
        </p:txBody>
      </p:sp>
      <p:sp>
        <p:nvSpPr>
          <p:cNvPr id="404483" name="文本占位符 404482"/>
          <p:cNvSpPr>
            <a:spLocks noGrp="1"/>
          </p:cNvSpPr>
          <p:nvPr/>
        </p:nvSpPr>
        <p:spPr>
          <a:xfrm>
            <a:off x="1717834" y="4466643"/>
            <a:ext cx="6477000" cy="1512093"/>
          </a:xfrm>
          <a:prstGeom prst="rect">
            <a:avLst/>
          </a:prstGeom>
        </p:spPr>
        <p:txBody>
          <a:bodyPr vert="horz" lIns="75406" tIns="37041" rIns="75406" bIns="37041"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1">
              <a:lnSpc>
                <a:spcPct val="100000"/>
              </a:lnSpc>
            </a:pPr>
            <a:r>
              <a:rPr lang="zh-CN" altLang="en-US"/>
              <a:t>改变尺寸和降低电压能够减少系统的能耗</a:t>
            </a:r>
            <a:endParaRPr lang="zh-CN" altLang="en-US"/>
          </a:p>
          <a:p>
            <a:pPr lvl="1">
              <a:lnSpc>
                <a:spcPct val="100000"/>
              </a:lnSpc>
            </a:pPr>
            <a:r>
              <a:rPr lang="zh-CN" altLang="en-US"/>
              <a:t>过度增加器件尺寸会付出较大能量</a:t>
            </a:r>
            <a:endParaRPr lang="zh-CN" altLang="en-US"/>
          </a:p>
          <a:p>
            <a:pPr lvl="1">
              <a:lnSpc>
                <a:spcPct val="100000"/>
              </a:lnSpc>
            </a:pPr>
            <a:r>
              <a:rPr lang="zh-CN" altLang="en-US">
                <a:sym typeface="Symbol" panose="05050102010706020507" pitchFamily="18" charset="2"/>
              </a:rPr>
              <a:t>能量最优尺寸系数通常小于性能最优尺寸系数</a:t>
            </a:r>
            <a:endParaRPr lang="zh-CN" altLang="en-US">
              <a:sym typeface="Symbol" panose="05050102010706020507" pitchFamily="18" charset="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fontScale="90000"/>
          </a:bodyPr>
          <a:lstStyle/>
          <a:p>
            <a:r>
              <a:rPr lang="en-US" altLang="zh-CN">
                <a:sym typeface="+mn-ea"/>
              </a:rPr>
              <a:t>CMOS</a:t>
            </a:r>
            <a:r>
              <a:rPr lang="zh-CN" altLang="en-US">
                <a:sym typeface="+mn-ea"/>
              </a:rPr>
              <a:t>反相器</a:t>
            </a:r>
            <a:r>
              <a:rPr lang="en-US" altLang="zh-CN">
                <a:sym typeface="+mn-ea"/>
              </a:rPr>
              <a:t>-</a:t>
            </a:r>
            <a:r>
              <a:rPr lang="zh-CN" altLang="en-US">
                <a:sym typeface="+mn-ea"/>
              </a:rPr>
              <a:t>短路功耗</a:t>
            </a:r>
            <a:endParaRPr lang="zh-CN" altLang="en-US">
              <a:sym typeface="+mn-ea"/>
            </a:endParaRPr>
          </a:p>
        </p:txBody>
      </p:sp>
      <p:pic>
        <p:nvPicPr>
          <p:cNvPr id="270343" name="图片 270342"/>
          <p:cNvPicPr>
            <a:picLocks noChangeAspect="1"/>
          </p:cNvPicPr>
          <p:nvPr/>
        </p:nvPicPr>
        <p:blipFill>
          <a:blip r:embed="rId1"/>
          <a:stretch>
            <a:fillRect/>
          </a:stretch>
        </p:blipFill>
        <p:spPr>
          <a:xfrm>
            <a:off x="836295" y="1540510"/>
            <a:ext cx="3635375" cy="2738755"/>
          </a:xfrm>
          <a:prstGeom prst="rect">
            <a:avLst/>
          </a:prstGeom>
          <a:noFill/>
          <a:ln w="12700">
            <a:noFill/>
          </a:ln>
        </p:spPr>
      </p:pic>
      <p:sp>
        <p:nvSpPr>
          <p:cNvPr id="2" name="下箭头 1"/>
          <p:cNvSpPr/>
          <p:nvPr/>
        </p:nvSpPr>
        <p:spPr>
          <a:xfrm>
            <a:off x="2423795" y="2492375"/>
            <a:ext cx="172085" cy="1035050"/>
          </a:xfrm>
          <a:prstGeom prst="downArrow">
            <a:avLst/>
          </a:prstGeom>
          <a:solidFill>
            <a:srgbClr val="122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660525" y="4570095"/>
            <a:ext cx="2145665" cy="368300"/>
          </a:xfrm>
          <a:prstGeom prst="rect">
            <a:avLst/>
          </a:prstGeom>
          <a:noFill/>
        </p:spPr>
        <p:txBody>
          <a:bodyPr wrap="none" rtlCol="0">
            <a:spAutoFit/>
          </a:bodyPr>
          <a:lstStyle/>
          <a:p>
            <a:pPr algn="l"/>
            <a:r>
              <a:rPr lang="zh-CN" altLang="en-US" dirty="0">
                <a:solidFill>
                  <a:schemeClr val="tx1"/>
                </a:solidFill>
                <a:latin typeface="微软雅黑" panose="020B0503020204020204" pitchFamily="34" charset="-122"/>
                <a:ea typeface="微软雅黑" panose="020B0503020204020204" pitchFamily="34" charset="-122"/>
              </a:rPr>
              <a:t>上升和下降沿不为</a:t>
            </a:r>
            <a:r>
              <a:rPr lang="en-US" altLang="zh-CN" dirty="0">
                <a:solidFill>
                  <a:schemeClr val="tx1"/>
                </a:solidFill>
                <a:latin typeface="微软雅黑" panose="020B0503020204020204" pitchFamily="34" charset="-122"/>
                <a:ea typeface="微软雅黑" panose="020B0503020204020204" pitchFamily="34" charset="-122"/>
              </a:rPr>
              <a:t>0</a:t>
            </a:r>
            <a:endParaRPr lang="en-US" altLang="zh-CN" dirty="0">
              <a:solidFill>
                <a:schemeClr val="tx1"/>
              </a:solidFill>
              <a:latin typeface="微软雅黑" panose="020B0503020204020204" pitchFamily="34" charset="-122"/>
              <a:ea typeface="微软雅黑" panose="020B0503020204020204" pitchFamily="34" charset="-122"/>
            </a:endParaRPr>
          </a:p>
        </p:txBody>
      </p:sp>
      <p:graphicFrame>
        <p:nvGraphicFramePr>
          <p:cNvPr id="408581" name="对象 408580"/>
          <p:cNvGraphicFramePr/>
          <p:nvPr/>
        </p:nvGraphicFramePr>
        <p:xfrm>
          <a:off x="5131435" y="1050290"/>
          <a:ext cx="3126105" cy="3228975"/>
        </p:xfrm>
        <a:graphic>
          <a:graphicData uri="http://schemas.openxmlformats.org/presentationml/2006/ole">
            <mc:AlternateContent xmlns:mc="http://schemas.openxmlformats.org/markup-compatibility/2006">
              <mc:Choice xmlns:v="urn:schemas-microsoft-com:vml" Requires="v">
                <p:oleObj spid="_x0000_s4" name="" r:id="rId2" imgW="4406900" imgH="4737100" progId="Photoshop.Image.4">
                  <p:embed/>
                </p:oleObj>
              </mc:Choice>
              <mc:Fallback>
                <p:oleObj name="" r:id="rId2" imgW="4406900" imgH="4737100" progId="Photoshop.Image.4">
                  <p:embed/>
                  <p:pic>
                    <p:nvPicPr>
                      <p:cNvPr id="0" name="图片 3095"/>
                      <p:cNvPicPr/>
                      <p:nvPr/>
                    </p:nvPicPr>
                    <p:blipFill>
                      <a:blip r:embed="rId3"/>
                      <a:stretch>
                        <a:fillRect/>
                      </a:stretch>
                    </p:blipFill>
                    <p:spPr>
                      <a:xfrm>
                        <a:off x="5131435" y="1050290"/>
                        <a:ext cx="3126105" cy="3228975"/>
                      </a:xfrm>
                      <a:prstGeom prst="rect">
                        <a:avLst/>
                      </a:prstGeom>
                      <a:noFill/>
                      <a:ln w="38100">
                        <a:noFill/>
                        <a:miter/>
                      </a:ln>
                    </p:spPr>
                  </p:pic>
                </p:oleObj>
              </mc:Fallback>
            </mc:AlternateContent>
          </a:graphicData>
        </a:graphic>
      </p:graphicFrame>
      <p:graphicFrame>
        <p:nvGraphicFramePr>
          <p:cNvPr id="5" name="对象 4">
            <a:hlinkClick r:id="" action="ppaction://ole?verb=0"/>
          </p:cNvPr>
          <p:cNvGraphicFramePr>
            <a:graphicFrameLocks noChangeAspect="1"/>
          </p:cNvGraphicFramePr>
          <p:nvPr/>
        </p:nvGraphicFramePr>
        <p:xfrm>
          <a:off x="4712335" y="4570095"/>
          <a:ext cx="3545205" cy="488315"/>
        </p:xfrm>
        <a:graphic>
          <a:graphicData uri="http://schemas.openxmlformats.org/presentationml/2006/ole">
            <mc:AlternateContent xmlns:mc="http://schemas.openxmlformats.org/markup-compatibility/2006">
              <mc:Choice xmlns:v="urn:schemas-microsoft-com:vml" Requires="v">
                <p:oleObj spid="_x0000_s6" name="" r:id="rId4" imgW="1752600" imgH="241300" progId="Equation.KSEE3">
                  <p:embed/>
                </p:oleObj>
              </mc:Choice>
              <mc:Fallback>
                <p:oleObj name="" r:id="rId4" imgW="1752600" imgH="241300" progId="Equation.KSEE3">
                  <p:embed/>
                  <p:pic>
                    <p:nvPicPr>
                      <p:cNvPr id="0" name="图片 3072"/>
                      <p:cNvPicPr/>
                      <p:nvPr/>
                    </p:nvPicPr>
                    <p:blipFill>
                      <a:blip r:embed="rId5"/>
                      <a:stretch>
                        <a:fillRect/>
                      </a:stretch>
                    </p:blipFill>
                    <p:spPr>
                      <a:xfrm>
                        <a:off x="4712335" y="4570095"/>
                        <a:ext cx="3545205" cy="488315"/>
                      </a:xfrm>
                      <a:prstGeom prst="rect">
                        <a:avLst/>
                      </a:prstGeom>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graphicFrame>
        <p:nvGraphicFramePr>
          <p:cNvPr id="408578" name="对象 408577"/>
          <p:cNvGraphicFramePr/>
          <p:nvPr/>
        </p:nvGraphicFramePr>
        <p:xfrm>
          <a:off x="1201420" y="1144905"/>
          <a:ext cx="3385185" cy="3888740"/>
        </p:xfrm>
        <a:graphic>
          <a:graphicData uri="http://schemas.openxmlformats.org/presentationml/2006/ole">
            <mc:AlternateContent xmlns:mc="http://schemas.openxmlformats.org/markup-compatibility/2006">
              <mc:Choice xmlns:v="urn:schemas-microsoft-com:vml" Requires="v">
                <p:oleObj spid="_x0000_s2" name="" r:id="rId1" imgW="3759200" imgH="4660900" progId="Photoshop.Image.4">
                  <p:embed/>
                </p:oleObj>
              </mc:Choice>
              <mc:Fallback>
                <p:oleObj name="" r:id="rId1" imgW="3759200" imgH="4660900" progId="Photoshop.Image.4">
                  <p:embed/>
                  <p:pic>
                    <p:nvPicPr>
                      <p:cNvPr id="0" name="图片 3096"/>
                      <p:cNvPicPr/>
                      <p:nvPr/>
                    </p:nvPicPr>
                    <p:blipFill>
                      <a:blip r:embed="rId2"/>
                      <a:stretch>
                        <a:fillRect/>
                      </a:stretch>
                    </p:blipFill>
                    <p:spPr>
                      <a:xfrm>
                        <a:off x="1201420" y="1144905"/>
                        <a:ext cx="3385185" cy="3888740"/>
                      </a:xfrm>
                      <a:prstGeom prst="rect">
                        <a:avLst/>
                      </a:prstGeom>
                      <a:noFill/>
                      <a:ln w="38100">
                        <a:noFill/>
                        <a:miter/>
                      </a:ln>
                    </p:spPr>
                  </p:pic>
                </p:oleObj>
              </mc:Fallback>
            </mc:AlternateContent>
          </a:graphicData>
        </a:graphic>
      </p:graphicFrame>
      <p:sp>
        <p:nvSpPr>
          <p:cNvPr id="408583" name="文本框 408582"/>
          <p:cNvSpPr txBox="1"/>
          <p:nvPr/>
        </p:nvSpPr>
        <p:spPr>
          <a:xfrm>
            <a:off x="4864100" y="1966595"/>
            <a:ext cx="3219450" cy="2245360"/>
          </a:xfrm>
          <a:prstGeom prst="rect">
            <a:avLst/>
          </a:prstGeom>
          <a:noFill/>
          <a:ln w="28575">
            <a:noFill/>
          </a:ln>
        </p:spPr>
        <p:txBody>
          <a:bodyPr wrap="square" anchor="t" anchorCtr="0">
            <a:spAutoFit/>
          </a:bodyPr>
          <a:lstStyle/>
          <a:p>
            <a:r>
              <a:rPr lang="zh-CN" altLang="en-US" sz="2000" i="0" err="1">
                <a:solidFill>
                  <a:schemeClr val="tx1"/>
                </a:solidFill>
                <a:latin typeface="Times New Roman" panose="02020603050405020304" pitchFamily="18" charset="0"/>
              </a:rPr>
              <a:t>使输出的上升和下降时间大于输入的上升和下降时间可以使短路功耗减到最小。</a:t>
            </a:r>
            <a:endParaRPr lang="zh-CN" altLang="en-US" sz="2000" i="0" err="1">
              <a:solidFill>
                <a:schemeClr val="tx1"/>
              </a:solidFill>
              <a:latin typeface="Times New Roman" panose="02020603050405020304" pitchFamily="18" charset="0"/>
            </a:endParaRPr>
          </a:p>
          <a:p>
            <a:r>
              <a:rPr lang="zh-CN" altLang="en-US" sz="2000" i="0" err="1">
                <a:solidFill>
                  <a:schemeClr val="tx1"/>
                </a:solidFill>
                <a:latin typeface="Times New Roman" panose="02020603050405020304" pitchFamily="18" charset="0"/>
              </a:rPr>
              <a:t>但：</a:t>
            </a:r>
            <a:endParaRPr lang="zh-CN" altLang="en-US" sz="2000" i="0" err="1">
              <a:solidFill>
                <a:schemeClr val="tx1"/>
              </a:solidFill>
              <a:latin typeface="Times New Roman" panose="02020603050405020304" pitchFamily="18" charset="0"/>
            </a:endParaRPr>
          </a:p>
          <a:p>
            <a:r>
              <a:rPr lang="en-US" altLang="zh-CN" sz="2000" i="0" err="1">
                <a:solidFill>
                  <a:schemeClr val="tx1"/>
                </a:solidFill>
                <a:latin typeface="Times New Roman" panose="02020603050405020304" pitchFamily="18" charset="0"/>
              </a:rPr>
              <a:t>1.</a:t>
            </a:r>
            <a:r>
              <a:rPr lang="zh-CN" altLang="en-US" sz="2000" i="0" err="1">
                <a:solidFill>
                  <a:schemeClr val="tx1"/>
                </a:solidFill>
                <a:latin typeface="Times New Roman" panose="02020603050405020304" pitchFamily="18" charset="0"/>
              </a:rPr>
              <a:t>系统延时增大</a:t>
            </a:r>
            <a:endParaRPr lang="zh-CN" altLang="en-US" sz="2000" i="0" err="1">
              <a:solidFill>
                <a:schemeClr val="tx1"/>
              </a:solidFill>
              <a:latin typeface="Times New Roman" panose="02020603050405020304" pitchFamily="18" charset="0"/>
            </a:endParaRPr>
          </a:p>
          <a:p>
            <a:r>
              <a:rPr lang="en-US" altLang="zh-CN" sz="2000" i="0" err="1">
                <a:solidFill>
                  <a:schemeClr val="tx1"/>
                </a:solidFill>
                <a:latin typeface="Times New Roman" panose="02020603050405020304" pitchFamily="18" charset="0"/>
              </a:rPr>
              <a:t>2.</a:t>
            </a:r>
            <a:r>
              <a:rPr lang="zh-CN" altLang="en-US" sz="2000" i="0" err="1">
                <a:solidFill>
                  <a:schemeClr val="tx1"/>
                </a:solidFill>
                <a:latin typeface="Times New Roman" panose="02020603050405020304" pitchFamily="18" charset="0"/>
              </a:rPr>
              <a:t>下级延时需要更大</a:t>
            </a:r>
            <a:endParaRPr lang="zh-CN" altLang="en-US" sz="2000" i="0" err="1">
              <a:solidFill>
                <a:schemeClr val="tx1"/>
              </a:solidFill>
              <a:latin typeface="Times New Roman" panose="02020603050405020304" pitchFamily="18"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sp>
        <p:nvSpPr>
          <p:cNvPr id="408583" name="文本框 408582"/>
          <p:cNvSpPr txBox="1"/>
          <p:nvPr/>
        </p:nvSpPr>
        <p:spPr>
          <a:xfrm>
            <a:off x="4864100" y="1966595"/>
            <a:ext cx="3219450" cy="1630045"/>
          </a:xfrm>
          <a:prstGeom prst="rect">
            <a:avLst/>
          </a:prstGeom>
          <a:noFill/>
          <a:ln w="28575">
            <a:noFill/>
          </a:ln>
        </p:spPr>
        <p:txBody>
          <a:bodyPr wrap="square" anchor="t" anchorCtr="0">
            <a:spAutoFit/>
          </a:bodyPr>
          <a:lstStyle/>
          <a:p>
            <a:r>
              <a:rPr lang="zh-CN" altLang="en-US" sz="2000" i="0" err="1">
                <a:solidFill>
                  <a:schemeClr val="tx1"/>
                </a:solidFill>
                <a:latin typeface="Times New Roman" panose="02020603050405020304" pitchFamily="18" charset="0"/>
              </a:rPr>
              <a:t>降低电源电压使短路功耗降低。</a:t>
            </a:r>
            <a:endParaRPr lang="zh-CN" altLang="en-US" sz="2000" i="0" err="1">
              <a:solidFill>
                <a:schemeClr val="tx1"/>
              </a:solidFill>
              <a:latin typeface="Times New Roman" panose="02020603050405020304" pitchFamily="18" charset="0"/>
            </a:endParaRPr>
          </a:p>
          <a:p>
            <a:endParaRPr lang="zh-CN" altLang="en-US" sz="2000" i="0" err="1">
              <a:solidFill>
                <a:schemeClr val="tx1"/>
              </a:solidFill>
              <a:latin typeface="Times New Roman" panose="02020603050405020304" pitchFamily="18" charset="0"/>
            </a:endParaRPr>
          </a:p>
          <a:p>
            <a:r>
              <a:rPr lang="zh-CN" altLang="en-US" sz="2000" i="0" err="1">
                <a:solidFill>
                  <a:schemeClr val="tx1"/>
                </a:solidFill>
                <a:latin typeface="Times New Roman" panose="02020603050405020304" pitchFamily="18" charset="0"/>
              </a:rPr>
              <a:t>深亚微米工艺下短路功耗重要性下降。</a:t>
            </a:r>
            <a:endParaRPr lang="zh-CN" altLang="en-US" sz="2000" i="0" err="1">
              <a:solidFill>
                <a:schemeClr val="tx1"/>
              </a:solidFill>
              <a:latin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594360" y="1352550"/>
            <a:ext cx="4013200" cy="30099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pic>
        <p:nvPicPr>
          <p:cNvPr id="410627" name="图片 410626"/>
          <p:cNvPicPr>
            <a:picLocks noChangeAspect="1"/>
          </p:cNvPicPr>
          <p:nvPr/>
        </p:nvPicPr>
        <p:blipFill>
          <a:blip r:embed="rId1">
            <a:lum contrast="-18000"/>
          </a:blip>
          <a:srcRect b="18832"/>
          <a:stretch>
            <a:fillRect/>
          </a:stretch>
        </p:blipFill>
        <p:spPr>
          <a:xfrm>
            <a:off x="2771140" y="1259417"/>
            <a:ext cx="4381500" cy="2948782"/>
          </a:xfrm>
          <a:prstGeom prst="rect">
            <a:avLst/>
          </a:prstGeom>
          <a:noFill/>
          <a:ln w="9525">
            <a:noFill/>
          </a:ln>
        </p:spPr>
      </p:pic>
      <p:sp>
        <p:nvSpPr>
          <p:cNvPr id="2" name="文本框 1"/>
          <p:cNvSpPr txBox="1"/>
          <p:nvPr/>
        </p:nvSpPr>
        <p:spPr>
          <a:xfrm>
            <a:off x="1259840" y="1352550"/>
            <a:ext cx="1097280" cy="368300"/>
          </a:xfrm>
          <a:prstGeom prst="rect">
            <a:avLst/>
          </a:prstGeom>
          <a:noFill/>
        </p:spPr>
        <p:txBody>
          <a:bodyPr wrap="none" rtlCol="0" anchor="t">
            <a:spAutoFit/>
          </a:bodyPr>
          <a:lstStyle/>
          <a:p>
            <a:pPr algn="l"/>
            <a:r>
              <a:rPr lang="zh-CN" altLang="en-US">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静态功耗</a:t>
            </a:r>
            <a:endParaRPr lang="zh-CN" altLang="en-US"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12160" y="4618355"/>
            <a:ext cx="3148965" cy="368300"/>
          </a:xfrm>
          <a:prstGeom prst="rect">
            <a:avLst/>
          </a:prstGeom>
          <a:noFill/>
        </p:spPr>
        <p:txBody>
          <a:bodyPr wrap="square" rtlCol="0" anchor="t">
            <a:spAutoFit/>
          </a:bodyPr>
          <a:lstStyle/>
          <a:p>
            <a:pPr algn="l"/>
            <a:r>
              <a:rPr lang="zh-CN" altLang="en-US">
                <a:solidFill>
                  <a:srgbClr val="315263"/>
                </a:solidFill>
                <a:latin typeface="Arial" panose="020B0604020202020204" pitchFamily="34" charset="0"/>
                <a:sym typeface="+mn-ea"/>
              </a:rPr>
              <a:t>结的泄露电流由载流子引起</a:t>
            </a:r>
            <a:endParaRPr lang="zh-CN" altLang="en-US">
              <a:solidFill>
                <a:srgbClr val="315263"/>
              </a:solidFill>
              <a:latin typeface="Arial" panose="020B0604020202020204" pitchFamily="34" charset="0"/>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pic>
        <p:nvPicPr>
          <p:cNvPr id="411651" name="图片 411650"/>
          <p:cNvPicPr>
            <a:picLocks noChangeAspect="1"/>
          </p:cNvPicPr>
          <p:nvPr/>
        </p:nvPicPr>
        <p:blipFill>
          <a:blip r:embed="rId1"/>
          <a:srcRect b="24164"/>
          <a:stretch>
            <a:fillRect/>
          </a:stretch>
        </p:blipFill>
        <p:spPr>
          <a:xfrm>
            <a:off x="1898015" y="1279525"/>
            <a:ext cx="5027295" cy="3155950"/>
          </a:xfrm>
          <a:prstGeom prst="rect">
            <a:avLst/>
          </a:prstGeom>
          <a:noFill/>
          <a:ln w="9525">
            <a:noFill/>
          </a:ln>
        </p:spPr>
      </p:pic>
      <p:sp>
        <p:nvSpPr>
          <p:cNvPr id="411652" name="文本框 411651"/>
          <p:cNvSpPr txBox="1"/>
          <p:nvPr/>
        </p:nvSpPr>
        <p:spPr>
          <a:xfrm>
            <a:off x="1898121" y="4496700"/>
            <a:ext cx="4623435" cy="1198880"/>
          </a:xfrm>
          <a:prstGeom prst="rect">
            <a:avLst/>
          </a:prstGeom>
          <a:noFill/>
          <a:ln w="12700">
            <a:noFill/>
          </a:ln>
        </p:spPr>
        <p:txBody>
          <a:bodyPr wrap="none" anchor="t" anchorCtr="0">
            <a:spAutoFit/>
          </a:bodyPr>
          <a:lstStyle/>
          <a:p>
            <a:pPr algn="l"/>
            <a:r>
              <a:rPr lang="zh-CN" altLang="en-US" b="1">
                <a:solidFill>
                  <a:schemeClr val="tx2"/>
                </a:solidFill>
                <a:latin typeface="Times New Roman" panose="02020603050405020304" pitchFamily="18" charset="0"/>
              </a:rPr>
              <a:t>反偏二极管漏电：</a:t>
            </a:r>
            <a:endParaRPr lang="en-US" altLang="zh-CN" b="1">
              <a:solidFill>
                <a:schemeClr val="tx2"/>
              </a:solidFill>
              <a:latin typeface="Times New Roman" panose="02020603050405020304" pitchFamily="18" charset="0"/>
            </a:endParaRPr>
          </a:p>
          <a:p>
            <a:pPr algn="l"/>
            <a:r>
              <a:rPr lang="en-US" altLang="zh-CN" b="1">
                <a:solidFill>
                  <a:schemeClr val="tx2"/>
                </a:solidFill>
                <a:latin typeface="Times New Roman" panose="02020603050405020304" pitchFamily="18" charset="0"/>
              </a:rPr>
              <a:t>JS = </a:t>
            </a:r>
            <a:r>
              <a:rPr lang="en-US" altLang="zh-CN" b="1" i="0">
                <a:solidFill>
                  <a:schemeClr val="tx2"/>
                </a:solidFill>
                <a:latin typeface="Times New Roman" panose="02020603050405020304" pitchFamily="18" charset="0"/>
              </a:rPr>
              <a:t>10-100 pA/</a:t>
            </a:r>
            <a:r>
              <a:rPr lang="en-US" altLang="zh-CN" b="1" i="0">
                <a:solidFill>
                  <a:schemeClr val="tx2"/>
                </a:solidFill>
                <a:latin typeface="Symbol" panose="05050102010706020507" pitchFamily="18" charset="2"/>
              </a:rPr>
              <a:t>m</a:t>
            </a:r>
            <a:r>
              <a:rPr lang="en-US" altLang="zh-CN" b="1" i="0">
                <a:solidFill>
                  <a:schemeClr val="tx2"/>
                </a:solidFill>
                <a:latin typeface="Times New Roman" panose="02020603050405020304" pitchFamily="18" charset="0"/>
              </a:rPr>
              <a:t>m2  </a:t>
            </a:r>
            <a:r>
              <a:rPr lang="zh-CN" altLang="en-US" b="1" i="0">
                <a:solidFill>
                  <a:schemeClr val="tx2"/>
                </a:solidFill>
                <a:latin typeface="Times New Roman" panose="02020603050405020304" pitchFamily="18" charset="0"/>
              </a:rPr>
              <a:t>（</a:t>
            </a:r>
            <a:r>
              <a:rPr lang="en-US" altLang="zh-CN" b="1" i="0">
                <a:solidFill>
                  <a:schemeClr val="tx2"/>
                </a:solidFill>
                <a:latin typeface="Times New Roman" panose="02020603050405020304" pitchFamily="18" charset="0"/>
              </a:rPr>
              <a:t>25</a:t>
            </a:r>
            <a:r>
              <a:rPr lang="en-US" altLang="zh-CN" b="1" i="0">
                <a:solidFill>
                  <a:schemeClr val="tx2"/>
                </a:solidFill>
                <a:latin typeface="宋体" panose="02010600030101010101" pitchFamily="2" charset="-122"/>
                <a:ea typeface="宋体" panose="02010600030101010101" pitchFamily="2" charset="-122"/>
              </a:rPr>
              <a:t>℃</a:t>
            </a:r>
            <a:r>
              <a:rPr lang="en-US" altLang="zh-CN" b="1" i="0">
                <a:solidFill>
                  <a:schemeClr val="tx2"/>
                </a:solidFill>
                <a:latin typeface="Times New Roman" panose="02020603050405020304" pitchFamily="18" charset="0"/>
              </a:rPr>
              <a:t> ,0.25</a:t>
            </a:r>
            <a:r>
              <a:rPr lang="en-US" altLang="zh-CN" b="1" i="0">
                <a:solidFill>
                  <a:schemeClr val="tx2"/>
                </a:solidFill>
                <a:latin typeface="Symbol" panose="05050102010706020507" pitchFamily="18" charset="2"/>
              </a:rPr>
              <a:t>m</a:t>
            </a:r>
            <a:r>
              <a:rPr lang="en-US" altLang="zh-CN" b="1" i="0">
                <a:solidFill>
                  <a:schemeClr val="tx2"/>
                </a:solidFill>
                <a:latin typeface="Times New Roman" panose="02020603050405020304" pitchFamily="18" charset="0"/>
              </a:rPr>
              <a:t>m CMOS)</a:t>
            </a:r>
            <a:endParaRPr lang="en-US" altLang="zh-CN" b="1" i="0">
              <a:solidFill>
                <a:schemeClr val="tx2"/>
              </a:solidFill>
              <a:latin typeface="Times New Roman" panose="02020603050405020304" pitchFamily="18" charset="0"/>
            </a:endParaRPr>
          </a:p>
          <a:p>
            <a:pPr algn="ctr"/>
            <a:r>
              <a:rPr lang="zh-CN" altLang="en-US" b="1" i="0">
                <a:solidFill>
                  <a:schemeClr val="tx2"/>
                </a:solidFill>
                <a:latin typeface="Times New Roman" panose="02020603050405020304" pitchFamily="18" charset="0"/>
              </a:rPr>
              <a:t>每升高</a:t>
            </a:r>
            <a:r>
              <a:rPr lang="en-US" altLang="zh-CN" b="1" i="0">
                <a:solidFill>
                  <a:schemeClr val="tx2"/>
                </a:solidFill>
                <a:latin typeface="Times New Roman" panose="02020603050405020304" pitchFamily="18" charset="0"/>
              </a:rPr>
              <a:t>9</a:t>
            </a:r>
            <a:r>
              <a:rPr lang="en-US" altLang="zh-CN" b="1">
                <a:solidFill>
                  <a:schemeClr val="tx2"/>
                </a:solidFill>
                <a:latin typeface="宋体" panose="02010600030101010101" pitchFamily="2" charset="-122"/>
                <a:ea typeface="宋体" panose="02010600030101010101" pitchFamily="2" charset="-122"/>
                <a:sym typeface="+mn-ea"/>
              </a:rPr>
              <a:t>℃</a:t>
            </a:r>
            <a:r>
              <a:rPr lang="zh-CN" altLang="en-US" b="1" i="0">
                <a:solidFill>
                  <a:schemeClr val="tx2"/>
                </a:solidFill>
                <a:latin typeface="Times New Roman" panose="02020603050405020304" pitchFamily="18" charset="0"/>
              </a:rPr>
              <a:t>，</a:t>
            </a:r>
            <a:r>
              <a:rPr lang="en-US" altLang="zh-CN" b="1" i="0">
                <a:solidFill>
                  <a:schemeClr val="tx2"/>
                </a:solidFill>
                <a:latin typeface="Times New Roman" panose="02020603050405020304" pitchFamily="18" charset="0"/>
              </a:rPr>
              <a:t>JS</a:t>
            </a:r>
            <a:r>
              <a:rPr lang="zh-CN" altLang="en-US" b="1" i="0">
                <a:solidFill>
                  <a:schemeClr val="tx2"/>
                </a:solidFill>
                <a:latin typeface="Times New Roman" panose="02020603050405020304" pitchFamily="18" charset="0"/>
              </a:rPr>
              <a:t>翻倍</a:t>
            </a:r>
            <a:endParaRPr lang="en-US" altLang="zh-CN" b="1" i="0">
              <a:solidFill>
                <a:schemeClr val="tx2"/>
              </a:solidFill>
              <a:latin typeface="Times New Roman" panose="02020603050405020304" pitchFamily="18" charset="0"/>
            </a:endParaRPr>
          </a:p>
          <a:p>
            <a:endParaRPr lang="en-US" altLang="zh-CN" b="1" i="0">
              <a:solidFill>
                <a:schemeClr val="tx2"/>
              </a:solidFill>
              <a:latin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pic>
        <p:nvPicPr>
          <p:cNvPr id="412675" name="图片 412674"/>
          <p:cNvPicPr>
            <a:picLocks noChangeAspect="1"/>
          </p:cNvPicPr>
          <p:nvPr/>
        </p:nvPicPr>
        <p:blipFill>
          <a:blip r:embed="rId1"/>
          <a:srcRect l="11678" t="27344" r="11874" b="18172"/>
          <a:stretch>
            <a:fillRect/>
          </a:stretch>
        </p:blipFill>
        <p:spPr>
          <a:xfrm>
            <a:off x="1684020" y="1264920"/>
            <a:ext cx="5905500" cy="3366770"/>
          </a:xfrm>
          <a:prstGeom prst="rect">
            <a:avLst/>
          </a:prstGeom>
          <a:noFill/>
          <a:ln w="28575">
            <a:noFill/>
          </a:ln>
        </p:spPr>
      </p:pic>
      <p:sp>
        <p:nvSpPr>
          <p:cNvPr id="2" name="文本框 1"/>
          <p:cNvSpPr txBox="1"/>
          <p:nvPr/>
        </p:nvSpPr>
        <p:spPr>
          <a:xfrm>
            <a:off x="2194560" y="5020310"/>
            <a:ext cx="4297680" cy="368300"/>
          </a:xfrm>
          <a:prstGeom prst="rect">
            <a:avLst/>
          </a:prstGeom>
          <a:noFill/>
        </p:spPr>
        <p:txBody>
          <a:bodyPr wrap="none" rtlCol="0" anchor="t">
            <a:spAutoFit/>
          </a:bodyPr>
          <a:lstStyle/>
          <a:p>
            <a:pPr algn="l"/>
            <a:r>
              <a:rPr lang="zh-CN" altLang="en-US" b="1">
                <a:solidFill>
                  <a:schemeClr val="tx2"/>
                </a:solidFill>
                <a:latin typeface="Times New Roman" panose="02020603050405020304" pitchFamily="18" charset="0"/>
                <a:sym typeface="+mn-ea"/>
              </a:rPr>
              <a:t>低内核电压下，栅对电流的控制能力下降</a:t>
            </a:r>
            <a:endParaRPr lang="zh-CN" altLang="en-US" b="1">
              <a:solidFill>
                <a:schemeClr val="tx2"/>
              </a:solidFill>
              <a:latin typeface="Times New Roman" panose="02020603050405020304" pitchFamily="18" charset="0"/>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功耗</a:t>
            </a:r>
            <a:endParaRPr lang="zh-CN" altLang="en-US">
              <a:sym typeface="+mn-ea"/>
            </a:endParaRPr>
          </a:p>
        </p:txBody>
      </p:sp>
      <p:pic>
        <p:nvPicPr>
          <p:cNvPr id="413699" name="图片 413698"/>
          <p:cNvPicPr>
            <a:picLocks noChangeAspect="1"/>
          </p:cNvPicPr>
          <p:nvPr/>
        </p:nvPicPr>
        <p:blipFill>
          <a:blip r:embed="rId1"/>
          <a:srcRect b="28033"/>
          <a:stretch>
            <a:fillRect/>
          </a:stretch>
        </p:blipFill>
        <p:spPr>
          <a:xfrm>
            <a:off x="1939713" y="1492462"/>
            <a:ext cx="4445000" cy="2730500"/>
          </a:xfrm>
          <a:prstGeom prst="rect">
            <a:avLst/>
          </a:prstGeom>
          <a:noFill/>
          <a:ln w="9525">
            <a:noFill/>
          </a:ln>
        </p:spPr>
      </p:pic>
      <p:sp>
        <p:nvSpPr>
          <p:cNvPr id="3" name="文本框 2"/>
          <p:cNvSpPr txBox="1"/>
          <p:nvPr/>
        </p:nvSpPr>
        <p:spPr>
          <a:xfrm>
            <a:off x="2496185" y="4388485"/>
            <a:ext cx="6217285" cy="922020"/>
          </a:xfrm>
          <a:prstGeom prst="rect">
            <a:avLst/>
          </a:prstGeom>
          <a:noFill/>
        </p:spPr>
        <p:txBody>
          <a:bodyPr wrap="square" rtlCol="0" anchor="t">
            <a:spAutoFit/>
          </a:bodyPr>
          <a:lstStyle/>
          <a:p>
            <a:pPr algn="l"/>
            <a:r>
              <a:rPr lang="zh-CN" altLang="en-US">
                <a:solidFill>
                  <a:srgbClr val="315263"/>
                </a:solidFill>
                <a:latin typeface="Times New Roman" panose="02020603050405020304" pitchFamily="18" charset="0"/>
                <a:sym typeface="+mn-ea"/>
              </a:rPr>
              <a:t>静态电流在深亚微米情况下影响较大</a:t>
            </a:r>
            <a:endParaRPr lang="zh-CN" altLang="en-US">
              <a:solidFill>
                <a:srgbClr val="315263"/>
              </a:solidFill>
              <a:latin typeface="Times New Roman" panose="02020603050405020304" pitchFamily="18" charset="0"/>
              <a:sym typeface="+mn-ea"/>
            </a:endParaRPr>
          </a:p>
          <a:p>
            <a:pPr algn="l"/>
            <a:r>
              <a:rPr lang="en-US" altLang="zh-CN">
                <a:solidFill>
                  <a:srgbClr val="315263"/>
                </a:solidFill>
                <a:latin typeface="Times New Roman" panose="02020603050405020304" pitchFamily="18" charset="0"/>
                <a:sym typeface="+mn-ea"/>
              </a:rPr>
              <a:t>	</a:t>
            </a:r>
            <a:r>
              <a:rPr lang="zh-CN" altLang="en-US">
                <a:solidFill>
                  <a:srgbClr val="315263"/>
                </a:solidFill>
                <a:latin typeface="Times New Roman" panose="02020603050405020304" pitchFamily="18" charset="0"/>
                <a:sym typeface="+mn-ea"/>
              </a:rPr>
              <a:t>减少了噪声容限</a:t>
            </a:r>
            <a:endParaRPr lang="zh-CN" altLang="en-US">
              <a:solidFill>
                <a:srgbClr val="315263"/>
              </a:solidFill>
              <a:latin typeface="Times New Roman" panose="02020603050405020304" pitchFamily="18" charset="0"/>
              <a:sym typeface="+mn-ea"/>
            </a:endParaRPr>
          </a:p>
          <a:p>
            <a:pPr algn="l"/>
            <a:r>
              <a:rPr lang="en-US" altLang="zh-CN">
                <a:solidFill>
                  <a:srgbClr val="315263"/>
                </a:solidFill>
                <a:latin typeface="Times New Roman" panose="02020603050405020304" pitchFamily="18" charset="0"/>
                <a:sym typeface="+mn-ea"/>
              </a:rPr>
              <a:t>	</a:t>
            </a:r>
            <a:r>
              <a:rPr lang="zh-CN" altLang="en-US">
                <a:solidFill>
                  <a:srgbClr val="315263"/>
                </a:solidFill>
                <a:latin typeface="Times New Roman" panose="02020603050405020304" pitchFamily="18" charset="0"/>
                <a:sym typeface="+mn-ea"/>
              </a:rPr>
              <a:t>产生较大的无用功耗</a:t>
            </a:r>
            <a:endParaRPr lang="zh-CN" altLang="en-US">
              <a:solidFill>
                <a:srgbClr val="315263"/>
              </a:solidFill>
              <a:latin typeface="Times New Roman" panose="02020603050405020304" pitchFamily="18" charset="0"/>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标题 281601"/>
          <p:cNvSpPr>
            <a:spLocks noGrp="1"/>
          </p:cNvSpPr>
          <p:nvPr>
            <p:ph type="title"/>
          </p:nvPr>
        </p:nvSpPr>
        <p:spPr/>
        <p:txBody>
          <a:bodyPr lIns="75406" tIns="37041" rIns="75406" bIns="37041" anchor="b" anchorCtr="0">
            <a:normAutofit/>
          </a:bodyPr>
          <a:lstStyle/>
          <a:p>
            <a:r>
              <a:rPr lang="en-US" altLang="zh-CN">
                <a:sym typeface="+mn-ea"/>
              </a:rPr>
              <a:t>CMOS</a:t>
            </a:r>
            <a:r>
              <a:rPr lang="zh-CN" altLang="en-US">
                <a:sym typeface="+mn-ea"/>
              </a:rPr>
              <a:t>反相器</a:t>
            </a:r>
            <a:r>
              <a:rPr lang="en-US" altLang="zh-CN">
                <a:sym typeface="+mn-ea"/>
              </a:rPr>
              <a:t>-</a:t>
            </a:r>
            <a:r>
              <a:rPr lang="zh-CN" altLang="en-US">
                <a:sym typeface="+mn-ea"/>
              </a:rPr>
              <a:t>先进工艺</a:t>
            </a:r>
            <a:endParaRPr lang="zh-CN" altLang="en-US">
              <a:sym typeface="+mn-ea"/>
            </a:endParaRPr>
          </a:p>
        </p:txBody>
      </p:sp>
      <p:pic>
        <p:nvPicPr>
          <p:cNvPr id="4" name="图片 3"/>
          <p:cNvPicPr>
            <a:picLocks noChangeAspect="1"/>
          </p:cNvPicPr>
          <p:nvPr/>
        </p:nvPicPr>
        <p:blipFill>
          <a:blip r:embed="rId1"/>
          <a:stretch>
            <a:fillRect/>
          </a:stretch>
        </p:blipFill>
        <p:spPr>
          <a:xfrm>
            <a:off x="1259840" y="944245"/>
            <a:ext cx="6623685" cy="472376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78" name="标题 1048577"/>
          <p:cNvSpPr>
            <a:spLocks noGrp="1"/>
          </p:cNvSpPr>
          <p:nvPr>
            <p:ph type="title"/>
          </p:nvPr>
        </p:nvSpPr>
        <p:spPr/>
        <p:txBody>
          <a:bodyPr lIns="75406" tIns="37041" rIns="75406" bIns="37041" anchor="b" anchorCtr="0">
            <a:normAutofit/>
          </a:bodyPr>
          <a:lstStyle/>
          <a:p>
            <a:r>
              <a:rPr lang="zh-CN"/>
              <a:t>作业</a:t>
            </a:r>
            <a:endParaRPr lang="zh-CN"/>
          </a:p>
        </p:txBody>
      </p:sp>
      <p:pic>
        <p:nvPicPr>
          <p:cNvPr id="888838" name="图片 888837" descr="InverterChain"/>
          <p:cNvPicPr>
            <a:picLocks noChangeAspect="1"/>
          </p:cNvPicPr>
          <p:nvPr/>
        </p:nvPicPr>
        <p:blipFill>
          <a:blip r:embed="rId1"/>
          <a:stretch>
            <a:fillRect/>
          </a:stretch>
        </p:blipFill>
        <p:spPr>
          <a:xfrm>
            <a:off x="2337745" y="3361890"/>
            <a:ext cx="3847531" cy="1303632"/>
          </a:xfrm>
          <a:prstGeom prst="rect">
            <a:avLst/>
          </a:prstGeom>
          <a:noFill/>
          <a:ln w="9525">
            <a:noFill/>
          </a:ln>
        </p:spPr>
      </p:pic>
      <mc:AlternateContent xmlns:mc="http://schemas.openxmlformats.org/markup-compatibility/2006">
        <mc:Choice xmlns:a14="http://schemas.microsoft.com/office/drawing/2010/main" Requires="a14">
          <p:sp>
            <p:nvSpPr>
              <p:cNvPr id="3" name="文本占位符 948226"/>
              <p:cNvSpPr txBox="1"/>
              <p:nvPr/>
            </p:nvSpPr>
            <p:spPr>
              <a:xfrm>
                <a:off x="531495" y="909955"/>
                <a:ext cx="7886700" cy="3625850"/>
              </a:xfrm>
              <a:prstGeom prst="rect">
                <a:avLst/>
              </a:prstGeom>
            </p:spPr>
            <p:txBody>
              <a:bodyPr vert="horz" lIns="75406" tIns="37041" rIns="75406" bIns="37041"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nSpc>
                    <a:spcPct val="150000"/>
                  </a:lnSpc>
                </a:pPr>
                <a:r>
                  <a:rPr lang="zh-CN" altLang="en-US" sz="1800" dirty="0">
                    <a:effectLst>
                      <a:outerShdw blurRad="38100" dist="38100" dir="2700000" algn="tl">
                        <a:srgbClr val="000000">
                          <a:alpha val="43137"/>
                        </a:srgbClr>
                      </a:outerShdw>
                    </a:effectLst>
                  </a:rPr>
                  <a:t>题：驱动</a:t>
                </a:r>
                <a:r>
                  <a:rPr lang="en-US" altLang="zh-CN" sz="1800" dirty="0">
                    <a:effectLst>
                      <a:outerShdw blurRad="38100" dist="38100" dir="2700000" algn="tl">
                        <a:srgbClr val="000000">
                          <a:alpha val="43137"/>
                        </a:srgbClr>
                      </a:outerShdw>
                    </a:effectLst>
                  </a:rPr>
                  <a:t>4pF</a:t>
                </a:r>
                <a:r>
                  <a:rPr lang="zh-CN" altLang="en-US" sz="1800" dirty="0">
                    <a:effectLst>
                      <a:outerShdw blurRad="38100" dist="38100" dir="2700000" algn="tl">
                        <a:srgbClr val="000000">
                          <a:alpha val="43137"/>
                        </a:srgbClr>
                      </a:outerShdw>
                    </a:effectLst>
                  </a:rPr>
                  <a:t>的片外电容。以标准门的</a:t>
                </a:r>
                <a:r>
                  <a:rPr lang="en-US" altLang="zh-CN" sz="1800" dirty="0">
                    <a:effectLst>
                      <a:outerShdw blurRad="38100" dist="38100" dir="2700000" algn="tl">
                        <a:srgbClr val="000000">
                          <a:alpha val="43137"/>
                        </a:srgbClr>
                      </a:outerShdw>
                    </a:effectLst>
                  </a:rPr>
                  <a:t>C</a:t>
                </a:r>
                <a:r>
                  <a:rPr lang="en-US" altLang="zh-CN" sz="1800" baseline="-25000" dirty="0">
                    <a:effectLst>
                      <a:outerShdw blurRad="38100" dist="38100" dir="2700000" algn="tl">
                        <a:srgbClr val="000000">
                          <a:alpha val="43137"/>
                        </a:srgbClr>
                      </a:outerShdw>
                    </a:effectLst>
                  </a:rPr>
                  <a:t>i</a:t>
                </a:r>
                <a:r>
                  <a:rPr lang="zh-CN" altLang="en-US" sz="1800" dirty="0">
                    <a:effectLst>
                      <a:outerShdw blurRad="38100" dist="38100" dir="2700000" algn="tl">
                        <a:srgbClr val="000000">
                          <a:alpha val="43137"/>
                        </a:srgbClr>
                      </a:outerShdw>
                    </a:effectLst>
                  </a:rPr>
                  <a:t>为</a:t>
                </a:r>
                <a:r>
                  <a:rPr lang="en-US" altLang="zh-CN" sz="1800" dirty="0">
                    <a:effectLst>
                      <a:outerShdw blurRad="38100" dist="38100" dir="2700000" algn="tl">
                        <a:srgbClr val="000000">
                          <a:alpha val="43137"/>
                        </a:srgbClr>
                      </a:outerShdw>
                    </a:effectLst>
                  </a:rPr>
                  <a:t>2.5fF</a:t>
                </a:r>
                <a:r>
                  <a:rPr lang="zh-CN" altLang="en-US" sz="1800" dirty="0">
                    <a:effectLst>
                      <a:outerShdw blurRad="38100" dist="38100" dir="2700000" algn="tl">
                        <a:srgbClr val="000000">
                          <a:alpha val="43137"/>
                        </a:srgbClr>
                      </a:outerShdw>
                    </a:effectLst>
                  </a:rPr>
                  <a:t>，延时</a:t>
                </a:r>
                <a:r>
                  <a:rPr lang="en-US" altLang="zh-CN" sz="1800" dirty="0">
                    <a:effectLst>
                      <a:outerShdw blurRad="38100" dist="38100" dir="2700000" algn="tl">
                        <a:srgbClr val="000000">
                          <a:alpha val="43137"/>
                        </a:srgbClr>
                      </a:outerShdw>
                    </a:effectLst>
                  </a:rPr>
                  <a:t>t</a:t>
                </a:r>
                <a:r>
                  <a:rPr lang="en-US" altLang="zh-CN" sz="1800" baseline="-25000" dirty="0">
                    <a:effectLst>
                      <a:outerShdw blurRad="38100" dist="38100" dir="2700000" algn="tl">
                        <a:srgbClr val="000000">
                          <a:alpha val="43137"/>
                        </a:srgbClr>
                      </a:outerShdw>
                    </a:effectLst>
                  </a:rPr>
                  <a:t>p0</a:t>
                </a:r>
                <a:r>
                  <a:rPr lang="zh-CN" altLang="en-US" sz="1800" dirty="0">
                    <a:effectLst>
                      <a:outerShdw blurRad="38100" dist="38100" dir="2700000" algn="tl">
                        <a:srgbClr val="000000">
                          <a:alpha val="43137"/>
                        </a:srgbClr>
                      </a:outerShdw>
                    </a:effectLst>
                  </a:rPr>
                  <a:t>为</a:t>
                </a:r>
                <a:r>
                  <a:rPr lang="en-US" altLang="zh-CN" sz="1800" dirty="0">
                    <a:effectLst>
                      <a:outerShdw blurRad="38100" dist="38100" dir="2700000" algn="tl">
                        <a:srgbClr val="000000">
                          <a:alpha val="43137"/>
                        </a:srgbClr>
                      </a:outerShdw>
                    </a:effectLst>
                  </a:rPr>
                  <a:t>30ps</a:t>
                </a:r>
                <a:r>
                  <a:rPr lang="zh-CN" altLang="en-US" sz="1800" dirty="0">
                    <a:effectLst>
                      <a:outerShdw blurRad="38100" dist="38100" dir="2700000" algn="tl">
                        <a:srgbClr val="000000">
                          <a:alpha val="43137"/>
                        </a:srgbClr>
                      </a:outerShdw>
                    </a:effectLst>
                  </a:rPr>
                  <a:t>，</a:t>
                </a:r>
                <a14:m>
                  <m:oMath xmlns:m="http://schemas.openxmlformats.org/officeDocument/2006/math">
                    <m:r>
                      <a:rPr lang="en-US" altLang="zh-CN" sz="1800" i="1">
                        <a:effectLst>
                          <a:outerShdw blurRad="38100" dist="38100" dir="2700000" algn="tl">
                            <a:srgbClr val="000000">
                              <a:alpha val="43137"/>
                            </a:srgbClr>
                          </a:outerShdw>
                        </a:effectLst>
                        <a:latin typeface="Cambria Math" panose="02040503050406030204" charset="0"/>
                        <a:cs typeface="Cambria Math" panose="02040503050406030204" charset="0"/>
                      </a:rPr>
                      <m:t>𝛾</m:t>
                    </m:r>
                  </m:oMath>
                </a14:m>
                <a:r>
                  <a:rPr lang="en-US" altLang="zh-CN" sz="1800" dirty="0">
                    <a:effectLst>
                      <a:outerShdw blurRad="38100" dist="38100" dir="2700000" algn="tl">
                        <a:srgbClr val="000000">
                          <a:alpha val="43137"/>
                        </a:srgbClr>
                      </a:outerShdw>
                    </a:effectLst>
                  </a:rPr>
                  <a:t>=1</a:t>
                </a:r>
                <a:r>
                  <a:rPr lang="zh-CN" altLang="en-US" sz="1800" dirty="0">
                    <a:effectLst>
                      <a:outerShdw blurRad="38100" dist="38100" dir="2700000" algn="tl">
                        <a:srgbClr val="000000">
                          <a:alpha val="43137"/>
                        </a:srgbClr>
                      </a:outerShdw>
                    </a:effectLst>
                  </a:rPr>
                  <a:t>，</a:t>
                </a:r>
                <a:r>
                  <a:rPr lang="en-US" altLang="zh-CN" sz="1800" dirty="0">
                    <a:effectLst>
                      <a:outerShdw blurRad="38100" dist="38100" dir="2700000" algn="tl">
                        <a:srgbClr val="000000">
                          <a:alpha val="43137"/>
                        </a:srgbClr>
                      </a:outerShdw>
                    </a:effectLst>
                  </a:rPr>
                  <a:t>PMOS</a:t>
                </a:r>
                <a:r>
                  <a:rPr lang="zh-CN" altLang="en-US" sz="1800" dirty="0">
                    <a:effectLst>
                      <a:outerShdw blurRad="38100" dist="38100" dir="2700000" algn="tl">
                        <a:srgbClr val="000000">
                          <a:alpha val="43137"/>
                        </a:srgbClr>
                      </a:outerShdw>
                    </a:effectLst>
                  </a:rPr>
                  <a:t>和</a:t>
                </a:r>
                <a:r>
                  <a:rPr lang="en-US" altLang="zh-CN" sz="1800" dirty="0">
                    <a:effectLst>
                      <a:outerShdw blurRad="38100" dist="38100" dir="2700000" algn="tl">
                        <a:srgbClr val="000000">
                          <a:alpha val="43137"/>
                        </a:srgbClr>
                      </a:outerShdw>
                    </a:effectLst>
                  </a:rPr>
                  <a:t>NMOS</a:t>
                </a:r>
                <a:r>
                  <a:rPr lang="zh-CN" altLang="en-US" sz="1800" dirty="0">
                    <a:effectLst>
                      <a:outerShdw blurRad="38100" dist="38100" dir="2700000" algn="tl">
                        <a:srgbClr val="000000">
                          <a:alpha val="43137"/>
                        </a:srgbClr>
                      </a:outerShdw>
                    </a:effectLst>
                  </a:rPr>
                  <a:t>宽长比最优比例为</a:t>
                </a:r>
                <a:r>
                  <a:rPr lang="en-US" altLang="zh-CN" sz="1800" dirty="0">
                    <a:effectLst>
                      <a:outerShdw blurRad="38100" dist="38100" dir="2700000" algn="tl">
                        <a:srgbClr val="000000">
                          <a:alpha val="43137"/>
                        </a:srgbClr>
                      </a:outerShdw>
                    </a:effectLst>
                  </a:rPr>
                  <a:t>2</a:t>
                </a:r>
                <a:r>
                  <a:rPr lang="zh-CN" altLang="en-US" sz="1800" dirty="0">
                    <a:effectLst>
                      <a:outerShdw blurRad="38100" dist="38100" dir="2700000" algn="tl">
                        <a:srgbClr val="000000">
                          <a:alpha val="43137"/>
                        </a:srgbClr>
                      </a:outerShdw>
                    </a:effectLst>
                  </a:rPr>
                  <a:t>。假定</a:t>
                </a:r>
                <a:r>
                  <a:rPr lang="en-US" altLang="zh-CN" sz="1800" dirty="0">
                    <a:effectLst>
                      <a:outerShdw blurRad="38100" dist="38100" dir="2700000" algn="tl">
                        <a:srgbClr val="000000">
                          <a:alpha val="43137"/>
                        </a:srgbClr>
                      </a:outerShdw>
                    </a:effectLst>
                  </a:rPr>
                  <a:t>NMOS</a:t>
                </a:r>
                <a:r>
                  <a:rPr lang="zh-CN" altLang="en-US" sz="1800" dirty="0">
                    <a:effectLst>
                      <a:outerShdw blurRad="38100" dist="38100" dir="2700000" algn="tl">
                        <a:srgbClr val="000000">
                          <a:alpha val="43137"/>
                        </a:srgbClr>
                      </a:outerShdw>
                    </a:effectLst>
                  </a:rPr>
                  <a:t>宽长比为</a:t>
                </a:r>
                <a:r>
                  <a:rPr lang="en-US" altLang="zh-CN" sz="1800" dirty="0">
                    <a:effectLst>
                      <a:outerShdw blurRad="38100" dist="38100" dir="2700000" algn="tl">
                        <a:srgbClr val="000000">
                          <a:alpha val="43137"/>
                        </a:srgbClr>
                      </a:outerShdw>
                    </a:effectLst>
                  </a:rPr>
                  <a:t>1</a:t>
                </a:r>
                <a:r>
                  <a:rPr lang="zh-CN" altLang="en-US" sz="1800" dirty="0">
                    <a:effectLst>
                      <a:outerShdw blurRad="38100" dist="38100" dir="2700000" algn="tl">
                        <a:srgbClr val="000000">
                          <a:alpha val="43137"/>
                        </a:srgbClr>
                      </a:outerShdw>
                    </a:effectLst>
                  </a:rPr>
                  <a:t>，面积为</a:t>
                </a:r>
                <a:r>
                  <a:rPr lang="en-US" altLang="zh-CN" sz="1800" dirty="0">
                    <a:effectLst>
                      <a:outerShdw blurRad="38100" dist="38100" dir="2700000" algn="tl">
                        <a:srgbClr val="000000">
                          <a:alpha val="43137"/>
                        </a:srgbClr>
                      </a:outerShdw>
                    </a:effectLst>
                  </a:rPr>
                  <a:t>A</a:t>
                </a:r>
                <a:r>
                  <a:rPr lang="en-US" altLang="zh-CN" sz="1800" baseline="-25000" dirty="0">
                    <a:effectLst>
                      <a:outerShdw blurRad="38100" dist="38100" dir="2700000" algn="tl">
                        <a:srgbClr val="000000">
                          <a:alpha val="43137"/>
                        </a:srgbClr>
                      </a:outerShdw>
                    </a:effectLst>
                  </a:rPr>
                  <a:t>0</a:t>
                </a:r>
                <a:r>
                  <a:rPr lang="zh-CN" altLang="en-US" sz="1800" dirty="0">
                    <a:effectLst>
                      <a:outerShdw blurRad="38100" dist="38100" dir="2700000" algn="tl">
                        <a:srgbClr val="000000">
                          <a:alpha val="43137"/>
                        </a:srgbClr>
                      </a:outerShdw>
                    </a:effectLst>
                  </a:rPr>
                  <a:t>，依据以下约束，计算</a:t>
                </a:r>
                <a:r>
                  <a:rPr lang="zh-CN" sz="1800" dirty="0">
                    <a:effectLst>
                      <a:outerShdw blurRad="38100" dist="38100" dir="2700000" algn="tl">
                        <a:srgbClr val="000000">
                          <a:alpha val="43137"/>
                        </a:srgbClr>
                      </a:outerShdw>
                    </a:effectLst>
                    <a:sym typeface="+mn-ea"/>
                  </a:rPr>
                  <a:t>给出解题过程</a:t>
                </a:r>
                <a:r>
                  <a:rPr lang="zh-CN" altLang="en-US" sz="1800" dirty="0">
                    <a:effectLst>
                      <a:outerShdw blurRad="38100" dist="38100" dir="2700000" algn="tl">
                        <a:srgbClr val="000000">
                          <a:alpha val="43137"/>
                        </a:srgbClr>
                      </a:outerShdw>
                    </a:effectLst>
                  </a:rPr>
                  <a:t>：</a:t>
                </a:r>
                <a:endParaRPr lang="zh-CN" altLang="en-US" sz="1800" dirty="0">
                  <a:effectLst>
                    <a:outerShdw blurRad="38100" dist="38100" dir="2700000" algn="tl">
                      <a:srgbClr val="000000">
                        <a:alpha val="43137"/>
                      </a:srgbClr>
                    </a:outerShdw>
                  </a:effectLst>
                </a:endParaRPr>
              </a:p>
              <a:p>
                <a:pPr>
                  <a:lnSpc>
                    <a:spcPct val="150000"/>
                  </a:lnSpc>
                </a:pPr>
                <a:r>
                  <a:rPr lang="zh-CN" altLang="en-US" sz="1800" dirty="0">
                    <a:effectLst>
                      <a:outerShdw blurRad="38100" dist="38100" dir="2700000" algn="tl">
                        <a:srgbClr val="000000">
                          <a:alpha val="43137"/>
                        </a:srgbClr>
                      </a:outerShdw>
                    </a:effectLst>
                  </a:rPr>
                  <a:t>确定最优的设计级数（四舍五入），计算尺寸系数、总延时、各级</a:t>
                </a:r>
                <a:r>
                  <a:rPr lang="en-US" altLang="zh-CN" sz="1800" dirty="0">
                    <a:effectLst>
                      <a:outerShdw blurRad="38100" dist="38100" dir="2700000" algn="tl">
                        <a:srgbClr val="000000">
                          <a:alpha val="43137"/>
                        </a:srgbClr>
                      </a:outerShdw>
                    </a:effectLst>
                  </a:rPr>
                  <a:t>NMOS</a:t>
                </a:r>
                <a:r>
                  <a:rPr lang="zh-CN" altLang="en-US" sz="1800" dirty="0">
                    <a:effectLst>
                      <a:outerShdw blurRad="38100" dist="38100" dir="2700000" algn="tl">
                        <a:srgbClr val="000000">
                          <a:alpha val="43137"/>
                        </a:srgbClr>
                      </a:outerShdw>
                    </a:effectLst>
                  </a:rPr>
                  <a:t>和</a:t>
                </a:r>
                <a:r>
                  <a:rPr lang="en-US" altLang="zh-CN" sz="1800" dirty="0">
                    <a:effectLst>
                      <a:outerShdw blurRad="38100" dist="38100" dir="2700000" algn="tl">
                        <a:srgbClr val="000000">
                          <a:alpha val="43137"/>
                        </a:srgbClr>
                      </a:outerShdw>
                    </a:effectLst>
                  </a:rPr>
                  <a:t>PMOS</a:t>
                </a:r>
                <a:r>
                  <a:rPr lang="zh-CN" altLang="en-US" sz="1800" dirty="0">
                    <a:effectLst>
                      <a:outerShdw blurRad="38100" dist="38100" dir="2700000" algn="tl">
                        <a:srgbClr val="000000">
                          <a:alpha val="43137"/>
                        </a:srgbClr>
                      </a:outerShdw>
                    </a:effectLst>
                  </a:rPr>
                  <a:t>宽长比；</a:t>
                </a:r>
                <a:endParaRPr lang="zh-CN" altLang="en-US" sz="1800" dirty="0">
                  <a:effectLst>
                    <a:outerShdw blurRad="38100" dist="38100" dir="2700000" algn="tl">
                      <a:srgbClr val="000000">
                        <a:alpha val="43137"/>
                      </a:srgbClr>
                    </a:outerShdw>
                  </a:effectLst>
                </a:endParaRPr>
              </a:p>
              <a:p>
                <a:pPr>
                  <a:lnSpc>
                    <a:spcPct val="150000"/>
                  </a:lnSpc>
                </a:pPr>
                <a:endParaRPr lang="zh-CN" sz="1800" dirty="0">
                  <a:effectLst>
                    <a:outerShdw blurRad="38100" dist="38100" dir="2700000" algn="tl">
                      <a:srgbClr val="000000">
                        <a:alpha val="43137"/>
                      </a:srgbClr>
                    </a:outerShdw>
                  </a:effectLst>
                </a:endParaRPr>
              </a:p>
            </p:txBody>
          </p:sp>
        </mc:Choice>
        <mc:Fallback>
          <p:sp>
            <p:nvSpPr>
              <p:cNvPr id="3" name="文本占位符 948226"/>
              <p:cNvSpPr txBox="1">
                <a:spLocks noRot="1" noChangeAspect="1" noMove="1" noResize="1" noEditPoints="1" noAdjustHandles="1" noChangeArrowheads="1" noChangeShapeType="1" noTextEdit="1"/>
              </p:cNvSpPr>
              <p:nvPr/>
            </p:nvSpPr>
            <p:spPr>
              <a:xfrm>
                <a:off x="531495" y="909955"/>
                <a:ext cx="7886700" cy="3625850"/>
              </a:xfrm>
              <a:prstGeom prst="rect">
                <a:avLst/>
              </a:prstGeom>
              <a:blipFill rotWithShape="1">
                <a:blip r:embed="rId2"/>
                <a:stretch>
                  <a:fillRect/>
                </a:stretch>
              </a:blipFill>
            </p:spPr>
            <p:txBody>
              <a:bodyPr/>
              <a:lstStyle/>
              <a:p>
                <a:r>
                  <a:rPr lang="zh-CN" altLang="en-US">
                    <a:noFill/>
                  </a:rPr>
                  <a:t> </a:t>
                </a:r>
              </a:p>
            </p:txBody>
          </p:sp>
        </mc:Fallback>
      </mc:AlternateContent>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1">
            <a:extLst>
              <a:ext uri="{BEBA8EAE-BF5A-486C-A8C5-ECC9F3942E4B}">
                <a14:imgProps xmlns:a14="http://schemas.microsoft.com/office/drawing/2010/main">
                  <a14:imgLayer r:embed="rId2">
                    <a14:imgEffect>
                      <a14:colorTemperature colorTemp="4700"/>
                    </a14:imgEffect>
                  </a14:imgLayer>
                </a14:imgProps>
              </a:ext>
              <a:ext uri="{28A0092B-C50C-407E-A947-70E740481C1C}">
                <a14:useLocalDpi xmlns:a14="http://schemas.microsoft.com/office/drawing/2010/main" val="0"/>
              </a:ext>
            </a:extLst>
          </a:blip>
          <a:srcRect b="37017"/>
          <a:stretch>
            <a:fillRect/>
          </a:stretch>
        </p:blipFill>
        <p:spPr>
          <a:xfrm>
            <a:off x="0" y="2312671"/>
            <a:ext cx="9144000" cy="3402329"/>
          </a:xfrm>
          <a:prstGeom prst="rect">
            <a:avLst/>
          </a:prstGeom>
        </p:spPr>
      </p:pic>
      <p:sp>
        <p:nvSpPr>
          <p:cNvPr id="13" name="矩形 12"/>
          <p:cNvSpPr/>
          <p:nvPr/>
        </p:nvSpPr>
        <p:spPr>
          <a:xfrm>
            <a:off x="0" y="2461770"/>
            <a:ext cx="9142253" cy="3253230"/>
          </a:xfrm>
          <a:prstGeom prst="rect">
            <a:avLst/>
          </a:prstGeom>
          <a:blipFill dpi="0" rotWithShape="1">
            <a:blip r:embed="rId3">
              <a:alphaModFix amt="30000"/>
              <a:biLevel thresh="75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0" y="0"/>
            <a:ext cx="9144000" cy="5715000"/>
          </a:xfrm>
          <a:prstGeom prst="rect">
            <a:avLst/>
          </a:prstGeom>
          <a:solidFill>
            <a:srgbClr val="122E8B">
              <a:alpha val="8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 name="组合 1"/>
          <p:cNvGrpSpPr/>
          <p:nvPr/>
        </p:nvGrpSpPr>
        <p:grpSpPr>
          <a:xfrm>
            <a:off x="0" y="-1"/>
            <a:ext cx="9144000" cy="3357117"/>
            <a:chOff x="0" y="0"/>
            <a:chExt cx="9144000" cy="2850221"/>
          </a:xfrm>
        </p:grpSpPr>
        <p:sp>
          <p:nvSpPr>
            <p:cNvPr id="5" name="任意多边形: 形状 4"/>
            <p:cNvSpPr/>
            <p:nvPr/>
          </p:nvSpPr>
          <p:spPr>
            <a:xfrm>
              <a:off x="0" y="0"/>
              <a:ext cx="9144000" cy="2741361"/>
            </a:xfrm>
            <a:custGeom>
              <a:avLst/>
              <a:gdLst>
                <a:gd name="connsiteX0" fmla="*/ 0 w 12192000"/>
                <a:gd name="connsiteY0" fmla="*/ 0 h 3655148"/>
                <a:gd name="connsiteX1" fmla="*/ 12192000 w 12192000"/>
                <a:gd name="connsiteY1" fmla="*/ 0 h 3655148"/>
                <a:gd name="connsiteX2" fmla="*/ 12192000 w 12192000"/>
                <a:gd name="connsiteY2" fmla="*/ 2891235 h 3655148"/>
                <a:gd name="connsiteX3" fmla="*/ 11975372 w 12192000"/>
                <a:gd name="connsiteY3" fmla="*/ 2951584 h 3655148"/>
                <a:gd name="connsiteX4" fmla="*/ 6096000 w 12192000"/>
                <a:gd name="connsiteY4" fmla="*/ 3655148 h 3655148"/>
                <a:gd name="connsiteX5" fmla="*/ 216628 w 12192000"/>
                <a:gd name="connsiteY5" fmla="*/ 2951584 h 3655148"/>
                <a:gd name="connsiteX6" fmla="*/ 0 w 12192000"/>
                <a:gd name="connsiteY6" fmla="*/ 2891235 h 365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655148">
                  <a:moveTo>
                    <a:pt x="0" y="0"/>
                  </a:moveTo>
                  <a:lnTo>
                    <a:pt x="12192000" y="0"/>
                  </a:lnTo>
                  <a:lnTo>
                    <a:pt x="12192000" y="2891235"/>
                  </a:lnTo>
                  <a:lnTo>
                    <a:pt x="11975372" y="2951584"/>
                  </a:lnTo>
                  <a:cubicBezTo>
                    <a:pt x="10297072" y="3395778"/>
                    <a:pt x="8273853" y="3655148"/>
                    <a:pt x="6096000" y="3655148"/>
                  </a:cubicBezTo>
                  <a:cubicBezTo>
                    <a:pt x="3918148" y="3655148"/>
                    <a:pt x="1894929" y="3395778"/>
                    <a:pt x="216628" y="2951584"/>
                  </a:cubicBezTo>
                  <a:lnTo>
                    <a:pt x="0" y="2891235"/>
                  </a:lnTo>
                  <a:close/>
                </a:path>
              </a:pathLst>
            </a:custGeom>
            <a:blipFill dpi="0" rotWithShape="1">
              <a:blip r:embed="rId4"/>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任意多边形: 形状 5"/>
            <p:cNvSpPr/>
            <p:nvPr/>
          </p:nvSpPr>
          <p:spPr>
            <a:xfrm>
              <a:off x="0" y="2165425"/>
              <a:ext cx="9144000" cy="684796"/>
            </a:xfrm>
            <a:custGeom>
              <a:avLst/>
              <a:gdLst>
                <a:gd name="connsiteX0" fmla="*/ 0 w 12192000"/>
                <a:gd name="connsiteY0" fmla="*/ 0 h 913061"/>
                <a:gd name="connsiteX1" fmla="*/ 374975 w 12192000"/>
                <a:gd name="connsiteY1" fmla="*/ 105454 h 913061"/>
                <a:gd name="connsiteX2" fmla="*/ 6096002 w 12192000"/>
                <a:gd name="connsiteY2" fmla="*/ 767918 h 913061"/>
                <a:gd name="connsiteX3" fmla="*/ 11817028 w 12192000"/>
                <a:gd name="connsiteY3" fmla="*/ 105454 h 913061"/>
                <a:gd name="connsiteX4" fmla="*/ 12192000 w 12192000"/>
                <a:gd name="connsiteY4" fmla="*/ 1 h 913061"/>
                <a:gd name="connsiteX5" fmla="*/ 12192000 w 12192000"/>
                <a:gd name="connsiteY5" fmla="*/ 149148 h 913061"/>
                <a:gd name="connsiteX6" fmla="*/ 11975374 w 12192000"/>
                <a:gd name="connsiteY6" fmla="*/ 209497 h 913061"/>
                <a:gd name="connsiteX7" fmla="*/ 6096002 w 12192000"/>
                <a:gd name="connsiteY7" fmla="*/ 913061 h 913061"/>
                <a:gd name="connsiteX8" fmla="*/ 216629 w 12192000"/>
                <a:gd name="connsiteY8" fmla="*/ 209497 h 913061"/>
                <a:gd name="connsiteX9" fmla="*/ 0 w 12192000"/>
                <a:gd name="connsiteY9" fmla="*/ 149147 h 91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0" h="913061">
                  <a:moveTo>
                    <a:pt x="0" y="0"/>
                  </a:moveTo>
                  <a:lnTo>
                    <a:pt x="374975" y="105454"/>
                  </a:lnTo>
                  <a:cubicBezTo>
                    <a:pt x="2021532" y="524505"/>
                    <a:pt x="3986207" y="767918"/>
                    <a:pt x="6096002" y="767918"/>
                  </a:cubicBezTo>
                  <a:cubicBezTo>
                    <a:pt x="8205796" y="767918"/>
                    <a:pt x="10170470" y="524505"/>
                    <a:pt x="11817028" y="105454"/>
                  </a:cubicBezTo>
                  <a:lnTo>
                    <a:pt x="12192000" y="1"/>
                  </a:lnTo>
                  <a:lnTo>
                    <a:pt x="12192000" y="149148"/>
                  </a:lnTo>
                  <a:lnTo>
                    <a:pt x="11975374" y="209497"/>
                  </a:lnTo>
                  <a:cubicBezTo>
                    <a:pt x="10297073" y="653691"/>
                    <a:pt x="8273854" y="913061"/>
                    <a:pt x="6096002" y="913061"/>
                  </a:cubicBezTo>
                  <a:cubicBezTo>
                    <a:pt x="3918149" y="913061"/>
                    <a:pt x="1894930" y="653691"/>
                    <a:pt x="216629" y="209497"/>
                  </a:cubicBezTo>
                  <a:lnTo>
                    <a:pt x="0" y="14914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形状 7"/>
            <p:cNvSpPr/>
            <p:nvPr/>
          </p:nvSpPr>
          <p:spPr>
            <a:xfrm>
              <a:off x="0" y="0"/>
              <a:ext cx="9144000" cy="2741361"/>
            </a:xfrm>
            <a:custGeom>
              <a:avLst/>
              <a:gdLst>
                <a:gd name="connsiteX0" fmla="*/ 0 w 12192000"/>
                <a:gd name="connsiteY0" fmla="*/ 0 h 3655148"/>
                <a:gd name="connsiteX1" fmla="*/ 12192000 w 12192000"/>
                <a:gd name="connsiteY1" fmla="*/ 0 h 3655148"/>
                <a:gd name="connsiteX2" fmla="*/ 12192000 w 12192000"/>
                <a:gd name="connsiteY2" fmla="*/ 2891235 h 3655148"/>
                <a:gd name="connsiteX3" fmla="*/ 11975372 w 12192000"/>
                <a:gd name="connsiteY3" fmla="*/ 2951584 h 3655148"/>
                <a:gd name="connsiteX4" fmla="*/ 6096000 w 12192000"/>
                <a:gd name="connsiteY4" fmla="*/ 3655148 h 3655148"/>
                <a:gd name="connsiteX5" fmla="*/ 216628 w 12192000"/>
                <a:gd name="connsiteY5" fmla="*/ 2951584 h 3655148"/>
                <a:gd name="connsiteX6" fmla="*/ 0 w 12192000"/>
                <a:gd name="connsiteY6" fmla="*/ 2891235 h 365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3655148">
                  <a:moveTo>
                    <a:pt x="0" y="0"/>
                  </a:moveTo>
                  <a:lnTo>
                    <a:pt x="12192000" y="0"/>
                  </a:lnTo>
                  <a:lnTo>
                    <a:pt x="12192000" y="2891235"/>
                  </a:lnTo>
                  <a:lnTo>
                    <a:pt x="11975372" y="2951584"/>
                  </a:lnTo>
                  <a:cubicBezTo>
                    <a:pt x="10297072" y="3395778"/>
                    <a:pt x="8273853" y="3655148"/>
                    <a:pt x="6096000" y="3655148"/>
                  </a:cubicBezTo>
                  <a:cubicBezTo>
                    <a:pt x="3918148" y="3655148"/>
                    <a:pt x="1894929" y="3395778"/>
                    <a:pt x="216628" y="2951584"/>
                  </a:cubicBezTo>
                  <a:lnTo>
                    <a:pt x="0" y="2891235"/>
                  </a:lnTo>
                  <a:close/>
                </a:path>
              </a:pathLst>
            </a:cu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6" name="等腰三角形 15"/>
          <p:cNvSpPr/>
          <p:nvPr/>
        </p:nvSpPr>
        <p:spPr>
          <a:xfrm flipV="1">
            <a:off x="4506650" y="2875983"/>
            <a:ext cx="130702" cy="112674"/>
          </a:xfrm>
          <a:prstGeom prst="triangle">
            <a:avLst/>
          </a:prstGeom>
          <a:solidFill>
            <a:srgbClr val="122E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185129" y="1893847"/>
            <a:ext cx="6772602" cy="645160"/>
          </a:xfrm>
          <a:prstGeom prst="rect">
            <a:avLst/>
          </a:prstGeom>
          <a:effectLst>
            <a:outerShdw blurRad="63500" sx="102000" sy="102000" algn="ctr" rotWithShape="0">
              <a:prstClr val="black">
                <a:alpha val="40000"/>
              </a:prstClr>
            </a:outerShdw>
          </a:effectLst>
        </p:spPr>
        <p:txBody>
          <a:bodyPr wrap="square">
            <a:spAutoFit/>
          </a:bodyPr>
          <a:lstStyle/>
          <a:p>
            <a:pPr algn="ctr" defTabSz="1015365">
              <a:defRPr/>
            </a:pPr>
            <a:r>
              <a:rPr lang="zh-CN" altLang="en-US" sz="3600" b="1" spc="333" dirty="0">
                <a:solidFill>
                  <a:srgbClr val="122E8B"/>
                </a:solidFill>
                <a:latin typeface="Arial" panose="020B0604020202020204" pitchFamily="34" charset="0"/>
                <a:ea typeface="微软雅黑" panose="020B0503020204020204" pitchFamily="34" charset="-122"/>
                <a:cs typeface="+mn-ea"/>
                <a:sym typeface="Arial" panose="020B0604020202020204" pitchFamily="34" charset="0"/>
              </a:rPr>
              <a:t>谢谢！请批评指正！</a:t>
            </a:r>
            <a:endParaRPr lang="zh-CN" altLang="en-US" sz="3600" b="1" spc="333" dirty="0">
              <a:solidFill>
                <a:srgbClr val="122E8B"/>
              </a:solidFill>
              <a:latin typeface="Arial" panose="020B0604020202020204" pitchFamily="34" charset="0"/>
              <a:ea typeface="微软雅黑" panose="020B0503020204020204" pitchFamily="34" charset="-122"/>
              <a:cs typeface="+mn-ea"/>
              <a:sym typeface="Arial" panose="020B0604020202020204" pitchFamily="34" charset="0"/>
            </a:endParaRPr>
          </a:p>
        </p:txBody>
      </p:sp>
      <p:pic>
        <p:nvPicPr>
          <p:cNvPr id="21" name="图片 20"/>
          <p:cNvPicPr>
            <a:picLocks noChangeAspect="1"/>
          </p:cNvPicPr>
          <p:nvPr/>
        </p:nvPicPr>
        <p:blipFill rotWithShape="1">
          <a:blip r:embed="rId5" cstate="print">
            <a:clrChange>
              <a:clrFrom>
                <a:srgbClr val="122C89"/>
              </a:clrFrom>
              <a:clrTo>
                <a:srgbClr val="122C89">
                  <a:alpha val="0"/>
                </a:srgbClr>
              </a:clrTo>
            </a:clrChange>
            <a:extLst>
              <a:ext uri="{28A0092B-C50C-407E-A947-70E740481C1C}">
                <a14:useLocalDpi xmlns:a14="http://schemas.microsoft.com/office/drawing/2010/main" val="0"/>
              </a:ext>
            </a:extLst>
          </a:blip>
          <a:srcRect l="817"/>
          <a:stretch>
            <a:fillRect/>
          </a:stretch>
        </p:blipFill>
        <p:spPr>
          <a:xfrm>
            <a:off x="1747" y="3150524"/>
            <a:ext cx="4081176" cy="2575315"/>
          </a:xfrm>
          <a:prstGeom prst="rect">
            <a:avLst/>
          </a:prstGeom>
        </p:spPr>
      </p:pic>
      <p:pic>
        <p:nvPicPr>
          <p:cNvPr id="22" name="图片 21"/>
          <p:cNvPicPr>
            <a:picLocks noChangeAspect="1"/>
          </p:cNvPicPr>
          <p:nvPr/>
        </p:nvPicPr>
        <p:blipFill rotWithShape="1">
          <a:blip r:embed="rId6" cstate="print">
            <a:clrChange>
              <a:clrFrom>
                <a:srgbClr val="122D89"/>
              </a:clrFrom>
              <a:clrTo>
                <a:srgbClr val="122D89">
                  <a:alpha val="0"/>
                </a:srgbClr>
              </a:clrTo>
            </a:clrChange>
            <a:extLst>
              <a:ext uri="{28A0092B-C50C-407E-A947-70E740481C1C}">
                <a14:useLocalDpi xmlns:a14="http://schemas.microsoft.com/office/drawing/2010/main" val="0"/>
              </a:ext>
            </a:extLst>
          </a:blip>
          <a:srcRect l="17752" t="34969" r="14970" b="35280"/>
          <a:stretch>
            <a:fillRect/>
          </a:stretch>
        </p:blipFill>
        <p:spPr>
          <a:xfrm>
            <a:off x="2850774" y="3898468"/>
            <a:ext cx="5603270" cy="1394547"/>
          </a:xfrm>
          <a:prstGeom prst="rect">
            <a:avLst/>
          </a:prstGeom>
        </p:spPr>
      </p:pic>
      <p:pic>
        <p:nvPicPr>
          <p:cNvPr id="23" name="图片 22"/>
          <p:cNvPicPr>
            <a:picLocks noChangeAspect="1"/>
          </p:cNvPicPr>
          <p:nvPr/>
        </p:nvPicPr>
        <p:blipFill rotWithShape="1">
          <a:blip r:embed="rId7" cstate="print">
            <a:extLst>
              <a:ext uri="{28A0092B-C50C-407E-A947-70E740481C1C}">
                <a14:useLocalDpi xmlns:a14="http://schemas.microsoft.com/office/drawing/2010/main" val="0"/>
              </a:ext>
            </a:extLst>
          </a:blip>
          <a:srcRect l="30648" t="16357" r="31111" b="16027"/>
          <a:stretch>
            <a:fillRect/>
          </a:stretch>
        </p:blipFill>
        <p:spPr>
          <a:xfrm>
            <a:off x="3897528" y="301852"/>
            <a:ext cx="1347804" cy="1341274"/>
          </a:xfrm>
          <a:prstGeom prst="rect">
            <a:avLst/>
          </a:prstGeom>
        </p:spPr>
      </p:pic>
      <p:pic>
        <p:nvPicPr>
          <p:cNvPr id="3" name="图片 2"/>
          <p:cNvPicPr>
            <a:picLocks noChangeAspect="1"/>
          </p:cNvPicPr>
          <p:nvPr/>
        </p:nvPicPr>
        <p:blipFill>
          <a:blip r:embed="rId8"/>
          <a:stretch>
            <a:fillRect/>
          </a:stretch>
        </p:blipFill>
        <p:spPr>
          <a:xfrm>
            <a:off x="7289800" y="2461895"/>
            <a:ext cx="1689100" cy="1689100"/>
          </a:xfrm>
          <a:prstGeom prst="rect">
            <a:avLst/>
          </a:prstGeom>
        </p:spPr>
      </p:pic>
    </p:spTree>
  </p:cSld>
  <p:clrMapOvr>
    <a:masterClrMapping/>
  </p:clrMapOvr>
</p:sld>
</file>

<file path=ppt/tags/tag1.xml><?xml version="1.0" encoding="utf-8"?>
<p:tagLst xmlns:p="http://schemas.openxmlformats.org/presentationml/2006/main">
  <p:tag name="commondata" val="eyJoZGlkIjoiYzc4ZmQ5ZjI0YWJhMzBhNmMwNzM4OTExN2UwMzdmNmM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22E8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3904</Words>
  <Application>WPS 演示</Application>
  <PresentationFormat>全屏显示(16:10)</PresentationFormat>
  <Paragraphs>983</Paragraphs>
  <Slides>58</Slides>
  <Notes>55</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26</vt:i4>
      </vt:variant>
      <vt:variant>
        <vt:lpstr>幻灯片标题</vt:lpstr>
      </vt:variant>
      <vt:variant>
        <vt:i4>58</vt:i4>
      </vt:variant>
    </vt:vector>
  </HeadingPairs>
  <TitlesOfParts>
    <vt:vector size="101" baseType="lpstr">
      <vt:lpstr>Arial</vt:lpstr>
      <vt:lpstr>宋体</vt:lpstr>
      <vt:lpstr>Wingdings</vt:lpstr>
      <vt:lpstr>微软雅黑</vt:lpstr>
      <vt:lpstr>Times New Roman</vt:lpstr>
      <vt:lpstr>MathematicalPi 1</vt:lpstr>
      <vt:lpstr>Segoe Print</vt:lpstr>
      <vt:lpstr>Book Antiqua</vt:lpstr>
      <vt:lpstr>Calibri</vt:lpstr>
      <vt:lpstr>Arial Unicode MS</vt:lpstr>
      <vt:lpstr>等线 Light</vt:lpstr>
      <vt:lpstr>Calibri Light</vt:lpstr>
      <vt:lpstr>等线</vt:lpstr>
      <vt:lpstr>Helvetica</vt:lpstr>
      <vt:lpstr>Symbol</vt:lpstr>
      <vt:lpstr>Cambria Math</vt:lpstr>
      <vt:lpstr>Office 主题</vt:lpstr>
      <vt:lpstr>Visio.Drawing.6</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Photoshop.Image.4</vt:lpstr>
      <vt:lpstr>Equation.KSEE3</vt:lpstr>
      <vt:lpstr>Photoshop.Image.4</vt:lpstr>
      <vt:lpstr>Visio.Drawing.6</vt:lpstr>
      <vt:lpstr>Equation.KSEE3</vt:lpstr>
      <vt:lpstr>Equation.3</vt:lpstr>
      <vt:lpstr>Equation.3</vt:lpstr>
      <vt:lpstr>Equation.3</vt:lpstr>
      <vt:lpstr>Equation.3</vt:lpstr>
      <vt:lpstr>Equation.3</vt:lpstr>
      <vt:lpstr>PowerPoint 演示文稿</vt:lpstr>
      <vt:lpstr>CMOS反相器</vt:lpstr>
      <vt:lpstr>CMOS反相器</vt:lpstr>
      <vt:lpstr>CMOS反相器-静态</vt:lpstr>
      <vt:lpstr>CMOS反相器-静态</vt:lpstr>
      <vt:lpstr>CMOS反相器-静态</vt:lpstr>
      <vt:lpstr>CMOS反相器-静态</vt:lpstr>
      <vt:lpstr>CMOS反相器-VTC</vt:lpstr>
      <vt:lpstr>CMOS反相器-VTC</vt:lpstr>
      <vt:lpstr>CMOS反相器-VTC</vt:lpstr>
      <vt:lpstr>CMOS反相器-VTC</vt:lpstr>
      <vt:lpstr>CMOS反相器-开关阈值</vt:lpstr>
      <vt:lpstr>CMOS反相器-开关阈值</vt:lpstr>
      <vt:lpstr>CMOS反相器-噪声容限</vt:lpstr>
      <vt:lpstr>CMOS反相器-噪声容限</vt:lpstr>
      <vt:lpstr>CMOS反相器-稳定性</vt:lpstr>
      <vt:lpstr>CMOS反相器-稳定性</vt:lpstr>
      <vt:lpstr>回顾：CMOS反相器静态特性</vt:lpstr>
      <vt:lpstr>CMOS反相器-动态特性</vt:lpstr>
      <vt:lpstr>CMOS反相器-动态特性</vt:lpstr>
      <vt:lpstr>CMOS反相器-动态特性</vt:lpstr>
      <vt:lpstr>CMOS反相器-动态特性</vt:lpstr>
      <vt:lpstr>CMOS反相器-动态特性</vt:lpstr>
      <vt:lpstr>CMOS反相器-动态特性</vt:lpstr>
      <vt:lpstr>CMOS反相器-动态特性</vt:lpstr>
      <vt:lpstr>CMOS反相器-动态特性</vt:lpstr>
      <vt:lpstr>CMOS反相器-动态特性</vt:lpstr>
      <vt:lpstr>CMOS反相器-动态特性</vt:lpstr>
      <vt:lpstr>CMOS反相器-动态特性</vt:lpstr>
      <vt:lpstr>CMOS反相器链</vt:lpstr>
      <vt:lpstr>CMOS反相器链</vt:lpstr>
      <vt:lpstr>CMOS反相器链</vt:lpstr>
      <vt:lpstr>CMOS反相器链</vt:lpstr>
      <vt:lpstr>CMOS反相器链</vt:lpstr>
      <vt:lpstr>CMOS反相器链</vt:lpstr>
      <vt:lpstr>CMOS反相器链</vt:lpstr>
      <vt:lpstr>CMOS反相器链</vt:lpstr>
      <vt:lpstr>CMOS反相器链</vt:lpstr>
      <vt:lpstr>CMOS反相器链</vt:lpstr>
      <vt:lpstr>CMOS反相器链</vt:lpstr>
      <vt:lpstr>CMOS反相器链</vt:lpstr>
      <vt:lpstr>CMOS反相器-功耗</vt:lpstr>
      <vt:lpstr>CMOS反相器-功耗</vt:lpstr>
      <vt:lpstr>CMOS反相器-功耗</vt:lpstr>
      <vt:lpstr>CMOS反相器-功耗</vt:lpstr>
      <vt:lpstr>CMOS反相器-功耗</vt:lpstr>
      <vt:lpstr>CMOS反相器-功耗</vt:lpstr>
      <vt:lpstr>CMOS反相器-功耗</vt:lpstr>
      <vt:lpstr>CMOS反相器-功耗</vt:lpstr>
      <vt:lpstr>CMOS反相器-功耗</vt:lpstr>
      <vt:lpstr>CMOS反相器-功耗</vt:lpstr>
      <vt:lpstr>CMOS反相器-功耗</vt:lpstr>
      <vt:lpstr>CMOS反相器-功耗</vt:lpstr>
      <vt:lpstr>CMOS反相器-功耗</vt:lpstr>
      <vt:lpstr>CMOS反相器-功耗</vt:lpstr>
      <vt:lpstr>CMOS反相器-先进工艺</vt:lpstr>
      <vt:lpstr>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欧晓龙</dc:creator>
  <cp:lastModifiedBy>不知道叫什么好</cp:lastModifiedBy>
  <cp:revision>336</cp:revision>
  <dcterms:created xsi:type="dcterms:W3CDTF">2022-02-18T07:05:00Z</dcterms:created>
  <dcterms:modified xsi:type="dcterms:W3CDTF">2025-10-09T16:33:24Z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AF433434A25C41EBB090DCBCD0AFECC3</vt:lpwstr>
  </property>
  <property fmtid="{D5CDD505-2E9C-101B-9397-08002B2CF9AE}" pid="3" name="KSOProductBuildVer">
    <vt:lpwstr>2052-12.1.0.22529</vt:lpwstr>
  </property>
</Properties>
</file>