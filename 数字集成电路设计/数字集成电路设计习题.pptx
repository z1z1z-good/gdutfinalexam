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541" r:id="rId5"/>
    <p:sldId id="542" r:id="rId6"/>
    <p:sldId id="543" r:id="rId7"/>
    <p:sldId id="544" r:id="rId8"/>
    <p:sldId id="545" r:id="rId9"/>
    <p:sldId id="546" r:id="rId10"/>
    <p:sldId id="547" r:id="rId11"/>
    <p:sldId id="551" r:id="rId12"/>
    <p:sldId id="552" r:id="rId13"/>
    <p:sldId id="549" r:id="rId14"/>
    <p:sldId id="548" r:id="rId15"/>
    <p:sldId id="556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C10D23"/>
    <a:srgbClr val="293048"/>
    <a:srgbClr val="FE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93"/>
    <p:restoredTop sz="94671"/>
  </p:normalViewPr>
  <p:slideViewPr>
    <p:cSldViewPr snapToGrid="0" snapToObjects="1">
      <p:cViewPr>
        <p:scale>
          <a:sx n="100" d="100"/>
          <a:sy n="100" d="100"/>
        </p:scale>
        <p:origin x="14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4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C7605-98FC-E342-8000-8191FF3AE85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B68C4-259F-174F-9EC6-1A41D60C556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B68C4-259F-174F-9EC6-1A41D60C556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48975" y="136525"/>
            <a:ext cx="1009650" cy="7341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2.bin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" Type="http://schemas.openxmlformats.org/officeDocument/2006/relationships/tags" Target="../tags/tag3.xml"/><Relationship Id="rId10" Type="http://schemas.openxmlformats.org/officeDocument/2006/relationships/vmlDrawing" Target="../drawings/vmlDrawing1.v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tags" Target="../tags/tag7.xml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7.bin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6.bin"/><Relationship Id="rId2" Type="http://schemas.openxmlformats.org/officeDocument/2006/relationships/tags" Target="../tags/tag12.xml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8.wmf"/><Relationship Id="rId10" Type="http://schemas.openxmlformats.org/officeDocument/2006/relationships/oleObject" Target="../embeddings/oleObject8.bin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image" Target="../media/image11.wmf"/><Relationship Id="rId7" Type="http://schemas.openxmlformats.org/officeDocument/2006/relationships/oleObject" Target="../embeddings/oleObject10.bin"/><Relationship Id="rId6" Type="http://schemas.openxmlformats.org/officeDocument/2006/relationships/tags" Target="../tags/tag19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Relationship Id="rId3" Type="http://schemas.openxmlformats.org/officeDocument/2006/relationships/tags" Target="../tags/tag18.xml"/><Relationship Id="rId2" Type="http://schemas.openxmlformats.org/officeDocument/2006/relationships/image" Target="../media/image9.png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12.bin"/><Relationship Id="rId12" Type="http://schemas.openxmlformats.org/officeDocument/2006/relationships/tags" Target="../tags/tag21.xml"/><Relationship Id="rId11" Type="http://schemas.openxmlformats.org/officeDocument/2006/relationships/image" Target="../media/image12.wmf"/><Relationship Id="rId10" Type="http://schemas.openxmlformats.org/officeDocument/2006/relationships/oleObject" Target="../embeddings/oleObject11.bin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15.bin"/><Relationship Id="rId7" Type="http://schemas.openxmlformats.org/officeDocument/2006/relationships/tags" Target="../tags/tag24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tags" Target="../tags/tag23.xml"/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Relationship Id="rId3" Type="http://schemas.openxmlformats.org/officeDocument/2006/relationships/image" Target="../media/image17.wmf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6.bin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7.wmf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wmf"/><Relationship Id="rId6" Type="http://schemas.openxmlformats.org/officeDocument/2006/relationships/oleObject" Target="../embeddings/oleObject17.bin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17.wmf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20.bin"/><Relationship Id="rId7" Type="http://schemas.openxmlformats.org/officeDocument/2006/relationships/tags" Target="../tags/tag38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4" Type="http://schemas.openxmlformats.org/officeDocument/2006/relationships/tags" Target="../tags/tag37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8.bin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jpeg"/><Relationship Id="rId3" Type="http://schemas.openxmlformats.org/officeDocument/2006/relationships/tags" Target="../tags/tag41.xml"/><Relationship Id="rId2" Type="http://schemas.openxmlformats.org/officeDocument/2006/relationships/image" Target="../media/image24.jpeg"/><Relationship Id="rId1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grayscl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2559"/>
                    </a14:imgEffect>
                    <a14:imgEffect>
                      <a14:saturation sat="18000"/>
                    </a14:imgEffect>
                  </a14:imgLayer>
                </a14:imgProps>
              </a:ext>
            </a:extLst>
          </a:blip>
          <a:srcRect l="48638" t="15738" r="-1" b="2451"/>
          <a:stretch>
            <a:fillRect/>
          </a:stretch>
        </p:blipFill>
        <p:spPr>
          <a:xfrm>
            <a:off x="0" y="0"/>
            <a:ext cx="6456426" cy="6858000"/>
          </a:xfrm>
          <a:prstGeom prst="rect">
            <a:avLst/>
          </a:prstGeom>
        </p:spPr>
      </p:pic>
      <p:sp>
        <p:nvSpPr>
          <p:cNvPr id="4" name="直角三角形 3"/>
          <p:cNvSpPr/>
          <p:nvPr/>
        </p:nvSpPr>
        <p:spPr>
          <a:xfrm>
            <a:off x="0" y="4028303"/>
            <a:ext cx="5362832" cy="2829697"/>
          </a:xfrm>
          <a:prstGeom prst="rtTriangle">
            <a:avLst/>
          </a:prstGeom>
          <a:solidFill>
            <a:srgbClr val="2930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10D23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t="18037" r="26380" b="15947"/>
          <a:stretch>
            <a:fillRect/>
          </a:stretch>
        </p:blipFill>
        <p:spPr>
          <a:xfrm>
            <a:off x="3415665" y="1"/>
            <a:ext cx="887158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83705" y="2910840"/>
            <a:ext cx="4431030" cy="70675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r>
              <a:rPr kumimoji="1" lang="zh-CN" altLang="en-US" sz="4000">
                <a:solidFill>
                  <a:srgbClr val="2930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数字集成电路设计</a:t>
            </a:r>
            <a:endParaRPr kumimoji="1" lang="zh-CN" altLang="en-US" sz="4000">
              <a:solidFill>
                <a:srgbClr val="2930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84380" y="4399914"/>
            <a:ext cx="4304270" cy="36933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10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Guangdong University Of Technology</a:t>
            </a:r>
            <a:endParaRPr lang="en-US" altLang="zh-CN" dirty="0">
              <a:solidFill>
                <a:srgbClr val="C10D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142" y="1773736"/>
            <a:ext cx="1334210" cy="970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6" name="组合 11265"/>
          <p:cNvGrpSpPr/>
          <p:nvPr/>
        </p:nvGrpSpPr>
        <p:grpSpPr>
          <a:xfrm>
            <a:off x="1289685" y="573405"/>
            <a:ext cx="8950325" cy="2944813"/>
            <a:chOff x="0" y="2164"/>
            <a:chExt cx="5638" cy="1855"/>
          </a:xfrm>
        </p:grpSpPr>
        <p:sp>
          <p:nvSpPr>
            <p:cNvPr id="11267" name="文本框 11266"/>
            <p:cNvSpPr txBox="1"/>
            <p:nvPr>
              <p:custDataLst>
                <p:tags r:id="rId1"/>
              </p:custDataLst>
            </p:nvPr>
          </p:nvSpPr>
          <p:spPr>
            <a:xfrm>
              <a:off x="90" y="3380"/>
              <a:ext cx="5232" cy="63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根据</a:t>
              </a:r>
              <a:r>
                <a:rPr lang="en-US" altLang="zh-CN" sz="2400">
                  <a:latin typeface="Arial" panose="020B0604020202020204" pitchFamily="34" charset="0"/>
                </a:rPr>
                <a:t>V</a:t>
              </a:r>
              <a:r>
                <a:rPr lang="en-US" altLang="zh-CN" sz="1600">
                  <a:latin typeface="Arial" panose="020B0604020202020204" pitchFamily="34" charset="0"/>
                </a:rPr>
                <a:t>GS</a:t>
              </a:r>
              <a:r>
                <a:rPr lang="zh-CN" altLang="en-US" sz="2400" dirty="0">
                  <a:latin typeface="Arial" panose="020B0604020202020204" pitchFamily="34" charset="0"/>
                </a:rPr>
                <a:t>和</a:t>
              </a:r>
              <a:r>
                <a:rPr lang="en-US" altLang="zh-CN" sz="2400">
                  <a:latin typeface="Arial" panose="020B0604020202020204" pitchFamily="34" charset="0"/>
                </a:rPr>
                <a:t>V</a:t>
              </a:r>
              <a:r>
                <a:rPr lang="en-US" altLang="zh-CN" sz="1600">
                  <a:latin typeface="Arial" panose="020B0604020202020204" pitchFamily="34" charset="0"/>
                </a:rPr>
                <a:t>DS</a:t>
              </a:r>
              <a:r>
                <a:rPr lang="zh-CN" altLang="en-US" sz="2400" dirty="0">
                  <a:latin typeface="Arial" panose="020B0604020202020204" pitchFamily="34" charset="0"/>
                </a:rPr>
                <a:t>确定其处于线性、饱和还是截止状态，并求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的值。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1268" name="对象 11267"/>
            <p:cNvGraphicFramePr/>
            <p:nvPr>
              <p:custDataLst>
                <p:tags r:id="rId2"/>
              </p:custDataLst>
            </p:nvPr>
          </p:nvGraphicFramePr>
          <p:xfrm>
            <a:off x="0" y="2525"/>
            <a:ext cx="5638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3" imgW="4660900" imgH="685800" progId="Equation.3">
                    <p:embed/>
                  </p:oleObj>
                </mc:Choice>
                <mc:Fallback>
                  <p:oleObj name="" r:id="rId3" imgW="4660900" imgH="6858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2525"/>
                          <a:ext cx="5638" cy="8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9" name="文本框 11268"/>
            <p:cNvSpPr txBox="1"/>
            <p:nvPr>
              <p:custDataLst>
                <p:tags r:id="rId5"/>
              </p:custDataLst>
            </p:nvPr>
          </p:nvSpPr>
          <p:spPr>
            <a:xfrm>
              <a:off x="22" y="2164"/>
              <a:ext cx="1358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400">
                  <a:latin typeface="Arial" panose="020B0604020202020204" pitchFamily="34" charset="0"/>
                </a:rPr>
                <a:t>1.</a:t>
              </a:r>
              <a:r>
                <a:rPr lang="zh-CN" altLang="en-US" sz="2400" dirty="0">
                  <a:latin typeface="Arial" panose="020B0604020202020204" pitchFamily="34" charset="0"/>
                </a:rPr>
                <a:t>已知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1270" name="对象 11269"/>
            <p:cNvGraphicFramePr/>
            <p:nvPr>
              <p:custDataLst>
                <p:tags r:id="rId6"/>
              </p:custDataLst>
            </p:nvPr>
          </p:nvGraphicFramePr>
          <p:xfrm>
            <a:off x="5049" y="3375"/>
            <a:ext cx="253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190500" imgH="215900" progId="Equation.3">
                    <p:embed/>
                  </p:oleObj>
                </mc:Choice>
                <mc:Fallback>
                  <p:oleObj name="" r:id="rId7" imgW="190500" imgH="2159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49" y="3375"/>
                          <a:ext cx="253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6" name="组合 11265"/>
          <p:cNvGrpSpPr/>
          <p:nvPr/>
        </p:nvGrpSpPr>
        <p:grpSpPr>
          <a:xfrm>
            <a:off x="1362710" y="493395"/>
            <a:ext cx="8950325" cy="2944813"/>
            <a:chOff x="0" y="2164"/>
            <a:chExt cx="5638" cy="1855"/>
          </a:xfrm>
        </p:grpSpPr>
        <p:sp>
          <p:nvSpPr>
            <p:cNvPr id="11267" name="文本框 11266"/>
            <p:cNvSpPr txBox="1"/>
            <p:nvPr>
              <p:custDataLst>
                <p:tags r:id="rId1"/>
              </p:custDataLst>
            </p:nvPr>
          </p:nvSpPr>
          <p:spPr>
            <a:xfrm>
              <a:off x="90" y="3380"/>
              <a:ext cx="5232" cy="63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根据</a:t>
              </a:r>
              <a:r>
                <a:rPr lang="en-US" altLang="zh-CN" sz="2400">
                  <a:latin typeface="Arial" panose="020B0604020202020204" pitchFamily="34" charset="0"/>
                </a:rPr>
                <a:t>V</a:t>
              </a:r>
              <a:r>
                <a:rPr lang="en-US" altLang="zh-CN" sz="1600">
                  <a:latin typeface="Arial" panose="020B0604020202020204" pitchFamily="34" charset="0"/>
                </a:rPr>
                <a:t>GS</a:t>
              </a:r>
              <a:r>
                <a:rPr lang="zh-CN" altLang="en-US" sz="2400" dirty="0">
                  <a:latin typeface="Arial" panose="020B0604020202020204" pitchFamily="34" charset="0"/>
                </a:rPr>
                <a:t>和</a:t>
              </a:r>
              <a:r>
                <a:rPr lang="en-US" altLang="zh-CN" sz="2400">
                  <a:latin typeface="Arial" panose="020B0604020202020204" pitchFamily="34" charset="0"/>
                </a:rPr>
                <a:t>V</a:t>
              </a:r>
              <a:r>
                <a:rPr lang="en-US" altLang="zh-CN" sz="1600">
                  <a:latin typeface="Arial" panose="020B0604020202020204" pitchFamily="34" charset="0"/>
                </a:rPr>
                <a:t>DS</a:t>
              </a:r>
              <a:r>
                <a:rPr lang="zh-CN" altLang="en-US" sz="2400" dirty="0">
                  <a:latin typeface="Arial" panose="020B0604020202020204" pitchFamily="34" charset="0"/>
                </a:rPr>
                <a:t>确定其处于线性、饱和还是截止状态，并求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的值。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1268" name="对象 11267"/>
            <p:cNvGraphicFramePr/>
            <p:nvPr>
              <p:custDataLst>
                <p:tags r:id="rId2"/>
              </p:custDataLst>
            </p:nvPr>
          </p:nvGraphicFramePr>
          <p:xfrm>
            <a:off x="0" y="2525"/>
            <a:ext cx="5638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3" imgW="4660900" imgH="685800" progId="Equation.3">
                    <p:embed/>
                  </p:oleObj>
                </mc:Choice>
                <mc:Fallback>
                  <p:oleObj name="" r:id="rId3" imgW="4660900" imgH="6858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2525"/>
                          <a:ext cx="5638" cy="8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9" name="文本框 11268"/>
            <p:cNvSpPr txBox="1"/>
            <p:nvPr>
              <p:custDataLst>
                <p:tags r:id="rId5"/>
              </p:custDataLst>
            </p:nvPr>
          </p:nvSpPr>
          <p:spPr>
            <a:xfrm>
              <a:off x="22" y="2164"/>
              <a:ext cx="1358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已知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1270" name="对象 11269"/>
            <p:cNvGraphicFramePr/>
            <p:nvPr>
              <p:custDataLst>
                <p:tags r:id="rId6"/>
              </p:custDataLst>
            </p:nvPr>
          </p:nvGraphicFramePr>
          <p:xfrm>
            <a:off x="5049" y="3375"/>
            <a:ext cx="253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190500" imgH="215900" progId="Equation.3">
                    <p:embed/>
                  </p:oleObj>
                </mc:Choice>
                <mc:Fallback>
                  <p:oleObj name="" r:id="rId7" imgW="190500" imgH="2159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49" y="3375"/>
                          <a:ext cx="253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2" name="对象 11271"/>
          <p:cNvGraphicFramePr/>
          <p:nvPr>
            <p:custDataLst>
              <p:tags r:id="rId9"/>
            </p:custDataLst>
          </p:nvPr>
        </p:nvGraphicFramePr>
        <p:xfrm>
          <a:off x="1865948" y="3431540"/>
          <a:ext cx="7512050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0" imgW="3657600" imgH="1536700" progId="Equation.3">
                  <p:embed/>
                </p:oleObj>
              </mc:Choice>
              <mc:Fallback>
                <p:oleObj name="" r:id="rId10" imgW="3657600" imgH="1536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65948" y="3431540"/>
                        <a:ext cx="7512050" cy="315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6" name="组合 11265"/>
          <p:cNvGrpSpPr/>
          <p:nvPr/>
        </p:nvGrpSpPr>
        <p:grpSpPr>
          <a:xfrm>
            <a:off x="1505585" y="493395"/>
            <a:ext cx="8950325" cy="2944813"/>
            <a:chOff x="0" y="2164"/>
            <a:chExt cx="5638" cy="1855"/>
          </a:xfrm>
        </p:grpSpPr>
        <p:sp>
          <p:nvSpPr>
            <p:cNvPr id="11267" name="文本框 11266"/>
            <p:cNvSpPr txBox="1"/>
            <p:nvPr>
              <p:custDataLst>
                <p:tags r:id="rId1"/>
              </p:custDataLst>
            </p:nvPr>
          </p:nvSpPr>
          <p:spPr>
            <a:xfrm>
              <a:off x="90" y="3380"/>
              <a:ext cx="5232" cy="63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根据</a:t>
              </a:r>
              <a:r>
                <a:rPr lang="en-US" altLang="zh-CN" sz="2400">
                  <a:latin typeface="Arial" panose="020B0604020202020204" pitchFamily="34" charset="0"/>
                </a:rPr>
                <a:t>V</a:t>
              </a:r>
              <a:r>
                <a:rPr lang="en-US" altLang="zh-CN" sz="1600">
                  <a:latin typeface="Arial" panose="020B0604020202020204" pitchFamily="34" charset="0"/>
                </a:rPr>
                <a:t>GS</a:t>
              </a:r>
              <a:r>
                <a:rPr lang="zh-CN" altLang="en-US" sz="2400" dirty="0">
                  <a:latin typeface="Arial" panose="020B0604020202020204" pitchFamily="34" charset="0"/>
                </a:rPr>
                <a:t>和</a:t>
              </a:r>
              <a:r>
                <a:rPr lang="en-US" altLang="zh-CN" sz="2400">
                  <a:latin typeface="Arial" panose="020B0604020202020204" pitchFamily="34" charset="0"/>
                </a:rPr>
                <a:t>V</a:t>
              </a:r>
              <a:r>
                <a:rPr lang="en-US" altLang="zh-CN" sz="1600">
                  <a:latin typeface="Arial" panose="020B0604020202020204" pitchFamily="34" charset="0"/>
                </a:rPr>
                <a:t>DS</a:t>
              </a:r>
              <a:r>
                <a:rPr lang="zh-CN" altLang="en-US" sz="2400" dirty="0">
                  <a:latin typeface="Arial" panose="020B0604020202020204" pitchFamily="34" charset="0"/>
                </a:rPr>
                <a:t>确定其处于线性、饱和还是截止状态，并求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的值。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1268" name="对象 11267"/>
            <p:cNvGraphicFramePr/>
            <p:nvPr>
              <p:custDataLst>
                <p:tags r:id="rId2"/>
              </p:custDataLst>
            </p:nvPr>
          </p:nvGraphicFramePr>
          <p:xfrm>
            <a:off x="0" y="2525"/>
            <a:ext cx="5638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3" imgW="4660900" imgH="685800" progId="Equation.3">
                    <p:embed/>
                  </p:oleObj>
                </mc:Choice>
                <mc:Fallback>
                  <p:oleObj name="" r:id="rId3" imgW="4660900" imgH="6858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2525"/>
                          <a:ext cx="5638" cy="8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9" name="文本框 11268"/>
            <p:cNvSpPr txBox="1"/>
            <p:nvPr>
              <p:custDataLst>
                <p:tags r:id="rId5"/>
              </p:custDataLst>
            </p:nvPr>
          </p:nvSpPr>
          <p:spPr>
            <a:xfrm>
              <a:off x="22" y="2164"/>
              <a:ext cx="1358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400">
                  <a:latin typeface="Arial" panose="020B0604020202020204" pitchFamily="34" charset="0"/>
                </a:rPr>
                <a:t>1.</a:t>
              </a:r>
              <a:r>
                <a:rPr lang="zh-CN" altLang="en-US" sz="2400" dirty="0">
                  <a:latin typeface="Arial" panose="020B0604020202020204" pitchFamily="34" charset="0"/>
                </a:rPr>
                <a:t>已知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1270" name="对象 11269"/>
            <p:cNvGraphicFramePr/>
            <p:nvPr>
              <p:custDataLst>
                <p:tags r:id="rId6"/>
              </p:custDataLst>
            </p:nvPr>
          </p:nvGraphicFramePr>
          <p:xfrm>
            <a:off x="5049" y="3375"/>
            <a:ext cx="253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190500" imgH="215900" progId="Equation.3">
                    <p:embed/>
                  </p:oleObj>
                </mc:Choice>
                <mc:Fallback>
                  <p:oleObj name="" r:id="rId7" imgW="190500" imgH="2159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49" y="3375"/>
                          <a:ext cx="253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2" name="对象 17411"/>
          <p:cNvGraphicFramePr/>
          <p:nvPr>
            <p:custDataLst>
              <p:tags r:id="rId9"/>
            </p:custDataLst>
          </p:nvPr>
        </p:nvGraphicFramePr>
        <p:xfrm>
          <a:off x="2927033" y="3468370"/>
          <a:ext cx="6337300" cy="323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0" imgW="3086100" imgH="1574800" progId="Equation.3">
                  <p:embed/>
                </p:oleObj>
              </mc:Choice>
              <mc:Fallback>
                <p:oleObj name="" r:id="rId10" imgW="3086100" imgH="1574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27033" y="3468370"/>
                        <a:ext cx="6337300" cy="323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9015" y="779780"/>
            <a:ext cx="10515600" cy="3066415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假设你在设计一个时钟分配网络，以使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clk2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节点之间的时钟偏差尽可能的小。网络的寄生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RC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参数已经被提取出来如图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。开始时，你发现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的导线相比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clk2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都要短，于是你在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的路径中插入了一个传输门电路以平衡时钟偏差。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假设传输门可被等效为一个电阻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，计算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clk2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clk3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节点的时间常数。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R1=R2=R4=R5=R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C1=C2=C3=C4=C5=C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该取何值以保证从源点到三个时钟节点的延时是平衡的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9459" name="图片 1945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09315" y="3302000"/>
            <a:ext cx="6367145" cy="32461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9" name="图片 1945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12110" y="0"/>
            <a:ext cx="6367145" cy="324612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1508" name="对象 21507"/>
          <p:cNvGraphicFramePr/>
          <p:nvPr>
            <p:custDataLst>
              <p:tags r:id="rId3"/>
            </p:custDataLst>
          </p:nvPr>
        </p:nvGraphicFramePr>
        <p:xfrm>
          <a:off x="4708208" y="3285490"/>
          <a:ext cx="65182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4" imgW="3213100" imgH="457200" progId="Equation.3">
                  <p:embed/>
                </p:oleObj>
              </mc:Choice>
              <mc:Fallback>
                <p:oleObj name="" r:id="rId4" imgW="3213100" imgH="4572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8208" y="3285490"/>
                        <a:ext cx="6518275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对象 21510"/>
          <p:cNvGraphicFramePr/>
          <p:nvPr>
            <p:custDataLst>
              <p:tags r:id="rId6"/>
            </p:custDataLst>
          </p:nvPr>
        </p:nvGraphicFramePr>
        <p:xfrm>
          <a:off x="4779645" y="4653915"/>
          <a:ext cx="59531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2933700" imgH="457200" progId="Equation.3">
                  <p:embed/>
                </p:oleObj>
              </mc:Choice>
              <mc:Fallback>
                <p:oleObj name="" r:id="rId7" imgW="2933700" imgH="457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79645" y="4653915"/>
                        <a:ext cx="5953125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对象 21511"/>
          <p:cNvGraphicFramePr/>
          <p:nvPr>
            <p:custDataLst>
              <p:tags r:id="rId9"/>
            </p:custDataLst>
          </p:nvPr>
        </p:nvGraphicFramePr>
        <p:xfrm>
          <a:off x="4851083" y="5877878"/>
          <a:ext cx="59785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0" imgW="2946400" imgH="228600" progId="Equation.3">
                  <p:embed/>
                </p:oleObj>
              </mc:Choice>
              <mc:Fallback>
                <p:oleObj name="" r:id="rId10" imgW="2946400" imgH="228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51083" y="5877878"/>
                        <a:ext cx="5978525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对象 21512"/>
          <p:cNvGraphicFramePr/>
          <p:nvPr>
            <p:custDataLst>
              <p:tags r:id="rId12"/>
            </p:custDataLst>
          </p:nvPr>
        </p:nvGraphicFramePr>
        <p:xfrm>
          <a:off x="1339374" y="4068287"/>
          <a:ext cx="2606675" cy="1265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3" imgW="889000" imgH="431800" progId="Equation.3">
                  <p:embed/>
                </p:oleObj>
              </mc:Choice>
              <mc:Fallback>
                <p:oleObj name="" r:id="rId13" imgW="889000" imgH="431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9374" y="4068287"/>
                        <a:ext cx="2606675" cy="1265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533" name="对象 22532"/>
          <p:cNvGraphicFramePr/>
          <p:nvPr>
            <p:custDataLst>
              <p:tags r:id="rId1"/>
            </p:custDataLst>
          </p:nvPr>
        </p:nvGraphicFramePr>
        <p:xfrm>
          <a:off x="2245360" y="2455863"/>
          <a:ext cx="595312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" imgW="2933700" imgH="647700" progId="Equation.3">
                  <p:embed/>
                </p:oleObj>
              </mc:Choice>
              <mc:Fallback>
                <p:oleObj name="" r:id="rId2" imgW="2933700" imgH="647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45360" y="2455863"/>
                        <a:ext cx="5953125" cy="1314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22533"/>
          <p:cNvGraphicFramePr/>
          <p:nvPr>
            <p:custDataLst>
              <p:tags r:id="rId4"/>
            </p:custDataLst>
          </p:nvPr>
        </p:nvGraphicFramePr>
        <p:xfrm>
          <a:off x="2389823" y="4024313"/>
          <a:ext cx="597852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946400" imgH="685800" progId="Equation.3">
                  <p:embed/>
                </p:oleObj>
              </mc:Choice>
              <mc:Fallback>
                <p:oleObj name="" r:id="rId5" imgW="2946400" imgH="685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89823" y="4024313"/>
                        <a:ext cx="5978525" cy="1390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22534"/>
          <p:cNvGraphicFramePr/>
          <p:nvPr>
            <p:custDataLst>
              <p:tags r:id="rId7"/>
            </p:custDataLst>
          </p:nvPr>
        </p:nvGraphicFramePr>
        <p:xfrm>
          <a:off x="2245360" y="1303338"/>
          <a:ext cx="82184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8" imgW="4047490" imgH="405765" progId="Equation.3">
                  <p:embed/>
                </p:oleObj>
              </mc:Choice>
              <mc:Fallback>
                <p:oleObj name="" r:id="rId8" imgW="4047490" imgH="40576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45360" y="1303338"/>
                        <a:ext cx="8218488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文本框 12290"/>
          <p:cNvSpPr txBox="1"/>
          <p:nvPr>
            <p:custDataLst>
              <p:tags r:id="rId1"/>
            </p:custDataLst>
          </p:nvPr>
        </p:nvSpPr>
        <p:spPr>
          <a:xfrm>
            <a:off x="996950" y="557530"/>
            <a:ext cx="9754870" cy="18383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假设设计一个通用</a:t>
            </a:r>
            <a:r>
              <a:rPr lang="en-US" altLang="zh-CN" sz="2400">
                <a:latin typeface="Arial" panose="020B0604020202020204" pitchFamily="34" charset="0"/>
              </a:rPr>
              <a:t>0.25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m CMOS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工艺的反相器，其中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PMOS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晶体管的 最小尺寸为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(W=0.75m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L=0.25m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W/L=0.75/0.25) , NMOS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晶体管的最小尺寸为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(W=0.375m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L=0.25m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W/L=0.375/0.25) </a:t>
            </a:r>
            <a:endParaRPr lang="en-US" altLang="zh-CN" sz="24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假设</a:t>
            </a:r>
            <a:r>
              <a:rPr lang="en-US" altLang="zh-CN" sz="2400" dirty="0">
                <a:latin typeface="Arial" panose="020B0604020202020204" pitchFamily="34" charset="0"/>
              </a:rPr>
              <a:t>NMOS</a:t>
            </a:r>
            <a:r>
              <a:rPr lang="zh-CN" altLang="en-US" sz="2400" dirty="0">
                <a:latin typeface="Arial" panose="020B0604020202020204" pitchFamily="34" charset="0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</a:rPr>
              <a:t>PMOS</a:t>
            </a:r>
            <a:r>
              <a:rPr lang="zh-CN" altLang="en-US" sz="2400" dirty="0">
                <a:latin typeface="Arial" panose="020B0604020202020204" pitchFamily="34" charset="0"/>
              </a:rPr>
              <a:t>相对驱动强度</a:t>
            </a:r>
            <a:r>
              <a:rPr lang="zh-CN" altLang="en-US" sz="2400" dirty="0">
                <a:latin typeface="Arial" panose="020B0604020202020204" pitchFamily="34" charset="0"/>
              </a:rPr>
              <a:t>相等，求出</a:t>
            </a:r>
            <a:r>
              <a:rPr lang="en-US" altLang="zh-CN" sz="2400" err="1">
                <a:latin typeface="Arial" panose="020B0604020202020204" pitchFamily="34" charset="0"/>
              </a:rPr>
              <a:t>g,V</a:t>
            </a:r>
            <a:r>
              <a:rPr lang="en-US" altLang="zh-CN" sz="2400" baseline="-25000" err="1">
                <a:latin typeface="Arial" panose="020B0604020202020204" pitchFamily="34" charset="0"/>
              </a:rPr>
              <a:t>IL</a:t>
            </a:r>
            <a:r>
              <a:rPr lang="en-US" altLang="zh-CN" sz="2400" err="1">
                <a:latin typeface="Arial" panose="020B0604020202020204" pitchFamily="34" charset="0"/>
              </a:rPr>
              <a:t>,V</a:t>
            </a:r>
            <a:r>
              <a:rPr lang="en-US" altLang="zh-CN" sz="2400" baseline="-25000" err="1">
                <a:latin typeface="Arial" panose="020B0604020202020204" pitchFamily="34" charset="0"/>
              </a:rPr>
              <a:t>IH</a:t>
            </a:r>
            <a:r>
              <a:rPr lang="en-US" altLang="zh-CN" sz="2400" err="1">
                <a:latin typeface="Arial" panose="020B0604020202020204" pitchFamily="34" charset="0"/>
              </a:rPr>
              <a:t>,NM</a:t>
            </a:r>
            <a:r>
              <a:rPr lang="en-US" altLang="zh-CN" sz="2400" baseline="-25000" err="1">
                <a:latin typeface="Arial" panose="020B0604020202020204" pitchFamily="34" charset="0"/>
              </a:rPr>
              <a:t>L</a:t>
            </a:r>
            <a:r>
              <a:rPr lang="en-US" altLang="zh-CN" sz="2400" err="1">
                <a:latin typeface="Arial" panose="020B0604020202020204" pitchFamily="34" charset="0"/>
              </a:rPr>
              <a:t>,NM</a:t>
            </a:r>
            <a:r>
              <a:rPr lang="en-US" altLang="zh-CN" sz="2400" baseline="-25000" err="1">
                <a:latin typeface="Arial" panose="020B0604020202020204" pitchFamily="34" charset="0"/>
              </a:rPr>
              <a:t>H</a:t>
            </a:r>
            <a:endParaRPr lang="en-US" altLang="zh-CN" sz="2400" baseline="-25000">
              <a:latin typeface="Arial" panose="020B0604020202020204" pitchFamily="34" charset="0"/>
            </a:endParaRPr>
          </a:p>
        </p:txBody>
      </p:sp>
      <p:pic>
        <p:nvPicPr>
          <p:cNvPr id="12290" name="图片 1228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87740" y="2395855"/>
            <a:ext cx="3270250" cy="31956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292" name="表格 12291"/>
          <p:cNvGraphicFramePr/>
          <p:nvPr>
            <p:custDataLst>
              <p:tags r:id="rId4"/>
            </p:custDataLst>
          </p:nvPr>
        </p:nvGraphicFramePr>
        <p:xfrm>
          <a:off x="815340" y="2496185"/>
          <a:ext cx="7772400" cy="1201102"/>
        </p:xfrm>
        <a:graphic>
          <a:graphicData uri="http://schemas.openxmlformats.org/drawingml/2006/table">
            <a:tbl>
              <a:tblPr/>
              <a:tblGrid>
                <a:gridCol w="1295400"/>
                <a:gridCol w="1219200"/>
                <a:gridCol w="1219200"/>
                <a:gridCol w="1295400"/>
                <a:gridCol w="1600200"/>
                <a:gridCol w="1143000"/>
              </a:tblGrid>
              <a:tr h="396240">
                <a:tc>
                  <a:txBody>
                    <a:bodyPr/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V</a:t>
                      </a:r>
                      <a:r>
                        <a:rPr lang="en-US" altLang="zh-CN" sz="2000" baseline="-25000"/>
                        <a:t>T0</a:t>
                      </a:r>
                      <a:r>
                        <a:rPr lang="en-US" altLang="zh-CN" sz="2000"/>
                        <a:t>(V)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</a:t>
                      </a:r>
                      <a:r>
                        <a:rPr lang="en-US" altLang="zh-CN" sz="2000"/>
                        <a:t>(V</a:t>
                      </a:r>
                      <a:r>
                        <a:rPr lang="en-US" altLang="zh-CN" sz="2000" baseline="30000"/>
                        <a:t>0.5</a:t>
                      </a:r>
                      <a:r>
                        <a:rPr lang="en-US" altLang="zh-CN" sz="2000"/>
                        <a:t>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V</a:t>
                      </a:r>
                      <a:r>
                        <a:rPr lang="en-US" altLang="zh-CN" sz="2000" baseline="-25000"/>
                        <a:t>DSAT</a:t>
                      </a:r>
                      <a:r>
                        <a:rPr lang="en-US" altLang="zh-CN" sz="2000"/>
                        <a:t>(V)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k’(A/V</a:t>
                      </a:r>
                      <a:r>
                        <a:rPr lang="en-US" altLang="zh-CN" sz="2000" baseline="30000"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altLang="zh-CN" sz="200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>
                        <a:sym typeface="Symbol" panose="05050102010706020507" pitchFamily="18" charset="2"/>
                      </a:endParaRPr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(V</a:t>
                      </a:r>
                      <a:r>
                        <a:rPr lang="en-US" altLang="zh-CN" sz="2000" baseline="30000">
                          <a:sym typeface="Symbol" panose="05050102010706020507" pitchFamily="18" charset="2"/>
                        </a:rPr>
                        <a:t>-1</a:t>
                      </a:r>
                      <a:r>
                        <a:rPr lang="en-US" altLang="zh-CN" sz="200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09575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NMOS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0.43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0.63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115</a:t>
                      </a:r>
                      <a:r>
                        <a:rPr lang="en-US" altLang="zh-CN" sz="2000">
                          <a:latin typeface="宋体" panose="02010600030101010101" pitchFamily="2" charset="-122"/>
                        </a:rPr>
                        <a:t>×</a:t>
                      </a:r>
                      <a:r>
                        <a:rPr lang="en-US" altLang="zh-CN" sz="2000"/>
                        <a:t>10</a:t>
                      </a:r>
                      <a:r>
                        <a:rPr lang="en-US" altLang="zh-CN" sz="2000" baseline="30000"/>
                        <a:t>-6</a:t>
                      </a:r>
                      <a:endParaRPr lang="zh-CN" altLang="en-US" sz="2000" baseline="30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0.06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PMOS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-30</a:t>
                      </a:r>
                      <a:r>
                        <a:rPr lang="en-US" altLang="zh-CN" sz="2000">
                          <a:latin typeface="宋体" panose="02010600030101010101" pitchFamily="2" charset="-122"/>
                        </a:rPr>
                        <a:t>×</a:t>
                      </a:r>
                      <a:r>
                        <a:rPr lang="en-US" altLang="zh-CN" sz="2000"/>
                        <a:t>10</a:t>
                      </a:r>
                      <a:r>
                        <a:rPr lang="en-US" altLang="zh-CN" sz="2000" baseline="30000"/>
                        <a:t>-6</a:t>
                      </a:r>
                      <a:endParaRPr lang="zh-CN" altLang="en-US" sz="2000" baseline="30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文本框 12290"/>
          <p:cNvSpPr txBox="1"/>
          <p:nvPr>
            <p:custDataLst>
              <p:tags r:id="rId1"/>
            </p:custDataLst>
          </p:nvPr>
        </p:nvSpPr>
        <p:spPr>
          <a:xfrm>
            <a:off x="996950" y="557530"/>
            <a:ext cx="9754870" cy="18383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假设设计一个通用</a:t>
            </a:r>
            <a:r>
              <a:rPr lang="en-US" altLang="zh-CN" sz="2400">
                <a:latin typeface="Arial" panose="020B0604020202020204" pitchFamily="34" charset="0"/>
              </a:rPr>
              <a:t>0.25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m CMOS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工艺的反相器，其中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PMOS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晶体管的 最小尺寸为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(W=0.75m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L=0.25m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W/L=0.75/0.25) , NMOS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晶体管的最小尺寸为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(W=0.375m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L=0.25m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W/L=0.375/0.25) </a:t>
            </a:r>
            <a:endParaRPr lang="en-US" altLang="zh-CN" sz="24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假设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NMOS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PMOS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相对驱动强度相等，</a:t>
            </a:r>
            <a:r>
              <a:rPr lang="zh-CN" altLang="en-US" sz="2400" dirty="0">
                <a:latin typeface="Arial" panose="020B0604020202020204" pitchFamily="34" charset="0"/>
              </a:rPr>
              <a:t>求出</a:t>
            </a:r>
            <a:r>
              <a:rPr lang="en-US" altLang="zh-CN" sz="2400" err="1">
                <a:latin typeface="Arial" panose="020B0604020202020204" pitchFamily="34" charset="0"/>
              </a:rPr>
              <a:t>g,V</a:t>
            </a:r>
            <a:r>
              <a:rPr lang="en-US" altLang="zh-CN" sz="2400" baseline="-25000" err="1">
                <a:latin typeface="Arial" panose="020B0604020202020204" pitchFamily="34" charset="0"/>
              </a:rPr>
              <a:t>IL</a:t>
            </a:r>
            <a:r>
              <a:rPr lang="en-US" altLang="zh-CN" sz="2400" err="1">
                <a:latin typeface="Arial" panose="020B0604020202020204" pitchFamily="34" charset="0"/>
              </a:rPr>
              <a:t>,V</a:t>
            </a:r>
            <a:r>
              <a:rPr lang="en-US" altLang="zh-CN" sz="2400" baseline="-25000" err="1">
                <a:latin typeface="Arial" panose="020B0604020202020204" pitchFamily="34" charset="0"/>
              </a:rPr>
              <a:t>IH</a:t>
            </a:r>
            <a:r>
              <a:rPr lang="en-US" altLang="zh-CN" sz="2400" err="1">
                <a:latin typeface="Arial" panose="020B0604020202020204" pitchFamily="34" charset="0"/>
              </a:rPr>
              <a:t>,NM</a:t>
            </a:r>
            <a:r>
              <a:rPr lang="en-US" altLang="zh-CN" sz="2400" baseline="-25000" err="1">
                <a:latin typeface="Arial" panose="020B0604020202020204" pitchFamily="34" charset="0"/>
              </a:rPr>
              <a:t>L</a:t>
            </a:r>
            <a:r>
              <a:rPr lang="en-US" altLang="zh-CN" sz="2400" err="1">
                <a:latin typeface="Arial" panose="020B0604020202020204" pitchFamily="34" charset="0"/>
              </a:rPr>
              <a:t>,NM</a:t>
            </a:r>
            <a:r>
              <a:rPr lang="en-US" altLang="zh-CN" sz="2400" baseline="-25000" err="1">
                <a:latin typeface="Arial" panose="020B0604020202020204" pitchFamily="34" charset="0"/>
              </a:rPr>
              <a:t>H</a:t>
            </a:r>
            <a:endParaRPr lang="en-US" altLang="zh-CN" sz="2400" baseline="-25000">
              <a:latin typeface="Arial" panose="020B0604020202020204" pitchFamily="34" charset="0"/>
            </a:endParaRPr>
          </a:p>
        </p:txBody>
      </p:sp>
      <p:pic>
        <p:nvPicPr>
          <p:cNvPr id="12290" name="图片 1228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87740" y="2395855"/>
            <a:ext cx="3270250" cy="31956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292" name="表格 12291"/>
          <p:cNvGraphicFramePr/>
          <p:nvPr>
            <p:custDataLst>
              <p:tags r:id="rId4"/>
            </p:custDataLst>
          </p:nvPr>
        </p:nvGraphicFramePr>
        <p:xfrm>
          <a:off x="815340" y="2496185"/>
          <a:ext cx="7772400" cy="1201102"/>
        </p:xfrm>
        <a:graphic>
          <a:graphicData uri="http://schemas.openxmlformats.org/drawingml/2006/table">
            <a:tbl>
              <a:tblPr/>
              <a:tblGrid>
                <a:gridCol w="1295400"/>
                <a:gridCol w="1219200"/>
                <a:gridCol w="1219200"/>
                <a:gridCol w="1295400"/>
                <a:gridCol w="1600200"/>
                <a:gridCol w="1143000"/>
              </a:tblGrid>
              <a:tr h="396240">
                <a:tc>
                  <a:txBody>
                    <a:bodyPr/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V</a:t>
                      </a:r>
                      <a:r>
                        <a:rPr lang="en-US" altLang="zh-CN" sz="2000" baseline="-25000"/>
                        <a:t>T0</a:t>
                      </a:r>
                      <a:r>
                        <a:rPr lang="en-US" altLang="zh-CN" sz="2000"/>
                        <a:t>(V)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</a:t>
                      </a:r>
                      <a:r>
                        <a:rPr lang="en-US" altLang="zh-CN" sz="2000"/>
                        <a:t>(V</a:t>
                      </a:r>
                      <a:r>
                        <a:rPr lang="en-US" altLang="zh-CN" sz="2000" baseline="30000"/>
                        <a:t>0.5</a:t>
                      </a:r>
                      <a:r>
                        <a:rPr lang="en-US" altLang="zh-CN" sz="2000"/>
                        <a:t>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V</a:t>
                      </a:r>
                      <a:r>
                        <a:rPr lang="en-US" altLang="zh-CN" sz="2000" baseline="-25000"/>
                        <a:t>DSAT</a:t>
                      </a:r>
                      <a:r>
                        <a:rPr lang="en-US" altLang="zh-CN" sz="2000"/>
                        <a:t>(V)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k’(A/V</a:t>
                      </a:r>
                      <a:r>
                        <a:rPr lang="en-US" altLang="zh-CN" sz="2000" baseline="30000"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altLang="zh-CN" sz="200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>
                        <a:sym typeface="Symbol" panose="05050102010706020507" pitchFamily="18" charset="2"/>
                      </a:endParaRPr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(V</a:t>
                      </a:r>
                      <a:r>
                        <a:rPr lang="en-US" altLang="zh-CN" sz="2000" baseline="30000">
                          <a:sym typeface="Symbol" panose="05050102010706020507" pitchFamily="18" charset="2"/>
                        </a:rPr>
                        <a:t>-1</a:t>
                      </a:r>
                      <a:r>
                        <a:rPr lang="en-US" altLang="zh-CN" sz="200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09575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NMOS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0.43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0.63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115</a:t>
                      </a:r>
                      <a:r>
                        <a:rPr lang="en-US" altLang="zh-CN" sz="2000">
                          <a:latin typeface="宋体" panose="02010600030101010101" pitchFamily="2" charset="-122"/>
                        </a:rPr>
                        <a:t>×</a:t>
                      </a:r>
                      <a:r>
                        <a:rPr lang="en-US" altLang="zh-CN" sz="2000"/>
                        <a:t>10</a:t>
                      </a:r>
                      <a:r>
                        <a:rPr lang="en-US" altLang="zh-CN" sz="2000" baseline="30000"/>
                        <a:t>-6</a:t>
                      </a:r>
                      <a:endParaRPr lang="zh-CN" altLang="en-US" sz="2000" baseline="30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0.06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PMOS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-30</a:t>
                      </a:r>
                      <a:r>
                        <a:rPr lang="en-US" altLang="zh-CN" sz="2000">
                          <a:latin typeface="宋体" panose="02010600030101010101" pitchFamily="2" charset="-122"/>
                        </a:rPr>
                        <a:t>×</a:t>
                      </a:r>
                      <a:r>
                        <a:rPr lang="en-US" altLang="zh-CN" sz="2000"/>
                        <a:t>10</a:t>
                      </a:r>
                      <a:r>
                        <a:rPr lang="en-US" altLang="zh-CN" sz="2000" baseline="30000"/>
                        <a:t>-6</a:t>
                      </a:r>
                      <a:endParaRPr lang="zh-CN" altLang="en-US" sz="2000" baseline="30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对象 1"/>
          <p:cNvGraphicFramePr/>
          <p:nvPr>
            <p:custDataLst>
              <p:tags r:id="rId5"/>
            </p:custDataLst>
          </p:nvPr>
        </p:nvGraphicFramePr>
        <p:xfrm>
          <a:off x="659130" y="3907790"/>
          <a:ext cx="8357870" cy="1873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8357870" imgH="2045970" progId="Equation.KSEE3">
                  <p:embed/>
                </p:oleObj>
              </mc:Choice>
              <mc:Fallback>
                <p:oleObj name="" r:id="rId6" imgW="8357870" imgH="204597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9130" y="3907790"/>
                        <a:ext cx="8357870" cy="1873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文本框 12290"/>
          <p:cNvSpPr txBox="1"/>
          <p:nvPr>
            <p:custDataLst>
              <p:tags r:id="rId1"/>
            </p:custDataLst>
          </p:nvPr>
        </p:nvSpPr>
        <p:spPr>
          <a:xfrm>
            <a:off x="996950" y="557530"/>
            <a:ext cx="9754870" cy="18383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假设设计一个通用</a:t>
            </a:r>
            <a:r>
              <a:rPr lang="en-US" altLang="zh-CN" sz="2400">
                <a:latin typeface="Arial" panose="020B0604020202020204" pitchFamily="34" charset="0"/>
              </a:rPr>
              <a:t>0.25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m CMOS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工艺的反相器，其中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PMOS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晶体管的 最小尺寸为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(W=0.75m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L=0.25m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W/L=0.75/0.25) , NMOS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晶体管的最小尺寸为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(W=0.375m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L=0.25m</a:t>
            </a:r>
            <a:r>
              <a:rPr lang="zh-C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W/L=0.375/0.25) ,</a:t>
            </a:r>
            <a:endParaRPr lang="en-US" altLang="zh-CN" sz="24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假设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NMOS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PMOS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相对驱动强度相等，</a:t>
            </a:r>
            <a:r>
              <a:rPr lang="zh-CN" altLang="en-US" sz="2400" dirty="0">
                <a:latin typeface="Arial" panose="020B0604020202020204" pitchFamily="34" charset="0"/>
              </a:rPr>
              <a:t>求出</a:t>
            </a:r>
            <a:r>
              <a:rPr lang="en-US" altLang="zh-CN" sz="2400" err="1">
                <a:latin typeface="Arial" panose="020B0604020202020204" pitchFamily="34" charset="0"/>
              </a:rPr>
              <a:t>g,V</a:t>
            </a:r>
            <a:r>
              <a:rPr lang="en-US" altLang="zh-CN" sz="2400" baseline="-25000" err="1">
                <a:latin typeface="Arial" panose="020B0604020202020204" pitchFamily="34" charset="0"/>
              </a:rPr>
              <a:t>IL</a:t>
            </a:r>
            <a:r>
              <a:rPr lang="en-US" altLang="zh-CN" sz="2400" err="1">
                <a:latin typeface="Arial" panose="020B0604020202020204" pitchFamily="34" charset="0"/>
              </a:rPr>
              <a:t>,V</a:t>
            </a:r>
            <a:r>
              <a:rPr lang="en-US" altLang="zh-CN" sz="2400" baseline="-25000" err="1">
                <a:latin typeface="Arial" panose="020B0604020202020204" pitchFamily="34" charset="0"/>
              </a:rPr>
              <a:t>IH</a:t>
            </a:r>
            <a:r>
              <a:rPr lang="en-US" altLang="zh-CN" sz="2400" err="1">
                <a:latin typeface="Arial" panose="020B0604020202020204" pitchFamily="34" charset="0"/>
              </a:rPr>
              <a:t>,NM</a:t>
            </a:r>
            <a:r>
              <a:rPr lang="en-US" altLang="zh-CN" sz="2400" baseline="-25000" err="1">
                <a:latin typeface="Arial" panose="020B0604020202020204" pitchFamily="34" charset="0"/>
              </a:rPr>
              <a:t>L</a:t>
            </a:r>
            <a:r>
              <a:rPr lang="en-US" altLang="zh-CN" sz="2400" err="1">
                <a:latin typeface="Arial" panose="020B0604020202020204" pitchFamily="34" charset="0"/>
              </a:rPr>
              <a:t>,NM</a:t>
            </a:r>
            <a:r>
              <a:rPr lang="en-US" altLang="zh-CN" sz="2400" baseline="-25000" err="1">
                <a:latin typeface="Arial" panose="020B0604020202020204" pitchFamily="34" charset="0"/>
              </a:rPr>
              <a:t>H</a:t>
            </a:r>
            <a:endParaRPr lang="en-US" altLang="zh-CN" sz="2400" baseline="-25000">
              <a:latin typeface="Arial" panose="020B0604020202020204" pitchFamily="34" charset="0"/>
            </a:endParaRPr>
          </a:p>
        </p:txBody>
      </p:sp>
      <p:pic>
        <p:nvPicPr>
          <p:cNvPr id="12290" name="图片 1228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87740" y="2395855"/>
            <a:ext cx="3270250" cy="31956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292" name="表格 12291"/>
          <p:cNvGraphicFramePr/>
          <p:nvPr>
            <p:custDataLst>
              <p:tags r:id="rId4"/>
            </p:custDataLst>
          </p:nvPr>
        </p:nvGraphicFramePr>
        <p:xfrm>
          <a:off x="815340" y="2496185"/>
          <a:ext cx="7772400" cy="1201102"/>
        </p:xfrm>
        <a:graphic>
          <a:graphicData uri="http://schemas.openxmlformats.org/drawingml/2006/table">
            <a:tbl>
              <a:tblPr/>
              <a:tblGrid>
                <a:gridCol w="1295400"/>
                <a:gridCol w="1219200"/>
                <a:gridCol w="1219200"/>
                <a:gridCol w="1295400"/>
                <a:gridCol w="1600200"/>
                <a:gridCol w="1143000"/>
              </a:tblGrid>
              <a:tr h="396240">
                <a:tc>
                  <a:txBody>
                    <a:bodyPr/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V</a:t>
                      </a:r>
                      <a:r>
                        <a:rPr lang="en-US" altLang="zh-CN" sz="2000" baseline="-25000"/>
                        <a:t>T0</a:t>
                      </a:r>
                      <a:r>
                        <a:rPr lang="en-US" altLang="zh-CN" sz="2000"/>
                        <a:t>(V)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</a:t>
                      </a:r>
                      <a:r>
                        <a:rPr lang="en-US" altLang="zh-CN" sz="2000"/>
                        <a:t>(V</a:t>
                      </a:r>
                      <a:r>
                        <a:rPr lang="en-US" altLang="zh-CN" sz="2000" baseline="30000"/>
                        <a:t>0.5</a:t>
                      </a:r>
                      <a:r>
                        <a:rPr lang="en-US" altLang="zh-CN" sz="2000"/>
                        <a:t>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V</a:t>
                      </a:r>
                      <a:r>
                        <a:rPr lang="en-US" altLang="zh-CN" sz="2000" baseline="-25000"/>
                        <a:t>DSAT</a:t>
                      </a:r>
                      <a:r>
                        <a:rPr lang="en-US" altLang="zh-CN" sz="2000"/>
                        <a:t>(V)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k’(A/V</a:t>
                      </a:r>
                      <a:r>
                        <a:rPr lang="en-US" altLang="zh-CN" sz="2000" baseline="30000"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altLang="zh-CN" sz="200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>
                        <a:sym typeface="Symbol" panose="05050102010706020507" pitchFamily="18" charset="2"/>
                      </a:endParaRPr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(V</a:t>
                      </a:r>
                      <a:r>
                        <a:rPr lang="en-US" altLang="zh-CN" sz="2000" baseline="30000">
                          <a:sym typeface="Symbol" panose="05050102010706020507" pitchFamily="18" charset="2"/>
                        </a:rPr>
                        <a:t>-1</a:t>
                      </a:r>
                      <a:r>
                        <a:rPr lang="en-US" altLang="zh-CN" sz="200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09575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NMOS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0.43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0.63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115</a:t>
                      </a:r>
                      <a:r>
                        <a:rPr lang="en-US" altLang="zh-CN" sz="2000">
                          <a:latin typeface="宋体" panose="02010600030101010101" pitchFamily="2" charset="-122"/>
                        </a:rPr>
                        <a:t>×</a:t>
                      </a:r>
                      <a:r>
                        <a:rPr lang="en-US" altLang="zh-CN" sz="2000"/>
                        <a:t>10</a:t>
                      </a:r>
                      <a:r>
                        <a:rPr lang="en-US" altLang="zh-CN" sz="2000" baseline="30000"/>
                        <a:t>-6</a:t>
                      </a:r>
                      <a:endParaRPr lang="zh-CN" altLang="en-US" sz="2000" baseline="30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0.06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PMOS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-30</a:t>
                      </a:r>
                      <a:r>
                        <a:rPr lang="en-US" altLang="zh-CN" sz="2000">
                          <a:latin typeface="宋体" panose="02010600030101010101" pitchFamily="2" charset="-122"/>
                        </a:rPr>
                        <a:t>×</a:t>
                      </a:r>
                      <a:r>
                        <a:rPr lang="en-US" altLang="zh-CN" sz="2000"/>
                        <a:t>10</a:t>
                      </a:r>
                      <a:r>
                        <a:rPr lang="en-US" altLang="zh-CN" sz="2000" baseline="30000"/>
                        <a:t>-6</a:t>
                      </a:r>
                      <a:endParaRPr lang="zh-CN" altLang="en-US" sz="2000" baseline="30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-0.1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33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lgDashDot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659" name="对象 26658"/>
          <p:cNvGraphicFramePr/>
          <p:nvPr>
            <p:custDataLst>
              <p:tags r:id="rId5"/>
            </p:custDataLst>
          </p:nvPr>
        </p:nvGraphicFramePr>
        <p:xfrm>
          <a:off x="996950" y="4060508"/>
          <a:ext cx="7764463" cy="180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6" imgW="3835400" imgH="889000" progId="Equation.3">
                  <p:embed/>
                </p:oleObj>
              </mc:Choice>
              <mc:Fallback>
                <p:oleObj name="" r:id="rId6" imgW="3835400" imgH="8890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6950" y="4060508"/>
                        <a:ext cx="7764463" cy="180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18436" name="对象 18435"/>
          <p:cNvGraphicFramePr/>
          <p:nvPr>
            <p:custDataLst>
              <p:tags r:id="rId1"/>
            </p:custDataLst>
          </p:nvPr>
        </p:nvGraphicFramePr>
        <p:xfrm>
          <a:off x="3221038" y="1825625"/>
          <a:ext cx="62611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" imgW="2895600" imgH="419100" progId="Equation.3">
                  <p:embed/>
                </p:oleObj>
              </mc:Choice>
              <mc:Fallback>
                <p:oleObj name="" r:id="rId2" imgW="2895600" imgH="4191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21038" y="1825625"/>
                        <a:ext cx="6261100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对象 18436"/>
          <p:cNvGraphicFramePr/>
          <p:nvPr>
            <p:custDataLst>
              <p:tags r:id="rId4"/>
            </p:custDataLst>
          </p:nvPr>
        </p:nvGraphicFramePr>
        <p:xfrm>
          <a:off x="3176588" y="2825750"/>
          <a:ext cx="524351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2425700" imgH="419100" progId="Equation.3">
                  <p:embed/>
                </p:oleObj>
              </mc:Choice>
              <mc:Fallback>
                <p:oleObj name="" r:id="rId5" imgW="2425700" imgH="4191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588" y="2825750"/>
                        <a:ext cx="5243512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对象 18437"/>
          <p:cNvGraphicFramePr/>
          <p:nvPr>
            <p:custDataLst>
              <p:tags r:id="rId7"/>
            </p:custDataLst>
          </p:nvPr>
        </p:nvGraphicFramePr>
        <p:xfrm>
          <a:off x="3176588" y="4044950"/>
          <a:ext cx="469423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8" imgW="2171700" imgH="457200" progId="Equation.3">
                  <p:embed/>
                </p:oleObj>
              </mc:Choice>
              <mc:Fallback>
                <p:oleObj name="" r:id="rId8" imgW="2171700" imgH="457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76588" y="4044950"/>
                        <a:ext cx="4694237" cy="989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1137920" y="991870"/>
            <a:ext cx="9700260" cy="2122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/>
            <a:r>
              <a:rPr lang="en-US" altLang="zh-CN" sz="2200" b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假设有如下反相器链，第一个最小尺寸反相器的输入电容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200" b="0" baseline="-25000">
                <a:latin typeface="Times New Roman" panose="02020603050405020304" charset="0"/>
                <a:ea typeface="宋体" panose="02010600030101010101" pitchFamily="2" charset="-122"/>
              </a:rPr>
              <a:t>g1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=10fF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，其传播延时是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70ps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。最后的负载电容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200" b="0" baseline="-25000">
                <a:latin typeface="Times New Roman" panose="02020603050405020304" charset="0"/>
                <a:ea typeface="宋体" panose="02010600030101010101" pitchFamily="2" charset="-122"/>
              </a:rPr>
              <a:t>L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=20pF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1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）如果采用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N=3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的设计（添加两级反相器），确定这两个反相器相对第一级反相器的尺寸比，使得此时的传播延时最短，并计算此传播延时。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2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）由你来确定反相器链的级数，应该设计多少级可以使得传播延时最短。同时计算此时的最小传播延时</a:t>
            </a:r>
            <a:endParaRPr lang="zh-CN" altLang="en-US" sz="22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4985" y="3302000"/>
            <a:ext cx="5866765" cy="1299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07130" y="4515485"/>
            <a:ext cx="795655" cy="6337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137920" y="991870"/>
            <a:ext cx="9700260" cy="2122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/>
            <a:r>
              <a:rPr lang="en-US" altLang="zh-CN" sz="2200" b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假设有如下反相器链，第一个最小尺寸反相器的输入电容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200" b="0" baseline="-25000">
                <a:latin typeface="Times New Roman" panose="02020603050405020304" charset="0"/>
                <a:ea typeface="宋体" panose="02010600030101010101" pitchFamily="2" charset="-122"/>
              </a:rPr>
              <a:t>g1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=10fF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，其传播延时是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70ps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。最后的负载电容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200" b="0" baseline="-25000">
                <a:latin typeface="Times New Roman" panose="02020603050405020304" charset="0"/>
                <a:ea typeface="宋体" panose="02010600030101010101" pitchFamily="2" charset="-122"/>
              </a:rPr>
              <a:t>L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=20pF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1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）如果采用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N=3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的设计（添加两级反相器），确定这两个反相器相对第一级反相器的尺寸比，使得此时的传播延时最短，并计算此传播延时。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2</a:t>
            </a:r>
            <a:r>
              <a:rPr lang="zh-CN" sz="2200" b="0">
                <a:latin typeface="Times New Roman" panose="02020603050405020304" charset="0"/>
                <a:ea typeface="宋体" panose="02010600030101010101" pitchFamily="2" charset="-122"/>
              </a:rPr>
              <a:t>）由你来确定反相器链的级数，应该设计多少级可以使得传播延时最短。同时计算此时的最小传播延时</a:t>
            </a:r>
            <a:endParaRPr lang="zh-CN" altLang="en-US" sz="22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图片 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4985" y="3165475"/>
            <a:ext cx="5866765" cy="129921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113155" y="4712970"/>
            <a:ext cx="10464165" cy="429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200" b="0" baseline="-25000">
                <a:latin typeface="Times New Roman" panose="02020603050405020304" charset="0"/>
                <a:ea typeface="宋体" panose="02010600030101010101" pitchFamily="2" charset="-122"/>
              </a:rPr>
              <a:t>L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2200" b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200" b="0" baseline="-25000">
                <a:latin typeface="Times New Roman" panose="02020603050405020304" charset="0"/>
                <a:ea typeface="宋体" panose="02010600030101010101" pitchFamily="2" charset="-122"/>
              </a:rPr>
              <a:t>g1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= 2000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f=   =</a:t>
            </a:r>
            <a:r>
              <a:rPr lang="en-US" sz="22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12.6, tp = N</a:t>
            </a:r>
            <a:r>
              <a:rPr lang="en-US" sz="2200" baseline="-250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tp0</a:t>
            </a:r>
            <a:r>
              <a:rPr lang="en-US" sz="22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(1+f/</a:t>
            </a:r>
            <a:r>
              <a:rPr lang="en-US" sz="22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γ</a:t>
            </a:r>
            <a:r>
              <a:rPr lang="en-US" sz="22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 = 3*70*(1+12.6)= 2.856ns</a:t>
            </a:r>
            <a:endParaRPr lang="en-US" altLang="en-US" sz="2200" b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137920" y="5391150"/>
            <a:ext cx="1009459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/>
            <a:r>
              <a:rPr lang="zh-CN" sz="2200" b="0">
                <a:ea typeface="宋体" panose="02010600030101010101" pitchFamily="2" charset="-122"/>
              </a:rPr>
              <a:t>一般取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=4</a:t>
            </a:r>
            <a:r>
              <a:rPr lang="zh-CN" sz="2200" b="0">
                <a:ea typeface="宋体" panose="02010600030101010101" pitchFamily="2" charset="-122"/>
              </a:rPr>
              <a:t>（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=3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sz="2200" b="0">
                <a:ea typeface="宋体" panose="02010600030101010101" pitchFamily="2" charset="-122"/>
              </a:rPr>
              <a:t>也可以）得出N约为5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.5</a:t>
            </a:r>
            <a:r>
              <a:rPr lang="zh-CN" sz="2200" b="0">
                <a:ea typeface="宋体" panose="02010600030101010101" pitchFamily="2" charset="-122"/>
              </a:rPr>
              <a:t>，取整数6， 此时tp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= 6*70*</a:t>
            </a:r>
            <a:r>
              <a:rPr lang="zh-CN" sz="2200" b="0">
                <a:ea typeface="宋体" panose="02010600030101010101" pitchFamily="2" charset="-122"/>
              </a:rPr>
              <a:t>（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+4</a:t>
            </a:r>
            <a:r>
              <a:rPr lang="zh-CN" sz="2200" b="0">
                <a:ea typeface="宋体" panose="02010600030101010101" pitchFamily="2" charset="-122"/>
              </a:rPr>
              <a:t>）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2.1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s (f=3.6</a:t>
            </a:r>
            <a:r>
              <a:rPr lang="zh-CN" sz="2200" b="0">
                <a:ea typeface="宋体" panose="02010600030101010101" pitchFamily="2" charset="-122"/>
              </a:rPr>
              <a:t>时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tp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=1.93</a:t>
            </a:r>
            <a:r>
              <a:rPr lang="en-US" sz="2200" b="0">
                <a:latin typeface="宋体" panose="02010600030101010101" pitchFamily="2" charset="-122"/>
                <a:ea typeface="宋体" panose="02010600030101010101" pitchFamily="2" charset="-122"/>
              </a:rPr>
              <a:t>ns)</a:t>
            </a:r>
            <a:endParaRPr lang="en-US" altLang="en-US" sz="22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10800,&quot;width&quot;:13971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UNIT_TABLE_BEAUTIFY" val="smartTable{a16a88df-92e3-4969-ac94-cdb2ea7f44ce}"/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UNIT_TABLE_BEAUTIFY" val="smartTable{a16a88df-92e3-4969-ac94-cdb2ea7f44ce}"/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UNIT_TABLE_BEAUTIFY" val="smartTable{a16a88df-92e3-4969-ac94-cdb2ea7f44ce}"/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COMMONDATA" val="eyJoZGlkIjoiNTgxYzJiZjAyNzBkMjIxMzM5ZjQ2OGM2Njc4NjgxYmUifQ=="/>
  <p:tag name="KSO_WPP_MARK_KEY" val="47611f80-3725-493b-a4ea-908432f2d8be"/>
  <p:tag name="commondata" val="eyJoZGlkIjoiNTgxYzJiZjAyNzBkMjIxMzM5ZjQ2OGM2Njc4NjgxYm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1641</Words>
  <Application>WPS 演示</Application>
  <PresentationFormat>宽屏</PresentationFormat>
  <Paragraphs>146</Paragraphs>
  <Slides>13</Slides>
  <Notes>1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13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黑体</vt:lpstr>
      <vt:lpstr>Symbol</vt:lpstr>
      <vt:lpstr>Times New Roman</vt:lpstr>
      <vt:lpstr>等线</vt:lpstr>
      <vt:lpstr>Arial Unicode MS</vt:lpstr>
      <vt:lpstr>等线 Light</vt:lpstr>
      <vt:lpstr>Calibri</vt:lpstr>
      <vt:lpstr>Symbol</vt:lpstr>
      <vt:lpstr>Office 主题​​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不知道叫什么好</cp:lastModifiedBy>
  <cp:revision>281</cp:revision>
  <dcterms:created xsi:type="dcterms:W3CDTF">2020-02-14T07:49:00Z</dcterms:created>
  <dcterms:modified xsi:type="dcterms:W3CDTF">2025-12-10T18:36:21Z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5FE39764E09F44548F9CD9F092FC7665</vt:lpwstr>
  </property>
  <property fmtid="{D5CDD505-2E9C-101B-9397-08002B2CF9AE}" pid="3" name="KSOProductBuildVer">
    <vt:lpwstr>2052-12.1.0.24034</vt:lpwstr>
  </property>
</Properties>
</file>